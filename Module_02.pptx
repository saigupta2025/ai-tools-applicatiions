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2" d="100"/>
          <a:sy n="92" d="100"/>
        </p:scale>
        <p:origin x="-120" y="-7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58BE0C7F-5887-4187-A8A2-A85CE7CB7568}" type="datetimeFigureOut">
              <a:rPr lang="en-US" smtClean="0"/>
              <a:t>10/2/2026</a:t>
            </a:fld>
            <a:endParaRPr lang="en-US"/>
          </a:p>
        </p:txBody>
      </p:sp>
      <p:sp>
        <p:nvSpPr>
          <p:cNvPr id="4" name="Slide Image Placeholder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34C4709B-6EEA-4885-B36A-F9FAC6B9DAFE}" type="slidenum">
              <a:rPr lang="en-US" smtClean="0"/>
              <a:t>‹#›</a:t>
            </a:fld>
            <a:endParaRPr lang="en-US"/>
          </a:p>
        </p:txBody>
      </p:sp>
    </p:spTree>
    <p:extLst>
      <p:ext uri="{BB962C8B-B14F-4D97-AF65-F5344CB8AC3E}">
        <p14:creationId xmlns:p14="http://schemas.microsoft.com/office/powerpoint/2010/main" val="3275735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7.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7.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7.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0.png"/><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22.png"/><Relationship Id="rId4" Type="http://schemas.openxmlformats.org/officeDocument/2006/relationships/image" Target="../media/image19.png"/></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4.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9.png"/><Relationship Id="rId4" Type="http://schemas.openxmlformats.org/officeDocument/2006/relationships/image" Target="../media/image21.png"/></Relationships>
</file>

<file path=ppt/slides/_rels/slide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11.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5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9.png"/><Relationship Id="rId4" Type="http://schemas.openxmlformats.org/officeDocument/2006/relationships/image" Target="../media/image28.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5.png"/><Relationship Id="rId4" Type="http://schemas.openxmlformats.org/officeDocument/2006/relationships/image" Target="../media/image11.png"/></Relationships>
</file>

<file path=ppt/slides/_rels/slide5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9418320" y="-1463040"/>
            <a:ext cx="4754880" cy="4754880"/>
          </a:xfrm>
          <a:prstGeom prst="ellipse">
            <a:avLst/>
          </a:prstGeom>
          <a:solidFill>
            <a:srgbClr val="233A63"/>
          </a:solidFill>
          <a:ln/>
        </p:spPr>
      </p:sp>
      <p:sp>
        <p:nvSpPr>
          <p:cNvPr id="3" name="Shape 1"/>
          <p:cNvSpPr/>
          <p:nvPr/>
        </p:nvSpPr>
        <p:spPr>
          <a:xfrm>
            <a:off x="-1645920" y="4846320"/>
            <a:ext cx="4023360" cy="4023360"/>
          </a:xfrm>
          <a:prstGeom prst="ellipse">
            <a:avLst/>
          </a:prstGeom>
          <a:solidFill>
            <a:srgbClr val="121C33"/>
          </a:solidFill>
          <a:ln/>
        </p:spPr>
      </p:sp>
      <p:sp>
        <p:nvSpPr>
          <p:cNvPr id="4" name="Text 2"/>
          <p:cNvSpPr txBox="1"/>
          <p:nvPr/>
        </p:nvSpPr>
        <p:spPr>
          <a:xfrm>
            <a:off x="822960" y="1371600"/>
            <a:ext cx="9601200" cy="365760"/>
          </a:xfrm>
          <a:prstGeom prst="rect">
            <a:avLst/>
          </a:prstGeom>
          <a:noFill/>
          <a:ln/>
        </p:spPr>
        <p:txBody>
          <a:bodyPr wrap="square" lIns="0" tIns="0" rIns="0" bIns="0" rtlCol="0" anchor="ctr"/>
          <a:lstStyle/>
          <a:p>
            <a:pPr marL="0" indent="0">
              <a:buNone/>
            </a:pPr>
            <a:r>
              <a:rPr lang="en-US" sz="1400" b="1" kern="0" spc="250" dirty="0" smtClean="0">
                <a:solidFill>
                  <a:srgbClr val="9FD6E8"/>
                </a:solidFill>
                <a:latin typeface="Calibri" pitchFamily="34" charset="0"/>
                <a:ea typeface="Calibri" pitchFamily="34" charset="-122"/>
                <a:cs typeface="Calibri" pitchFamily="34" charset="-120"/>
              </a:rPr>
              <a:t>UNIT </a:t>
            </a:r>
            <a:r>
              <a:rPr lang="en-US" sz="1400" b="1" kern="0" spc="250" dirty="0">
                <a:solidFill>
                  <a:srgbClr val="9FD6E8"/>
                </a:solidFill>
                <a:latin typeface="Calibri" pitchFamily="34" charset="0"/>
                <a:ea typeface="Calibri" pitchFamily="34" charset="-122"/>
                <a:cs typeface="Calibri" pitchFamily="34" charset="-120"/>
              </a:rPr>
              <a:t>II</a:t>
            </a:r>
            <a:endParaRPr lang="en-US" sz="1400" dirty="0"/>
          </a:p>
        </p:txBody>
      </p:sp>
      <p:sp>
        <p:nvSpPr>
          <p:cNvPr id="5" name="Text 3"/>
          <p:cNvSpPr txBox="1"/>
          <p:nvPr/>
        </p:nvSpPr>
        <p:spPr>
          <a:xfrm>
            <a:off x="777240" y="1828800"/>
            <a:ext cx="9875520" cy="1828800"/>
          </a:xfrm>
          <a:prstGeom prst="rect">
            <a:avLst/>
          </a:prstGeom>
          <a:noFill/>
          <a:ln/>
        </p:spPr>
        <p:txBody>
          <a:bodyPr wrap="square" lIns="0" tIns="0" rIns="0" bIns="0" rtlCol="0" anchor="ctr"/>
          <a:lstStyle/>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Prompt Engineering and</a:t>
            </a:r>
            <a:endParaRPr lang="en-US" sz="4400" dirty="0"/>
          </a:p>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Generative AI Tools</a:t>
            </a:r>
            <a:endParaRPr lang="en-US" sz="4400" dirty="0"/>
          </a:p>
        </p:txBody>
      </p:sp>
      <p:sp>
        <p:nvSpPr>
          <p:cNvPr id="6" name="Text 4"/>
          <p:cNvSpPr txBox="1"/>
          <p:nvPr/>
        </p:nvSpPr>
        <p:spPr>
          <a:xfrm>
            <a:off x="822960" y="3703320"/>
            <a:ext cx="8778240" cy="822960"/>
          </a:xfrm>
          <a:prstGeom prst="rect">
            <a:avLst/>
          </a:prstGeom>
          <a:noFill/>
          <a:ln/>
        </p:spPr>
        <p:txBody>
          <a:bodyPr wrap="square" lIns="0" tIns="0" rIns="0" bIns="0" rtlCol="0" anchor="ctr"/>
          <a:lstStyle/>
          <a:p>
            <a:pPr marL="0" indent="0">
              <a:lnSpc>
                <a:spcPct val="125000"/>
              </a:lnSpc>
              <a:buNone/>
            </a:pPr>
            <a:r>
              <a:rPr lang="en-US" sz="1700" i="1" dirty="0">
                <a:solidFill>
                  <a:srgbClr val="C9D6E3"/>
                </a:solidFill>
                <a:latin typeface="Calibri" pitchFamily="34" charset="0"/>
                <a:ea typeface="Calibri" pitchFamily="34" charset="-122"/>
                <a:cs typeface="Calibri" pitchFamily="34" charset="-120"/>
              </a:rPr>
              <a:t>How to design, structure and refine prompts to get reliable, high-quality results from generative AI — for teaching, research and academic writing.</a:t>
            </a:r>
            <a:endParaRPr lang="en-US" sz="1700" dirty="0"/>
          </a:p>
        </p:txBody>
      </p:sp>
      <p:sp>
        <p:nvSpPr>
          <p:cNvPr id="7" name="Shape 5"/>
          <p:cNvSpPr/>
          <p:nvPr/>
        </p:nvSpPr>
        <p:spPr>
          <a:xfrm>
            <a:off x="9966960" y="5074920"/>
            <a:ext cx="1371600" cy="1371600"/>
          </a:xfrm>
          <a:prstGeom prst="ellipse">
            <a:avLst/>
          </a:prstGeom>
          <a:solidFill>
            <a:srgbClr val="1C7293"/>
          </a:solidFill>
          <a:ln/>
        </p:spPr>
      </p:sp>
      <p:pic>
        <p:nvPicPr>
          <p:cNvPr id="8" name="Image 0" descr="icons/quote.png"/>
          <p:cNvPicPr>
            <a:picLocks noChangeAspect="1"/>
          </p:cNvPicPr>
          <p:nvPr/>
        </p:nvPicPr>
        <p:blipFill>
          <a:blip r:embed="rId3"/>
          <a:stretch>
            <a:fillRect/>
          </a:stretch>
        </p:blipFill>
        <p:spPr>
          <a:xfrm>
            <a:off x="10323576" y="5431536"/>
            <a:ext cx="658368" cy="658368"/>
          </a:xfrm>
          <a:prstGeom prst="rect">
            <a:avLst/>
          </a:prstGeom>
        </p:spPr>
      </p:pic>
      <p:sp>
        <p:nvSpPr>
          <p:cNvPr id="9" name="Shape 6"/>
          <p:cNvSpPr/>
          <p:nvPr/>
        </p:nvSpPr>
        <p:spPr>
          <a:xfrm>
            <a:off x="822960" y="4892040"/>
            <a:ext cx="2743200" cy="0"/>
          </a:xfrm>
          <a:prstGeom prst="line">
            <a:avLst/>
          </a:prstGeom>
          <a:noFill/>
          <a:ln w="31750">
            <a:solidFill>
              <a:srgbClr val="1C7293"/>
            </a:solidFill>
            <a:prstDash val="solid"/>
          </a:ln>
        </p:spPr>
      </p:sp>
      <p:sp>
        <p:nvSpPr>
          <p:cNvPr id="10" name="Text 7"/>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9FD6E8"/>
                </a:solidFill>
                <a:latin typeface="Calibri" pitchFamily="34" charset="0"/>
                <a:ea typeface="Calibri" pitchFamily="34" charset="-122"/>
                <a:cs typeface="Calibri" pitchFamily="34" charset="-120"/>
              </a:rPr>
              <a:t>Unit II · Prompt Engineering</a:t>
            </a:r>
            <a:endParaRPr lang="en-US" sz="950" dirty="0"/>
          </a:p>
        </p:txBody>
      </p:sp>
      <p:sp>
        <p:nvSpPr>
          <p:cNvPr id="11" name="Text 8"/>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9FD6E8"/>
                </a:solidFill>
                <a:latin typeface="Calibri" pitchFamily="34" charset="0"/>
                <a:ea typeface="Calibri" pitchFamily="34" charset="-122"/>
                <a:cs typeface="Calibri" pitchFamily="34" charset="-120"/>
              </a:rPr>
              <a:t>1</a:t>
            </a:r>
            <a:endParaRPr lang="en-US" sz="95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WHY THIS MATTERS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The Same AI, Very Different Results</a:t>
            </a:r>
            <a:endParaRPr lang="en-US" sz="3200" dirty="0"/>
          </a:p>
        </p:txBody>
      </p:sp>
      <p:sp>
        <p:nvSpPr>
          <p:cNvPr id="4" name="Shape 2"/>
          <p:cNvSpPr/>
          <p:nvPr/>
        </p:nvSpPr>
        <p:spPr>
          <a:xfrm>
            <a:off x="548640"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41248" y="2212848"/>
            <a:ext cx="658368" cy="658368"/>
          </a:xfrm>
          <a:prstGeom prst="ellipse">
            <a:avLst/>
          </a:prstGeom>
          <a:solidFill>
            <a:srgbClr val="1C7293"/>
          </a:solidFill>
          <a:ln/>
        </p:spPr>
      </p:sp>
      <p:pic>
        <p:nvPicPr>
          <p:cNvPr id="6" name="Image 0" descr="icons/quote.png"/>
          <p:cNvPicPr>
            <a:picLocks noChangeAspect="1"/>
          </p:cNvPicPr>
          <p:nvPr/>
        </p:nvPicPr>
        <p:blipFill>
          <a:blip r:embed="rId3"/>
          <a:stretch>
            <a:fillRect/>
          </a:stretch>
        </p:blipFill>
        <p:spPr>
          <a:xfrm>
            <a:off x="1012424" y="2384024"/>
            <a:ext cx="316017" cy="316017"/>
          </a:xfrm>
          <a:prstGeom prst="rect">
            <a:avLst/>
          </a:prstGeom>
        </p:spPr>
      </p:pic>
      <p:sp>
        <p:nvSpPr>
          <p:cNvPr id="7" name="Text 4"/>
          <p:cNvSpPr txBox="1"/>
          <p:nvPr/>
        </p:nvSpPr>
        <p:spPr>
          <a:xfrm>
            <a:off x="1645920"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The Prompt Is the Interface</a:t>
            </a:r>
            <a:endParaRPr lang="en-US" sz="1650" dirty="0"/>
          </a:p>
        </p:txBody>
      </p:sp>
      <p:sp>
        <p:nvSpPr>
          <p:cNvPr id="8" name="Text 5"/>
          <p:cNvSpPr txBox="1"/>
          <p:nvPr/>
        </p:nvSpPr>
        <p:spPr>
          <a:xfrm>
            <a:off x="841248"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An AI model has no idea what you want until your prompt tells it — vague input reliably produces vague output.</a:t>
            </a:r>
            <a:endParaRPr lang="en-US" sz="1200" dirty="0"/>
          </a:p>
        </p:txBody>
      </p:sp>
      <p:sp>
        <p:nvSpPr>
          <p:cNvPr id="9" name="Shape 6"/>
          <p:cNvSpPr/>
          <p:nvPr/>
        </p:nvSpPr>
        <p:spPr>
          <a:xfrm>
            <a:off x="6254496"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Shape 7"/>
          <p:cNvSpPr/>
          <p:nvPr/>
        </p:nvSpPr>
        <p:spPr>
          <a:xfrm>
            <a:off x="6547104" y="2212848"/>
            <a:ext cx="658368" cy="658368"/>
          </a:xfrm>
          <a:prstGeom prst="ellipse">
            <a:avLst/>
          </a:prstGeom>
          <a:solidFill>
            <a:srgbClr val="1C7293"/>
          </a:solidFill>
          <a:ln/>
        </p:spPr>
      </p:sp>
      <p:pic>
        <p:nvPicPr>
          <p:cNvPr id="11" name="Image 1" descr="icons/chartline.png"/>
          <p:cNvPicPr>
            <a:picLocks noChangeAspect="1"/>
          </p:cNvPicPr>
          <p:nvPr/>
        </p:nvPicPr>
        <p:blipFill>
          <a:blip r:embed="rId4"/>
          <a:stretch>
            <a:fillRect/>
          </a:stretch>
        </p:blipFill>
        <p:spPr>
          <a:xfrm>
            <a:off x="6718280" y="2384024"/>
            <a:ext cx="316017" cy="316017"/>
          </a:xfrm>
          <a:prstGeom prst="rect">
            <a:avLst/>
          </a:prstGeom>
        </p:spPr>
      </p:pic>
      <p:sp>
        <p:nvSpPr>
          <p:cNvPr id="12" name="Text 8"/>
          <p:cNvSpPr txBox="1"/>
          <p:nvPr/>
        </p:nvSpPr>
        <p:spPr>
          <a:xfrm>
            <a:off x="7351776"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Small Changes, Big Gains</a:t>
            </a:r>
            <a:endParaRPr lang="en-US" sz="1650" dirty="0"/>
          </a:p>
        </p:txBody>
      </p:sp>
      <p:sp>
        <p:nvSpPr>
          <p:cNvPr id="13" name="Text 9"/>
          <p:cNvSpPr txBox="1"/>
          <p:nvPr/>
        </p:nvSpPr>
        <p:spPr>
          <a:xfrm>
            <a:off x="6547104"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Adding context, format and constraints to a prompt can turn a mediocre answer into a publication-ready draft.</a:t>
            </a:r>
            <a:endParaRPr lang="en-US" sz="1200" dirty="0"/>
          </a:p>
        </p:txBody>
      </p:sp>
      <p:sp>
        <p:nvSpPr>
          <p:cNvPr id="14" name="Shape 10"/>
          <p:cNvSpPr/>
          <p:nvPr/>
        </p:nvSpPr>
        <p:spPr>
          <a:xfrm>
            <a:off x="548640"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Shape 11"/>
          <p:cNvSpPr/>
          <p:nvPr/>
        </p:nvSpPr>
        <p:spPr>
          <a:xfrm>
            <a:off x="841248" y="4681728"/>
            <a:ext cx="658368" cy="658368"/>
          </a:xfrm>
          <a:prstGeom prst="ellipse">
            <a:avLst/>
          </a:prstGeom>
          <a:solidFill>
            <a:srgbClr val="1C7293"/>
          </a:solidFill>
          <a:ln/>
        </p:spPr>
      </p:sp>
      <p:pic>
        <p:nvPicPr>
          <p:cNvPr id="16" name="Image 2" descr="icons/sync.png"/>
          <p:cNvPicPr>
            <a:picLocks noChangeAspect="1"/>
          </p:cNvPicPr>
          <p:nvPr/>
        </p:nvPicPr>
        <p:blipFill>
          <a:blip r:embed="rId5"/>
          <a:stretch>
            <a:fillRect/>
          </a:stretch>
        </p:blipFill>
        <p:spPr>
          <a:xfrm>
            <a:off x="1012424" y="4852904"/>
            <a:ext cx="316017" cy="316017"/>
          </a:xfrm>
          <a:prstGeom prst="rect">
            <a:avLst/>
          </a:prstGeom>
        </p:spPr>
      </p:pic>
      <p:sp>
        <p:nvSpPr>
          <p:cNvPr id="17" name="Text 12"/>
          <p:cNvSpPr txBox="1"/>
          <p:nvPr/>
        </p:nvSpPr>
        <p:spPr>
          <a:xfrm>
            <a:off x="1645920"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It’s a Skill, Not Luck</a:t>
            </a:r>
            <a:endParaRPr lang="en-US" sz="1650" dirty="0"/>
          </a:p>
        </p:txBody>
      </p:sp>
      <p:sp>
        <p:nvSpPr>
          <p:cNvPr id="18" name="Text 13"/>
          <p:cNvSpPr txBox="1"/>
          <p:nvPr/>
        </p:nvSpPr>
        <p:spPr>
          <a:xfrm>
            <a:off x="841248"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Prompt engineering is a learnable, repeatable practice — not a matter of guessing the right magic words.</a:t>
            </a:r>
            <a:endParaRPr lang="en-US" sz="1200" dirty="0"/>
          </a:p>
        </p:txBody>
      </p:sp>
      <p:sp>
        <p:nvSpPr>
          <p:cNvPr id="19" name="Shape 14"/>
          <p:cNvSpPr/>
          <p:nvPr/>
        </p:nvSpPr>
        <p:spPr>
          <a:xfrm>
            <a:off x="6254496"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0" name="Shape 15"/>
          <p:cNvSpPr/>
          <p:nvPr/>
        </p:nvSpPr>
        <p:spPr>
          <a:xfrm>
            <a:off x="6547104" y="4681728"/>
            <a:ext cx="658368" cy="658368"/>
          </a:xfrm>
          <a:prstGeom prst="ellipse">
            <a:avLst/>
          </a:prstGeom>
          <a:solidFill>
            <a:srgbClr val="1C7293"/>
          </a:solidFill>
          <a:ln/>
        </p:spPr>
      </p:sp>
      <p:pic>
        <p:nvPicPr>
          <p:cNvPr id="21" name="Image 3" descr="icons/clipboard.png"/>
          <p:cNvPicPr>
            <a:picLocks noChangeAspect="1"/>
          </p:cNvPicPr>
          <p:nvPr/>
        </p:nvPicPr>
        <p:blipFill>
          <a:blip r:embed="rId6"/>
          <a:stretch>
            <a:fillRect/>
          </a:stretch>
        </p:blipFill>
        <p:spPr>
          <a:xfrm>
            <a:off x="6718280" y="4852904"/>
            <a:ext cx="316017" cy="316017"/>
          </a:xfrm>
          <a:prstGeom prst="rect">
            <a:avLst/>
          </a:prstGeom>
        </p:spPr>
      </p:pic>
      <p:sp>
        <p:nvSpPr>
          <p:cNvPr id="22" name="Text 16"/>
          <p:cNvSpPr txBox="1"/>
          <p:nvPr/>
        </p:nvSpPr>
        <p:spPr>
          <a:xfrm>
            <a:off x="7351776"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Directly Useful Today</a:t>
            </a:r>
            <a:endParaRPr lang="en-US" sz="1650" dirty="0"/>
          </a:p>
        </p:txBody>
      </p:sp>
      <p:sp>
        <p:nvSpPr>
          <p:cNvPr id="23" name="Text 17"/>
          <p:cNvSpPr txBox="1"/>
          <p:nvPr/>
        </p:nvSpPr>
        <p:spPr>
          <a:xfrm>
            <a:off x="6547104"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Every technique in this unit applies immediately to lesson planning, grading, and research writing.</a:t>
            </a:r>
            <a:endParaRPr lang="en-US" sz="1200" dirty="0"/>
          </a:p>
        </p:txBody>
      </p:sp>
      <p:sp>
        <p:nvSpPr>
          <p:cNvPr id="24" name="Text 1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Why This Matters</a:t>
            </a:r>
            <a:endParaRPr lang="en-US" sz="950" dirty="0"/>
          </a:p>
        </p:txBody>
      </p:sp>
      <p:sp>
        <p:nvSpPr>
          <p:cNvPr id="25" name="Text 1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2</a:t>
            </a:r>
            <a:endParaRPr lang="en-US" sz="95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UNIT ROADMAP</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What We Will Cover</a:t>
            </a:r>
            <a:endParaRPr lang="en-US" sz="3200" dirty="0"/>
          </a:p>
        </p:txBody>
      </p:sp>
      <p:sp>
        <p:nvSpPr>
          <p:cNvPr id="4" name="Shape 2"/>
          <p:cNvSpPr/>
          <p:nvPr/>
        </p:nvSpPr>
        <p:spPr>
          <a:xfrm>
            <a:off x="548640" y="1920240"/>
            <a:ext cx="3483864"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41248" y="2212848"/>
            <a:ext cx="658368" cy="658368"/>
          </a:xfrm>
          <a:prstGeom prst="ellipse">
            <a:avLst/>
          </a:prstGeom>
          <a:solidFill>
            <a:srgbClr val="1C7293"/>
          </a:solidFill>
          <a:ln/>
        </p:spPr>
      </p:sp>
      <p:pic>
        <p:nvPicPr>
          <p:cNvPr id="6" name="Image 0" descr="icons/puzzle.png"/>
          <p:cNvPicPr>
            <a:picLocks noChangeAspect="1"/>
          </p:cNvPicPr>
          <p:nvPr/>
        </p:nvPicPr>
        <p:blipFill>
          <a:blip r:embed="rId3"/>
          <a:stretch>
            <a:fillRect/>
          </a:stretch>
        </p:blipFill>
        <p:spPr>
          <a:xfrm>
            <a:off x="1012424" y="2384024"/>
            <a:ext cx="316017" cy="316017"/>
          </a:xfrm>
          <a:prstGeom prst="rect">
            <a:avLst/>
          </a:prstGeom>
        </p:spPr>
      </p:pic>
      <p:sp>
        <p:nvSpPr>
          <p:cNvPr id="7" name="Text 4"/>
          <p:cNvSpPr txBox="1"/>
          <p:nvPr/>
        </p:nvSpPr>
        <p:spPr>
          <a:xfrm>
            <a:off x="1645920" y="2231136"/>
            <a:ext cx="2112264"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1. Anatomy of a Prompt</a:t>
            </a:r>
            <a:endParaRPr lang="en-US" sz="1650" dirty="0"/>
          </a:p>
        </p:txBody>
      </p:sp>
      <p:sp>
        <p:nvSpPr>
          <p:cNvPr id="8" name="Text 5"/>
          <p:cNvSpPr txBox="1"/>
          <p:nvPr/>
        </p:nvSpPr>
        <p:spPr>
          <a:xfrm>
            <a:off x="841248" y="2999232"/>
            <a:ext cx="2898648"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Context → Instruction → Format → Constraints</a:t>
            </a:r>
            <a:endParaRPr lang="en-US" sz="1200" dirty="0"/>
          </a:p>
        </p:txBody>
      </p:sp>
      <p:sp>
        <p:nvSpPr>
          <p:cNvPr id="9" name="Shape 6"/>
          <p:cNvSpPr/>
          <p:nvPr/>
        </p:nvSpPr>
        <p:spPr>
          <a:xfrm>
            <a:off x="4352544" y="1920240"/>
            <a:ext cx="3483864"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Shape 7"/>
          <p:cNvSpPr/>
          <p:nvPr/>
        </p:nvSpPr>
        <p:spPr>
          <a:xfrm>
            <a:off x="4645152" y="2212848"/>
            <a:ext cx="658368" cy="658368"/>
          </a:xfrm>
          <a:prstGeom prst="ellipse">
            <a:avLst/>
          </a:prstGeom>
          <a:solidFill>
            <a:srgbClr val="1C7293"/>
          </a:solidFill>
          <a:ln/>
        </p:spPr>
      </p:sp>
      <p:pic>
        <p:nvPicPr>
          <p:cNvPr id="11" name="Image 1" descr="icons/listol.png"/>
          <p:cNvPicPr>
            <a:picLocks noChangeAspect="1"/>
          </p:cNvPicPr>
          <p:nvPr/>
        </p:nvPicPr>
        <p:blipFill>
          <a:blip r:embed="rId4"/>
          <a:stretch>
            <a:fillRect/>
          </a:stretch>
        </p:blipFill>
        <p:spPr>
          <a:xfrm>
            <a:off x="4816328" y="2384024"/>
            <a:ext cx="316017" cy="316017"/>
          </a:xfrm>
          <a:prstGeom prst="rect">
            <a:avLst/>
          </a:prstGeom>
        </p:spPr>
      </p:pic>
      <p:sp>
        <p:nvSpPr>
          <p:cNvPr id="12" name="Text 8"/>
          <p:cNvSpPr txBox="1"/>
          <p:nvPr/>
        </p:nvSpPr>
        <p:spPr>
          <a:xfrm>
            <a:off x="5449824" y="2231136"/>
            <a:ext cx="2112264"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2. Prompting Techniques</a:t>
            </a:r>
            <a:endParaRPr lang="en-US" sz="1650" dirty="0"/>
          </a:p>
        </p:txBody>
      </p:sp>
      <p:sp>
        <p:nvSpPr>
          <p:cNvPr id="13" name="Text 9"/>
          <p:cNvSpPr txBox="1"/>
          <p:nvPr/>
        </p:nvSpPr>
        <p:spPr>
          <a:xfrm>
            <a:off x="4645152" y="2999232"/>
            <a:ext cx="2898648"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Zero-shot → Few-shot → Structured reasoning</a:t>
            </a:r>
            <a:endParaRPr lang="en-US" sz="1200" dirty="0"/>
          </a:p>
        </p:txBody>
      </p:sp>
      <p:sp>
        <p:nvSpPr>
          <p:cNvPr id="14" name="Shape 10"/>
          <p:cNvSpPr/>
          <p:nvPr/>
        </p:nvSpPr>
        <p:spPr>
          <a:xfrm>
            <a:off x="8156448" y="1920240"/>
            <a:ext cx="3483864"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Shape 11"/>
          <p:cNvSpPr/>
          <p:nvPr/>
        </p:nvSpPr>
        <p:spPr>
          <a:xfrm>
            <a:off x="8449056" y="2212848"/>
            <a:ext cx="658368" cy="658368"/>
          </a:xfrm>
          <a:prstGeom prst="ellipse">
            <a:avLst/>
          </a:prstGeom>
          <a:solidFill>
            <a:srgbClr val="1C7293"/>
          </a:solidFill>
          <a:ln/>
        </p:spPr>
      </p:sp>
      <p:pic>
        <p:nvPicPr>
          <p:cNvPr id="16" name="Image 2" descr="icons/usertie.png"/>
          <p:cNvPicPr>
            <a:picLocks noChangeAspect="1"/>
          </p:cNvPicPr>
          <p:nvPr/>
        </p:nvPicPr>
        <p:blipFill>
          <a:blip r:embed="rId5"/>
          <a:stretch>
            <a:fillRect/>
          </a:stretch>
        </p:blipFill>
        <p:spPr>
          <a:xfrm>
            <a:off x="8620232" y="2384024"/>
            <a:ext cx="316017" cy="316017"/>
          </a:xfrm>
          <a:prstGeom prst="rect">
            <a:avLst/>
          </a:prstGeom>
        </p:spPr>
      </p:pic>
      <p:sp>
        <p:nvSpPr>
          <p:cNvPr id="17" name="Text 12"/>
          <p:cNvSpPr txBox="1"/>
          <p:nvPr/>
        </p:nvSpPr>
        <p:spPr>
          <a:xfrm>
            <a:off x="9253728" y="2231136"/>
            <a:ext cx="2112264"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3. Role-Based Prompts</a:t>
            </a:r>
            <a:endParaRPr lang="en-US" sz="1650" dirty="0"/>
          </a:p>
        </p:txBody>
      </p:sp>
      <p:sp>
        <p:nvSpPr>
          <p:cNvPr id="18" name="Text 13"/>
          <p:cNvSpPr txBox="1"/>
          <p:nvPr/>
        </p:nvSpPr>
        <p:spPr>
          <a:xfrm>
            <a:off x="8449056" y="2999232"/>
            <a:ext cx="2898648"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Reviewer → Tutor → Domain expert personas</a:t>
            </a:r>
            <a:endParaRPr lang="en-US" sz="1200" dirty="0"/>
          </a:p>
        </p:txBody>
      </p:sp>
      <p:sp>
        <p:nvSpPr>
          <p:cNvPr id="19" name="Shape 14"/>
          <p:cNvSpPr/>
          <p:nvPr/>
        </p:nvSpPr>
        <p:spPr>
          <a:xfrm>
            <a:off x="2450592" y="4389120"/>
            <a:ext cx="3483864"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0" name="Shape 15"/>
          <p:cNvSpPr/>
          <p:nvPr/>
        </p:nvSpPr>
        <p:spPr>
          <a:xfrm>
            <a:off x="2743200" y="4681728"/>
            <a:ext cx="658368" cy="658368"/>
          </a:xfrm>
          <a:prstGeom prst="ellipse">
            <a:avLst/>
          </a:prstGeom>
          <a:solidFill>
            <a:srgbClr val="1C7293"/>
          </a:solidFill>
          <a:ln/>
        </p:spPr>
      </p:sp>
      <p:pic>
        <p:nvPicPr>
          <p:cNvPr id="21" name="Image 3" descr="icons/sync.png"/>
          <p:cNvPicPr>
            <a:picLocks noChangeAspect="1"/>
          </p:cNvPicPr>
          <p:nvPr/>
        </p:nvPicPr>
        <p:blipFill>
          <a:blip r:embed="rId6"/>
          <a:stretch>
            <a:fillRect/>
          </a:stretch>
        </p:blipFill>
        <p:spPr>
          <a:xfrm>
            <a:off x="2914376" y="4852904"/>
            <a:ext cx="316017" cy="316017"/>
          </a:xfrm>
          <a:prstGeom prst="rect">
            <a:avLst/>
          </a:prstGeom>
        </p:spPr>
      </p:pic>
      <p:sp>
        <p:nvSpPr>
          <p:cNvPr id="22" name="Text 16"/>
          <p:cNvSpPr txBox="1"/>
          <p:nvPr/>
        </p:nvSpPr>
        <p:spPr>
          <a:xfrm>
            <a:off x="3547872" y="4700016"/>
            <a:ext cx="2112264"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4. Iterative Refinement</a:t>
            </a:r>
            <a:endParaRPr lang="en-US" sz="1650" dirty="0"/>
          </a:p>
        </p:txBody>
      </p:sp>
      <p:sp>
        <p:nvSpPr>
          <p:cNvPr id="23" name="Text 17"/>
          <p:cNvSpPr txBox="1"/>
          <p:nvPr/>
        </p:nvSpPr>
        <p:spPr>
          <a:xfrm>
            <a:off x="2743200" y="5468112"/>
            <a:ext cx="2898648"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Diagnose → Rewrite → Retest a weak response</a:t>
            </a:r>
            <a:endParaRPr lang="en-US" sz="1200" dirty="0"/>
          </a:p>
        </p:txBody>
      </p:sp>
      <p:sp>
        <p:nvSpPr>
          <p:cNvPr id="24" name="Shape 18"/>
          <p:cNvSpPr/>
          <p:nvPr/>
        </p:nvSpPr>
        <p:spPr>
          <a:xfrm>
            <a:off x="6254496" y="4389120"/>
            <a:ext cx="3483864"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5" name="Shape 19"/>
          <p:cNvSpPr/>
          <p:nvPr/>
        </p:nvSpPr>
        <p:spPr>
          <a:xfrm>
            <a:off x="6547104" y="4681728"/>
            <a:ext cx="658368" cy="658368"/>
          </a:xfrm>
          <a:prstGeom prst="ellipse">
            <a:avLst/>
          </a:prstGeom>
          <a:solidFill>
            <a:srgbClr val="1C7293"/>
          </a:solidFill>
          <a:ln/>
        </p:spPr>
      </p:sp>
      <p:pic>
        <p:nvPicPr>
          <p:cNvPr id="26" name="Image 4" descr="icons/lightbulb.png"/>
          <p:cNvPicPr>
            <a:picLocks noChangeAspect="1"/>
          </p:cNvPicPr>
          <p:nvPr/>
        </p:nvPicPr>
        <p:blipFill>
          <a:blip r:embed="rId7"/>
          <a:stretch>
            <a:fillRect/>
          </a:stretch>
        </p:blipFill>
        <p:spPr>
          <a:xfrm>
            <a:off x="6718280" y="4852904"/>
            <a:ext cx="316017" cy="316017"/>
          </a:xfrm>
          <a:prstGeom prst="rect">
            <a:avLst/>
          </a:prstGeom>
        </p:spPr>
      </p:pic>
      <p:sp>
        <p:nvSpPr>
          <p:cNvPr id="27" name="Text 20"/>
          <p:cNvSpPr txBox="1"/>
          <p:nvPr/>
        </p:nvSpPr>
        <p:spPr>
          <a:xfrm>
            <a:off x="7351776" y="4700016"/>
            <a:ext cx="2112264"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5. GenAI for Writing Tasks</a:t>
            </a:r>
            <a:endParaRPr lang="en-US" sz="1650" dirty="0"/>
          </a:p>
        </p:txBody>
      </p:sp>
      <p:sp>
        <p:nvSpPr>
          <p:cNvPr id="28" name="Text 21"/>
          <p:cNvSpPr txBox="1"/>
          <p:nvPr/>
        </p:nvSpPr>
        <p:spPr>
          <a:xfrm>
            <a:off x="6547104" y="5468112"/>
            <a:ext cx="2898648"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Brainstorm → Summarise → Draft technical content</a:t>
            </a:r>
            <a:endParaRPr lang="en-US" sz="1200" dirty="0"/>
          </a:p>
        </p:txBody>
      </p:sp>
      <p:sp>
        <p:nvSpPr>
          <p:cNvPr id="29" name="Text 22"/>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Unit Roadmap</a:t>
            </a:r>
            <a:endParaRPr lang="en-US" sz="950" dirty="0"/>
          </a:p>
        </p:txBody>
      </p:sp>
      <p:sp>
        <p:nvSpPr>
          <p:cNvPr id="30" name="Text 23"/>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3</a:t>
            </a:r>
            <a:endParaRPr lang="en-US" sz="95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828800" y="-2011680"/>
            <a:ext cx="5486400" cy="5486400"/>
          </a:xfrm>
          <a:prstGeom prst="ellipse">
            <a:avLst/>
          </a:prstGeom>
          <a:solidFill>
            <a:srgbClr val="233A63"/>
          </a:solidFill>
          <a:ln/>
        </p:spPr>
      </p:sp>
      <p:sp>
        <p:nvSpPr>
          <p:cNvPr id="3" name="Shape 1"/>
          <p:cNvSpPr/>
          <p:nvPr/>
        </p:nvSpPr>
        <p:spPr>
          <a:xfrm>
            <a:off x="9875520" y="4206240"/>
            <a:ext cx="5029200" cy="5029200"/>
          </a:xfrm>
          <a:prstGeom prst="ellipse">
            <a:avLst/>
          </a:prstGeom>
          <a:solidFill>
            <a:srgbClr val="121C33"/>
          </a:solidFill>
          <a:ln/>
        </p:spPr>
      </p:sp>
      <p:sp>
        <p:nvSpPr>
          <p:cNvPr id="4" name="Text 2"/>
          <p:cNvSpPr txBox="1"/>
          <p:nvPr/>
        </p:nvSpPr>
        <p:spPr>
          <a:xfrm>
            <a:off x="822960" y="2286000"/>
            <a:ext cx="3657600" cy="457200"/>
          </a:xfrm>
          <a:prstGeom prst="rect">
            <a:avLst/>
          </a:prstGeom>
          <a:noFill/>
          <a:ln/>
        </p:spPr>
        <p:txBody>
          <a:bodyPr wrap="square" lIns="0" tIns="0" rIns="0" bIns="0"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PART 1</a:t>
            </a:r>
            <a:endParaRPr lang="en-US" sz="1600" dirty="0"/>
          </a:p>
        </p:txBody>
      </p:sp>
      <p:sp>
        <p:nvSpPr>
          <p:cNvPr id="5" name="Shape 3"/>
          <p:cNvSpPr/>
          <p:nvPr/>
        </p:nvSpPr>
        <p:spPr>
          <a:xfrm>
            <a:off x="868680" y="2788920"/>
            <a:ext cx="1280160" cy="0"/>
          </a:xfrm>
          <a:prstGeom prst="line">
            <a:avLst/>
          </a:prstGeom>
          <a:noFill/>
          <a:ln w="31750">
            <a:solidFill>
              <a:srgbClr val="1C7293"/>
            </a:solidFill>
            <a:prstDash val="solid"/>
          </a:ln>
        </p:spPr>
      </p:sp>
      <p:sp>
        <p:nvSpPr>
          <p:cNvPr id="6" name="Text 4"/>
          <p:cNvSpPr txBox="1"/>
          <p:nvPr/>
        </p:nvSpPr>
        <p:spPr>
          <a:xfrm>
            <a:off x="822960" y="2880360"/>
            <a:ext cx="9601200" cy="365760"/>
          </a:xfrm>
          <a:prstGeom prst="rect">
            <a:avLst/>
          </a:prstGeom>
          <a:noFill/>
          <a:ln/>
        </p:spPr>
        <p:txBody>
          <a:bodyPr wrap="square" lIns="0" tIns="0" rIns="0" bIns="0" rtlCol="0" anchor="ctr"/>
          <a:lstStyle/>
          <a:p>
            <a:pPr marL="0" indent="0">
              <a:buNone/>
            </a:pPr>
            <a:r>
              <a:rPr lang="en-US" sz="1300" b="1" kern="0" spc="180" dirty="0">
                <a:solidFill>
                  <a:srgbClr val="9FD6E8"/>
                </a:solidFill>
                <a:latin typeface="Calibri" pitchFamily="34" charset="0"/>
                <a:ea typeface="Calibri" pitchFamily="34" charset="-122"/>
                <a:cs typeface="Calibri" pitchFamily="34" charset="-120"/>
              </a:rPr>
              <a:t>PROMPT FUNDAMENTALS</a:t>
            </a:r>
            <a:endParaRPr lang="en-US" sz="1300" dirty="0"/>
          </a:p>
        </p:txBody>
      </p:sp>
      <p:sp>
        <p:nvSpPr>
          <p:cNvPr id="7" name="Text 5"/>
          <p:cNvSpPr txBox="1"/>
          <p:nvPr/>
        </p:nvSpPr>
        <p:spPr>
          <a:xfrm>
            <a:off x="777240" y="3246120"/>
            <a:ext cx="9692640" cy="1463040"/>
          </a:xfrm>
          <a:prstGeom prst="rect">
            <a:avLst/>
          </a:prstGeom>
          <a:noFill/>
          <a:ln/>
        </p:spPr>
        <p:txBody>
          <a:bodyPr wrap="square" lIns="0" tIns="0" rIns="0" bIns="0" rtlCol="0" anchor="ctr"/>
          <a:lstStyle/>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Anatomy of</a:t>
            </a:r>
            <a:endParaRPr lang="en-US" sz="3600" dirty="0"/>
          </a:p>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a Good Prompt</a:t>
            </a:r>
            <a:endParaRPr lang="en-US" sz="3600" dirty="0"/>
          </a:p>
        </p:txBody>
      </p:sp>
      <p:sp>
        <p:nvSpPr>
          <p:cNvPr id="8" name="Text 6"/>
          <p:cNvSpPr txBox="1"/>
          <p:nvPr/>
        </p:nvSpPr>
        <p:spPr>
          <a:xfrm>
            <a:off x="822960" y="4709160"/>
            <a:ext cx="8686800" cy="731520"/>
          </a:xfrm>
          <a:prstGeom prst="rect">
            <a:avLst/>
          </a:prstGeom>
          <a:noFill/>
          <a:ln/>
        </p:spPr>
        <p:txBody>
          <a:bodyPr wrap="square" lIns="0" tIns="0" rIns="0" bIns="0" rtlCol="0" anchor="ctr"/>
          <a:lstStyle/>
          <a:p>
            <a:pPr marL="0" indent="0">
              <a:lnSpc>
                <a:spcPct val="125000"/>
              </a:lnSpc>
              <a:buNone/>
            </a:pPr>
            <a:r>
              <a:rPr lang="en-US" sz="1500" i="1" dirty="0">
                <a:solidFill>
                  <a:srgbClr val="C9D6E3"/>
                </a:solidFill>
                <a:latin typeface="Calibri" pitchFamily="34" charset="0"/>
                <a:ea typeface="Calibri" pitchFamily="34" charset="-122"/>
                <a:cs typeface="Calibri" pitchFamily="34" charset="-120"/>
              </a:rPr>
              <a:t>Four building blocks — context, clear instruction, desired format and constraints — that separate a vague prompt from a great one.</a:t>
            </a:r>
            <a:endParaRPr lang="en-US" sz="1500" dirty="0"/>
          </a:p>
        </p:txBody>
      </p:sp>
      <p:sp>
        <p:nvSpPr>
          <p:cNvPr id="9" name="Shape 7"/>
          <p:cNvSpPr/>
          <p:nvPr/>
        </p:nvSpPr>
        <p:spPr>
          <a:xfrm>
            <a:off x="10195560" y="685800"/>
            <a:ext cx="1143000" cy="1143000"/>
          </a:xfrm>
          <a:prstGeom prst="ellipse">
            <a:avLst/>
          </a:prstGeom>
          <a:solidFill>
            <a:srgbClr val="1C7293"/>
          </a:solidFill>
          <a:ln/>
        </p:spPr>
      </p:sp>
      <p:pic>
        <p:nvPicPr>
          <p:cNvPr id="10" name="Image 0" descr="icons/puzzle.png"/>
          <p:cNvPicPr>
            <a:picLocks noChangeAspect="1"/>
          </p:cNvPicPr>
          <p:nvPr/>
        </p:nvPicPr>
        <p:blipFill>
          <a:blip r:embed="rId3"/>
          <a:stretch>
            <a:fillRect/>
          </a:stretch>
        </p:blipFill>
        <p:spPr>
          <a:xfrm>
            <a:off x="10492740" y="982980"/>
            <a:ext cx="548640" cy="548640"/>
          </a:xfrm>
          <a:prstGeom prst="rect">
            <a:avLst/>
          </a:prstGeom>
        </p:spPr>
      </p:pic>
      <p:sp>
        <p:nvSpPr>
          <p:cNvPr id="11" name="Text 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9FD6E8"/>
                </a:solidFill>
                <a:latin typeface="Calibri" pitchFamily="34" charset="0"/>
                <a:ea typeface="Calibri" pitchFamily="34" charset="-122"/>
                <a:cs typeface="Calibri" pitchFamily="34" charset="-120"/>
              </a:rPr>
              <a:t>Part 1 · Prompt Fundamentals</a:t>
            </a:r>
            <a:endParaRPr lang="en-US" sz="950" dirty="0"/>
          </a:p>
        </p:txBody>
      </p:sp>
      <p:sp>
        <p:nvSpPr>
          <p:cNvPr id="12" name="Text 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9FD6E8"/>
                </a:solidFill>
                <a:latin typeface="Calibri" pitchFamily="34" charset="0"/>
                <a:ea typeface="Calibri" pitchFamily="34" charset="-122"/>
                <a:cs typeface="Calibri" pitchFamily="34" charset="-120"/>
              </a:rPr>
              <a:t>4</a:t>
            </a:r>
            <a:endParaRPr lang="en-US" sz="95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1 · PROMPT FUNDAMENTALS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The Four Building Blocks</a:t>
            </a:r>
            <a:endParaRPr lang="en-US" sz="3200" dirty="0"/>
          </a:p>
        </p:txBody>
      </p:sp>
      <p:sp>
        <p:nvSpPr>
          <p:cNvPr id="4" name="Shape 2"/>
          <p:cNvSpPr/>
          <p:nvPr/>
        </p:nvSpPr>
        <p:spPr>
          <a:xfrm>
            <a:off x="548640"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41248" y="2212848"/>
            <a:ext cx="658368" cy="658368"/>
          </a:xfrm>
          <a:prstGeom prst="ellipse">
            <a:avLst/>
          </a:prstGeom>
          <a:solidFill>
            <a:srgbClr val="1C7293"/>
          </a:solidFill>
          <a:ln/>
        </p:spPr>
      </p:sp>
      <p:pic>
        <p:nvPicPr>
          <p:cNvPr id="6" name="Image 0" descr="icons/book.png"/>
          <p:cNvPicPr>
            <a:picLocks noChangeAspect="1"/>
          </p:cNvPicPr>
          <p:nvPr/>
        </p:nvPicPr>
        <p:blipFill>
          <a:blip r:embed="rId3"/>
          <a:stretch>
            <a:fillRect/>
          </a:stretch>
        </p:blipFill>
        <p:spPr>
          <a:xfrm>
            <a:off x="1012424" y="2384024"/>
            <a:ext cx="316017" cy="316017"/>
          </a:xfrm>
          <a:prstGeom prst="rect">
            <a:avLst/>
          </a:prstGeom>
        </p:spPr>
      </p:pic>
      <p:sp>
        <p:nvSpPr>
          <p:cNvPr id="7" name="Text 4"/>
          <p:cNvSpPr txBox="1"/>
          <p:nvPr/>
        </p:nvSpPr>
        <p:spPr>
          <a:xfrm>
            <a:off x="1645920"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1. Context</a:t>
            </a:r>
            <a:endParaRPr lang="en-US" sz="1650" dirty="0"/>
          </a:p>
        </p:txBody>
      </p:sp>
      <p:sp>
        <p:nvSpPr>
          <p:cNvPr id="8" name="Text 5"/>
          <p:cNvSpPr txBox="1"/>
          <p:nvPr/>
        </p:nvSpPr>
        <p:spPr>
          <a:xfrm>
            <a:off x="841248"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Who is this for, and what background does the AI need to know?</a:t>
            </a:r>
            <a:endParaRPr lang="en-US" sz="1200" dirty="0"/>
          </a:p>
        </p:txBody>
      </p:sp>
      <p:sp>
        <p:nvSpPr>
          <p:cNvPr id="9" name="Shape 6"/>
          <p:cNvSpPr/>
          <p:nvPr/>
        </p:nvSpPr>
        <p:spPr>
          <a:xfrm>
            <a:off x="6254496"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Shape 7"/>
          <p:cNvSpPr/>
          <p:nvPr/>
        </p:nvSpPr>
        <p:spPr>
          <a:xfrm>
            <a:off x="6547104" y="2212848"/>
            <a:ext cx="658368" cy="658368"/>
          </a:xfrm>
          <a:prstGeom prst="ellipse">
            <a:avLst/>
          </a:prstGeom>
          <a:solidFill>
            <a:srgbClr val="1C7293"/>
          </a:solidFill>
          <a:ln/>
        </p:spPr>
      </p:sp>
      <p:pic>
        <p:nvPicPr>
          <p:cNvPr id="11" name="Image 1" descr="icons/bullseye.png"/>
          <p:cNvPicPr>
            <a:picLocks noChangeAspect="1"/>
          </p:cNvPicPr>
          <p:nvPr/>
        </p:nvPicPr>
        <p:blipFill>
          <a:blip r:embed="rId4"/>
          <a:stretch>
            <a:fillRect/>
          </a:stretch>
        </p:blipFill>
        <p:spPr>
          <a:xfrm>
            <a:off x="6718280" y="2384024"/>
            <a:ext cx="316017" cy="316017"/>
          </a:xfrm>
          <a:prstGeom prst="rect">
            <a:avLst/>
          </a:prstGeom>
        </p:spPr>
      </p:pic>
      <p:sp>
        <p:nvSpPr>
          <p:cNvPr id="12" name="Text 8"/>
          <p:cNvSpPr txBox="1"/>
          <p:nvPr/>
        </p:nvSpPr>
        <p:spPr>
          <a:xfrm>
            <a:off x="7351776"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2. Clear Instruction</a:t>
            </a:r>
            <a:endParaRPr lang="en-US" sz="1650" dirty="0"/>
          </a:p>
        </p:txBody>
      </p:sp>
      <p:sp>
        <p:nvSpPr>
          <p:cNvPr id="13" name="Text 9"/>
          <p:cNvSpPr txBox="1"/>
          <p:nvPr/>
        </p:nvSpPr>
        <p:spPr>
          <a:xfrm>
            <a:off x="6547104"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The specific action you want the AI to actually perform.</a:t>
            </a:r>
            <a:endParaRPr lang="en-US" sz="1200" dirty="0"/>
          </a:p>
        </p:txBody>
      </p:sp>
      <p:sp>
        <p:nvSpPr>
          <p:cNvPr id="14" name="Shape 10"/>
          <p:cNvSpPr/>
          <p:nvPr/>
        </p:nvSpPr>
        <p:spPr>
          <a:xfrm>
            <a:off x="548640"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Shape 11"/>
          <p:cNvSpPr/>
          <p:nvPr/>
        </p:nvSpPr>
        <p:spPr>
          <a:xfrm>
            <a:off x="841248" y="4681728"/>
            <a:ext cx="658368" cy="658368"/>
          </a:xfrm>
          <a:prstGeom prst="ellipse">
            <a:avLst/>
          </a:prstGeom>
          <a:solidFill>
            <a:srgbClr val="1C7293"/>
          </a:solidFill>
          <a:ln/>
        </p:spPr>
      </p:sp>
      <p:pic>
        <p:nvPicPr>
          <p:cNvPr id="16" name="Image 2" descr="icons/filealt.png"/>
          <p:cNvPicPr>
            <a:picLocks noChangeAspect="1"/>
          </p:cNvPicPr>
          <p:nvPr/>
        </p:nvPicPr>
        <p:blipFill>
          <a:blip r:embed="rId5"/>
          <a:stretch>
            <a:fillRect/>
          </a:stretch>
        </p:blipFill>
        <p:spPr>
          <a:xfrm>
            <a:off x="1012424" y="4852904"/>
            <a:ext cx="316017" cy="316017"/>
          </a:xfrm>
          <a:prstGeom prst="rect">
            <a:avLst/>
          </a:prstGeom>
        </p:spPr>
      </p:pic>
      <p:sp>
        <p:nvSpPr>
          <p:cNvPr id="17" name="Text 12"/>
          <p:cNvSpPr txBox="1"/>
          <p:nvPr/>
        </p:nvSpPr>
        <p:spPr>
          <a:xfrm>
            <a:off x="1645920"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3. Desired Format</a:t>
            </a:r>
            <a:endParaRPr lang="en-US" sz="1650" dirty="0"/>
          </a:p>
        </p:txBody>
      </p:sp>
      <p:sp>
        <p:nvSpPr>
          <p:cNvPr id="18" name="Text 13"/>
          <p:cNvSpPr txBox="1"/>
          <p:nvPr/>
        </p:nvSpPr>
        <p:spPr>
          <a:xfrm>
            <a:off x="841248"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How the output should be structured — list, table, word count, tone.</a:t>
            </a:r>
            <a:endParaRPr lang="en-US" sz="1200" dirty="0"/>
          </a:p>
        </p:txBody>
      </p:sp>
      <p:sp>
        <p:nvSpPr>
          <p:cNvPr id="19" name="Shape 14"/>
          <p:cNvSpPr/>
          <p:nvPr/>
        </p:nvSpPr>
        <p:spPr>
          <a:xfrm>
            <a:off x="6254496"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0" name="Shape 15"/>
          <p:cNvSpPr/>
          <p:nvPr/>
        </p:nvSpPr>
        <p:spPr>
          <a:xfrm>
            <a:off x="6547104" y="4681728"/>
            <a:ext cx="658368" cy="658368"/>
          </a:xfrm>
          <a:prstGeom prst="ellipse">
            <a:avLst/>
          </a:prstGeom>
          <a:solidFill>
            <a:srgbClr val="1C7293"/>
          </a:solidFill>
          <a:ln/>
        </p:spPr>
      </p:sp>
      <p:pic>
        <p:nvPicPr>
          <p:cNvPr id="21" name="Image 3" descr="icons/shield.png"/>
          <p:cNvPicPr>
            <a:picLocks noChangeAspect="1"/>
          </p:cNvPicPr>
          <p:nvPr/>
        </p:nvPicPr>
        <p:blipFill>
          <a:blip r:embed="rId6"/>
          <a:stretch>
            <a:fillRect/>
          </a:stretch>
        </p:blipFill>
        <p:spPr>
          <a:xfrm>
            <a:off x="6718280" y="4852904"/>
            <a:ext cx="316017" cy="316017"/>
          </a:xfrm>
          <a:prstGeom prst="rect">
            <a:avLst/>
          </a:prstGeom>
        </p:spPr>
      </p:pic>
      <p:sp>
        <p:nvSpPr>
          <p:cNvPr id="22" name="Text 16"/>
          <p:cNvSpPr txBox="1"/>
          <p:nvPr/>
        </p:nvSpPr>
        <p:spPr>
          <a:xfrm>
            <a:off x="7351776"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4. Constraints</a:t>
            </a:r>
            <a:endParaRPr lang="en-US" sz="1650" dirty="0"/>
          </a:p>
        </p:txBody>
      </p:sp>
      <p:sp>
        <p:nvSpPr>
          <p:cNvPr id="23" name="Text 17"/>
          <p:cNvSpPr txBox="1"/>
          <p:nvPr/>
        </p:nvSpPr>
        <p:spPr>
          <a:xfrm>
            <a:off x="6547104"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Boundaries and rules the output must respect or avoid.</a:t>
            </a:r>
            <a:endParaRPr lang="en-US" sz="1200" dirty="0"/>
          </a:p>
        </p:txBody>
      </p:sp>
      <p:sp>
        <p:nvSpPr>
          <p:cNvPr id="24" name="Text 1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Part 1 · Prompt Fundamentals</a:t>
            </a:r>
            <a:endParaRPr lang="en-US" sz="950" dirty="0"/>
          </a:p>
        </p:txBody>
      </p:sp>
      <p:sp>
        <p:nvSpPr>
          <p:cNvPr id="25" name="Text 1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5</a:t>
            </a:r>
            <a:endParaRPr lang="en-US" sz="95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1 · PROMPT FUNDAMENTALS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Context</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50" i="1" dirty="0">
                <a:solidFill>
                  <a:srgbClr val="8A94A0"/>
                </a:solidFill>
                <a:latin typeface="Calibri" pitchFamily="34" charset="0"/>
                <a:ea typeface="Calibri" pitchFamily="34" charset="-122"/>
                <a:cs typeface="Calibri" pitchFamily="34" charset="-120"/>
              </a:rPr>
              <a:t>Give the AI the background it cannot otherwise guess</a:t>
            </a:r>
            <a:endParaRPr lang="en-US" sz="1450" dirty="0"/>
          </a:p>
        </p:txBody>
      </p:sp>
      <p:sp>
        <p:nvSpPr>
          <p:cNvPr id="5" name="Shape 3"/>
          <p:cNvSpPr/>
          <p:nvPr/>
        </p:nvSpPr>
        <p:spPr>
          <a:xfrm>
            <a:off x="548640" y="1965960"/>
            <a:ext cx="6720840"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6" name="Text 4"/>
          <p:cNvSpPr txBox="1"/>
          <p:nvPr/>
        </p:nvSpPr>
        <p:spPr>
          <a:xfrm>
            <a:off x="868680" y="2212848"/>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SIMPLE DEFINITION</a:t>
            </a:r>
            <a:endParaRPr lang="en-US" sz="1050" dirty="0"/>
          </a:p>
        </p:txBody>
      </p:sp>
      <p:sp>
        <p:nvSpPr>
          <p:cNvPr id="7" name="Text 5"/>
          <p:cNvSpPr txBox="1"/>
          <p:nvPr/>
        </p:nvSpPr>
        <p:spPr>
          <a:xfrm>
            <a:off x="868680" y="2542032"/>
            <a:ext cx="6080760" cy="1417320"/>
          </a:xfrm>
          <a:prstGeom prst="rect">
            <a:avLst/>
          </a:prstGeom>
          <a:noFill/>
          <a:ln/>
        </p:spPr>
        <p:txBody>
          <a:bodyPr wrap="square" lIns="0" tIns="0" rIns="0" bIns="0" rtlCol="0" anchor="t"/>
          <a:lstStyle/>
          <a:p>
            <a:pPr marL="0" indent="0">
              <a:lnSpc>
                <a:spcPct val="122000"/>
              </a:lnSpc>
              <a:buNone/>
            </a:pPr>
            <a:r>
              <a:rPr lang="en-US" sz="1550" dirty="0">
                <a:solidFill>
                  <a:srgbClr val="1B2A4A"/>
                </a:solidFill>
                <a:latin typeface="Calibri" pitchFamily="34" charset="0"/>
                <a:ea typeface="Calibri" pitchFamily="34" charset="-122"/>
                <a:cs typeface="Calibri" pitchFamily="34" charset="-120"/>
              </a:rPr>
              <a:t>Context tells the AI who the audience is, what subject or situation you are working in, and any background facts it needs before it can respond usefully. Without context, the AI has to guess — and usually guesses for a generic audience.</a:t>
            </a:r>
            <a:endParaRPr lang="en-US" sz="1550" dirty="0"/>
          </a:p>
        </p:txBody>
      </p:sp>
      <p:sp>
        <p:nvSpPr>
          <p:cNvPr id="8" name="Shape 6"/>
          <p:cNvSpPr/>
          <p:nvPr/>
        </p:nvSpPr>
        <p:spPr>
          <a:xfrm>
            <a:off x="868680" y="4041648"/>
            <a:ext cx="6080760" cy="0"/>
          </a:xfrm>
          <a:prstGeom prst="line">
            <a:avLst/>
          </a:prstGeom>
          <a:noFill/>
          <a:ln w="12700">
            <a:solidFill>
              <a:srgbClr val="E2E6EA"/>
            </a:solidFill>
            <a:prstDash val="solid"/>
          </a:ln>
        </p:spPr>
      </p:sp>
      <p:sp>
        <p:nvSpPr>
          <p:cNvPr id="9" name="Text 7"/>
          <p:cNvSpPr txBox="1"/>
          <p:nvPr/>
        </p:nvSpPr>
        <p:spPr>
          <a:xfrm>
            <a:off x="868680" y="4187952"/>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EXAMPLE</a:t>
            </a:r>
            <a:endParaRPr lang="en-US" sz="1050" dirty="0"/>
          </a:p>
        </p:txBody>
      </p:sp>
      <p:sp>
        <p:nvSpPr>
          <p:cNvPr id="10" name="Text 8"/>
          <p:cNvSpPr txBox="1"/>
          <p:nvPr/>
        </p:nvSpPr>
        <p:spPr>
          <a:xfrm>
            <a:off x="868680" y="4517136"/>
            <a:ext cx="6080760" cy="1463040"/>
          </a:xfrm>
          <a:prstGeom prst="rect">
            <a:avLst/>
          </a:prstGeom>
          <a:noFill/>
          <a:ln/>
        </p:spPr>
        <p:txBody>
          <a:bodyPr wrap="square" lIns="0" tIns="0" rIns="0" bIns="0" rtlCol="0" anchor="t"/>
          <a:lstStyle/>
          <a:p>
            <a:pPr marL="0" indent="0">
              <a:lnSpc>
                <a:spcPct val="122000"/>
              </a:lnSpc>
              <a:buNone/>
            </a:pPr>
            <a:r>
              <a:rPr lang="en-US" sz="1350" dirty="0">
                <a:solidFill>
                  <a:srgbClr val="55606C"/>
                </a:solidFill>
                <a:latin typeface="Calibri" pitchFamily="34" charset="0"/>
                <a:ea typeface="Calibri" pitchFamily="34" charset="-122"/>
                <a:cs typeface="Calibri" pitchFamily="34" charset="-120"/>
              </a:rPr>
              <a:t>"I teach a second-year Thermodynamics course. My students have completed basic calculus but have not yet studied entropy." This single sentence reshapes everything the AI generates next.</a:t>
            </a:r>
            <a:endParaRPr lang="en-US" sz="1350" dirty="0"/>
          </a:p>
        </p:txBody>
      </p:sp>
      <p:sp>
        <p:nvSpPr>
          <p:cNvPr id="11" name="Shape 9"/>
          <p:cNvSpPr/>
          <p:nvPr/>
        </p:nvSpPr>
        <p:spPr>
          <a:xfrm>
            <a:off x="7635240" y="1965960"/>
            <a:ext cx="1143000" cy="1143000"/>
          </a:xfrm>
          <a:prstGeom prst="ellipse">
            <a:avLst/>
          </a:prstGeom>
          <a:solidFill>
            <a:srgbClr val="1C7293"/>
          </a:solidFill>
          <a:ln/>
        </p:spPr>
      </p:sp>
      <p:pic>
        <p:nvPicPr>
          <p:cNvPr id="12" name="Image 0" descr="icons/book.png"/>
          <p:cNvPicPr>
            <a:picLocks noChangeAspect="1"/>
          </p:cNvPicPr>
          <p:nvPr/>
        </p:nvPicPr>
        <p:blipFill>
          <a:blip r:embed="rId3"/>
          <a:stretch>
            <a:fillRect/>
          </a:stretch>
        </p:blipFill>
        <p:spPr>
          <a:xfrm>
            <a:off x="7932420" y="2263140"/>
            <a:ext cx="548640" cy="548640"/>
          </a:xfrm>
          <a:prstGeom prst="rect">
            <a:avLst/>
          </a:prstGeom>
        </p:spPr>
      </p:pic>
      <p:sp>
        <p:nvSpPr>
          <p:cNvPr id="13" name="Shape 10"/>
          <p:cNvSpPr/>
          <p:nvPr/>
        </p:nvSpPr>
        <p:spPr>
          <a:xfrm>
            <a:off x="7406640" y="3337560"/>
            <a:ext cx="420624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4" name="Text 11"/>
          <p:cNvSpPr txBox="1"/>
          <p:nvPr/>
        </p:nvSpPr>
        <p:spPr>
          <a:xfrm>
            <a:off x="7699248" y="3547872"/>
            <a:ext cx="36576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KEY POINTS</a:t>
            </a:r>
            <a:endParaRPr lang="en-US" sz="1050" dirty="0"/>
          </a:p>
        </p:txBody>
      </p:sp>
      <p:sp>
        <p:nvSpPr>
          <p:cNvPr id="15" name="Text 12"/>
          <p:cNvSpPr txBox="1"/>
          <p:nvPr/>
        </p:nvSpPr>
        <p:spPr>
          <a:xfrm>
            <a:off x="7699248" y="3858768"/>
            <a:ext cx="374904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Answers: who is this for, and in what setting?</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Include discipline, level, and any relevant constraints up front</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The single highest-impact addition to a weak prompt</a:t>
            </a:r>
            <a:endParaRPr lang="en-US" sz="1250" dirty="0"/>
          </a:p>
        </p:txBody>
      </p:sp>
      <p:sp>
        <p:nvSpPr>
          <p:cNvPr id="16" name="Text 1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Prompt Fundamentals</a:t>
            </a:r>
            <a:endParaRPr lang="en-US" sz="950" dirty="0"/>
          </a:p>
        </p:txBody>
      </p:sp>
      <p:sp>
        <p:nvSpPr>
          <p:cNvPr id="17" name="Text 1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6</a:t>
            </a:r>
            <a:endParaRPr lang="en-US" sz="95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1 · PROMPT FUNDAMENTALS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Clear Instruction</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50" i="1" dirty="0">
                <a:solidFill>
                  <a:srgbClr val="8A94A0"/>
                </a:solidFill>
                <a:latin typeface="Calibri" pitchFamily="34" charset="0"/>
                <a:ea typeface="Calibri" pitchFamily="34" charset="-122"/>
                <a:cs typeface="Calibri" pitchFamily="34" charset="-120"/>
              </a:rPr>
              <a:t>State exactly what action you want performed</a:t>
            </a:r>
            <a:endParaRPr lang="en-US" sz="1450" dirty="0"/>
          </a:p>
        </p:txBody>
      </p:sp>
      <p:sp>
        <p:nvSpPr>
          <p:cNvPr id="5" name="Shape 3"/>
          <p:cNvSpPr/>
          <p:nvPr/>
        </p:nvSpPr>
        <p:spPr>
          <a:xfrm>
            <a:off x="548640" y="1965960"/>
            <a:ext cx="6720840"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6" name="Text 4"/>
          <p:cNvSpPr txBox="1"/>
          <p:nvPr/>
        </p:nvSpPr>
        <p:spPr>
          <a:xfrm>
            <a:off x="868680" y="2212848"/>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SIMPLE DEFINITION</a:t>
            </a:r>
            <a:endParaRPr lang="en-US" sz="1050" dirty="0"/>
          </a:p>
        </p:txBody>
      </p:sp>
      <p:sp>
        <p:nvSpPr>
          <p:cNvPr id="7" name="Text 5"/>
          <p:cNvSpPr txBox="1"/>
          <p:nvPr/>
        </p:nvSpPr>
        <p:spPr>
          <a:xfrm>
            <a:off x="868680" y="2542032"/>
            <a:ext cx="6080760" cy="1417320"/>
          </a:xfrm>
          <a:prstGeom prst="rect">
            <a:avLst/>
          </a:prstGeom>
          <a:noFill/>
          <a:ln/>
        </p:spPr>
        <p:txBody>
          <a:bodyPr wrap="square" lIns="0" tIns="0" rIns="0" bIns="0" rtlCol="0" anchor="t"/>
          <a:lstStyle/>
          <a:p>
            <a:pPr marL="0" indent="0">
              <a:lnSpc>
                <a:spcPct val="122000"/>
              </a:lnSpc>
              <a:buNone/>
            </a:pPr>
            <a:r>
              <a:rPr lang="en-US" sz="1550" dirty="0">
                <a:solidFill>
                  <a:srgbClr val="1B2A4A"/>
                </a:solidFill>
                <a:latin typeface="Calibri" pitchFamily="34" charset="0"/>
                <a:ea typeface="Calibri" pitchFamily="34" charset="-122"/>
                <a:cs typeface="Calibri" pitchFamily="34" charset="-120"/>
              </a:rPr>
              <a:t>The instruction is the specific task you want done — expressed as a direct action verb (explain, summarise, generate, critique, translate) rather than a vague topic statement. A prompt without a clear instruction leaves the AI to guess your intent.</a:t>
            </a:r>
            <a:endParaRPr lang="en-US" sz="1550" dirty="0"/>
          </a:p>
        </p:txBody>
      </p:sp>
      <p:sp>
        <p:nvSpPr>
          <p:cNvPr id="8" name="Shape 6"/>
          <p:cNvSpPr/>
          <p:nvPr/>
        </p:nvSpPr>
        <p:spPr>
          <a:xfrm>
            <a:off x="868680" y="4041648"/>
            <a:ext cx="6080760" cy="0"/>
          </a:xfrm>
          <a:prstGeom prst="line">
            <a:avLst/>
          </a:prstGeom>
          <a:noFill/>
          <a:ln w="12700">
            <a:solidFill>
              <a:srgbClr val="E2E6EA"/>
            </a:solidFill>
            <a:prstDash val="solid"/>
          </a:ln>
        </p:spPr>
      </p:sp>
      <p:sp>
        <p:nvSpPr>
          <p:cNvPr id="9" name="Text 7"/>
          <p:cNvSpPr txBox="1"/>
          <p:nvPr/>
        </p:nvSpPr>
        <p:spPr>
          <a:xfrm>
            <a:off x="868680" y="4187952"/>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EXAMPLE</a:t>
            </a:r>
            <a:endParaRPr lang="en-US" sz="1050" dirty="0"/>
          </a:p>
        </p:txBody>
      </p:sp>
      <p:sp>
        <p:nvSpPr>
          <p:cNvPr id="10" name="Text 8"/>
          <p:cNvSpPr txBox="1"/>
          <p:nvPr/>
        </p:nvSpPr>
        <p:spPr>
          <a:xfrm>
            <a:off x="868680" y="4517136"/>
            <a:ext cx="6080760" cy="1463040"/>
          </a:xfrm>
          <a:prstGeom prst="rect">
            <a:avLst/>
          </a:prstGeom>
          <a:noFill/>
          <a:ln/>
        </p:spPr>
        <p:txBody>
          <a:bodyPr wrap="square" lIns="0" tIns="0" rIns="0" bIns="0" rtlCol="0" anchor="t"/>
          <a:lstStyle/>
          <a:p>
            <a:pPr marL="0" indent="0">
              <a:lnSpc>
                <a:spcPct val="122000"/>
              </a:lnSpc>
              <a:buNone/>
            </a:pPr>
            <a:r>
              <a:rPr lang="en-US" sz="1350" dirty="0">
                <a:solidFill>
                  <a:srgbClr val="55606C"/>
                </a:solidFill>
                <a:latin typeface="Calibri" pitchFamily="34" charset="0"/>
                <a:ea typeface="Calibri" pitchFamily="34" charset="-122"/>
                <a:cs typeface="Calibri" pitchFamily="34" charset="-120"/>
              </a:rPr>
              <a:t>Instead of "photosynthesis," write: "Explain photosynthesis in three short paragraphs suitable for a Grade 9 biology class." The verb "explain" plus a target audience removes all ambiguity.</a:t>
            </a:r>
            <a:endParaRPr lang="en-US" sz="1350" dirty="0"/>
          </a:p>
        </p:txBody>
      </p:sp>
      <p:sp>
        <p:nvSpPr>
          <p:cNvPr id="11" name="Shape 9"/>
          <p:cNvSpPr/>
          <p:nvPr/>
        </p:nvSpPr>
        <p:spPr>
          <a:xfrm>
            <a:off x="7635240" y="1965960"/>
            <a:ext cx="1143000" cy="1143000"/>
          </a:xfrm>
          <a:prstGeom prst="ellipse">
            <a:avLst/>
          </a:prstGeom>
          <a:solidFill>
            <a:srgbClr val="1C7293"/>
          </a:solidFill>
          <a:ln/>
        </p:spPr>
      </p:sp>
      <p:pic>
        <p:nvPicPr>
          <p:cNvPr id="12" name="Image 0" descr="icons/bullseye.png"/>
          <p:cNvPicPr>
            <a:picLocks noChangeAspect="1"/>
          </p:cNvPicPr>
          <p:nvPr/>
        </p:nvPicPr>
        <p:blipFill>
          <a:blip r:embed="rId3"/>
          <a:stretch>
            <a:fillRect/>
          </a:stretch>
        </p:blipFill>
        <p:spPr>
          <a:xfrm>
            <a:off x="7932420" y="2263140"/>
            <a:ext cx="548640" cy="548640"/>
          </a:xfrm>
          <a:prstGeom prst="rect">
            <a:avLst/>
          </a:prstGeom>
        </p:spPr>
      </p:pic>
      <p:sp>
        <p:nvSpPr>
          <p:cNvPr id="13" name="Shape 10"/>
          <p:cNvSpPr/>
          <p:nvPr/>
        </p:nvSpPr>
        <p:spPr>
          <a:xfrm>
            <a:off x="7406640" y="3337560"/>
            <a:ext cx="420624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4" name="Text 11"/>
          <p:cNvSpPr txBox="1"/>
          <p:nvPr/>
        </p:nvSpPr>
        <p:spPr>
          <a:xfrm>
            <a:off x="7699248" y="3547872"/>
            <a:ext cx="36576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KEY POINTS</a:t>
            </a:r>
            <a:endParaRPr lang="en-US" sz="1050" dirty="0"/>
          </a:p>
        </p:txBody>
      </p:sp>
      <p:sp>
        <p:nvSpPr>
          <p:cNvPr id="15" name="Text 12"/>
          <p:cNvSpPr txBox="1"/>
          <p:nvPr/>
        </p:nvSpPr>
        <p:spPr>
          <a:xfrm>
            <a:off x="7699248" y="3858768"/>
            <a:ext cx="374904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Start with an action verb: explain, list, compare, critique, draft</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One instruction per prompt works better than several bundled together</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Vague topics produce vague, unfocused answers</a:t>
            </a:r>
            <a:endParaRPr lang="en-US" sz="1250" dirty="0"/>
          </a:p>
        </p:txBody>
      </p:sp>
      <p:sp>
        <p:nvSpPr>
          <p:cNvPr id="16" name="Text 1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Prompt Fundamentals</a:t>
            </a:r>
            <a:endParaRPr lang="en-US" sz="950" dirty="0"/>
          </a:p>
        </p:txBody>
      </p:sp>
      <p:sp>
        <p:nvSpPr>
          <p:cNvPr id="17" name="Text 1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7</a:t>
            </a:r>
            <a:endParaRPr lang="en-US" sz="95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1 · PROMPT FUNDAMENTALS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Desired Format</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50" i="1" dirty="0">
                <a:solidFill>
                  <a:srgbClr val="8A94A0"/>
                </a:solidFill>
                <a:latin typeface="Calibri" pitchFamily="34" charset="0"/>
                <a:ea typeface="Calibri" pitchFamily="34" charset="-122"/>
                <a:cs typeface="Calibri" pitchFamily="34" charset="-120"/>
              </a:rPr>
              <a:t>Describe the shape you want the answer to take</a:t>
            </a:r>
            <a:endParaRPr lang="en-US" sz="1450" dirty="0"/>
          </a:p>
        </p:txBody>
      </p:sp>
      <p:sp>
        <p:nvSpPr>
          <p:cNvPr id="5" name="Shape 3"/>
          <p:cNvSpPr/>
          <p:nvPr/>
        </p:nvSpPr>
        <p:spPr>
          <a:xfrm>
            <a:off x="548640" y="1965960"/>
            <a:ext cx="6720840"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6" name="Text 4"/>
          <p:cNvSpPr txBox="1"/>
          <p:nvPr/>
        </p:nvSpPr>
        <p:spPr>
          <a:xfrm>
            <a:off x="868680" y="2212848"/>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SIMPLE DEFINITION</a:t>
            </a:r>
            <a:endParaRPr lang="en-US" sz="1050" dirty="0"/>
          </a:p>
        </p:txBody>
      </p:sp>
      <p:sp>
        <p:nvSpPr>
          <p:cNvPr id="7" name="Text 5"/>
          <p:cNvSpPr txBox="1"/>
          <p:nvPr/>
        </p:nvSpPr>
        <p:spPr>
          <a:xfrm>
            <a:off x="868680" y="2542032"/>
            <a:ext cx="6080760" cy="1417320"/>
          </a:xfrm>
          <a:prstGeom prst="rect">
            <a:avLst/>
          </a:prstGeom>
          <a:noFill/>
          <a:ln/>
        </p:spPr>
        <p:txBody>
          <a:bodyPr wrap="square" lIns="0" tIns="0" rIns="0" bIns="0" rtlCol="0" anchor="t"/>
          <a:lstStyle/>
          <a:p>
            <a:pPr marL="0" indent="0">
              <a:lnSpc>
                <a:spcPct val="122000"/>
              </a:lnSpc>
              <a:buNone/>
            </a:pPr>
            <a:r>
              <a:rPr lang="en-US" sz="1550" dirty="0">
                <a:solidFill>
                  <a:srgbClr val="1B2A4A"/>
                </a:solidFill>
                <a:latin typeface="Calibri" pitchFamily="34" charset="0"/>
                <a:ea typeface="Calibri" pitchFamily="34" charset="-122"/>
                <a:cs typeface="Calibri" pitchFamily="34" charset="-120"/>
              </a:rPr>
              <a:t>Format specifies how the output should be structured: a bulleted list, a table, a fixed word count, a particular tone, or a template to follow. Leaving format unspecified means you will likely need to manually reformat the AI’s answer afterward.</a:t>
            </a:r>
            <a:endParaRPr lang="en-US" sz="1550" dirty="0"/>
          </a:p>
        </p:txBody>
      </p:sp>
      <p:sp>
        <p:nvSpPr>
          <p:cNvPr id="8" name="Shape 6"/>
          <p:cNvSpPr/>
          <p:nvPr/>
        </p:nvSpPr>
        <p:spPr>
          <a:xfrm>
            <a:off x="868680" y="4041648"/>
            <a:ext cx="6080760" cy="0"/>
          </a:xfrm>
          <a:prstGeom prst="line">
            <a:avLst/>
          </a:prstGeom>
          <a:noFill/>
          <a:ln w="12700">
            <a:solidFill>
              <a:srgbClr val="E2E6EA"/>
            </a:solidFill>
            <a:prstDash val="solid"/>
          </a:ln>
        </p:spPr>
      </p:sp>
      <p:sp>
        <p:nvSpPr>
          <p:cNvPr id="9" name="Text 7"/>
          <p:cNvSpPr txBox="1"/>
          <p:nvPr/>
        </p:nvSpPr>
        <p:spPr>
          <a:xfrm>
            <a:off x="868680" y="4187952"/>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EXAMPLE</a:t>
            </a:r>
            <a:endParaRPr lang="en-US" sz="1050" dirty="0"/>
          </a:p>
        </p:txBody>
      </p:sp>
      <p:sp>
        <p:nvSpPr>
          <p:cNvPr id="10" name="Text 8"/>
          <p:cNvSpPr txBox="1"/>
          <p:nvPr/>
        </p:nvSpPr>
        <p:spPr>
          <a:xfrm>
            <a:off x="868680" y="4517136"/>
            <a:ext cx="6080760" cy="1463040"/>
          </a:xfrm>
          <a:prstGeom prst="rect">
            <a:avLst/>
          </a:prstGeom>
          <a:noFill/>
          <a:ln/>
        </p:spPr>
        <p:txBody>
          <a:bodyPr wrap="square" lIns="0" tIns="0" rIns="0" bIns="0" rtlCol="0" anchor="t"/>
          <a:lstStyle/>
          <a:p>
            <a:pPr marL="0" indent="0">
              <a:lnSpc>
                <a:spcPct val="122000"/>
              </a:lnSpc>
              <a:buNone/>
            </a:pPr>
            <a:r>
              <a:rPr lang="en-US" sz="1350" dirty="0">
                <a:solidFill>
                  <a:srgbClr val="55606C"/>
                </a:solidFill>
                <a:latin typeface="Calibri" pitchFamily="34" charset="0"/>
                <a:ea typeface="Calibri" pitchFamily="34" charset="-122"/>
                <a:cs typeface="Calibri" pitchFamily="34" charset="-120"/>
              </a:rPr>
              <a:t>"Present this as a table with three columns: Concept, Definition, and Example. Keep each definition under 20 words." This produces output you can paste straight into a handout.</a:t>
            </a:r>
            <a:endParaRPr lang="en-US" sz="1350" dirty="0"/>
          </a:p>
        </p:txBody>
      </p:sp>
      <p:sp>
        <p:nvSpPr>
          <p:cNvPr id="11" name="Shape 9"/>
          <p:cNvSpPr/>
          <p:nvPr/>
        </p:nvSpPr>
        <p:spPr>
          <a:xfrm>
            <a:off x="7635240" y="1965960"/>
            <a:ext cx="1143000" cy="1143000"/>
          </a:xfrm>
          <a:prstGeom prst="ellipse">
            <a:avLst/>
          </a:prstGeom>
          <a:solidFill>
            <a:srgbClr val="1C7293"/>
          </a:solidFill>
          <a:ln/>
        </p:spPr>
      </p:sp>
      <p:pic>
        <p:nvPicPr>
          <p:cNvPr id="12" name="Image 0" descr="icons/filealt.png"/>
          <p:cNvPicPr>
            <a:picLocks noChangeAspect="1"/>
          </p:cNvPicPr>
          <p:nvPr/>
        </p:nvPicPr>
        <p:blipFill>
          <a:blip r:embed="rId3"/>
          <a:stretch>
            <a:fillRect/>
          </a:stretch>
        </p:blipFill>
        <p:spPr>
          <a:xfrm>
            <a:off x="7932420" y="2263140"/>
            <a:ext cx="548640" cy="548640"/>
          </a:xfrm>
          <a:prstGeom prst="rect">
            <a:avLst/>
          </a:prstGeom>
        </p:spPr>
      </p:pic>
      <p:sp>
        <p:nvSpPr>
          <p:cNvPr id="13" name="Shape 10"/>
          <p:cNvSpPr/>
          <p:nvPr/>
        </p:nvSpPr>
        <p:spPr>
          <a:xfrm>
            <a:off x="7406640" y="3337560"/>
            <a:ext cx="420624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4" name="Text 11"/>
          <p:cNvSpPr txBox="1"/>
          <p:nvPr/>
        </p:nvSpPr>
        <p:spPr>
          <a:xfrm>
            <a:off x="7699248" y="3547872"/>
            <a:ext cx="36576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KEY POINTS</a:t>
            </a:r>
            <a:endParaRPr lang="en-US" sz="1050" dirty="0"/>
          </a:p>
        </p:txBody>
      </p:sp>
      <p:sp>
        <p:nvSpPr>
          <p:cNvPr id="15" name="Text 12"/>
          <p:cNvSpPr txBox="1"/>
          <p:nvPr/>
        </p:nvSpPr>
        <p:spPr>
          <a:xfrm>
            <a:off x="7699248" y="3858768"/>
            <a:ext cx="374904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Specify structure: list, table, headings, word/paragraph count</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Specify tone: formal, conversational, exam-style, concise</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Saves significant reformatting time after the response arrives</a:t>
            </a:r>
            <a:endParaRPr lang="en-US" sz="1250" dirty="0"/>
          </a:p>
        </p:txBody>
      </p:sp>
      <p:sp>
        <p:nvSpPr>
          <p:cNvPr id="16" name="Text 1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Prompt Fundamentals</a:t>
            </a:r>
            <a:endParaRPr lang="en-US" sz="950" dirty="0"/>
          </a:p>
        </p:txBody>
      </p:sp>
      <p:sp>
        <p:nvSpPr>
          <p:cNvPr id="17" name="Text 1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8</a:t>
            </a:r>
            <a:endParaRPr lang="en-US" sz="95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1 · PROMPT FUNDAMENTALS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Constraints</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50" i="1" dirty="0">
                <a:solidFill>
                  <a:srgbClr val="8A94A0"/>
                </a:solidFill>
                <a:latin typeface="Calibri" pitchFamily="34" charset="0"/>
                <a:ea typeface="Calibri" pitchFamily="34" charset="-122"/>
                <a:cs typeface="Calibri" pitchFamily="34" charset="-120"/>
              </a:rPr>
              <a:t>Set the boundaries the output must respect</a:t>
            </a:r>
            <a:endParaRPr lang="en-US" sz="1450" dirty="0"/>
          </a:p>
        </p:txBody>
      </p:sp>
      <p:sp>
        <p:nvSpPr>
          <p:cNvPr id="5" name="Shape 3"/>
          <p:cNvSpPr/>
          <p:nvPr/>
        </p:nvSpPr>
        <p:spPr>
          <a:xfrm>
            <a:off x="548640" y="1965960"/>
            <a:ext cx="6720840"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6" name="Text 4"/>
          <p:cNvSpPr txBox="1"/>
          <p:nvPr/>
        </p:nvSpPr>
        <p:spPr>
          <a:xfrm>
            <a:off x="868680" y="2212848"/>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SIMPLE DEFINITION</a:t>
            </a:r>
            <a:endParaRPr lang="en-US" sz="1050" dirty="0"/>
          </a:p>
        </p:txBody>
      </p:sp>
      <p:sp>
        <p:nvSpPr>
          <p:cNvPr id="7" name="Text 5"/>
          <p:cNvSpPr txBox="1"/>
          <p:nvPr/>
        </p:nvSpPr>
        <p:spPr>
          <a:xfrm>
            <a:off x="868680" y="2542032"/>
            <a:ext cx="6080760" cy="1417320"/>
          </a:xfrm>
          <a:prstGeom prst="rect">
            <a:avLst/>
          </a:prstGeom>
          <a:noFill/>
          <a:ln/>
        </p:spPr>
        <p:txBody>
          <a:bodyPr wrap="square" lIns="0" tIns="0" rIns="0" bIns="0" rtlCol="0" anchor="t"/>
          <a:lstStyle/>
          <a:p>
            <a:pPr marL="0" indent="0">
              <a:lnSpc>
                <a:spcPct val="122000"/>
              </a:lnSpc>
              <a:buNone/>
            </a:pPr>
            <a:r>
              <a:rPr lang="en-US" sz="1550" dirty="0">
                <a:solidFill>
                  <a:srgbClr val="1B2A4A"/>
                </a:solidFill>
                <a:latin typeface="Calibri" pitchFamily="34" charset="0"/>
                <a:ea typeface="Calibri" pitchFamily="34" charset="-122"/>
                <a:cs typeface="Calibri" pitchFamily="34" charset="-120"/>
              </a:rPr>
              <a:t>Constraints are explicit rules, limits, or exclusions — length limits, reading level, what to avoid, required terminology, or ethical/academic-integrity boundaries. Constraints prevent the AI from wandering beyond what is actually useful to you.</a:t>
            </a:r>
            <a:endParaRPr lang="en-US" sz="1550" dirty="0"/>
          </a:p>
        </p:txBody>
      </p:sp>
      <p:sp>
        <p:nvSpPr>
          <p:cNvPr id="8" name="Shape 6"/>
          <p:cNvSpPr/>
          <p:nvPr/>
        </p:nvSpPr>
        <p:spPr>
          <a:xfrm>
            <a:off x="868680" y="4041648"/>
            <a:ext cx="6080760" cy="0"/>
          </a:xfrm>
          <a:prstGeom prst="line">
            <a:avLst/>
          </a:prstGeom>
          <a:noFill/>
          <a:ln w="12700">
            <a:solidFill>
              <a:srgbClr val="E2E6EA"/>
            </a:solidFill>
            <a:prstDash val="solid"/>
          </a:ln>
        </p:spPr>
      </p:sp>
      <p:sp>
        <p:nvSpPr>
          <p:cNvPr id="9" name="Text 7"/>
          <p:cNvSpPr txBox="1"/>
          <p:nvPr/>
        </p:nvSpPr>
        <p:spPr>
          <a:xfrm>
            <a:off x="868680" y="4187952"/>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EXAMPLE</a:t>
            </a:r>
            <a:endParaRPr lang="en-US" sz="1050" dirty="0"/>
          </a:p>
        </p:txBody>
      </p:sp>
      <p:sp>
        <p:nvSpPr>
          <p:cNvPr id="10" name="Text 8"/>
          <p:cNvSpPr txBox="1"/>
          <p:nvPr/>
        </p:nvSpPr>
        <p:spPr>
          <a:xfrm>
            <a:off x="868680" y="4517136"/>
            <a:ext cx="6080760" cy="1463040"/>
          </a:xfrm>
          <a:prstGeom prst="rect">
            <a:avLst/>
          </a:prstGeom>
          <a:noFill/>
          <a:ln/>
        </p:spPr>
        <p:txBody>
          <a:bodyPr wrap="square" lIns="0" tIns="0" rIns="0" bIns="0" rtlCol="0" anchor="t"/>
          <a:lstStyle/>
          <a:p>
            <a:pPr marL="0" indent="0">
              <a:lnSpc>
                <a:spcPct val="122000"/>
              </a:lnSpc>
              <a:buNone/>
            </a:pPr>
            <a:r>
              <a:rPr lang="en-US" sz="1350" dirty="0">
                <a:solidFill>
                  <a:srgbClr val="55606C"/>
                </a:solidFill>
                <a:latin typeface="Calibri" pitchFamily="34" charset="0"/>
                <a:ea typeface="Calibri" pitchFamily="34" charset="-122"/>
                <a:cs typeface="Calibri" pitchFamily="34" charset="-120"/>
              </a:rPr>
              <a:t>"Do not use any statistical jargon beyond what is covered in an introductory course. Keep the explanation under 150 words and avoid analogies involving sports." Precise limits, precise output.</a:t>
            </a:r>
            <a:endParaRPr lang="en-US" sz="1350" dirty="0"/>
          </a:p>
        </p:txBody>
      </p:sp>
      <p:sp>
        <p:nvSpPr>
          <p:cNvPr id="11" name="Shape 9"/>
          <p:cNvSpPr/>
          <p:nvPr/>
        </p:nvSpPr>
        <p:spPr>
          <a:xfrm>
            <a:off x="7635240" y="1965960"/>
            <a:ext cx="1143000" cy="1143000"/>
          </a:xfrm>
          <a:prstGeom prst="ellipse">
            <a:avLst/>
          </a:prstGeom>
          <a:solidFill>
            <a:srgbClr val="1C7293"/>
          </a:solidFill>
          <a:ln/>
        </p:spPr>
      </p:sp>
      <p:pic>
        <p:nvPicPr>
          <p:cNvPr id="12" name="Image 0" descr="icons/shield.png"/>
          <p:cNvPicPr>
            <a:picLocks noChangeAspect="1"/>
          </p:cNvPicPr>
          <p:nvPr/>
        </p:nvPicPr>
        <p:blipFill>
          <a:blip r:embed="rId3"/>
          <a:stretch>
            <a:fillRect/>
          </a:stretch>
        </p:blipFill>
        <p:spPr>
          <a:xfrm>
            <a:off x="7932420" y="2263140"/>
            <a:ext cx="548640" cy="548640"/>
          </a:xfrm>
          <a:prstGeom prst="rect">
            <a:avLst/>
          </a:prstGeom>
        </p:spPr>
      </p:pic>
      <p:sp>
        <p:nvSpPr>
          <p:cNvPr id="13" name="Shape 10"/>
          <p:cNvSpPr/>
          <p:nvPr/>
        </p:nvSpPr>
        <p:spPr>
          <a:xfrm>
            <a:off x="7406640" y="3337560"/>
            <a:ext cx="420624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4" name="Text 11"/>
          <p:cNvSpPr txBox="1"/>
          <p:nvPr/>
        </p:nvSpPr>
        <p:spPr>
          <a:xfrm>
            <a:off x="7699248" y="3547872"/>
            <a:ext cx="36576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KEY POINTS</a:t>
            </a:r>
            <a:endParaRPr lang="en-US" sz="1050" dirty="0"/>
          </a:p>
        </p:txBody>
      </p:sp>
      <p:sp>
        <p:nvSpPr>
          <p:cNvPr id="15" name="Text 12"/>
          <p:cNvSpPr txBox="1"/>
          <p:nvPr/>
        </p:nvSpPr>
        <p:spPr>
          <a:xfrm>
            <a:off x="7699248" y="3858768"/>
            <a:ext cx="374904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Set hard limits: length, vocabulary level, topics to avoid</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State what NOT to do, not only what to do</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Especially important for student-facing or publishable content</a:t>
            </a:r>
            <a:endParaRPr lang="en-US" sz="1250" dirty="0"/>
          </a:p>
        </p:txBody>
      </p:sp>
      <p:sp>
        <p:nvSpPr>
          <p:cNvPr id="16" name="Text 1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Prompt Fundamentals</a:t>
            </a:r>
            <a:endParaRPr lang="en-US" sz="950" dirty="0"/>
          </a:p>
        </p:txBody>
      </p:sp>
      <p:sp>
        <p:nvSpPr>
          <p:cNvPr id="17" name="Text 1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9</a:t>
            </a:r>
            <a:endParaRPr lang="en-US" sz="95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1 · PROMPT FUNDAMENTALS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Weak vs. Strong: Requesting Exam Questions</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350" i="1" dirty="0">
                <a:solidFill>
                  <a:srgbClr val="8A94A0"/>
                </a:solidFill>
                <a:latin typeface="Calibri" pitchFamily="34" charset="0"/>
                <a:ea typeface="Calibri" pitchFamily="34" charset="-122"/>
                <a:cs typeface="Calibri" pitchFamily="34" charset="-120"/>
              </a:rPr>
              <a:t>The same request, with and without the four building blocks applied.</a:t>
            </a:r>
            <a:endParaRPr lang="en-US" sz="1350" dirty="0"/>
          </a:p>
        </p:txBody>
      </p:sp>
      <p:sp>
        <p:nvSpPr>
          <p:cNvPr id="5" name="Shape 3"/>
          <p:cNvSpPr/>
          <p:nvPr/>
        </p:nvSpPr>
        <p:spPr>
          <a:xfrm>
            <a:off x="548640" y="1965960"/>
            <a:ext cx="5385816"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6" name="Shape 4"/>
          <p:cNvSpPr/>
          <p:nvPr/>
        </p:nvSpPr>
        <p:spPr>
          <a:xfrm>
            <a:off x="822960" y="2221992"/>
            <a:ext cx="4837176" cy="502920"/>
          </a:xfrm>
          <a:prstGeom prst="roundRect">
            <a:avLst>
              <a:gd name="adj" fmla="val 10909"/>
            </a:avLst>
          </a:prstGeom>
          <a:solidFill>
            <a:srgbClr val="FBEAE9"/>
          </a:solidFill>
          <a:ln/>
        </p:spPr>
      </p:sp>
      <p:pic>
        <p:nvPicPr>
          <p:cNvPr id="7" name="Image 0" descr="icons/times.png"/>
          <p:cNvPicPr>
            <a:picLocks noChangeAspect="1"/>
          </p:cNvPicPr>
          <p:nvPr/>
        </p:nvPicPr>
        <p:blipFill>
          <a:blip r:embed="rId3"/>
          <a:stretch>
            <a:fillRect/>
          </a:stretch>
        </p:blipFill>
        <p:spPr>
          <a:xfrm>
            <a:off x="960120" y="2350008"/>
            <a:ext cx="256032" cy="256032"/>
          </a:xfrm>
          <a:prstGeom prst="rect">
            <a:avLst/>
          </a:prstGeom>
        </p:spPr>
      </p:pic>
      <p:sp>
        <p:nvSpPr>
          <p:cNvPr id="8" name="Text 5"/>
          <p:cNvSpPr txBox="1"/>
          <p:nvPr/>
        </p:nvSpPr>
        <p:spPr>
          <a:xfrm>
            <a:off x="1325880" y="2221992"/>
            <a:ext cx="4288536" cy="502920"/>
          </a:xfrm>
          <a:prstGeom prst="rect">
            <a:avLst/>
          </a:prstGeom>
          <a:noFill/>
          <a:ln/>
        </p:spPr>
        <p:txBody>
          <a:bodyPr wrap="square" lIns="0" tIns="0" rIns="0" bIns="0" rtlCol="0" anchor="ctr"/>
          <a:lstStyle/>
          <a:p>
            <a:pPr marL="0" indent="0">
              <a:buNone/>
            </a:pPr>
            <a:r>
              <a:rPr lang="en-US" sz="1400" b="1" dirty="0">
                <a:solidFill>
                  <a:srgbClr val="B3261E"/>
                </a:solidFill>
                <a:latin typeface="Calibri" pitchFamily="34" charset="0"/>
                <a:ea typeface="Calibri" pitchFamily="34" charset="-122"/>
                <a:cs typeface="Calibri" pitchFamily="34" charset="-120"/>
              </a:rPr>
              <a:t>Weak Prompt</a:t>
            </a:r>
            <a:endParaRPr lang="en-US" sz="1400" dirty="0"/>
          </a:p>
        </p:txBody>
      </p:sp>
      <p:sp>
        <p:nvSpPr>
          <p:cNvPr id="9" name="Shape 6"/>
          <p:cNvSpPr/>
          <p:nvPr/>
        </p:nvSpPr>
        <p:spPr>
          <a:xfrm>
            <a:off x="822960" y="2880360"/>
            <a:ext cx="4837176" cy="1143000"/>
          </a:xfrm>
          <a:prstGeom prst="roundRect">
            <a:avLst>
              <a:gd name="adj" fmla="val 4800"/>
            </a:avLst>
          </a:prstGeom>
          <a:solidFill>
            <a:srgbClr val="F7F8F9"/>
          </a:solidFill>
          <a:ln w="12700">
            <a:solidFill>
              <a:srgbClr val="E2E6EA"/>
            </a:solidFill>
            <a:prstDash val="solid"/>
          </a:ln>
        </p:spPr>
      </p:sp>
      <p:sp>
        <p:nvSpPr>
          <p:cNvPr id="10" name="Text 7"/>
          <p:cNvSpPr txBox="1"/>
          <p:nvPr/>
        </p:nvSpPr>
        <p:spPr>
          <a:xfrm>
            <a:off x="960120" y="2971800"/>
            <a:ext cx="4562856" cy="960120"/>
          </a:xfrm>
          <a:prstGeom prst="rect">
            <a:avLst/>
          </a:prstGeom>
          <a:noFill/>
          <a:ln/>
        </p:spPr>
        <p:txBody>
          <a:bodyPr wrap="square" lIns="0" tIns="0" rIns="0" bIns="0" rtlCol="0" anchor="t"/>
          <a:lstStyle/>
          <a:p>
            <a:pPr marL="0" indent="0">
              <a:lnSpc>
                <a:spcPct val="120000"/>
              </a:lnSpc>
              <a:buNone/>
            </a:pPr>
            <a:r>
              <a:rPr lang="en-US" sz="1150" dirty="0">
                <a:solidFill>
                  <a:srgbClr val="1B2A4A"/>
                </a:solidFill>
                <a:latin typeface="Courier New" pitchFamily="34" charset="0"/>
                <a:ea typeface="Courier New" pitchFamily="34" charset="-122"/>
                <a:cs typeface="Courier New" pitchFamily="34" charset="-120"/>
              </a:rPr>
              <a:t>"Give me some questions about cell biology."</a:t>
            </a:r>
            <a:endParaRPr lang="en-US" sz="1150" dirty="0"/>
          </a:p>
        </p:txBody>
      </p:sp>
      <p:sp>
        <p:nvSpPr>
          <p:cNvPr id="11" name="Text 8"/>
          <p:cNvSpPr txBox="1"/>
          <p:nvPr/>
        </p:nvSpPr>
        <p:spPr>
          <a:xfrm>
            <a:off x="822960" y="4206240"/>
            <a:ext cx="4837176" cy="256032"/>
          </a:xfrm>
          <a:prstGeom prst="rect">
            <a:avLst/>
          </a:prstGeom>
          <a:noFill/>
          <a:ln/>
        </p:spPr>
        <p:txBody>
          <a:bodyPr wrap="square" lIns="0" tIns="0" rIns="0" bIns="0" rtlCol="0" anchor="ctr"/>
          <a:lstStyle/>
          <a:p>
            <a:pPr marL="0" indent="0">
              <a:buNone/>
            </a:pPr>
            <a:r>
              <a:rPr lang="en-US" sz="1050" b="1" kern="0" spc="140" dirty="0">
                <a:solidFill>
                  <a:srgbClr val="B3261E"/>
                </a:solidFill>
                <a:latin typeface="Calibri" pitchFamily="34" charset="0"/>
                <a:ea typeface="Calibri" pitchFamily="34" charset="-122"/>
                <a:cs typeface="Calibri" pitchFamily="34" charset="-120"/>
              </a:rPr>
              <a:t>WHAT GOES WRONG</a:t>
            </a:r>
            <a:endParaRPr lang="en-US" sz="1050" dirty="0"/>
          </a:p>
        </p:txBody>
      </p:sp>
      <p:sp>
        <p:nvSpPr>
          <p:cNvPr id="12" name="Text 9"/>
          <p:cNvSpPr txBox="1"/>
          <p:nvPr/>
        </p:nvSpPr>
        <p:spPr>
          <a:xfrm>
            <a:off x="822960" y="4507992"/>
            <a:ext cx="4837176" cy="14630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No context: what level, what specific topics?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No format: paragraph? list? with answers?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No constraints: how many questions? what difficulty?</a:t>
            </a:r>
            <a:endParaRPr lang="en-US" sz="1150" dirty="0"/>
          </a:p>
        </p:txBody>
      </p:sp>
      <p:sp>
        <p:nvSpPr>
          <p:cNvPr id="13" name="Shape 10"/>
          <p:cNvSpPr/>
          <p:nvPr/>
        </p:nvSpPr>
        <p:spPr>
          <a:xfrm>
            <a:off x="6254496" y="1965960"/>
            <a:ext cx="5385816"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4" name="Shape 11"/>
          <p:cNvSpPr/>
          <p:nvPr/>
        </p:nvSpPr>
        <p:spPr>
          <a:xfrm>
            <a:off x="6528816" y="2221992"/>
            <a:ext cx="4837176" cy="502920"/>
          </a:xfrm>
          <a:prstGeom prst="roundRect">
            <a:avLst>
              <a:gd name="adj" fmla="val 10909"/>
            </a:avLst>
          </a:prstGeom>
          <a:solidFill>
            <a:srgbClr val="E7F3E8"/>
          </a:solidFill>
          <a:ln/>
        </p:spPr>
      </p:sp>
      <p:pic>
        <p:nvPicPr>
          <p:cNvPr id="15" name="Image 1" descr="icons/check.png"/>
          <p:cNvPicPr>
            <a:picLocks noChangeAspect="1"/>
          </p:cNvPicPr>
          <p:nvPr/>
        </p:nvPicPr>
        <p:blipFill>
          <a:blip r:embed="rId4"/>
          <a:stretch>
            <a:fillRect/>
          </a:stretch>
        </p:blipFill>
        <p:spPr>
          <a:xfrm>
            <a:off x="6665976" y="2350008"/>
            <a:ext cx="256032" cy="256032"/>
          </a:xfrm>
          <a:prstGeom prst="rect">
            <a:avLst/>
          </a:prstGeom>
        </p:spPr>
      </p:pic>
      <p:sp>
        <p:nvSpPr>
          <p:cNvPr id="16" name="Text 12"/>
          <p:cNvSpPr txBox="1"/>
          <p:nvPr/>
        </p:nvSpPr>
        <p:spPr>
          <a:xfrm>
            <a:off x="7031736" y="2221992"/>
            <a:ext cx="4288536" cy="502920"/>
          </a:xfrm>
          <a:prstGeom prst="rect">
            <a:avLst/>
          </a:prstGeom>
          <a:noFill/>
          <a:ln/>
        </p:spPr>
        <p:txBody>
          <a:bodyPr wrap="square" lIns="0" tIns="0" rIns="0" bIns="0" rtlCol="0" anchor="ctr"/>
          <a:lstStyle/>
          <a:p>
            <a:pPr marL="0" indent="0">
              <a:buNone/>
            </a:pPr>
            <a:r>
              <a:rPr lang="en-US" sz="1400" b="1" dirty="0">
                <a:solidFill>
                  <a:srgbClr val="2E7D32"/>
                </a:solidFill>
                <a:latin typeface="Calibri" pitchFamily="34" charset="0"/>
                <a:ea typeface="Calibri" pitchFamily="34" charset="-122"/>
                <a:cs typeface="Calibri" pitchFamily="34" charset="-120"/>
              </a:rPr>
              <a:t>Strong Prompt</a:t>
            </a:r>
            <a:endParaRPr lang="en-US" sz="1400" dirty="0"/>
          </a:p>
        </p:txBody>
      </p:sp>
      <p:sp>
        <p:nvSpPr>
          <p:cNvPr id="17" name="Shape 13"/>
          <p:cNvSpPr/>
          <p:nvPr/>
        </p:nvSpPr>
        <p:spPr>
          <a:xfrm>
            <a:off x="6528816" y="2880360"/>
            <a:ext cx="4837176" cy="1417320"/>
          </a:xfrm>
          <a:prstGeom prst="roundRect">
            <a:avLst>
              <a:gd name="adj" fmla="val 3871"/>
            </a:avLst>
          </a:prstGeom>
          <a:solidFill>
            <a:srgbClr val="F7F8F9"/>
          </a:solidFill>
          <a:ln w="12700">
            <a:solidFill>
              <a:srgbClr val="E2E6EA"/>
            </a:solidFill>
            <a:prstDash val="solid"/>
          </a:ln>
        </p:spPr>
      </p:sp>
      <p:sp>
        <p:nvSpPr>
          <p:cNvPr id="18" name="Text 14"/>
          <p:cNvSpPr txBox="1"/>
          <p:nvPr/>
        </p:nvSpPr>
        <p:spPr>
          <a:xfrm>
            <a:off x="6665976" y="2971800"/>
            <a:ext cx="4562856" cy="1234440"/>
          </a:xfrm>
          <a:prstGeom prst="rect">
            <a:avLst/>
          </a:prstGeom>
          <a:noFill/>
          <a:ln/>
        </p:spPr>
        <p:txBody>
          <a:bodyPr wrap="square" lIns="0" tIns="0" rIns="0" bIns="0" rtlCol="0" anchor="t"/>
          <a:lstStyle/>
          <a:p>
            <a:pPr marL="0" indent="0">
              <a:lnSpc>
                <a:spcPct val="120000"/>
              </a:lnSpc>
              <a:buNone/>
            </a:pPr>
            <a:r>
              <a:rPr lang="en-US" sz="1100" dirty="0">
                <a:solidFill>
                  <a:srgbClr val="1B2A4A"/>
                </a:solidFill>
                <a:latin typeface="Courier New" pitchFamily="34" charset="0"/>
                <a:ea typeface="Courier New" pitchFamily="34" charset="-122"/>
                <a:cs typeface="Courier New" pitchFamily="34" charset="-120"/>
              </a:rPr>
              <a:t>"I teach an introductory undergraduate Cell Biology course. Generate 5 multiple-choice questions on mitosis and meiosis, each with 4 options and the correct answer marked. Keep the difficulty at an introductory level and avoid duplicate question stems."</a:t>
            </a:r>
            <a:endParaRPr lang="en-US" sz="1100" dirty="0"/>
          </a:p>
        </p:txBody>
      </p:sp>
      <p:sp>
        <p:nvSpPr>
          <p:cNvPr id="19" name="Text 15"/>
          <p:cNvSpPr txBox="1"/>
          <p:nvPr/>
        </p:nvSpPr>
        <p:spPr>
          <a:xfrm>
            <a:off x="6528816" y="4480560"/>
            <a:ext cx="4837176" cy="256032"/>
          </a:xfrm>
          <a:prstGeom prst="rect">
            <a:avLst/>
          </a:prstGeom>
          <a:noFill/>
          <a:ln/>
        </p:spPr>
        <p:txBody>
          <a:bodyPr wrap="square" lIns="0" tIns="0" rIns="0" bIns="0" rtlCol="0" anchor="ctr"/>
          <a:lstStyle/>
          <a:p>
            <a:pPr marL="0" indent="0">
              <a:buNone/>
            </a:pPr>
            <a:r>
              <a:rPr lang="en-US" sz="1050" b="1" kern="0" spc="140" dirty="0">
                <a:solidFill>
                  <a:srgbClr val="2E7D32"/>
                </a:solidFill>
                <a:latin typeface="Calibri" pitchFamily="34" charset="0"/>
                <a:ea typeface="Calibri" pitchFamily="34" charset="-122"/>
                <a:cs typeface="Calibri" pitchFamily="34" charset="-120"/>
              </a:rPr>
              <a:t>WHY IT WORKS BETTER</a:t>
            </a:r>
            <a:endParaRPr lang="en-US" sz="1050" dirty="0"/>
          </a:p>
        </p:txBody>
      </p:sp>
      <p:sp>
        <p:nvSpPr>
          <p:cNvPr id="20" name="Text 16"/>
          <p:cNvSpPr txBox="1"/>
          <p:nvPr/>
        </p:nvSpPr>
        <p:spPr>
          <a:xfrm>
            <a:off x="6528816" y="4782312"/>
            <a:ext cx="4837176" cy="1188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Context: undergraduate, introductory level, specific topic</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Format: MCQ with 4 options, answer marked, 5 questions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Constraints: difficulty level and no duplicate stems</a:t>
            </a:r>
            <a:endParaRPr lang="en-US" sz="1150" dirty="0"/>
          </a:p>
        </p:txBody>
      </p:sp>
      <p:sp>
        <p:nvSpPr>
          <p:cNvPr id="21" name="Text 17"/>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Prompt Fundamentals</a:t>
            </a:r>
            <a:endParaRPr lang="en-US" sz="950" dirty="0"/>
          </a:p>
        </p:txBody>
      </p:sp>
      <p:sp>
        <p:nvSpPr>
          <p:cNvPr id="22" name="Text 18"/>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10</a:t>
            </a:r>
            <a:endParaRPr lang="en-US" sz="95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1 · PROMPT FUNDAMENTALS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Worked Example: Literature Review Assistance</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00" i="1" dirty="0">
                <a:solidFill>
                  <a:srgbClr val="8A94A0"/>
                </a:solidFill>
                <a:latin typeface="Calibri" pitchFamily="34" charset="0"/>
                <a:ea typeface="Calibri" pitchFamily="34" charset="-122"/>
                <a:cs typeface="Calibri" pitchFamily="34" charset="-120"/>
              </a:rPr>
              <a:t>All four building blocks combined into one well-formed research prompt.</a:t>
            </a:r>
            <a:endParaRPr lang="en-US" sz="1400" dirty="0"/>
          </a:p>
        </p:txBody>
      </p:sp>
      <p:sp>
        <p:nvSpPr>
          <p:cNvPr id="5" name="Shape 3"/>
          <p:cNvSpPr/>
          <p:nvPr/>
        </p:nvSpPr>
        <p:spPr>
          <a:xfrm>
            <a:off x="548640" y="1965960"/>
            <a:ext cx="6720840" cy="2331720"/>
          </a:xfrm>
          <a:prstGeom prst="roundRect">
            <a:avLst>
              <a:gd name="adj" fmla="val 3529"/>
            </a:avLst>
          </a:prstGeom>
          <a:solidFill>
            <a:srgbClr val="1B2A4A"/>
          </a:solidFill>
          <a:ln/>
        </p:spPr>
      </p:sp>
      <p:pic>
        <p:nvPicPr>
          <p:cNvPr id="6" name="Image 0" descr="icons/quote.png"/>
          <p:cNvPicPr>
            <a:picLocks noChangeAspect="1"/>
          </p:cNvPicPr>
          <p:nvPr/>
        </p:nvPicPr>
        <p:blipFill>
          <a:blip r:embed="rId3"/>
          <a:stretch>
            <a:fillRect/>
          </a:stretch>
        </p:blipFill>
        <p:spPr>
          <a:xfrm>
            <a:off x="841248" y="2194560"/>
            <a:ext cx="274320" cy="274320"/>
          </a:xfrm>
          <a:prstGeom prst="rect">
            <a:avLst/>
          </a:prstGeom>
        </p:spPr>
      </p:pic>
      <p:sp>
        <p:nvSpPr>
          <p:cNvPr id="7" name="Text 4"/>
          <p:cNvSpPr txBox="1"/>
          <p:nvPr/>
        </p:nvSpPr>
        <p:spPr>
          <a:xfrm>
            <a:off x="1207008" y="2167128"/>
            <a:ext cx="3657600" cy="274320"/>
          </a:xfrm>
          <a:prstGeom prst="rect">
            <a:avLst/>
          </a:prstGeom>
          <a:noFill/>
          <a:ln/>
        </p:spPr>
        <p:txBody>
          <a:bodyPr wrap="square" lIns="0" tIns="0" rIns="0" bIns="0" rtlCol="0" anchor="ctr"/>
          <a:lstStyle/>
          <a:p>
            <a:pPr marL="0" indent="0">
              <a:buNone/>
            </a:pPr>
            <a:r>
              <a:rPr lang="en-US" sz="1050" b="1" kern="0" spc="140" dirty="0">
                <a:solidFill>
                  <a:srgbClr val="9FD6E8"/>
                </a:solidFill>
                <a:latin typeface="Calibri" pitchFamily="34" charset="0"/>
                <a:ea typeface="Calibri" pitchFamily="34" charset="-122"/>
                <a:cs typeface="Calibri" pitchFamily="34" charset="-120"/>
              </a:rPr>
              <a:t>PROMPT</a:t>
            </a:r>
            <a:endParaRPr lang="en-US" sz="1050" dirty="0"/>
          </a:p>
        </p:txBody>
      </p:sp>
      <p:sp>
        <p:nvSpPr>
          <p:cNvPr id="8" name="Text 5"/>
          <p:cNvSpPr txBox="1"/>
          <p:nvPr/>
        </p:nvSpPr>
        <p:spPr>
          <a:xfrm>
            <a:off x="868680" y="2542032"/>
            <a:ext cx="6172200" cy="1645920"/>
          </a:xfrm>
          <a:prstGeom prst="rect">
            <a:avLst/>
          </a:prstGeom>
          <a:noFill/>
          <a:ln/>
        </p:spPr>
        <p:txBody>
          <a:bodyPr wrap="square" lIns="0" tIns="0" rIns="0" bIns="0" rtlCol="0" anchor="t"/>
          <a:lstStyle/>
          <a:p>
            <a:pPr marL="0" indent="0">
              <a:lnSpc>
                <a:spcPct val="130000"/>
              </a:lnSpc>
              <a:buNone/>
            </a:pPr>
            <a:r>
              <a:rPr lang="en-US" sz="1250" dirty="0">
                <a:solidFill>
                  <a:srgbClr val="E7EEF3"/>
                </a:solidFill>
                <a:latin typeface="Courier New" pitchFamily="34" charset="0"/>
                <a:ea typeface="Courier New" pitchFamily="34" charset="-122"/>
                <a:cs typeface="Courier New" pitchFamily="34" charset="-120"/>
              </a:rPr>
              <a:t>"I am writing a literature review for a paper on remote learning outcomes in higher education (context). Summarise the attached abstract in exactly 3 sentences, focusing only on the methodology and key finding (instruction + format). Avoid restating the title, and do not include any direct quotations (constraints)."</a:t>
            </a:r>
            <a:endParaRPr lang="en-US" sz="1250" dirty="0"/>
          </a:p>
        </p:txBody>
      </p:sp>
      <p:sp>
        <p:nvSpPr>
          <p:cNvPr id="9" name="Shape 6"/>
          <p:cNvSpPr/>
          <p:nvPr/>
        </p:nvSpPr>
        <p:spPr>
          <a:xfrm>
            <a:off x="548640" y="4480560"/>
            <a:ext cx="6720840" cy="1645920"/>
          </a:xfrm>
          <a:prstGeom prst="roundRect">
            <a:avLst>
              <a:gd name="adj" fmla="val 500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Text 7"/>
          <p:cNvSpPr txBox="1"/>
          <p:nvPr/>
        </p:nvSpPr>
        <p:spPr>
          <a:xfrm>
            <a:off x="841248" y="4663440"/>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TYPICAL AI RESPONSE</a:t>
            </a:r>
            <a:endParaRPr lang="en-US" sz="1050" dirty="0"/>
          </a:p>
        </p:txBody>
      </p:sp>
      <p:sp>
        <p:nvSpPr>
          <p:cNvPr id="11" name="Text 8"/>
          <p:cNvSpPr txBox="1"/>
          <p:nvPr/>
        </p:nvSpPr>
        <p:spPr>
          <a:xfrm>
            <a:off x="841248" y="4974336"/>
            <a:ext cx="6172200" cy="1051560"/>
          </a:xfrm>
          <a:prstGeom prst="rect">
            <a:avLst/>
          </a:prstGeom>
          <a:noFill/>
          <a:ln/>
        </p:spPr>
        <p:txBody>
          <a:bodyPr wrap="square" lIns="0" tIns="0" rIns="0" bIns="0" rtlCol="0" anchor="t"/>
          <a:lstStyle/>
          <a:p>
            <a:pPr marL="0" indent="0">
              <a:lnSpc>
                <a:spcPct val="122000"/>
              </a:lnSpc>
              <a:buNone/>
            </a:pPr>
            <a:r>
              <a:rPr lang="en-US" sz="1200" i="1" dirty="0">
                <a:solidFill>
                  <a:srgbClr val="55606C"/>
                </a:solidFill>
                <a:latin typeface="Calibri" pitchFamily="34" charset="0"/>
                <a:ea typeface="Calibri" pitchFamily="34" charset="-122"/>
                <a:cs typeface="Calibri" pitchFamily="34" charset="-120"/>
              </a:rPr>
              <a:t>A tight, 3-sentence summary that focuses purely on methodology and key findings — ready to drop directly into a literature review paragraph with minimal editing.</a:t>
            </a:r>
            <a:endParaRPr lang="en-US" sz="1200" dirty="0"/>
          </a:p>
        </p:txBody>
      </p:sp>
      <p:sp>
        <p:nvSpPr>
          <p:cNvPr id="12" name="Shape 9"/>
          <p:cNvSpPr/>
          <p:nvPr/>
        </p:nvSpPr>
        <p:spPr>
          <a:xfrm>
            <a:off x="7635240" y="1965960"/>
            <a:ext cx="1143000" cy="1143000"/>
          </a:xfrm>
          <a:prstGeom prst="ellipse">
            <a:avLst/>
          </a:prstGeom>
          <a:solidFill>
            <a:srgbClr val="1C7293"/>
          </a:solidFill>
          <a:ln/>
        </p:spPr>
      </p:sp>
      <p:pic>
        <p:nvPicPr>
          <p:cNvPr id="13" name="Image 1" descr="icons/flask.png"/>
          <p:cNvPicPr>
            <a:picLocks noChangeAspect="1"/>
          </p:cNvPicPr>
          <p:nvPr/>
        </p:nvPicPr>
        <p:blipFill>
          <a:blip r:embed="rId4"/>
          <a:stretch>
            <a:fillRect/>
          </a:stretch>
        </p:blipFill>
        <p:spPr>
          <a:xfrm>
            <a:off x="7932420" y="2263140"/>
            <a:ext cx="548640" cy="548640"/>
          </a:xfrm>
          <a:prstGeom prst="rect">
            <a:avLst/>
          </a:prstGeom>
        </p:spPr>
      </p:pic>
      <p:sp>
        <p:nvSpPr>
          <p:cNvPr id="14" name="Shape 10"/>
          <p:cNvSpPr/>
          <p:nvPr/>
        </p:nvSpPr>
        <p:spPr>
          <a:xfrm>
            <a:off x="7406640" y="3337560"/>
            <a:ext cx="420624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Text 11"/>
          <p:cNvSpPr txBox="1"/>
          <p:nvPr/>
        </p:nvSpPr>
        <p:spPr>
          <a:xfrm>
            <a:off x="7699248" y="3547872"/>
            <a:ext cx="36576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WHY THIS WORKS</a:t>
            </a:r>
            <a:endParaRPr lang="en-US" sz="1050" dirty="0"/>
          </a:p>
        </p:txBody>
      </p:sp>
      <p:sp>
        <p:nvSpPr>
          <p:cNvPr id="16" name="Text 12"/>
          <p:cNvSpPr txBox="1"/>
          <p:nvPr/>
        </p:nvSpPr>
        <p:spPr>
          <a:xfrm>
            <a:off x="7699248" y="3858768"/>
            <a:ext cx="374904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Context explains the bigger purpose (a literature review)</a:t>
            </a:r>
            <a:endParaRPr lang="en-US" sz="120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Instruction is a single, specific action: summarise</a:t>
            </a:r>
            <a:endParaRPr lang="en-US" sz="120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Format locks the length to exactly 3 sentences</a:t>
            </a:r>
            <a:endParaRPr lang="en-US" sz="120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Constraints rule out quotations and restating the title</a:t>
            </a:r>
            <a:endParaRPr lang="en-US" sz="1200" dirty="0"/>
          </a:p>
        </p:txBody>
      </p:sp>
      <p:sp>
        <p:nvSpPr>
          <p:cNvPr id="17" name="Text 1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Prompt Fundamentals</a:t>
            </a:r>
            <a:endParaRPr lang="en-US" sz="950" dirty="0"/>
          </a:p>
        </p:txBody>
      </p:sp>
      <p:sp>
        <p:nvSpPr>
          <p:cNvPr id="18" name="Text 1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11</a:t>
            </a:r>
            <a:endParaRPr lang="en-US" sz="95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1 · PROMPT FUNDAMENTALS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Worked Example: Rewriting a Policy Email</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00" i="1" dirty="0">
                <a:solidFill>
                  <a:srgbClr val="8A94A0"/>
                </a:solidFill>
                <a:latin typeface="Calibri" pitchFamily="34" charset="0"/>
                <a:ea typeface="Calibri" pitchFamily="34" charset="-122"/>
                <a:cs typeface="Calibri" pitchFamily="34" charset="-120"/>
              </a:rPr>
              <a:t>Using the four building blocks for an everyday administrative task.</a:t>
            </a:r>
            <a:endParaRPr lang="en-US" sz="1400" dirty="0"/>
          </a:p>
        </p:txBody>
      </p:sp>
      <p:sp>
        <p:nvSpPr>
          <p:cNvPr id="5" name="Shape 3"/>
          <p:cNvSpPr/>
          <p:nvPr/>
        </p:nvSpPr>
        <p:spPr>
          <a:xfrm>
            <a:off x="548640" y="1965960"/>
            <a:ext cx="6720840" cy="2331720"/>
          </a:xfrm>
          <a:prstGeom prst="roundRect">
            <a:avLst>
              <a:gd name="adj" fmla="val 3529"/>
            </a:avLst>
          </a:prstGeom>
          <a:solidFill>
            <a:srgbClr val="1B2A4A"/>
          </a:solidFill>
          <a:ln/>
        </p:spPr>
      </p:sp>
      <p:pic>
        <p:nvPicPr>
          <p:cNvPr id="6" name="Image 0" descr="icons/quote.png"/>
          <p:cNvPicPr>
            <a:picLocks noChangeAspect="1"/>
          </p:cNvPicPr>
          <p:nvPr/>
        </p:nvPicPr>
        <p:blipFill>
          <a:blip r:embed="rId3"/>
          <a:stretch>
            <a:fillRect/>
          </a:stretch>
        </p:blipFill>
        <p:spPr>
          <a:xfrm>
            <a:off x="841248" y="2194560"/>
            <a:ext cx="274320" cy="274320"/>
          </a:xfrm>
          <a:prstGeom prst="rect">
            <a:avLst/>
          </a:prstGeom>
        </p:spPr>
      </p:pic>
      <p:sp>
        <p:nvSpPr>
          <p:cNvPr id="7" name="Text 4"/>
          <p:cNvSpPr txBox="1"/>
          <p:nvPr/>
        </p:nvSpPr>
        <p:spPr>
          <a:xfrm>
            <a:off x="1207008" y="2167128"/>
            <a:ext cx="3657600" cy="274320"/>
          </a:xfrm>
          <a:prstGeom prst="rect">
            <a:avLst/>
          </a:prstGeom>
          <a:noFill/>
          <a:ln/>
        </p:spPr>
        <p:txBody>
          <a:bodyPr wrap="square" lIns="0" tIns="0" rIns="0" bIns="0" rtlCol="0" anchor="ctr"/>
          <a:lstStyle/>
          <a:p>
            <a:pPr marL="0" indent="0">
              <a:buNone/>
            </a:pPr>
            <a:r>
              <a:rPr lang="en-US" sz="1050" b="1" kern="0" spc="140" dirty="0">
                <a:solidFill>
                  <a:srgbClr val="9FD6E8"/>
                </a:solidFill>
                <a:latin typeface="Calibri" pitchFamily="34" charset="0"/>
                <a:ea typeface="Calibri" pitchFamily="34" charset="-122"/>
                <a:cs typeface="Calibri" pitchFamily="34" charset="-120"/>
              </a:rPr>
              <a:t>PROMPT</a:t>
            </a:r>
            <a:endParaRPr lang="en-US" sz="1050" dirty="0"/>
          </a:p>
        </p:txBody>
      </p:sp>
      <p:sp>
        <p:nvSpPr>
          <p:cNvPr id="8" name="Text 5"/>
          <p:cNvSpPr txBox="1"/>
          <p:nvPr/>
        </p:nvSpPr>
        <p:spPr>
          <a:xfrm>
            <a:off x="868680" y="2542032"/>
            <a:ext cx="6172200" cy="1645920"/>
          </a:xfrm>
          <a:prstGeom prst="rect">
            <a:avLst/>
          </a:prstGeom>
          <a:noFill/>
          <a:ln/>
        </p:spPr>
        <p:txBody>
          <a:bodyPr wrap="square" lIns="0" tIns="0" rIns="0" bIns="0" rtlCol="0" anchor="t"/>
          <a:lstStyle/>
          <a:p>
            <a:pPr marL="0" indent="0">
              <a:lnSpc>
                <a:spcPct val="130000"/>
              </a:lnSpc>
              <a:buNone/>
            </a:pPr>
            <a:r>
              <a:rPr lang="en-US" sz="1250" dirty="0">
                <a:solidFill>
                  <a:srgbClr val="E7EEF3"/>
                </a:solidFill>
                <a:latin typeface="Courier New" pitchFamily="34" charset="0"/>
                <a:ea typeface="Courier New" pitchFamily="34" charset="-122"/>
                <a:cs typeface="Courier New" pitchFamily="34" charset="-120"/>
              </a:rPr>
              <a:t>"I am a department head emailing faculty about a new attendance policy (context). Draft a short email explaining the policy and its start date (instruction). Use a warm but professional tone, under 120 words, formatted as an email with a subject line (format). Do not mention any penalties — that will be covered separately (constraint)."</a:t>
            </a:r>
            <a:endParaRPr lang="en-US" sz="1250" dirty="0"/>
          </a:p>
        </p:txBody>
      </p:sp>
      <p:sp>
        <p:nvSpPr>
          <p:cNvPr id="9" name="Shape 6"/>
          <p:cNvSpPr/>
          <p:nvPr/>
        </p:nvSpPr>
        <p:spPr>
          <a:xfrm>
            <a:off x="548640" y="4480560"/>
            <a:ext cx="6720840" cy="1645920"/>
          </a:xfrm>
          <a:prstGeom prst="roundRect">
            <a:avLst>
              <a:gd name="adj" fmla="val 500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Text 7"/>
          <p:cNvSpPr txBox="1"/>
          <p:nvPr/>
        </p:nvSpPr>
        <p:spPr>
          <a:xfrm>
            <a:off x="841248" y="4663440"/>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TYPICAL AI RESPONSE</a:t>
            </a:r>
            <a:endParaRPr lang="en-US" sz="1050" dirty="0"/>
          </a:p>
        </p:txBody>
      </p:sp>
      <p:sp>
        <p:nvSpPr>
          <p:cNvPr id="11" name="Text 8"/>
          <p:cNvSpPr txBox="1"/>
          <p:nvPr/>
        </p:nvSpPr>
        <p:spPr>
          <a:xfrm>
            <a:off x="841248" y="4974336"/>
            <a:ext cx="6172200" cy="1051560"/>
          </a:xfrm>
          <a:prstGeom prst="rect">
            <a:avLst/>
          </a:prstGeom>
          <a:noFill/>
          <a:ln/>
        </p:spPr>
        <p:txBody>
          <a:bodyPr wrap="square" lIns="0" tIns="0" rIns="0" bIns="0" rtlCol="0" anchor="t"/>
          <a:lstStyle/>
          <a:p>
            <a:pPr marL="0" indent="0">
              <a:lnSpc>
                <a:spcPct val="122000"/>
              </a:lnSpc>
              <a:buNone/>
            </a:pPr>
            <a:r>
              <a:rPr lang="en-US" sz="1200" i="1" dirty="0">
                <a:solidFill>
                  <a:srgbClr val="55606C"/>
                </a:solidFill>
                <a:latin typeface="Calibri" pitchFamily="34" charset="0"/>
                <a:ea typeface="Calibri" pitchFamily="34" charset="-122"/>
                <a:cs typeface="Calibri" pitchFamily="34" charset="-120"/>
              </a:rPr>
              <a:t>A ready-to-send email draft, under 120 words, with a subject line, a warm professional tone, and no mention of penalties — matching the brief precisely.</a:t>
            </a:r>
            <a:endParaRPr lang="en-US" sz="1200" dirty="0"/>
          </a:p>
        </p:txBody>
      </p:sp>
      <p:sp>
        <p:nvSpPr>
          <p:cNvPr id="12" name="Shape 9"/>
          <p:cNvSpPr/>
          <p:nvPr/>
        </p:nvSpPr>
        <p:spPr>
          <a:xfrm>
            <a:off x="7635240" y="1965960"/>
            <a:ext cx="1143000" cy="1143000"/>
          </a:xfrm>
          <a:prstGeom prst="ellipse">
            <a:avLst/>
          </a:prstGeom>
          <a:solidFill>
            <a:srgbClr val="1C7293"/>
          </a:solidFill>
          <a:ln/>
        </p:spPr>
      </p:sp>
      <p:pic>
        <p:nvPicPr>
          <p:cNvPr id="13" name="Image 1" descr="icons/envelope.png"/>
          <p:cNvPicPr>
            <a:picLocks noChangeAspect="1"/>
          </p:cNvPicPr>
          <p:nvPr/>
        </p:nvPicPr>
        <p:blipFill>
          <a:blip r:embed="rId4"/>
          <a:stretch>
            <a:fillRect/>
          </a:stretch>
        </p:blipFill>
        <p:spPr>
          <a:xfrm>
            <a:off x="7932420" y="2263140"/>
            <a:ext cx="548640" cy="548640"/>
          </a:xfrm>
          <a:prstGeom prst="rect">
            <a:avLst/>
          </a:prstGeom>
        </p:spPr>
      </p:pic>
      <p:sp>
        <p:nvSpPr>
          <p:cNvPr id="14" name="Shape 10"/>
          <p:cNvSpPr/>
          <p:nvPr/>
        </p:nvSpPr>
        <p:spPr>
          <a:xfrm>
            <a:off x="7406640" y="3337560"/>
            <a:ext cx="420624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Text 11"/>
          <p:cNvSpPr txBox="1"/>
          <p:nvPr/>
        </p:nvSpPr>
        <p:spPr>
          <a:xfrm>
            <a:off x="7699248" y="3547872"/>
            <a:ext cx="36576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WHY THIS WORKS</a:t>
            </a:r>
            <a:endParaRPr lang="en-US" sz="1050" dirty="0"/>
          </a:p>
        </p:txBody>
      </p:sp>
      <p:sp>
        <p:nvSpPr>
          <p:cNvPr id="16" name="Text 12"/>
          <p:cNvSpPr txBox="1"/>
          <p:nvPr/>
        </p:nvSpPr>
        <p:spPr>
          <a:xfrm>
            <a:off x="7699248" y="3858768"/>
            <a:ext cx="374904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Role and audience are established immediately</a:t>
            </a:r>
            <a:endParaRPr lang="en-US" sz="120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The instruction is unambiguous: draft an email</a:t>
            </a:r>
            <a:endParaRPr lang="en-US" sz="120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Tone, length and structure are all specified</a:t>
            </a:r>
            <a:endParaRPr lang="en-US" sz="120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An explicit exclusion keeps the message on-topic</a:t>
            </a:r>
            <a:endParaRPr lang="en-US" sz="1200" dirty="0"/>
          </a:p>
        </p:txBody>
      </p:sp>
      <p:sp>
        <p:nvSpPr>
          <p:cNvPr id="17" name="Text 1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Prompt Fundamentals</a:t>
            </a:r>
            <a:endParaRPr lang="en-US" sz="950" dirty="0"/>
          </a:p>
        </p:txBody>
      </p:sp>
      <p:sp>
        <p:nvSpPr>
          <p:cNvPr id="18" name="Text 1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12</a:t>
            </a:r>
            <a:endParaRPr lang="en-US" sz="95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1 · PROMPT FUNDAMENTALS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The Four-Block Checklist</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00" i="1" dirty="0">
                <a:solidFill>
                  <a:srgbClr val="8A94A0"/>
                </a:solidFill>
                <a:latin typeface="Calibri" pitchFamily="34" charset="0"/>
                <a:ea typeface="Calibri" pitchFamily="34" charset="-122"/>
                <a:cs typeface="Calibri" pitchFamily="34" charset="-120"/>
              </a:rPr>
              <a:t>Run through this before sending any important prompt.</a:t>
            </a:r>
            <a:endParaRPr lang="en-US" sz="1400" dirty="0"/>
          </a:p>
        </p:txBody>
      </p:sp>
      <p:sp>
        <p:nvSpPr>
          <p:cNvPr id="5" name="Shape 3"/>
          <p:cNvSpPr/>
          <p:nvPr/>
        </p:nvSpPr>
        <p:spPr>
          <a:xfrm>
            <a:off x="548640" y="2011680"/>
            <a:ext cx="10195560" cy="944118"/>
          </a:xfrm>
          <a:prstGeom prst="roundRect">
            <a:avLst>
              <a:gd name="adj" fmla="val 8717"/>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6" name="Shape 4"/>
          <p:cNvSpPr/>
          <p:nvPr/>
        </p:nvSpPr>
        <p:spPr>
          <a:xfrm>
            <a:off x="841248" y="2227707"/>
            <a:ext cx="512064" cy="512064"/>
          </a:xfrm>
          <a:prstGeom prst="ellipse">
            <a:avLst/>
          </a:prstGeom>
          <a:solidFill>
            <a:srgbClr val="1C7293"/>
          </a:solidFill>
          <a:ln/>
        </p:spPr>
      </p:sp>
      <p:sp>
        <p:nvSpPr>
          <p:cNvPr id="7" name="Text 5"/>
          <p:cNvSpPr txBox="1"/>
          <p:nvPr/>
        </p:nvSpPr>
        <p:spPr>
          <a:xfrm>
            <a:off x="841248" y="2227707"/>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txBox="1"/>
          <p:nvPr/>
        </p:nvSpPr>
        <p:spPr>
          <a:xfrm>
            <a:off x="1600200" y="2121408"/>
            <a:ext cx="4023360" cy="724662"/>
          </a:xfrm>
          <a:prstGeom prst="rect">
            <a:avLst/>
          </a:prstGeom>
          <a:noFill/>
          <a:ln/>
        </p:spPr>
        <p:txBody>
          <a:bodyPr wrap="square" lIns="0" tIns="0" rIns="0" bIns="0"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Context included?</a:t>
            </a:r>
            <a:endParaRPr lang="en-US" sz="1450" dirty="0"/>
          </a:p>
        </p:txBody>
      </p:sp>
      <p:sp>
        <p:nvSpPr>
          <p:cNvPr id="9" name="Text 7"/>
          <p:cNvSpPr txBox="1"/>
          <p:nvPr/>
        </p:nvSpPr>
        <p:spPr>
          <a:xfrm>
            <a:off x="5715000" y="2103120"/>
            <a:ext cx="4892040" cy="761238"/>
          </a:xfrm>
          <a:prstGeom prst="rect">
            <a:avLst/>
          </a:prstGeom>
          <a:noFill/>
          <a:ln/>
        </p:spPr>
        <p:txBody>
          <a:bodyPr wrap="square" lIns="0" tIns="0" rIns="0" bIns="0" rtlCol="0" anchor="ctr"/>
          <a:lstStyle/>
          <a:p>
            <a:pPr marL="0" indent="0">
              <a:lnSpc>
                <a:spcPct val="115000"/>
              </a:lnSpc>
              <a:buNone/>
            </a:pPr>
            <a:r>
              <a:rPr lang="en-US" sz="1200" dirty="0">
                <a:solidFill>
                  <a:srgbClr val="55606C"/>
                </a:solidFill>
                <a:latin typeface="Calibri" pitchFamily="34" charset="0"/>
                <a:ea typeface="Calibri" pitchFamily="34" charset="-122"/>
                <a:cs typeface="Calibri" pitchFamily="34" charset="-120"/>
              </a:rPr>
              <a:t>Have you told the AI who the output is for and what situation it sits in?</a:t>
            </a:r>
            <a:endParaRPr lang="en-US" sz="1200" dirty="0"/>
          </a:p>
        </p:txBody>
      </p:sp>
      <p:sp>
        <p:nvSpPr>
          <p:cNvPr id="10" name="Shape 8"/>
          <p:cNvSpPr/>
          <p:nvPr/>
        </p:nvSpPr>
        <p:spPr>
          <a:xfrm>
            <a:off x="548640" y="3120390"/>
            <a:ext cx="10195560" cy="944118"/>
          </a:xfrm>
          <a:prstGeom prst="roundRect">
            <a:avLst>
              <a:gd name="adj" fmla="val 8717"/>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1" name="Shape 9"/>
          <p:cNvSpPr/>
          <p:nvPr/>
        </p:nvSpPr>
        <p:spPr>
          <a:xfrm>
            <a:off x="841248" y="3336417"/>
            <a:ext cx="512064" cy="512064"/>
          </a:xfrm>
          <a:prstGeom prst="ellipse">
            <a:avLst/>
          </a:prstGeom>
          <a:solidFill>
            <a:srgbClr val="1C7293"/>
          </a:solidFill>
          <a:ln/>
        </p:spPr>
      </p:sp>
      <p:sp>
        <p:nvSpPr>
          <p:cNvPr id="12" name="Text 10"/>
          <p:cNvSpPr txBox="1"/>
          <p:nvPr/>
        </p:nvSpPr>
        <p:spPr>
          <a:xfrm>
            <a:off x="841248" y="3336417"/>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1600200" y="3230118"/>
            <a:ext cx="4023360" cy="724662"/>
          </a:xfrm>
          <a:prstGeom prst="rect">
            <a:avLst/>
          </a:prstGeom>
          <a:noFill/>
          <a:ln/>
        </p:spPr>
        <p:txBody>
          <a:bodyPr wrap="square" lIns="0" tIns="0" rIns="0" bIns="0"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Instruction is one clear action</a:t>
            </a:r>
            <a:endParaRPr lang="en-US" sz="1450" dirty="0"/>
          </a:p>
        </p:txBody>
      </p:sp>
      <p:sp>
        <p:nvSpPr>
          <p:cNvPr id="14" name="Text 12"/>
          <p:cNvSpPr txBox="1"/>
          <p:nvPr/>
        </p:nvSpPr>
        <p:spPr>
          <a:xfrm>
            <a:off x="5715000" y="3211830"/>
            <a:ext cx="4892040" cy="761238"/>
          </a:xfrm>
          <a:prstGeom prst="rect">
            <a:avLst/>
          </a:prstGeom>
          <a:noFill/>
          <a:ln/>
        </p:spPr>
        <p:txBody>
          <a:bodyPr wrap="square" lIns="0" tIns="0" rIns="0" bIns="0" rtlCol="0" anchor="ctr"/>
          <a:lstStyle/>
          <a:p>
            <a:pPr marL="0" indent="0">
              <a:lnSpc>
                <a:spcPct val="115000"/>
              </a:lnSpc>
              <a:buNone/>
            </a:pPr>
            <a:r>
              <a:rPr lang="en-US" sz="1200" dirty="0">
                <a:solidFill>
                  <a:srgbClr val="55606C"/>
                </a:solidFill>
                <a:latin typeface="Calibri" pitchFamily="34" charset="0"/>
                <a:ea typeface="Calibri" pitchFamily="34" charset="-122"/>
                <a:cs typeface="Calibri" pitchFamily="34" charset="-120"/>
              </a:rPr>
              <a:t>Is there a single, unambiguous verb describing exactly what you want done?</a:t>
            </a:r>
            <a:endParaRPr lang="en-US" sz="1200" dirty="0"/>
          </a:p>
        </p:txBody>
      </p:sp>
      <p:sp>
        <p:nvSpPr>
          <p:cNvPr id="15" name="Shape 13"/>
          <p:cNvSpPr/>
          <p:nvPr/>
        </p:nvSpPr>
        <p:spPr>
          <a:xfrm>
            <a:off x="548640" y="4229100"/>
            <a:ext cx="10195560" cy="944118"/>
          </a:xfrm>
          <a:prstGeom prst="roundRect">
            <a:avLst>
              <a:gd name="adj" fmla="val 8717"/>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6" name="Shape 14"/>
          <p:cNvSpPr/>
          <p:nvPr/>
        </p:nvSpPr>
        <p:spPr>
          <a:xfrm>
            <a:off x="841248" y="4445127"/>
            <a:ext cx="512064" cy="512064"/>
          </a:xfrm>
          <a:prstGeom prst="ellipse">
            <a:avLst/>
          </a:prstGeom>
          <a:solidFill>
            <a:srgbClr val="1C7293"/>
          </a:solidFill>
          <a:ln/>
        </p:spPr>
      </p:sp>
      <p:sp>
        <p:nvSpPr>
          <p:cNvPr id="17" name="Text 15"/>
          <p:cNvSpPr txBox="1"/>
          <p:nvPr/>
        </p:nvSpPr>
        <p:spPr>
          <a:xfrm>
            <a:off x="841248" y="4445127"/>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txBox="1"/>
          <p:nvPr/>
        </p:nvSpPr>
        <p:spPr>
          <a:xfrm>
            <a:off x="1600200" y="4338828"/>
            <a:ext cx="4023360" cy="724662"/>
          </a:xfrm>
          <a:prstGeom prst="rect">
            <a:avLst/>
          </a:prstGeom>
          <a:noFill/>
          <a:ln/>
        </p:spPr>
        <p:txBody>
          <a:bodyPr wrap="square" lIns="0" tIns="0" rIns="0" bIns="0"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Format is specified</a:t>
            </a:r>
            <a:endParaRPr lang="en-US" sz="1450" dirty="0"/>
          </a:p>
        </p:txBody>
      </p:sp>
      <p:sp>
        <p:nvSpPr>
          <p:cNvPr id="19" name="Text 17"/>
          <p:cNvSpPr txBox="1"/>
          <p:nvPr/>
        </p:nvSpPr>
        <p:spPr>
          <a:xfrm>
            <a:off x="5715000" y="4320540"/>
            <a:ext cx="4892040" cy="761238"/>
          </a:xfrm>
          <a:prstGeom prst="rect">
            <a:avLst/>
          </a:prstGeom>
          <a:noFill/>
          <a:ln/>
        </p:spPr>
        <p:txBody>
          <a:bodyPr wrap="square" lIns="0" tIns="0" rIns="0" bIns="0" rtlCol="0" anchor="ctr"/>
          <a:lstStyle/>
          <a:p>
            <a:pPr marL="0" indent="0">
              <a:lnSpc>
                <a:spcPct val="115000"/>
              </a:lnSpc>
              <a:buNone/>
            </a:pPr>
            <a:r>
              <a:rPr lang="en-US" sz="1200" dirty="0">
                <a:solidFill>
                  <a:srgbClr val="55606C"/>
                </a:solidFill>
                <a:latin typeface="Calibri" pitchFamily="34" charset="0"/>
                <a:ea typeface="Calibri" pitchFamily="34" charset="-122"/>
                <a:cs typeface="Calibri" pitchFamily="34" charset="-120"/>
              </a:rPr>
              <a:t>Have you described the structure, length, and tone of the output you need?</a:t>
            </a:r>
            <a:endParaRPr lang="en-US" sz="1200" dirty="0"/>
          </a:p>
        </p:txBody>
      </p:sp>
      <p:sp>
        <p:nvSpPr>
          <p:cNvPr id="20" name="Shape 18"/>
          <p:cNvSpPr/>
          <p:nvPr/>
        </p:nvSpPr>
        <p:spPr>
          <a:xfrm>
            <a:off x="548640" y="5337810"/>
            <a:ext cx="10195560" cy="944118"/>
          </a:xfrm>
          <a:prstGeom prst="roundRect">
            <a:avLst>
              <a:gd name="adj" fmla="val 8717"/>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1" name="Shape 19"/>
          <p:cNvSpPr/>
          <p:nvPr/>
        </p:nvSpPr>
        <p:spPr>
          <a:xfrm>
            <a:off x="841248" y="5553837"/>
            <a:ext cx="512064" cy="512064"/>
          </a:xfrm>
          <a:prstGeom prst="ellipse">
            <a:avLst/>
          </a:prstGeom>
          <a:solidFill>
            <a:srgbClr val="1C7293"/>
          </a:solidFill>
          <a:ln/>
        </p:spPr>
      </p:sp>
      <p:sp>
        <p:nvSpPr>
          <p:cNvPr id="22" name="Text 20"/>
          <p:cNvSpPr txBox="1"/>
          <p:nvPr/>
        </p:nvSpPr>
        <p:spPr>
          <a:xfrm>
            <a:off x="841248" y="5553837"/>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3" name="Text 21"/>
          <p:cNvSpPr txBox="1"/>
          <p:nvPr/>
        </p:nvSpPr>
        <p:spPr>
          <a:xfrm>
            <a:off x="1600200" y="5447538"/>
            <a:ext cx="4023360" cy="724662"/>
          </a:xfrm>
          <a:prstGeom prst="rect">
            <a:avLst/>
          </a:prstGeom>
          <a:noFill/>
          <a:ln/>
        </p:spPr>
        <p:txBody>
          <a:bodyPr wrap="square" lIns="0" tIns="0" rIns="0" bIns="0"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Constraints are stated</a:t>
            </a:r>
            <a:endParaRPr lang="en-US" sz="1450" dirty="0"/>
          </a:p>
        </p:txBody>
      </p:sp>
      <p:sp>
        <p:nvSpPr>
          <p:cNvPr id="24" name="Text 22"/>
          <p:cNvSpPr txBox="1"/>
          <p:nvPr/>
        </p:nvSpPr>
        <p:spPr>
          <a:xfrm>
            <a:off x="5715000" y="5429250"/>
            <a:ext cx="4892040" cy="761238"/>
          </a:xfrm>
          <a:prstGeom prst="rect">
            <a:avLst/>
          </a:prstGeom>
          <a:noFill/>
          <a:ln/>
        </p:spPr>
        <p:txBody>
          <a:bodyPr wrap="square" lIns="0" tIns="0" rIns="0" bIns="0" rtlCol="0" anchor="ctr"/>
          <a:lstStyle/>
          <a:p>
            <a:pPr marL="0" indent="0">
              <a:lnSpc>
                <a:spcPct val="115000"/>
              </a:lnSpc>
              <a:buNone/>
            </a:pPr>
            <a:r>
              <a:rPr lang="en-US" sz="1200" dirty="0">
                <a:solidFill>
                  <a:srgbClr val="55606C"/>
                </a:solidFill>
                <a:latin typeface="Calibri" pitchFamily="34" charset="0"/>
                <a:ea typeface="Calibri" pitchFamily="34" charset="-122"/>
                <a:cs typeface="Calibri" pitchFamily="34" charset="-120"/>
              </a:rPr>
              <a:t>Have you set limits on length, vocabulary, or content to avoid?</a:t>
            </a:r>
            <a:endParaRPr lang="en-US" sz="1200" dirty="0"/>
          </a:p>
        </p:txBody>
      </p:sp>
      <p:sp>
        <p:nvSpPr>
          <p:cNvPr id="25" name="Text 2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Prompt Fundamentals</a:t>
            </a:r>
            <a:endParaRPr lang="en-US" sz="950" dirty="0"/>
          </a:p>
        </p:txBody>
      </p:sp>
      <p:sp>
        <p:nvSpPr>
          <p:cNvPr id="26" name="Text 2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13</a:t>
            </a:r>
            <a:endParaRPr lang="en-US" sz="95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0058400" y="-1645920"/>
            <a:ext cx="4114800" cy="4114800"/>
          </a:xfrm>
          <a:prstGeom prst="ellipse">
            <a:avLst/>
          </a:prstGeom>
          <a:solidFill>
            <a:srgbClr val="233A63"/>
          </a:solidFill>
          <a:ln/>
        </p:spPr>
      </p:sp>
      <p:sp>
        <p:nvSpPr>
          <p:cNvPr id="3" name="Text 1"/>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9FD6E8"/>
                </a:solidFill>
                <a:latin typeface="Calibri" pitchFamily="34" charset="0"/>
                <a:ea typeface="Calibri" pitchFamily="34" charset="-122"/>
                <a:cs typeface="Calibri" pitchFamily="34" charset="-120"/>
              </a:rPr>
              <a:t>PART 1 RECAP</a:t>
            </a:r>
            <a:endParaRPr lang="en-US" sz="1250" dirty="0"/>
          </a:p>
        </p:txBody>
      </p:sp>
      <p:sp>
        <p:nvSpPr>
          <p:cNvPr id="4" name="Text 2"/>
          <p:cNvSpPr txBox="1"/>
          <p:nvPr/>
        </p:nvSpPr>
        <p:spPr>
          <a:xfrm>
            <a:off x="548640" y="731520"/>
            <a:ext cx="10607040"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Takeaways: Anatomy of a Prompt</a:t>
            </a:r>
            <a:endParaRPr lang="en-US" sz="3000" dirty="0"/>
          </a:p>
        </p:txBody>
      </p:sp>
      <p:sp>
        <p:nvSpPr>
          <p:cNvPr id="5" name="Shape 3"/>
          <p:cNvSpPr/>
          <p:nvPr/>
        </p:nvSpPr>
        <p:spPr>
          <a:xfrm>
            <a:off x="10149840" y="502920"/>
            <a:ext cx="1051560" cy="1051560"/>
          </a:xfrm>
          <a:prstGeom prst="ellipse">
            <a:avLst/>
          </a:prstGeom>
          <a:solidFill>
            <a:srgbClr val="1C7293"/>
          </a:solidFill>
          <a:ln/>
        </p:spPr>
      </p:sp>
      <p:pic>
        <p:nvPicPr>
          <p:cNvPr id="6" name="Image 0" descr="icons/puzzle.png"/>
          <p:cNvPicPr>
            <a:picLocks noChangeAspect="1"/>
          </p:cNvPicPr>
          <p:nvPr/>
        </p:nvPicPr>
        <p:blipFill>
          <a:blip r:embed="rId3"/>
          <a:stretch>
            <a:fillRect/>
          </a:stretch>
        </p:blipFill>
        <p:spPr>
          <a:xfrm>
            <a:off x="10423246" y="776326"/>
            <a:ext cx="504749" cy="504749"/>
          </a:xfrm>
          <a:prstGeom prst="rect">
            <a:avLst/>
          </a:prstGeom>
        </p:spPr>
      </p:pic>
      <p:sp>
        <p:nvSpPr>
          <p:cNvPr id="7" name="Shape 4"/>
          <p:cNvSpPr/>
          <p:nvPr/>
        </p:nvSpPr>
        <p:spPr>
          <a:xfrm>
            <a:off x="548640" y="1965960"/>
            <a:ext cx="5408676" cy="1965960"/>
          </a:xfrm>
          <a:prstGeom prst="roundRect">
            <a:avLst>
              <a:gd name="adj" fmla="val 3721"/>
            </a:avLst>
          </a:prstGeom>
          <a:solidFill>
            <a:srgbClr val="233A63"/>
          </a:solidFill>
          <a:ln/>
        </p:spPr>
      </p:sp>
      <p:sp>
        <p:nvSpPr>
          <p:cNvPr id="8" name="Shape 5"/>
          <p:cNvSpPr/>
          <p:nvPr/>
        </p:nvSpPr>
        <p:spPr>
          <a:xfrm>
            <a:off x="804672" y="2221992"/>
            <a:ext cx="457200" cy="457200"/>
          </a:xfrm>
          <a:prstGeom prst="ellipse">
            <a:avLst/>
          </a:prstGeom>
          <a:solidFill>
            <a:srgbClr val="1C7293"/>
          </a:solidFill>
          <a:ln/>
        </p:spPr>
      </p:sp>
      <p:pic>
        <p:nvPicPr>
          <p:cNvPr id="9" name="Image 1" descr="icons/book.png"/>
          <p:cNvPicPr>
            <a:picLocks noChangeAspect="1"/>
          </p:cNvPicPr>
          <p:nvPr/>
        </p:nvPicPr>
        <p:blipFill>
          <a:blip r:embed="rId4"/>
          <a:stretch>
            <a:fillRect/>
          </a:stretch>
        </p:blipFill>
        <p:spPr>
          <a:xfrm>
            <a:off x="896112" y="2313432"/>
            <a:ext cx="274320" cy="274320"/>
          </a:xfrm>
          <a:prstGeom prst="rect">
            <a:avLst/>
          </a:prstGeom>
        </p:spPr>
      </p:pic>
      <p:sp>
        <p:nvSpPr>
          <p:cNvPr id="10" name="Text 6"/>
          <p:cNvSpPr txBox="1"/>
          <p:nvPr/>
        </p:nvSpPr>
        <p:spPr>
          <a:xfrm>
            <a:off x="1417320" y="218541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Context sets the scene</a:t>
            </a:r>
            <a:endParaRPr lang="en-US" sz="1450" dirty="0"/>
          </a:p>
        </p:txBody>
      </p:sp>
      <p:sp>
        <p:nvSpPr>
          <p:cNvPr id="11" name="Text 7"/>
          <p:cNvSpPr txBox="1"/>
          <p:nvPr/>
        </p:nvSpPr>
        <p:spPr>
          <a:xfrm>
            <a:off x="804672" y="278892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Audience and situation shape everything the AI generates afterward.</a:t>
            </a:r>
            <a:endParaRPr lang="en-US" sz="1150" dirty="0"/>
          </a:p>
        </p:txBody>
      </p:sp>
      <p:sp>
        <p:nvSpPr>
          <p:cNvPr id="12" name="Shape 8"/>
          <p:cNvSpPr/>
          <p:nvPr/>
        </p:nvSpPr>
        <p:spPr>
          <a:xfrm>
            <a:off x="6231636" y="1965960"/>
            <a:ext cx="5408676" cy="1965960"/>
          </a:xfrm>
          <a:prstGeom prst="roundRect">
            <a:avLst>
              <a:gd name="adj" fmla="val 3721"/>
            </a:avLst>
          </a:prstGeom>
          <a:solidFill>
            <a:srgbClr val="233A63"/>
          </a:solidFill>
          <a:ln/>
        </p:spPr>
      </p:sp>
      <p:sp>
        <p:nvSpPr>
          <p:cNvPr id="13" name="Shape 9"/>
          <p:cNvSpPr/>
          <p:nvPr/>
        </p:nvSpPr>
        <p:spPr>
          <a:xfrm>
            <a:off x="6487668" y="2221992"/>
            <a:ext cx="457200" cy="457200"/>
          </a:xfrm>
          <a:prstGeom prst="ellipse">
            <a:avLst/>
          </a:prstGeom>
          <a:solidFill>
            <a:srgbClr val="1C7293"/>
          </a:solidFill>
          <a:ln/>
        </p:spPr>
      </p:sp>
      <p:pic>
        <p:nvPicPr>
          <p:cNvPr id="14" name="Image 2" descr="icons/bullseye.png"/>
          <p:cNvPicPr>
            <a:picLocks noChangeAspect="1"/>
          </p:cNvPicPr>
          <p:nvPr/>
        </p:nvPicPr>
        <p:blipFill>
          <a:blip r:embed="rId5"/>
          <a:stretch>
            <a:fillRect/>
          </a:stretch>
        </p:blipFill>
        <p:spPr>
          <a:xfrm>
            <a:off x="6579108" y="2313432"/>
            <a:ext cx="274320" cy="274320"/>
          </a:xfrm>
          <a:prstGeom prst="rect">
            <a:avLst/>
          </a:prstGeom>
        </p:spPr>
      </p:pic>
      <p:sp>
        <p:nvSpPr>
          <p:cNvPr id="15" name="Text 10"/>
          <p:cNvSpPr txBox="1"/>
          <p:nvPr/>
        </p:nvSpPr>
        <p:spPr>
          <a:xfrm>
            <a:off x="7100316" y="218541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One clear instruction</a:t>
            </a:r>
            <a:endParaRPr lang="en-US" sz="1450" dirty="0"/>
          </a:p>
        </p:txBody>
      </p:sp>
      <p:sp>
        <p:nvSpPr>
          <p:cNvPr id="16" name="Text 11"/>
          <p:cNvSpPr txBox="1"/>
          <p:nvPr/>
        </p:nvSpPr>
        <p:spPr>
          <a:xfrm>
            <a:off x="6487668" y="278892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A single, specific action verb beats a vague topic every time.</a:t>
            </a:r>
            <a:endParaRPr lang="en-US" sz="1150" dirty="0"/>
          </a:p>
        </p:txBody>
      </p:sp>
      <p:sp>
        <p:nvSpPr>
          <p:cNvPr id="17" name="Shape 12"/>
          <p:cNvSpPr/>
          <p:nvPr/>
        </p:nvSpPr>
        <p:spPr>
          <a:xfrm>
            <a:off x="548640" y="4206240"/>
            <a:ext cx="5408676" cy="1965960"/>
          </a:xfrm>
          <a:prstGeom prst="roundRect">
            <a:avLst>
              <a:gd name="adj" fmla="val 3721"/>
            </a:avLst>
          </a:prstGeom>
          <a:solidFill>
            <a:srgbClr val="233A63"/>
          </a:solidFill>
          <a:ln/>
        </p:spPr>
      </p:sp>
      <p:sp>
        <p:nvSpPr>
          <p:cNvPr id="18" name="Shape 13"/>
          <p:cNvSpPr/>
          <p:nvPr/>
        </p:nvSpPr>
        <p:spPr>
          <a:xfrm>
            <a:off x="804672" y="4462272"/>
            <a:ext cx="457200" cy="457200"/>
          </a:xfrm>
          <a:prstGeom prst="ellipse">
            <a:avLst/>
          </a:prstGeom>
          <a:solidFill>
            <a:srgbClr val="1C7293"/>
          </a:solidFill>
          <a:ln/>
        </p:spPr>
      </p:sp>
      <p:pic>
        <p:nvPicPr>
          <p:cNvPr id="19" name="Image 3" descr="icons/filealt.png"/>
          <p:cNvPicPr>
            <a:picLocks noChangeAspect="1"/>
          </p:cNvPicPr>
          <p:nvPr/>
        </p:nvPicPr>
        <p:blipFill>
          <a:blip r:embed="rId6"/>
          <a:stretch>
            <a:fillRect/>
          </a:stretch>
        </p:blipFill>
        <p:spPr>
          <a:xfrm>
            <a:off x="896112" y="4553712"/>
            <a:ext cx="274320" cy="274320"/>
          </a:xfrm>
          <a:prstGeom prst="rect">
            <a:avLst/>
          </a:prstGeom>
        </p:spPr>
      </p:pic>
      <p:sp>
        <p:nvSpPr>
          <p:cNvPr id="20" name="Text 14"/>
          <p:cNvSpPr txBox="1"/>
          <p:nvPr/>
        </p:nvSpPr>
        <p:spPr>
          <a:xfrm>
            <a:off x="1417320" y="442569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Format saves editing time</a:t>
            </a:r>
            <a:endParaRPr lang="en-US" sz="1450" dirty="0"/>
          </a:p>
        </p:txBody>
      </p:sp>
      <p:sp>
        <p:nvSpPr>
          <p:cNvPr id="21" name="Text 15"/>
          <p:cNvSpPr txBox="1"/>
          <p:nvPr/>
        </p:nvSpPr>
        <p:spPr>
          <a:xfrm>
            <a:off x="804672" y="502920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Specify structure and tone so output is usable immediately.</a:t>
            </a:r>
            <a:endParaRPr lang="en-US" sz="1150" dirty="0"/>
          </a:p>
        </p:txBody>
      </p:sp>
      <p:sp>
        <p:nvSpPr>
          <p:cNvPr id="22" name="Shape 16"/>
          <p:cNvSpPr/>
          <p:nvPr/>
        </p:nvSpPr>
        <p:spPr>
          <a:xfrm>
            <a:off x="6231636" y="4206240"/>
            <a:ext cx="5408676" cy="1965960"/>
          </a:xfrm>
          <a:prstGeom prst="roundRect">
            <a:avLst>
              <a:gd name="adj" fmla="val 3721"/>
            </a:avLst>
          </a:prstGeom>
          <a:solidFill>
            <a:srgbClr val="233A63"/>
          </a:solidFill>
          <a:ln/>
        </p:spPr>
      </p:sp>
      <p:sp>
        <p:nvSpPr>
          <p:cNvPr id="23" name="Shape 17"/>
          <p:cNvSpPr/>
          <p:nvPr/>
        </p:nvSpPr>
        <p:spPr>
          <a:xfrm>
            <a:off x="6487668" y="4462272"/>
            <a:ext cx="457200" cy="457200"/>
          </a:xfrm>
          <a:prstGeom prst="ellipse">
            <a:avLst/>
          </a:prstGeom>
          <a:solidFill>
            <a:srgbClr val="1C7293"/>
          </a:solidFill>
          <a:ln/>
        </p:spPr>
      </p:sp>
      <p:pic>
        <p:nvPicPr>
          <p:cNvPr id="24" name="Image 4" descr="icons/shield.png"/>
          <p:cNvPicPr>
            <a:picLocks noChangeAspect="1"/>
          </p:cNvPicPr>
          <p:nvPr/>
        </p:nvPicPr>
        <p:blipFill>
          <a:blip r:embed="rId7"/>
          <a:stretch>
            <a:fillRect/>
          </a:stretch>
        </p:blipFill>
        <p:spPr>
          <a:xfrm>
            <a:off x="6579108" y="4553712"/>
            <a:ext cx="274320" cy="274320"/>
          </a:xfrm>
          <a:prstGeom prst="rect">
            <a:avLst/>
          </a:prstGeom>
        </p:spPr>
      </p:pic>
      <p:sp>
        <p:nvSpPr>
          <p:cNvPr id="25" name="Text 18"/>
          <p:cNvSpPr txBox="1"/>
          <p:nvPr/>
        </p:nvSpPr>
        <p:spPr>
          <a:xfrm>
            <a:off x="7100316" y="442569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Constraints keep it on target</a:t>
            </a:r>
            <a:endParaRPr lang="en-US" sz="1450" dirty="0"/>
          </a:p>
        </p:txBody>
      </p:sp>
      <p:sp>
        <p:nvSpPr>
          <p:cNvPr id="26" name="Text 19"/>
          <p:cNvSpPr txBox="1"/>
          <p:nvPr/>
        </p:nvSpPr>
        <p:spPr>
          <a:xfrm>
            <a:off x="6487668" y="502920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Explicit limits prevent the AI from wandering off-brief.</a:t>
            </a:r>
            <a:endParaRPr lang="en-US" sz="1150" dirty="0"/>
          </a:p>
        </p:txBody>
      </p:sp>
      <p:sp>
        <p:nvSpPr>
          <p:cNvPr id="27" name="Text 20"/>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9FD6E8"/>
                </a:solidFill>
                <a:latin typeface="Calibri" pitchFamily="34" charset="0"/>
                <a:ea typeface="Calibri" pitchFamily="34" charset="-122"/>
                <a:cs typeface="Calibri" pitchFamily="34" charset="-120"/>
              </a:rPr>
              <a:t>Prompt Fundamentals</a:t>
            </a:r>
            <a:endParaRPr lang="en-US" sz="950" dirty="0"/>
          </a:p>
        </p:txBody>
      </p:sp>
      <p:sp>
        <p:nvSpPr>
          <p:cNvPr id="28" name="Text 21"/>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9FD6E8"/>
                </a:solidFill>
                <a:latin typeface="Calibri" pitchFamily="34" charset="0"/>
                <a:ea typeface="Calibri" pitchFamily="34" charset="-122"/>
                <a:cs typeface="Calibri" pitchFamily="34" charset="-120"/>
              </a:rPr>
              <a:t>14</a:t>
            </a:r>
            <a:endParaRPr lang="en-US" sz="95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828800" y="-2011680"/>
            <a:ext cx="5486400" cy="5486400"/>
          </a:xfrm>
          <a:prstGeom prst="ellipse">
            <a:avLst/>
          </a:prstGeom>
          <a:solidFill>
            <a:srgbClr val="233A63"/>
          </a:solidFill>
          <a:ln/>
        </p:spPr>
      </p:sp>
      <p:sp>
        <p:nvSpPr>
          <p:cNvPr id="3" name="Shape 1"/>
          <p:cNvSpPr/>
          <p:nvPr/>
        </p:nvSpPr>
        <p:spPr>
          <a:xfrm>
            <a:off x="9875520" y="4206240"/>
            <a:ext cx="5029200" cy="5029200"/>
          </a:xfrm>
          <a:prstGeom prst="ellipse">
            <a:avLst/>
          </a:prstGeom>
          <a:solidFill>
            <a:srgbClr val="121C33"/>
          </a:solidFill>
          <a:ln/>
        </p:spPr>
      </p:sp>
      <p:sp>
        <p:nvSpPr>
          <p:cNvPr id="4" name="Text 2"/>
          <p:cNvSpPr txBox="1"/>
          <p:nvPr/>
        </p:nvSpPr>
        <p:spPr>
          <a:xfrm>
            <a:off x="822960" y="2286000"/>
            <a:ext cx="3657600" cy="457200"/>
          </a:xfrm>
          <a:prstGeom prst="rect">
            <a:avLst/>
          </a:prstGeom>
          <a:noFill/>
          <a:ln/>
        </p:spPr>
        <p:txBody>
          <a:bodyPr wrap="square" lIns="0" tIns="0" rIns="0" bIns="0"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PART 2</a:t>
            </a:r>
            <a:endParaRPr lang="en-US" sz="1600" dirty="0"/>
          </a:p>
        </p:txBody>
      </p:sp>
      <p:sp>
        <p:nvSpPr>
          <p:cNvPr id="5" name="Shape 3"/>
          <p:cNvSpPr/>
          <p:nvPr/>
        </p:nvSpPr>
        <p:spPr>
          <a:xfrm>
            <a:off x="868680" y="2788920"/>
            <a:ext cx="1280160" cy="0"/>
          </a:xfrm>
          <a:prstGeom prst="line">
            <a:avLst/>
          </a:prstGeom>
          <a:noFill/>
          <a:ln w="31750">
            <a:solidFill>
              <a:srgbClr val="1C7293"/>
            </a:solidFill>
            <a:prstDash val="solid"/>
          </a:ln>
        </p:spPr>
      </p:sp>
      <p:sp>
        <p:nvSpPr>
          <p:cNvPr id="6" name="Text 4"/>
          <p:cNvSpPr txBox="1"/>
          <p:nvPr/>
        </p:nvSpPr>
        <p:spPr>
          <a:xfrm>
            <a:off x="822960" y="2880360"/>
            <a:ext cx="9601200" cy="365760"/>
          </a:xfrm>
          <a:prstGeom prst="rect">
            <a:avLst/>
          </a:prstGeom>
          <a:noFill/>
          <a:ln/>
        </p:spPr>
        <p:txBody>
          <a:bodyPr wrap="square" lIns="0" tIns="0" rIns="0" bIns="0" rtlCol="0" anchor="ctr"/>
          <a:lstStyle/>
          <a:p>
            <a:pPr marL="0" indent="0">
              <a:buNone/>
            </a:pPr>
            <a:r>
              <a:rPr lang="en-US" sz="1300" b="1" kern="0" spc="180" dirty="0">
                <a:solidFill>
                  <a:srgbClr val="9FD6E8"/>
                </a:solidFill>
                <a:latin typeface="Calibri" pitchFamily="34" charset="0"/>
                <a:ea typeface="Calibri" pitchFamily="34" charset="-122"/>
                <a:cs typeface="Calibri" pitchFamily="34" charset="-120"/>
              </a:rPr>
              <a:t>PROMPTING TECHNIQUES</a:t>
            </a:r>
            <a:endParaRPr lang="en-US" sz="1300" dirty="0"/>
          </a:p>
        </p:txBody>
      </p:sp>
      <p:sp>
        <p:nvSpPr>
          <p:cNvPr id="7" name="Text 5"/>
          <p:cNvSpPr txBox="1"/>
          <p:nvPr/>
        </p:nvSpPr>
        <p:spPr>
          <a:xfrm>
            <a:off x="777240" y="3246120"/>
            <a:ext cx="9692640" cy="1463040"/>
          </a:xfrm>
          <a:prstGeom prst="rect">
            <a:avLst/>
          </a:prstGeom>
          <a:noFill/>
          <a:ln/>
        </p:spPr>
        <p:txBody>
          <a:bodyPr wrap="square" lIns="0" tIns="0" rIns="0" bIns="0" rtlCol="0" anchor="ctr"/>
          <a:lstStyle/>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Zero-Shot, Few-Shot</a:t>
            </a:r>
            <a:endParaRPr lang="en-US" sz="3600" dirty="0"/>
          </a:p>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&amp; Structured Reasoning</a:t>
            </a:r>
            <a:endParaRPr lang="en-US" sz="3600" dirty="0"/>
          </a:p>
        </p:txBody>
      </p:sp>
      <p:sp>
        <p:nvSpPr>
          <p:cNvPr id="8" name="Text 6"/>
          <p:cNvSpPr txBox="1"/>
          <p:nvPr/>
        </p:nvSpPr>
        <p:spPr>
          <a:xfrm>
            <a:off x="822960" y="4709160"/>
            <a:ext cx="8686800" cy="731520"/>
          </a:xfrm>
          <a:prstGeom prst="rect">
            <a:avLst/>
          </a:prstGeom>
          <a:noFill/>
          <a:ln/>
        </p:spPr>
        <p:txBody>
          <a:bodyPr wrap="square" lIns="0" tIns="0" rIns="0" bIns="0" rtlCol="0" anchor="ctr"/>
          <a:lstStyle/>
          <a:p>
            <a:pPr marL="0" indent="0">
              <a:lnSpc>
                <a:spcPct val="125000"/>
              </a:lnSpc>
              <a:buNone/>
            </a:pPr>
            <a:r>
              <a:rPr lang="en-US" sz="1500" i="1" dirty="0">
                <a:solidFill>
                  <a:srgbClr val="C9D6E3"/>
                </a:solidFill>
                <a:latin typeface="Calibri" pitchFamily="34" charset="0"/>
                <a:ea typeface="Calibri" pitchFamily="34" charset="-122"/>
                <a:cs typeface="Calibri" pitchFamily="34" charset="-120"/>
              </a:rPr>
              <a:t>Four techniques for shaping how an AI approaches a task — and a practical guide to when each one earns its place.</a:t>
            </a:r>
            <a:endParaRPr lang="en-US" sz="1500" dirty="0"/>
          </a:p>
        </p:txBody>
      </p:sp>
      <p:sp>
        <p:nvSpPr>
          <p:cNvPr id="9" name="Shape 7"/>
          <p:cNvSpPr/>
          <p:nvPr/>
        </p:nvSpPr>
        <p:spPr>
          <a:xfrm>
            <a:off x="10195560" y="685800"/>
            <a:ext cx="1143000" cy="1143000"/>
          </a:xfrm>
          <a:prstGeom prst="ellipse">
            <a:avLst/>
          </a:prstGeom>
          <a:solidFill>
            <a:srgbClr val="1C7293"/>
          </a:solidFill>
          <a:ln/>
        </p:spPr>
      </p:sp>
      <p:pic>
        <p:nvPicPr>
          <p:cNvPr id="10" name="Image 0" descr="icons/listol.png"/>
          <p:cNvPicPr>
            <a:picLocks noChangeAspect="1"/>
          </p:cNvPicPr>
          <p:nvPr/>
        </p:nvPicPr>
        <p:blipFill>
          <a:blip r:embed="rId3"/>
          <a:stretch>
            <a:fillRect/>
          </a:stretch>
        </p:blipFill>
        <p:spPr>
          <a:xfrm>
            <a:off x="10492740" y="982980"/>
            <a:ext cx="548640" cy="548640"/>
          </a:xfrm>
          <a:prstGeom prst="rect">
            <a:avLst/>
          </a:prstGeom>
        </p:spPr>
      </p:pic>
      <p:sp>
        <p:nvSpPr>
          <p:cNvPr id="11" name="Text 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9FD6E8"/>
                </a:solidFill>
                <a:latin typeface="Calibri" pitchFamily="34" charset="0"/>
                <a:ea typeface="Calibri" pitchFamily="34" charset="-122"/>
                <a:cs typeface="Calibri" pitchFamily="34" charset="-120"/>
              </a:rPr>
              <a:t>Part 2 · Prompting Techniques</a:t>
            </a:r>
            <a:endParaRPr lang="en-US" sz="950" dirty="0"/>
          </a:p>
        </p:txBody>
      </p:sp>
      <p:sp>
        <p:nvSpPr>
          <p:cNvPr id="12" name="Text 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9FD6E8"/>
                </a:solidFill>
                <a:latin typeface="Calibri" pitchFamily="34" charset="0"/>
                <a:ea typeface="Calibri" pitchFamily="34" charset="-122"/>
                <a:cs typeface="Calibri" pitchFamily="34" charset="-120"/>
              </a:rPr>
              <a:t>15</a:t>
            </a:r>
            <a:endParaRPr lang="en-US" sz="95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2 · PROMPTING TECHNIQUES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Four Techniques at a Glance</a:t>
            </a:r>
            <a:endParaRPr lang="en-US" sz="3200" dirty="0"/>
          </a:p>
        </p:txBody>
      </p:sp>
      <p:sp>
        <p:nvSpPr>
          <p:cNvPr id="4" name="Shape 2"/>
          <p:cNvSpPr/>
          <p:nvPr/>
        </p:nvSpPr>
        <p:spPr>
          <a:xfrm>
            <a:off x="548640"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41248" y="2212848"/>
            <a:ext cx="658368" cy="658368"/>
          </a:xfrm>
          <a:prstGeom prst="ellipse">
            <a:avLst/>
          </a:prstGeom>
          <a:solidFill>
            <a:srgbClr val="1C7293"/>
          </a:solidFill>
          <a:ln/>
        </p:spPr>
      </p:sp>
      <p:pic>
        <p:nvPicPr>
          <p:cNvPr id="6" name="Image 0" descr="icons/bullseye.png"/>
          <p:cNvPicPr>
            <a:picLocks noChangeAspect="1"/>
          </p:cNvPicPr>
          <p:nvPr/>
        </p:nvPicPr>
        <p:blipFill>
          <a:blip r:embed="rId3"/>
          <a:stretch>
            <a:fillRect/>
          </a:stretch>
        </p:blipFill>
        <p:spPr>
          <a:xfrm>
            <a:off x="1012424" y="2384024"/>
            <a:ext cx="316017" cy="316017"/>
          </a:xfrm>
          <a:prstGeom prst="rect">
            <a:avLst/>
          </a:prstGeom>
        </p:spPr>
      </p:pic>
      <p:sp>
        <p:nvSpPr>
          <p:cNvPr id="7" name="Text 4"/>
          <p:cNvSpPr txBox="1"/>
          <p:nvPr/>
        </p:nvSpPr>
        <p:spPr>
          <a:xfrm>
            <a:off x="1645920"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Zero-Shot Prompting</a:t>
            </a:r>
            <a:endParaRPr lang="en-US" sz="1650" dirty="0"/>
          </a:p>
        </p:txBody>
      </p:sp>
      <p:sp>
        <p:nvSpPr>
          <p:cNvPr id="8" name="Text 5"/>
          <p:cNvSpPr txBox="1"/>
          <p:nvPr/>
        </p:nvSpPr>
        <p:spPr>
          <a:xfrm>
            <a:off x="841248"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Ask directly, with no examples given — relies on the model’s existing knowledge.</a:t>
            </a:r>
            <a:endParaRPr lang="en-US" sz="1200" dirty="0"/>
          </a:p>
        </p:txBody>
      </p:sp>
      <p:sp>
        <p:nvSpPr>
          <p:cNvPr id="9" name="Shape 6"/>
          <p:cNvSpPr/>
          <p:nvPr/>
        </p:nvSpPr>
        <p:spPr>
          <a:xfrm>
            <a:off x="6254496"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Shape 7"/>
          <p:cNvSpPr/>
          <p:nvPr/>
        </p:nvSpPr>
        <p:spPr>
          <a:xfrm>
            <a:off x="6547104" y="2212848"/>
            <a:ext cx="658368" cy="658368"/>
          </a:xfrm>
          <a:prstGeom prst="ellipse">
            <a:avLst/>
          </a:prstGeom>
          <a:solidFill>
            <a:srgbClr val="1C7293"/>
          </a:solidFill>
          <a:ln/>
        </p:spPr>
      </p:sp>
      <p:pic>
        <p:nvPicPr>
          <p:cNvPr id="11" name="Image 1" descr="icons/listol.png"/>
          <p:cNvPicPr>
            <a:picLocks noChangeAspect="1"/>
          </p:cNvPicPr>
          <p:nvPr/>
        </p:nvPicPr>
        <p:blipFill>
          <a:blip r:embed="rId4"/>
          <a:stretch>
            <a:fillRect/>
          </a:stretch>
        </p:blipFill>
        <p:spPr>
          <a:xfrm>
            <a:off x="6718280" y="2384024"/>
            <a:ext cx="316017" cy="316017"/>
          </a:xfrm>
          <a:prstGeom prst="rect">
            <a:avLst/>
          </a:prstGeom>
        </p:spPr>
      </p:pic>
      <p:sp>
        <p:nvSpPr>
          <p:cNvPr id="12" name="Text 8"/>
          <p:cNvSpPr txBox="1"/>
          <p:nvPr/>
        </p:nvSpPr>
        <p:spPr>
          <a:xfrm>
            <a:off x="7351776"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Few-Shot Prompting</a:t>
            </a:r>
            <a:endParaRPr lang="en-US" sz="1650" dirty="0"/>
          </a:p>
        </p:txBody>
      </p:sp>
      <p:sp>
        <p:nvSpPr>
          <p:cNvPr id="13" name="Text 9"/>
          <p:cNvSpPr txBox="1"/>
          <p:nvPr/>
        </p:nvSpPr>
        <p:spPr>
          <a:xfrm>
            <a:off x="6547104"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Show 2–5 worked examples before asking for a new one in the same style.</a:t>
            </a:r>
            <a:endParaRPr lang="en-US" sz="1200" dirty="0"/>
          </a:p>
        </p:txBody>
      </p:sp>
      <p:sp>
        <p:nvSpPr>
          <p:cNvPr id="14" name="Shape 10"/>
          <p:cNvSpPr/>
          <p:nvPr/>
        </p:nvSpPr>
        <p:spPr>
          <a:xfrm>
            <a:off x="548640"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Shape 11"/>
          <p:cNvSpPr/>
          <p:nvPr/>
        </p:nvSpPr>
        <p:spPr>
          <a:xfrm>
            <a:off x="841248" y="4681728"/>
            <a:ext cx="658368" cy="658368"/>
          </a:xfrm>
          <a:prstGeom prst="ellipse">
            <a:avLst/>
          </a:prstGeom>
          <a:solidFill>
            <a:srgbClr val="1C7293"/>
          </a:solidFill>
          <a:ln/>
        </p:spPr>
      </p:sp>
      <p:pic>
        <p:nvPicPr>
          <p:cNvPr id="16" name="Image 2" descr="icons/sitemap.png"/>
          <p:cNvPicPr>
            <a:picLocks noChangeAspect="1"/>
          </p:cNvPicPr>
          <p:nvPr/>
        </p:nvPicPr>
        <p:blipFill>
          <a:blip r:embed="rId5"/>
          <a:stretch>
            <a:fillRect/>
          </a:stretch>
        </p:blipFill>
        <p:spPr>
          <a:xfrm>
            <a:off x="1012424" y="4852904"/>
            <a:ext cx="316017" cy="316017"/>
          </a:xfrm>
          <a:prstGeom prst="rect">
            <a:avLst/>
          </a:prstGeom>
        </p:spPr>
      </p:pic>
      <p:sp>
        <p:nvSpPr>
          <p:cNvPr id="17" name="Text 12"/>
          <p:cNvSpPr txBox="1"/>
          <p:nvPr/>
        </p:nvSpPr>
        <p:spPr>
          <a:xfrm>
            <a:off x="1645920"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Structured Reasoning</a:t>
            </a:r>
            <a:endParaRPr lang="en-US" sz="1650" dirty="0"/>
          </a:p>
        </p:txBody>
      </p:sp>
      <p:sp>
        <p:nvSpPr>
          <p:cNvPr id="18" name="Text 13"/>
          <p:cNvSpPr txBox="1"/>
          <p:nvPr/>
        </p:nvSpPr>
        <p:spPr>
          <a:xfrm>
            <a:off x="841248"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Ask the AI to think step-by-step before giving a final answer.</a:t>
            </a:r>
            <a:endParaRPr lang="en-US" sz="1200" dirty="0"/>
          </a:p>
        </p:txBody>
      </p:sp>
      <p:sp>
        <p:nvSpPr>
          <p:cNvPr id="19" name="Shape 14"/>
          <p:cNvSpPr/>
          <p:nvPr/>
        </p:nvSpPr>
        <p:spPr>
          <a:xfrm>
            <a:off x="6254496"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0" name="Shape 15"/>
          <p:cNvSpPr/>
          <p:nvPr/>
        </p:nvSpPr>
        <p:spPr>
          <a:xfrm>
            <a:off x="6547104" y="4681728"/>
            <a:ext cx="658368" cy="658368"/>
          </a:xfrm>
          <a:prstGeom prst="ellipse">
            <a:avLst/>
          </a:prstGeom>
          <a:solidFill>
            <a:srgbClr val="1C7293"/>
          </a:solidFill>
          <a:ln/>
        </p:spPr>
      </p:sp>
      <p:pic>
        <p:nvPicPr>
          <p:cNvPr id="21" name="Image 3" descr="icons/puzzle.png"/>
          <p:cNvPicPr>
            <a:picLocks noChangeAspect="1"/>
          </p:cNvPicPr>
          <p:nvPr/>
        </p:nvPicPr>
        <p:blipFill>
          <a:blip r:embed="rId6"/>
          <a:stretch>
            <a:fillRect/>
          </a:stretch>
        </p:blipFill>
        <p:spPr>
          <a:xfrm>
            <a:off x="6718280" y="4852904"/>
            <a:ext cx="316017" cy="316017"/>
          </a:xfrm>
          <a:prstGeom prst="rect">
            <a:avLst/>
          </a:prstGeom>
        </p:spPr>
      </p:pic>
      <p:sp>
        <p:nvSpPr>
          <p:cNvPr id="22" name="Text 16"/>
          <p:cNvSpPr txBox="1"/>
          <p:nvPr/>
        </p:nvSpPr>
        <p:spPr>
          <a:xfrm>
            <a:off x="7351776"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Problem Decomposition</a:t>
            </a:r>
            <a:endParaRPr lang="en-US" sz="1650" dirty="0"/>
          </a:p>
        </p:txBody>
      </p:sp>
      <p:sp>
        <p:nvSpPr>
          <p:cNvPr id="23" name="Text 17"/>
          <p:cNvSpPr txBox="1"/>
          <p:nvPr/>
        </p:nvSpPr>
        <p:spPr>
          <a:xfrm>
            <a:off x="6547104"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Break one large task into smaller prompts, solved one at a time.</a:t>
            </a:r>
            <a:endParaRPr lang="en-US" sz="1200" dirty="0"/>
          </a:p>
        </p:txBody>
      </p:sp>
      <p:sp>
        <p:nvSpPr>
          <p:cNvPr id="24" name="Text 1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Part 2 · Prompting Techniques</a:t>
            </a:r>
            <a:endParaRPr lang="en-US" sz="950" dirty="0"/>
          </a:p>
        </p:txBody>
      </p:sp>
      <p:sp>
        <p:nvSpPr>
          <p:cNvPr id="25" name="Text 1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16</a:t>
            </a:r>
            <a:endParaRPr lang="en-US" sz="95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2 · PROMPTING TECHNIQUES</a:t>
            </a:r>
            <a:endParaRPr lang="en-US" sz="1250" dirty="0"/>
          </a:p>
        </p:txBody>
      </p:sp>
      <p:sp>
        <p:nvSpPr>
          <p:cNvPr id="3" name="Text 1"/>
          <p:cNvSpPr txBox="1"/>
          <p:nvPr/>
        </p:nvSpPr>
        <p:spPr>
          <a:xfrm>
            <a:off x="548640" y="1371600"/>
            <a:ext cx="5486400" cy="274320"/>
          </a:xfrm>
          <a:prstGeom prst="rect">
            <a:avLst/>
          </a:prstGeom>
          <a:noFill/>
          <a:ln/>
        </p:spPr>
        <p:txBody>
          <a:bodyPr wrap="square" lIns="0" tIns="0" rIns="0" bIns="0" rtlCol="0" anchor="ctr"/>
          <a:lstStyle/>
          <a:p>
            <a:pPr marL="0" indent="0">
              <a:buNone/>
            </a:pPr>
            <a:r>
              <a:rPr lang="en-US" sz="1050" b="1" kern="0" spc="120" dirty="0">
                <a:solidFill>
                  <a:srgbClr val="8A94A0"/>
                </a:solidFill>
                <a:latin typeface="Calibri" pitchFamily="34" charset="0"/>
                <a:ea typeface="Calibri" pitchFamily="34" charset="-122"/>
                <a:cs typeface="Calibri" pitchFamily="34" charset="-120"/>
              </a:rPr>
              <a:t>1 OF 4</a:t>
            </a:r>
            <a:endParaRPr lang="en-US" sz="1050" dirty="0"/>
          </a:p>
        </p:txBody>
      </p:sp>
      <p:sp>
        <p:nvSpPr>
          <p:cNvPr id="4" name="Text 2"/>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Zero-Shot Prompting</a:t>
            </a:r>
            <a:endParaRPr lang="en-US" sz="3200" dirty="0"/>
          </a:p>
        </p:txBody>
      </p:sp>
      <p:sp>
        <p:nvSpPr>
          <p:cNvPr id="5" name="Shape 3"/>
          <p:cNvSpPr/>
          <p:nvPr/>
        </p:nvSpPr>
        <p:spPr>
          <a:xfrm>
            <a:off x="9646920" y="777240"/>
            <a:ext cx="1737360" cy="1737360"/>
          </a:xfrm>
          <a:prstGeom prst="ellipse">
            <a:avLst/>
          </a:prstGeom>
          <a:solidFill>
            <a:srgbClr val="1C7293"/>
          </a:solidFill>
          <a:ln/>
        </p:spPr>
      </p:sp>
      <p:pic>
        <p:nvPicPr>
          <p:cNvPr id="6" name="Image 0" descr="icons/bullseye.png"/>
          <p:cNvPicPr>
            <a:picLocks noChangeAspect="1"/>
          </p:cNvPicPr>
          <p:nvPr/>
        </p:nvPicPr>
        <p:blipFill>
          <a:blip r:embed="rId3"/>
          <a:stretch>
            <a:fillRect/>
          </a:stretch>
        </p:blipFill>
        <p:spPr>
          <a:xfrm>
            <a:off x="10098634" y="1228954"/>
            <a:ext cx="833933" cy="833933"/>
          </a:xfrm>
          <a:prstGeom prst="rect">
            <a:avLst/>
          </a:prstGeom>
        </p:spPr>
      </p:pic>
      <p:sp>
        <p:nvSpPr>
          <p:cNvPr id="7" name="Shape 4"/>
          <p:cNvSpPr/>
          <p:nvPr/>
        </p:nvSpPr>
        <p:spPr>
          <a:xfrm>
            <a:off x="548640" y="2057400"/>
            <a:ext cx="10195560" cy="868680"/>
          </a:xfrm>
          <a:prstGeom prst="roundRect">
            <a:avLst>
              <a:gd name="adj" fmla="val 9474"/>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8" name="Text 5"/>
          <p:cNvSpPr txBox="1"/>
          <p:nvPr/>
        </p:nvSpPr>
        <p:spPr>
          <a:xfrm>
            <a:off x="868680" y="2057400"/>
            <a:ext cx="9509760" cy="868680"/>
          </a:xfrm>
          <a:prstGeom prst="rect">
            <a:avLst/>
          </a:prstGeom>
          <a:noFill/>
          <a:ln/>
        </p:spPr>
        <p:txBody>
          <a:bodyPr wrap="square" lIns="0" tIns="0" rIns="0" bIns="0" rtlCol="0" anchor="ctr"/>
          <a:lstStyle/>
          <a:p>
            <a:pPr marL="0" indent="0">
              <a:buNone/>
            </a:pPr>
            <a:r>
              <a:rPr lang="en-US" sz="1550" b="1" i="1" dirty="0">
                <a:solidFill>
                  <a:srgbClr val="1C7293"/>
                </a:solidFill>
                <a:latin typeface="Calibri" pitchFamily="34" charset="0"/>
                <a:ea typeface="Calibri" pitchFamily="34" charset="-122"/>
                <a:cs typeface="Calibri" pitchFamily="34" charset="-120"/>
              </a:rPr>
              <a:t>Can the AI do this correctly with no examples at all?</a:t>
            </a:r>
            <a:endParaRPr lang="en-US" sz="1550" dirty="0"/>
          </a:p>
        </p:txBody>
      </p:sp>
      <p:sp>
        <p:nvSpPr>
          <p:cNvPr id="9" name="Shape 6"/>
          <p:cNvSpPr/>
          <p:nvPr/>
        </p:nvSpPr>
        <p:spPr>
          <a:xfrm>
            <a:off x="548640" y="3154680"/>
            <a:ext cx="5074920" cy="2971800"/>
          </a:xfrm>
          <a:prstGeom prst="roundRect">
            <a:avLst>
              <a:gd name="adj" fmla="val 2769"/>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Text 7"/>
          <p:cNvSpPr txBox="1"/>
          <p:nvPr/>
        </p:nvSpPr>
        <p:spPr>
          <a:xfrm>
            <a:off x="841248" y="3364992"/>
            <a:ext cx="45720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IN PLAIN TERMS</a:t>
            </a:r>
            <a:endParaRPr lang="en-US" sz="1050" dirty="0"/>
          </a:p>
        </p:txBody>
      </p:sp>
      <p:sp>
        <p:nvSpPr>
          <p:cNvPr id="11" name="Text 8"/>
          <p:cNvSpPr txBox="1"/>
          <p:nvPr/>
        </p:nvSpPr>
        <p:spPr>
          <a:xfrm>
            <a:off x="841248" y="3694176"/>
            <a:ext cx="4526280" cy="2286000"/>
          </a:xfrm>
          <a:prstGeom prst="rect">
            <a:avLst/>
          </a:prstGeom>
          <a:noFill/>
          <a:ln/>
        </p:spPr>
        <p:txBody>
          <a:bodyPr wrap="square" lIns="0" tIns="0" rIns="0" bIns="0" rtlCol="0" anchor="t"/>
          <a:lstStyle/>
          <a:p>
            <a:pPr marL="0" indent="0">
              <a:lnSpc>
                <a:spcPct val="122000"/>
              </a:lnSpc>
              <a:buNone/>
            </a:pPr>
            <a:r>
              <a:rPr lang="en-US" sz="1300" dirty="0">
                <a:solidFill>
                  <a:srgbClr val="55606C"/>
                </a:solidFill>
                <a:latin typeface="Calibri" pitchFamily="34" charset="0"/>
                <a:ea typeface="Calibri" pitchFamily="34" charset="-122"/>
                <a:cs typeface="Calibri" pitchFamily="34" charset="-120"/>
              </a:rPr>
              <a:t>Zero-shot prompting simply asks the AI to perform a task directly, trusting its training to handle it well — no examples are provided. It is the fastest technique and works best for common, well-defined tasks the model has seen many times before.</a:t>
            </a:r>
            <a:endParaRPr lang="en-US" sz="1300" dirty="0"/>
          </a:p>
        </p:txBody>
      </p:sp>
      <p:sp>
        <p:nvSpPr>
          <p:cNvPr id="12" name="Shape 9"/>
          <p:cNvSpPr/>
          <p:nvPr/>
        </p:nvSpPr>
        <p:spPr>
          <a:xfrm>
            <a:off x="5852160" y="3154680"/>
            <a:ext cx="4892040" cy="2971800"/>
          </a:xfrm>
          <a:prstGeom prst="roundRect">
            <a:avLst>
              <a:gd name="adj" fmla="val 2769"/>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3" name="Text 10"/>
          <p:cNvSpPr txBox="1"/>
          <p:nvPr/>
        </p:nvSpPr>
        <p:spPr>
          <a:xfrm>
            <a:off x="6126480" y="3364992"/>
            <a:ext cx="438912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EXAMPLE PROMPT</a:t>
            </a:r>
            <a:endParaRPr lang="en-US" sz="1050" dirty="0"/>
          </a:p>
        </p:txBody>
      </p:sp>
      <p:sp>
        <p:nvSpPr>
          <p:cNvPr id="14" name="Shape 11"/>
          <p:cNvSpPr/>
          <p:nvPr/>
        </p:nvSpPr>
        <p:spPr>
          <a:xfrm>
            <a:off x="6126480" y="3675888"/>
            <a:ext cx="4526280" cy="2304288"/>
          </a:xfrm>
          <a:prstGeom prst="roundRect">
            <a:avLst>
              <a:gd name="adj" fmla="val 2381"/>
            </a:avLst>
          </a:prstGeom>
          <a:solidFill>
            <a:srgbClr val="1B2A4A"/>
          </a:solidFill>
          <a:ln/>
        </p:spPr>
      </p:sp>
      <p:sp>
        <p:nvSpPr>
          <p:cNvPr id="15" name="Text 12"/>
          <p:cNvSpPr txBox="1"/>
          <p:nvPr/>
        </p:nvSpPr>
        <p:spPr>
          <a:xfrm>
            <a:off x="6309360" y="3803904"/>
            <a:ext cx="4160520" cy="2057400"/>
          </a:xfrm>
          <a:prstGeom prst="rect">
            <a:avLst/>
          </a:prstGeom>
          <a:noFill/>
          <a:ln/>
        </p:spPr>
        <p:txBody>
          <a:bodyPr wrap="square" lIns="0" tIns="0" rIns="0" bIns="0" rtlCol="0" anchor="t"/>
          <a:lstStyle/>
          <a:p>
            <a:pPr marL="0" indent="0">
              <a:lnSpc>
                <a:spcPct val="125000"/>
              </a:lnSpc>
              <a:buNone/>
            </a:pPr>
            <a:r>
              <a:rPr lang="en-US" sz="1100" dirty="0">
                <a:solidFill>
                  <a:srgbClr val="E7EEF3"/>
                </a:solidFill>
                <a:latin typeface="Courier New" pitchFamily="34" charset="0"/>
                <a:ea typeface="Courier New" pitchFamily="34" charset="-122"/>
                <a:cs typeface="Courier New" pitchFamily="34" charset="-120"/>
              </a:rPr>
              <a:t>"Translate the following paragraph from English to French:</a:t>
            </a:r>
            <a:endParaRPr lang="en-US" sz="1100" dirty="0"/>
          </a:p>
          <a:p>
            <a:pPr marL="0" indent="0">
              <a:lnSpc>
                <a:spcPct val="125000"/>
              </a:lnSpc>
              <a:buNone/>
            </a:pPr>
            <a:endParaRPr lang="en-US" sz="1100" dirty="0"/>
          </a:p>
          <a:p>
            <a:pPr marL="0" indent="0">
              <a:lnSpc>
                <a:spcPct val="125000"/>
              </a:lnSpc>
              <a:buNone/>
            </a:pPr>
            <a:r>
              <a:rPr lang="en-US" sz="1100" dirty="0">
                <a:solidFill>
                  <a:srgbClr val="E7EEF3"/>
                </a:solidFill>
                <a:latin typeface="Courier New" pitchFamily="34" charset="0"/>
                <a:ea typeface="Courier New" pitchFamily="34" charset="-122"/>
                <a:cs typeface="Courier New" pitchFamily="34" charset="-120"/>
              </a:rPr>
              <a:t>[paragraph]"</a:t>
            </a:r>
            <a:endParaRPr lang="en-US" sz="1100" dirty="0"/>
          </a:p>
          <a:p>
            <a:pPr marL="0" indent="0">
              <a:lnSpc>
                <a:spcPct val="125000"/>
              </a:lnSpc>
              <a:buNone/>
            </a:pPr>
            <a:endParaRPr lang="en-US" sz="1100" dirty="0"/>
          </a:p>
          <a:p>
            <a:pPr marL="0" indent="0">
              <a:lnSpc>
                <a:spcPct val="125000"/>
              </a:lnSpc>
              <a:buNone/>
            </a:pPr>
            <a:r>
              <a:rPr lang="en-US" sz="1100" dirty="0">
                <a:solidFill>
                  <a:srgbClr val="E7EEF3"/>
                </a:solidFill>
                <a:latin typeface="Courier New" pitchFamily="34" charset="0"/>
                <a:ea typeface="Courier New" pitchFamily="34" charset="-122"/>
                <a:cs typeface="Courier New" pitchFamily="34" charset="-120"/>
              </a:rPr>
              <a:t>No examples needed — translation is a common, well-defined task.</a:t>
            </a:r>
            <a:endParaRPr lang="en-US" sz="1100" dirty="0"/>
          </a:p>
        </p:txBody>
      </p:sp>
      <p:sp>
        <p:nvSpPr>
          <p:cNvPr id="16" name="Text 1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Prompting Techniques</a:t>
            </a:r>
            <a:endParaRPr lang="en-US" sz="950" dirty="0"/>
          </a:p>
        </p:txBody>
      </p:sp>
      <p:sp>
        <p:nvSpPr>
          <p:cNvPr id="17" name="Text 1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17</a:t>
            </a:r>
            <a:endParaRPr lang="en-US" sz="95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2 · PROMPTING TECHNIQUES</a:t>
            </a:r>
            <a:endParaRPr lang="en-US" sz="1250" dirty="0"/>
          </a:p>
        </p:txBody>
      </p:sp>
      <p:sp>
        <p:nvSpPr>
          <p:cNvPr id="3" name="Text 1"/>
          <p:cNvSpPr txBox="1"/>
          <p:nvPr/>
        </p:nvSpPr>
        <p:spPr>
          <a:xfrm>
            <a:off x="548640" y="1371600"/>
            <a:ext cx="5486400" cy="274320"/>
          </a:xfrm>
          <a:prstGeom prst="rect">
            <a:avLst/>
          </a:prstGeom>
          <a:noFill/>
          <a:ln/>
        </p:spPr>
        <p:txBody>
          <a:bodyPr wrap="square" lIns="0" tIns="0" rIns="0" bIns="0" rtlCol="0" anchor="ctr"/>
          <a:lstStyle/>
          <a:p>
            <a:pPr marL="0" indent="0">
              <a:buNone/>
            </a:pPr>
            <a:r>
              <a:rPr lang="en-US" sz="1050" b="1" kern="0" spc="120" dirty="0">
                <a:solidFill>
                  <a:srgbClr val="8A94A0"/>
                </a:solidFill>
                <a:latin typeface="Calibri" pitchFamily="34" charset="0"/>
                <a:ea typeface="Calibri" pitchFamily="34" charset="-122"/>
                <a:cs typeface="Calibri" pitchFamily="34" charset="-120"/>
              </a:rPr>
              <a:t>2 OF 4</a:t>
            </a:r>
            <a:endParaRPr lang="en-US" sz="1050" dirty="0"/>
          </a:p>
        </p:txBody>
      </p:sp>
      <p:sp>
        <p:nvSpPr>
          <p:cNvPr id="4" name="Text 2"/>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Few-Shot Prompting</a:t>
            </a:r>
            <a:endParaRPr lang="en-US" sz="3200" dirty="0"/>
          </a:p>
        </p:txBody>
      </p:sp>
      <p:sp>
        <p:nvSpPr>
          <p:cNvPr id="5" name="Shape 3"/>
          <p:cNvSpPr/>
          <p:nvPr/>
        </p:nvSpPr>
        <p:spPr>
          <a:xfrm>
            <a:off x="9646920" y="777240"/>
            <a:ext cx="1737360" cy="1737360"/>
          </a:xfrm>
          <a:prstGeom prst="ellipse">
            <a:avLst/>
          </a:prstGeom>
          <a:solidFill>
            <a:srgbClr val="1C7293"/>
          </a:solidFill>
          <a:ln/>
        </p:spPr>
      </p:sp>
      <p:pic>
        <p:nvPicPr>
          <p:cNvPr id="6" name="Image 0" descr="icons/listol.png"/>
          <p:cNvPicPr>
            <a:picLocks noChangeAspect="1"/>
          </p:cNvPicPr>
          <p:nvPr/>
        </p:nvPicPr>
        <p:blipFill>
          <a:blip r:embed="rId3"/>
          <a:stretch>
            <a:fillRect/>
          </a:stretch>
        </p:blipFill>
        <p:spPr>
          <a:xfrm>
            <a:off x="10098634" y="1228954"/>
            <a:ext cx="833933" cy="833933"/>
          </a:xfrm>
          <a:prstGeom prst="rect">
            <a:avLst/>
          </a:prstGeom>
        </p:spPr>
      </p:pic>
      <p:sp>
        <p:nvSpPr>
          <p:cNvPr id="7" name="Shape 4"/>
          <p:cNvSpPr/>
          <p:nvPr/>
        </p:nvSpPr>
        <p:spPr>
          <a:xfrm>
            <a:off x="548640" y="2057400"/>
            <a:ext cx="10195560" cy="868680"/>
          </a:xfrm>
          <a:prstGeom prst="roundRect">
            <a:avLst>
              <a:gd name="adj" fmla="val 9474"/>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8" name="Text 5"/>
          <p:cNvSpPr txBox="1"/>
          <p:nvPr/>
        </p:nvSpPr>
        <p:spPr>
          <a:xfrm>
            <a:off x="868680" y="2057400"/>
            <a:ext cx="9509760" cy="868680"/>
          </a:xfrm>
          <a:prstGeom prst="rect">
            <a:avLst/>
          </a:prstGeom>
          <a:noFill/>
          <a:ln/>
        </p:spPr>
        <p:txBody>
          <a:bodyPr wrap="square" lIns="0" tIns="0" rIns="0" bIns="0" rtlCol="0" anchor="ctr"/>
          <a:lstStyle/>
          <a:p>
            <a:pPr marL="0" indent="0">
              <a:buNone/>
            </a:pPr>
            <a:r>
              <a:rPr lang="en-US" sz="1550" b="1" i="1" dirty="0">
                <a:solidFill>
                  <a:srgbClr val="1C7293"/>
                </a:solidFill>
                <a:latin typeface="Calibri" pitchFamily="34" charset="0"/>
                <a:ea typeface="Calibri" pitchFamily="34" charset="-122"/>
                <a:cs typeface="Calibri" pitchFamily="34" charset="-120"/>
              </a:rPr>
              <a:t>Does the task need a specific style or pattern demonstrated first?</a:t>
            </a:r>
            <a:endParaRPr lang="en-US" sz="1550" dirty="0"/>
          </a:p>
        </p:txBody>
      </p:sp>
      <p:sp>
        <p:nvSpPr>
          <p:cNvPr id="9" name="Shape 6"/>
          <p:cNvSpPr/>
          <p:nvPr/>
        </p:nvSpPr>
        <p:spPr>
          <a:xfrm>
            <a:off x="548640" y="3154680"/>
            <a:ext cx="5074920" cy="2971800"/>
          </a:xfrm>
          <a:prstGeom prst="roundRect">
            <a:avLst>
              <a:gd name="adj" fmla="val 2769"/>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Text 7"/>
          <p:cNvSpPr txBox="1"/>
          <p:nvPr/>
        </p:nvSpPr>
        <p:spPr>
          <a:xfrm>
            <a:off x="841248" y="3364992"/>
            <a:ext cx="45720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IN PLAIN TERMS</a:t>
            </a:r>
            <a:endParaRPr lang="en-US" sz="1050" dirty="0"/>
          </a:p>
        </p:txBody>
      </p:sp>
      <p:sp>
        <p:nvSpPr>
          <p:cNvPr id="11" name="Text 8"/>
          <p:cNvSpPr txBox="1"/>
          <p:nvPr/>
        </p:nvSpPr>
        <p:spPr>
          <a:xfrm>
            <a:off x="841248" y="3694176"/>
            <a:ext cx="4526280" cy="2286000"/>
          </a:xfrm>
          <a:prstGeom prst="rect">
            <a:avLst/>
          </a:prstGeom>
          <a:noFill/>
          <a:ln/>
        </p:spPr>
        <p:txBody>
          <a:bodyPr wrap="square" lIns="0" tIns="0" rIns="0" bIns="0" rtlCol="0" anchor="t"/>
          <a:lstStyle/>
          <a:p>
            <a:pPr marL="0" indent="0">
              <a:lnSpc>
                <a:spcPct val="122000"/>
              </a:lnSpc>
              <a:buNone/>
            </a:pPr>
            <a:r>
              <a:rPr lang="en-US" sz="1300" dirty="0">
                <a:solidFill>
                  <a:srgbClr val="55606C"/>
                </a:solidFill>
                <a:latin typeface="Calibri" pitchFamily="34" charset="0"/>
                <a:ea typeface="Calibri" pitchFamily="34" charset="-122"/>
                <a:cs typeface="Calibri" pitchFamily="34" charset="-120"/>
              </a:rPr>
              <a:t>Few-shot prompting provides 2–5 worked examples of the input-output pattern you want, before asking the AI to continue the pattern on new input. It is ideal when the format, tone or structure is unusual or hard to describe in words alone.</a:t>
            </a:r>
            <a:endParaRPr lang="en-US" sz="1300" dirty="0"/>
          </a:p>
        </p:txBody>
      </p:sp>
      <p:sp>
        <p:nvSpPr>
          <p:cNvPr id="12" name="Shape 9"/>
          <p:cNvSpPr/>
          <p:nvPr/>
        </p:nvSpPr>
        <p:spPr>
          <a:xfrm>
            <a:off x="5852160" y="3154680"/>
            <a:ext cx="4892040" cy="2971800"/>
          </a:xfrm>
          <a:prstGeom prst="roundRect">
            <a:avLst>
              <a:gd name="adj" fmla="val 2769"/>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3" name="Text 10"/>
          <p:cNvSpPr txBox="1"/>
          <p:nvPr/>
        </p:nvSpPr>
        <p:spPr>
          <a:xfrm>
            <a:off x="6126480" y="3364992"/>
            <a:ext cx="438912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EXAMPLE PROMPT</a:t>
            </a:r>
            <a:endParaRPr lang="en-US" sz="1050" dirty="0"/>
          </a:p>
        </p:txBody>
      </p:sp>
      <p:sp>
        <p:nvSpPr>
          <p:cNvPr id="14" name="Shape 11"/>
          <p:cNvSpPr/>
          <p:nvPr/>
        </p:nvSpPr>
        <p:spPr>
          <a:xfrm>
            <a:off x="6126480" y="3675888"/>
            <a:ext cx="4526280" cy="2304288"/>
          </a:xfrm>
          <a:prstGeom prst="roundRect">
            <a:avLst>
              <a:gd name="adj" fmla="val 2381"/>
            </a:avLst>
          </a:prstGeom>
          <a:solidFill>
            <a:srgbClr val="1B2A4A"/>
          </a:solidFill>
          <a:ln/>
        </p:spPr>
      </p:sp>
      <p:sp>
        <p:nvSpPr>
          <p:cNvPr id="15" name="Text 12"/>
          <p:cNvSpPr txBox="1"/>
          <p:nvPr/>
        </p:nvSpPr>
        <p:spPr>
          <a:xfrm>
            <a:off x="6309360" y="3803904"/>
            <a:ext cx="4160520" cy="2057400"/>
          </a:xfrm>
          <a:prstGeom prst="rect">
            <a:avLst/>
          </a:prstGeom>
          <a:noFill/>
          <a:ln/>
        </p:spPr>
        <p:txBody>
          <a:bodyPr wrap="square" lIns="0" tIns="0" rIns="0" bIns="0" rtlCol="0" anchor="t"/>
          <a:lstStyle/>
          <a:p>
            <a:pPr marL="0" indent="0">
              <a:lnSpc>
                <a:spcPct val="125000"/>
              </a:lnSpc>
              <a:buNone/>
            </a:pPr>
            <a:r>
              <a:rPr lang="en-US" sz="1100" dirty="0">
                <a:solidFill>
                  <a:srgbClr val="E7EEF3"/>
                </a:solidFill>
                <a:latin typeface="Courier New" pitchFamily="34" charset="0"/>
                <a:ea typeface="Courier New" pitchFamily="34" charset="-122"/>
                <a:cs typeface="Courier New" pitchFamily="34" charset="-120"/>
              </a:rPr>
              <a:t>Turn these notes into exam questions:</a:t>
            </a:r>
            <a:endParaRPr lang="en-US" sz="1100" dirty="0"/>
          </a:p>
          <a:p>
            <a:pPr marL="0" indent="0">
              <a:lnSpc>
                <a:spcPct val="125000"/>
              </a:lnSpc>
              <a:buNone/>
            </a:pPr>
            <a:endParaRPr lang="en-US" sz="1100" dirty="0"/>
          </a:p>
          <a:p>
            <a:pPr marL="0" indent="0">
              <a:lnSpc>
                <a:spcPct val="125000"/>
              </a:lnSpc>
              <a:buNone/>
            </a:pPr>
            <a:r>
              <a:rPr lang="en-US" sz="1100" dirty="0">
                <a:solidFill>
                  <a:srgbClr val="E7EEF3"/>
                </a:solidFill>
                <a:latin typeface="Courier New" pitchFamily="34" charset="0"/>
                <a:ea typeface="Courier New" pitchFamily="34" charset="-122"/>
                <a:cs typeface="Courier New" pitchFamily="34" charset="-120"/>
              </a:rPr>
              <a:t>Note: "Mitosis has 4 phases."</a:t>
            </a:r>
            <a:endParaRPr lang="en-US" sz="1100" dirty="0"/>
          </a:p>
          <a:p>
            <a:pPr marL="0" indent="0">
              <a:lnSpc>
                <a:spcPct val="125000"/>
              </a:lnSpc>
              <a:buNone/>
            </a:pPr>
            <a:r>
              <a:rPr lang="en-US" sz="1100" dirty="0">
                <a:solidFill>
                  <a:srgbClr val="E7EEF3"/>
                </a:solidFill>
                <a:latin typeface="Courier New" pitchFamily="34" charset="0"/>
                <a:ea typeface="Courier New" pitchFamily="34" charset="-122"/>
                <a:cs typeface="Courier New" pitchFamily="34" charset="-120"/>
              </a:rPr>
              <a:t>Q: "List and describe the 4 phases of mitosis."</a:t>
            </a:r>
            <a:endParaRPr lang="en-US" sz="1100" dirty="0"/>
          </a:p>
          <a:p>
            <a:pPr marL="0" indent="0">
              <a:lnSpc>
                <a:spcPct val="125000"/>
              </a:lnSpc>
              <a:buNone/>
            </a:pPr>
            <a:endParaRPr lang="en-US" sz="1100" dirty="0"/>
          </a:p>
          <a:p>
            <a:pPr marL="0" indent="0">
              <a:lnSpc>
                <a:spcPct val="125000"/>
              </a:lnSpc>
              <a:buNone/>
            </a:pPr>
            <a:r>
              <a:rPr lang="en-US" sz="1100" dirty="0">
                <a:solidFill>
                  <a:srgbClr val="E7EEF3"/>
                </a:solidFill>
                <a:latin typeface="Courier New" pitchFamily="34" charset="0"/>
                <a:ea typeface="Courier New" pitchFamily="34" charset="-122"/>
                <a:cs typeface="Courier New" pitchFamily="34" charset="-120"/>
              </a:rPr>
              <a:t>Note: "Osmosis moves water across membranes."</a:t>
            </a:r>
            <a:endParaRPr lang="en-US" sz="1100" dirty="0"/>
          </a:p>
          <a:p>
            <a:pPr marL="0" indent="0">
              <a:lnSpc>
                <a:spcPct val="125000"/>
              </a:lnSpc>
              <a:buNone/>
            </a:pPr>
            <a:r>
              <a:rPr lang="en-US" sz="1100" dirty="0">
                <a:solidFill>
                  <a:srgbClr val="E7EEF3"/>
                </a:solidFill>
                <a:latin typeface="Courier New" pitchFamily="34" charset="0"/>
                <a:ea typeface="Courier New" pitchFamily="34" charset="-122"/>
                <a:cs typeface="Courier New" pitchFamily="34" charset="-120"/>
              </a:rPr>
              <a:t>Q: ___</a:t>
            </a:r>
            <a:endParaRPr lang="en-US" sz="1100" dirty="0"/>
          </a:p>
        </p:txBody>
      </p:sp>
      <p:sp>
        <p:nvSpPr>
          <p:cNvPr id="16" name="Text 1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Prompting Techniques</a:t>
            </a:r>
            <a:endParaRPr lang="en-US" sz="950" dirty="0"/>
          </a:p>
        </p:txBody>
      </p:sp>
      <p:sp>
        <p:nvSpPr>
          <p:cNvPr id="17" name="Text 1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18</a:t>
            </a:r>
            <a:endParaRPr lang="en-US" sz="95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2 · PROMPTING TECHNIQUES</a:t>
            </a:r>
            <a:endParaRPr lang="en-US" sz="1250" dirty="0"/>
          </a:p>
        </p:txBody>
      </p:sp>
      <p:sp>
        <p:nvSpPr>
          <p:cNvPr id="3" name="Text 1"/>
          <p:cNvSpPr txBox="1"/>
          <p:nvPr/>
        </p:nvSpPr>
        <p:spPr>
          <a:xfrm>
            <a:off x="548640" y="1371600"/>
            <a:ext cx="5486400" cy="274320"/>
          </a:xfrm>
          <a:prstGeom prst="rect">
            <a:avLst/>
          </a:prstGeom>
          <a:noFill/>
          <a:ln/>
        </p:spPr>
        <p:txBody>
          <a:bodyPr wrap="square" lIns="0" tIns="0" rIns="0" bIns="0" rtlCol="0" anchor="ctr"/>
          <a:lstStyle/>
          <a:p>
            <a:pPr marL="0" indent="0">
              <a:buNone/>
            </a:pPr>
            <a:r>
              <a:rPr lang="en-US" sz="1050" b="1" kern="0" spc="120" dirty="0">
                <a:solidFill>
                  <a:srgbClr val="8A94A0"/>
                </a:solidFill>
                <a:latin typeface="Calibri" pitchFamily="34" charset="0"/>
                <a:ea typeface="Calibri" pitchFamily="34" charset="-122"/>
                <a:cs typeface="Calibri" pitchFamily="34" charset="-120"/>
              </a:rPr>
              <a:t>3 OF 4</a:t>
            </a:r>
            <a:endParaRPr lang="en-US" sz="1050" dirty="0"/>
          </a:p>
        </p:txBody>
      </p:sp>
      <p:sp>
        <p:nvSpPr>
          <p:cNvPr id="4" name="Text 2"/>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Structured Reasoning (Chain-of-Thought)</a:t>
            </a:r>
            <a:endParaRPr lang="en-US" sz="3200" dirty="0"/>
          </a:p>
        </p:txBody>
      </p:sp>
      <p:sp>
        <p:nvSpPr>
          <p:cNvPr id="5" name="Shape 3"/>
          <p:cNvSpPr/>
          <p:nvPr/>
        </p:nvSpPr>
        <p:spPr>
          <a:xfrm>
            <a:off x="9646920" y="777240"/>
            <a:ext cx="1737360" cy="1737360"/>
          </a:xfrm>
          <a:prstGeom prst="ellipse">
            <a:avLst/>
          </a:prstGeom>
          <a:solidFill>
            <a:srgbClr val="1C7293"/>
          </a:solidFill>
          <a:ln/>
        </p:spPr>
      </p:sp>
      <p:pic>
        <p:nvPicPr>
          <p:cNvPr id="6" name="Image 0" descr="icons/sitemap.png"/>
          <p:cNvPicPr>
            <a:picLocks noChangeAspect="1"/>
          </p:cNvPicPr>
          <p:nvPr/>
        </p:nvPicPr>
        <p:blipFill>
          <a:blip r:embed="rId3"/>
          <a:stretch>
            <a:fillRect/>
          </a:stretch>
        </p:blipFill>
        <p:spPr>
          <a:xfrm>
            <a:off x="10098634" y="1228954"/>
            <a:ext cx="833933" cy="833933"/>
          </a:xfrm>
          <a:prstGeom prst="rect">
            <a:avLst/>
          </a:prstGeom>
        </p:spPr>
      </p:pic>
      <p:sp>
        <p:nvSpPr>
          <p:cNvPr id="7" name="Shape 4"/>
          <p:cNvSpPr/>
          <p:nvPr/>
        </p:nvSpPr>
        <p:spPr>
          <a:xfrm>
            <a:off x="548640" y="2057400"/>
            <a:ext cx="10195560" cy="868680"/>
          </a:xfrm>
          <a:prstGeom prst="roundRect">
            <a:avLst>
              <a:gd name="adj" fmla="val 9474"/>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8" name="Text 5"/>
          <p:cNvSpPr txBox="1"/>
          <p:nvPr/>
        </p:nvSpPr>
        <p:spPr>
          <a:xfrm>
            <a:off x="868680" y="2057400"/>
            <a:ext cx="9509760" cy="868680"/>
          </a:xfrm>
          <a:prstGeom prst="rect">
            <a:avLst/>
          </a:prstGeom>
          <a:noFill/>
          <a:ln/>
        </p:spPr>
        <p:txBody>
          <a:bodyPr wrap="square" lIns="0" tIns="0" rIns="0" bIns="0" rtlCol="0" anchor="ctr"/>
          <a:lstStyle/>
          <a:p>
            <a:pPr marL="0" indent="0">
              <a:buNone/>
            </a:pPr>
            <a:r>
              <a:rPr lang="en-US" sz="1550" b="1" i="1" dirty="0">
                <a:solidFill>
                  <a:srgbClr val="1C7293"/>
                </a:solidFill>
                <a:latin typeface="Calibri" pitchFamily="34" charset="0"/>
                <a:ea typeface="Calibri" pitchFamily="34" charset="-122"/>
                <a:cs typeface="Calibri" pitchFamily="34" charset="-120"/>
              </a:rPr>
              <a:t>Does this task require multi-step logic to get right?</a:t>
            </a:r>
            <a:endParaRPr lang="en-US" sz="1550" dirty="0"/>
          </a:p>
        </p:txBody>
      </p:sp>
      <p:sp>
        <p:nvSpPr>
          <p:cNvPr id="9" name="Shape 6"/>
          <p:cNvSpPr/>
          <p:nvPr/>
        </p:nvSpPr>
        <p:spPr>
          <a:xfrm>
            <a:off x="548640" y="3154680"/>
            <a:ext cx="5074920" cy="2971800"/>
          </a:xfrm>
          <a:prstGeom prst="roundRect">
            <a:avLst>
              <a:gd name="adj" fmla="val 2769"/>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Text 7"/>
          <p:cNvSpPr txBox="1"/>
          <p:nvPr/>
        </p:nvSpPr>
        <p:spPr>
          <a:xfrm>
            <a:off x="841248" y="3364992"/>
            <a:ext cx="45720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IN PLAIN TERMS</a:t>
            </a:r>
            <a:endParaRPr lang="en-US" sz="1050" dirty="0"/>
          </a:p>
        </p:txBody>
      </p:sp>
      <p:sp>
        <p:nvSpPr>
          <p:cNvPr id="11" name="Text 8"/>
          <p:cNvSpPr txBox="1"/>
          <p:nvPr/>
        </p:nvSpPr>
        <p:spPr>
          <a:xfrm>
            <a:off x="841248" y="3694176"/>
            <a:ext cx="4526280" cy="2286000"/>
          </a:xfrm>
          <a:prstGeom prst="rect">
            <a:avLst/>
          </a:prstGeom>
          <a:noFill/>
          <a:ln/>
        </p:spPr>
        <p:txBody>
          <a:bodyPr wrap="square" lIns="0" tIns="0" rIns="0" bIns="0" rtlCol="0" anchor="t"/>
          <a:lstStyle/>
          <a:p>
            <a:pPr marL="0" indent="0">
              <a:lnSpc>
                <a:spcPct val="122000"/>
              </a:lnSpc>
              <a:buNone/>
            </a:pPr>
            <a:r>
              <a:rPr lang="en-US" sz="1300" dirty="0">
                <a:solidFill>
                  <a:srgbClr val="55606C"/>
                </a:solidFill>
                <a:latin typeface="Calibri" pitchFamily="34" charset="0"/>
                <a:ea typeface="Calibri" pitchFamily="34" charset="-122"/>
                <a:cs typeface="Calibri" pitchFamily="34" charset="-120"/>
              </a:rPr>
              <a:t>Structured reasoning prompts the AI to work through its reasoning step-by-step before stating a final answer, rather than jumping straight to a conclusion. This noticeably improves accuracy on maths, logic, and multi-step analytical tasks.</a:t>
            </a:r>
            <a:endParaRPr lang="en-US" sz="1300" dirty="0"/>
          </a:p>
        </p:txBody>
      </p:sp>
      <p:sp>
        <p:nvSpPr>
          <p:cNvPr id="12" name="Shape 9"/>
          <p:cNvSpPr/>
          <p:nvPr/>
        </p:nvSpPr>
        <p:spPr>
          <a:xfrm>
            <a:off x="5852160" y="3154680"/>
            <a:ext cx="4892040" cy="2971800"/>
          </a:xfrm>
          <a:prstGeom prst="roundRect">
            <a:avLst>
              <a:gd name="adj" fmla="val 2769"/>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3" name="Text 10"/>
          <p:cNvSpPr txBox="1"/>
          <p:nvPr/>
        </p:nvSpPr>
        <p:spPr>
          <a:xfrm>
            <a:off x="6126480" y="3364992"/>
            <a:ext cx="438912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EXAMPLE PROMPT</a:t>
            </a:r>
            <a:endParaRPr lang="en-US" sz="1050" dirty="0"/>
          </a:p>
        </p:txBody>
      </p:sp>
      <p:sp>
        <p:nvSpPr>
          <p:cNvPr id="14" name="Shape 11"/>
          <p:cNvSpPr/>
          <p:nvPr/>
        </p:nvSpPr>
        <p:spPr>
          <a:xfrm>
            <a:off x="6126480" y="3675888"/>
            <a:ext cx="4526280" cy="2304288"/>
          </a:xfrm>
          <a:prstGeom prst="roundRect">
            <a:avLst>
              <a:gd name="adj" fmla="val 2381"/>
            </a:avLst>
          </a:prstGeom>
          <a:solidFill>
            <a:srgbClr val="1B2A4A"/>
          </a:solidFill>
          <a:ln/>
        </p:spPr>
      </p:sp>
      <p:sp>
        <p:nvSpPr>
          <p:cNvPr id="15" name="Text 12"/>
          <p:cNvSpPr txBox="1"/>
          <p:nvPr/>
        </p:nvSpPr>
        <p:spPr>
          <a:xfrm>
            <a:off x="6309360" y="3803904"/>
            <a:ext cx="4160520" cy="2057400"/>
          </a:xfrm>
          <a:prstGeom prst="rect">
            <a:avLst/>
          </a:prstGeom>
          <a:noFill/>
          <a:ln/>
        </p:spPr>
        <p:txBody>
          <a:bodyPr wrap="square" lIns="0" tIns="0" rIns="0" bIns="0" rtlCol="0" anchor="t"/>
          <a:lstStyle/>
          <a:p>
            <a:pPr marL="0" indent="0">
              <a:lnSpc>
                <a:spcPct val="125000"/>
              </a:lnSpc>
              <a:buNone/>
            </a:pPr>
            <a:r>
              <a:rPr lang="en-US" sz="1100" dirty="0">
                <a:solidFill>
                  <a:srgbClr val="E7EEF3"/>
                </a:solidFill>
                <a:latin typeface="Courier New" pitchFamily="34" charset="0"/>
                <a:ea typeface="Courier New" pitchFamily="34" charset="-122"/>
                <a:cs typeface="Courier New" pitchFamily="34" charset="-120"/>
              </a:rPr>
              <a:t>"A class has 28 students. 3/4 passed the exam. Of those who passed, half scored above 90%. Work through this step-by-step, then state how many students scored above 90%."</a:t>
            </a:r>
            <a:endParaRPr lang="en-US" sz="1100" dirty="0"/>
          </a:p>
        </p:txBody>
      </p:sp>
      <p:sp>
        <p:nvSpPr>
          <p:cNvPr id="16" name="Text 1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Prompting Techniques</a:t>
            </a:r>
            <a:endParaRPr lang="en-US" sz="950" dirty="0"/>
          </a:p>
        </p:txBody>
      </p:sp>
      <p:sp>
        <p:nvSpPr>
          <p:cNvPr id="17" name="Text 1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19</a:t>
            </a:r>
            <a:endParaRPr lang="en-US" sz="95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2 · PROMPTING TECHNIQUES</a:t>
            </a:r>
            <a:endParaRPr lang="en-US" sz="1250" dirty="0"/>
          </a:p>
        </p:txBody>
      </p:sp>
      <p:sp>
        <p:nvSpPr>
          <p:cNvPr id="3" name="Text 1"/>
          <p:cNvSpPr txBox="1"/>
          <p:nvPr/>
        </p:nvSpPr>
        <p:spPr>
          <a:xfrm>
            <a:off x="548640" y="1371600"/>
            <a:ext cx="5486400" cy="274320"/>
          </a:xfrm>
          <a:prstGeom prst="rect">
            <a:avLst/>
          </a:prstGeom>
          <a:noFill/>
          <a:ln/>
        </p:spPr>
        <p:txBody>
          <a:bodyPr wrap="square" lIns="0" tIns="0" rIns="0" bIns="0" rtlCol="0" anchor="ctr"/>
          <a:lstStyle/>
          <a:p>
            <a:pPr marL="0" indent="0">
              <a:buNone/>
            </a:pPr>
            <a:r>
              <a:rPr lang="en-US" sz="1050" b="1" kern="0" spc="120" dirty="0">
                <a:solidFill>
                  <a:srgbClr val="8A94A0"/>
                </a:solidFill>
                <a:latin typeface="Calibri" pitchFamily="34" charset="0"/>
                <a:ea typeface="Calibri" pitchFamily="34" charset="-122"/>
                <a:cs typeface="Calibri" pitchFamily="34" charset="-120"/>
              </a:rPr>
              <a:t>4 OF 4</a:t>
            </a:r>
            <a:endParaRPr lang="en-US" sz="1050" dirty="0"/>
          </a:p>
        </p:txBody>
      </p:sp>
      <p:sp>
        <p:nvSpPr>
          <p:cNvPr id="4" name="Text 2"/>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Problem Decomposition</a:t>
            </a:r>
            <a:endParaRPr lang="en-US" sz="3200" dirty="0"/>
          </a:p>
        </p:txBody>
      </p:sp>
      <p:sp>
        <p:nvSpPr>
          <p:cNvPr id="5" name="Shape 3"/>
          <p:cNvSpPr/>
          <p:nvPr/>
        </p:nvSpPr>
        <p:spPr>
          <a:xfrm>
            <a:off x="9646920" y="777240"/>
            <a:ext cx="1737360" cy="1737360"/>
          </a:xfrm>
          <a:prstGeom prst="ellipse">
            <a:avLst/>
          </a:prstGeom>
          <a:solidFill>
            <a:srgbClr val="1C7293"/>
          </a:solidFill>
          <a:ln/>
        </p:spPr>
      </p:sp>
      <p:pic>
        <p:nvPicPr>
          <p:cNvPr id="6" name="Image 0" descr="icons/puzzle.png"/>
          <p:cNvPicPr>
            <a:picLocks noChangeAspect="1"/>
          </p:cNvPicPr>
          <p:nvPr/>
        </p:nvPicPr>
        <p:blipFill>
          <a:blip r:embed="rId3"/>
          <a:stretch>
            <a:fillRect/>
          </a:stretch>
        </p:blipFill>
        <p:spPr>
          <a:xfrm>
            <a:off x="10098634" y="1228954"/>
            <a:ext cx="833933" cy="833933"/>
          </a:xfrm>
          <a:prstGeom prst="rect">
            <a:avLst/>
          </a:prstGeom>
        </p:spPr>
      </p:pic>
      <p:sp>
        <p:nvSpPr>
          <p:cNvPr id="7" name="Shape 4"/>
          <p:cNvSpPr/>
          <p:nvPr/>
        </p:nvSpPr>
        <p:spPr>
          <a:xfrm>
            <a:off x="548640" y="2057400"/>
            <a:ext cx="10195560" cy="868680"/>
          </a:xfrm>
          <a:prstGeom prst="roundRect">
            <a:avLst>
              <a:gd name="adj" fmla="val 9474"/>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8" name="Text 5"/>
          <p:cNvSpPr txBox="1"/>
          <p:nvPr/>
        </p:nvSpPr>
        <p:spPr>
          <a:xfrm>
            <a:off x="868680" y="2057400"/>
            <a:ext cx="9509760" cy="868680"/>
          </a:xfrm>
          <a:prstGeom prst="rect">
            <a:avLst/>
          </a:prstGeom>
          <a:noFill/>
          <a:ln/>
        </p:spPr>
        <p:txBody>
          <a:bodyPr wrap="square" lIns="0" tIns="0" rIns="0" bIns="0" rtlCol="0" anchor="ctr"/>
          <a:lstStyle/>
          <a:p>
            <a:pPr marL="0" indent="0">
              <a:buNone/>
            </a:pPr>
            <a:r>
              <a:rPr lang="en-US" sz="1550" b="1" i="1" dirty="0">
                <a:solidFill>
                  <a:srgbClr val="1C7293"/>
                </a:solidFill>
                <a:latin typeface="Calibri" pitchFamily="34" charset="0"/>
                <a:ea typeface="Calibri" pitchFamily="34" charset="-122"/>
                <a:cs typeface="Calibri" pitchFamily="34" charset="-120"/>
              </a:rPr>
              <a:t>Is this task too large or complex for a single prompt?</a:t>
            </a:r>
            <a:endParaRPr lang="en-US" sz="1550" dirty="0"/>
          </a:p>
        </p:txBody>
      </p:sp>
      <p:sp>
        <p:nvSpPr>
          <p:cNvPr id="9" name="Shape 6"/>
          <p:cNvSpPr/>
          <p:nvPr/>
        </p:nvSpPr>
        <p:spPr>
          <a:xfrm>
            <a:off x="548640" y="3154680"/>
            <a:ext cx="5074920" cy="2971800"/>
          </a:xfrm>
          <a:prstGeom prst="roundRect">
            <a:avLst>
              <a:gd name="adj" fmla="val 2769"/>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Text 7"/>
          <p:cNvSpPr txBox="1"/>
          <p:nvPr/>
        </p:nvSpPr>
        <p:spPr>
          <a:xfrm>
            <a:off x="841248" y="3364992"/>
            <a:ext cx="45720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IN PLAIN TERMS</a:t>
            </a:r>
            <a:endParaRPr lang="en-US" sz="1050" dirty="0"/>
          </a:p>
        </p:txBody>
      </p:sp>
      <p:sp>
        <p:nvSpPr>
          <p:cNvPr id="11" name="Text 8"/>
          <p:cNvSpPr txBox="1"/>
          <p:nvPr/>
        </p:nvSpPr>
        <p:spPr>
          <a:xfrm>
            <a:off x="841248" y="3694176"/>
            <a:ext cx="4526280" cy="2286000"/>
          </a:xfrm>
          <a:prstGeom prst="rect">
            <a:avLst/>
          </a:prstGeom>
          <a:noFill/>
          <a:ln/>
        </p:spPr>
        <p:txBody>
          <a:bodyPr wrap="square" lIns="0" tIns="0" rIns="0" bIns="0" rtlCol="0" anchor="t"/>
          <a:lstStyle/>
          <a:p>
            <a:pPr marL="0" indent="0">
              <a:lnSpc>
                <a:spcPct val="122000"/>
              </a:lnSpc>
              <a:buNone/>
            </a:pPr>
            <a:r>
              <a:rPr lang="en-US" sz="1300" dirty="0">
                <a:solidFill>
                  <a:srgbClr val="55606C"/>
                </a:solidFill>
                <a:latin typeface="Calibri" pitchFamily="34" charset="0"/>
                <a:ea typeface="Calibri" pitchFamily="34" charset="-122"/>
                <a:cs typeface="Calibri" pitchFamily="34" charset="-120"/>
              </a:rPr>
              <a:t>Problem decomposition means breaking a large, complex task into a sequence of smaller prompts, each handling one part — then combining the results. It keeps every step reviewable and dramatically improves reliability on big tasks.</a:t>
            </a:r>
            <a:endParaRPr lang="en-US" sz="1300" dirty="0"/>
          </a:p>
        </p:txBody>
      </p:sp>
      <p:sp>
        <p:nvSpPr>
          <p:cNvPr id="12" name="Shape 9"/>
          <p:cNvSpPr/>
          <p:nvPr/>
        </p:nvSpPr>
        <p:spPr>
          <a:xfrm>
            <a:off x="5852160" y="3154680"/>
            <a:ext cx="4892040" cy="2971800"/>
          </a:xfrm>
          <a:prstGeom prst="roundRect">
            <a:avLst>
              <a:gd name="adj" fmla="val 2769"/>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3" name="Text 10"/>
          <p:cNvSpPr txBox="1"/>
          <p:nvPr/>
        </p:nvSpPr>
        <p:spPr>
          <a:xfrm>
            <a:off x="6126480" y="3364992"/>
            <a:ext cx="438912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EXAMPLE PROMPT</a:t>
            </a:r>
            <a:endParaRPr lang="en-US" sz="1050" dirty="0"/>
          </a:p>
        </p:txBody>
      </p:sp>
      <p:sp>
        <p:nvSpPr>
          <p:cNvPr id="14" name="Shape 11"/>
          <p:cNvSpPr/>
          <p:nvPr/>
        </p:nvSpPr>
        <p:spPr>
          <a:xfrm>
            <a:off x="6126480" y="3675888"/>
            <a:ext cx="4526280" cy="2304288"/>
          </a:xfrm>
          <a:prstGeom prst="roundRect">
            <a:avLst>
              <a:gd name="adj" fmla="val 2381"/>
            </a:avLst>
          </a:prstGeom>
          <a:solidFill>
            <a:srgbClr val="1B2A4A"/>
          </a:solidFill>
          <a:ln/>
        </p:spPr>
      </p:sp>
      <p:sp>
        <p:nvSpPr>
          <p:cNvPr id="15" name="Text 12"/>
          <p:cNvSpPr txBox="1"/>
          <p:nvPr/>
        </p:nvSpPr>
        <p:spPr>
          <a:xfrm>
            <a:off x="6309360" y="3803904"/>
            <a:ext cx="4160520" cy="2057400"/>
          </a:xfrm>
          <a:prstGeom prst="rect">
            <a:avLst/>
          </a:prstGeom>
          <a:noFill/>
          <a:ln/>
        </p:spPr>
        <p:txBody>
          <a:bodyPr wrap="square" lIns="0" tIns="0" rIns="0" bIns="0" rtlCol="0" anchor="t"/>
          <a:lstStyle/>
          <a:p>
            <a:pPr marL="0" indent="0">
              <a:lnSpc>
                <a:spcPct val="125000"/>
              </a:lnSpc>
              <a:buNone/>
            </a:pPr>
            <a:r>
              <a:rPr lang="en-US" sz="1100" dirty="0">
                <a:solidFill>
                  <a:srgbClr val="E7EEF3"/>
                </a:solidFill>
                <a:latin typeface="Courier New" pitchFamily="34" charset="0"/>
                <a:ea typeface="Courier New" pitchFamily="34" charset="-122"/>
                <a:cs typeface="Courier New" pitchFamily="34" charset="-120"/>
              </a:rPr>
              <a:t>Instead of: "Write my whole research paper."</a:t>
            </a:r>
            <a:endParaRPr lang="en-US" sz="1100" dirty="0"/>
          </a:p>
          <a:p>
            <a:pPr marL="0" indent="0">
              <a:lnSpc>
                <a:spcPct val="125000"/>
              </a:lnSpc>
              <a:buNone/>
            </a:pPr>
            <a:endParaRPr lang="en-US" sz="1100" dirty="0"/>
          </a:p>
          <a:p>
            <a:pPr marL="0" indent="0">
              <a:lnSpc>
                <a:spcPct val="125000"/>
              </a:lnSpc>
              <a:buNone/>
            </a:pPr>
            <a:r>
              <a:rPr lang="en-US" sz="1100" dirty="0">
                <a:solidFill>
                  <a:srgbClr val="E7EEF3"/>
                </a:solidFill>
                <a:latin typeface="Courier New" pitchFamily="34" charset="0"/>
                <a:ea typeface="Courier New" pitchFamily="34" charset="-122"/>
                <a:cs typeface="Courier New" pitchFamily="34" charset="-120"/>
              </a:rPr>
              <a:t>Step 1: "Draft an outline for this topic."</a:t>
            </a:r>
            <a:endParaRPr lang="en-US" sz="1100" dirty="0"/>
          </a:p>
          <a:p>
            <a:pPr marL="0" indent="0">
              <a:lnSpc>
                <a:spcPct val="125000"/>
              </a:lnSpc>
              <a:buNone/>
            </a:pPr>
            <a:r>
              <a:rPr lang="en-US" sz="1100" dirty="0">
                <a:solidFill>
                  <a:srgbClr val="E7EEF3"/>
                </a:solidFill>
                <a:latin typeface="Courier New" pitchFamily="34" charset="0"/>
                <a:ea typeface="Courier New" pitchFamily="34" charset="-122"/>
                <a:cs typeface="Courier New" pitchFamily="34" charset="-120"/>
              </a:rPr>
              <a:t>Step 2: "Expand section 2 into full paragraphs."</a:t>
            </a:r>
            <a:endParaRPr lang="en-US" sz="1100" dirty="0"/>
          </a:p>
          <a:p>
            <a:pPr marL="0" indent="0">
              <a:lnSpc>
                <a:spcPct val="125000"/>
              </a:lnSpc>
              <a:buNone/>
            </a:pPr>
            <a:r>
              <a:rPr lang="en-US" sz="1100" dirty="0">
                <a:solidFill>
                  <a:srgbClr val="E7EEF3"/>
                </a:solidFill>
                <a:latin typeface="Courier New" pitchFamily="34" charset="0"/>
                <a:ea typeface="Courier New" pitchFamily="34" charset="-122"/>
                <a:cs typeface="Courier New" pitchFamily="34" charset="-120"/>
              </a:rPr>
              <a:t>Step 3: "Write a conclusion based on sections 1–3."</a:t>
            </a:r>
            <a:endParaRPr lang="en-US" sz="1100" dirty="0"/>
          </a:p>
        </p:txBody>
      </p:sp>
      <p:sp>
        <p:nvSpPr>
          <p:cNvPr id="16" name="Text 1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Prompting Techniques</a:t>
            </a:r>
            <a:endParaRPr lang="en-US" sz="950" dirty="0"/>
          </a:p>
        </p:txBody>
      </p:sp>
      <p:sp>
        <p:nvSpPr>
          <p:cNvPr id="17" name="Text 1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20</a:t>
            </a:r>
            <a:endParaRPr lang="en-US" sz="95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2 · PROMPTING TECHNIQUES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Quick Reference: Which Technique, When</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00" i="1" dirty="0">
                <a:solidFill>
                  <a:srgbClr val="8A94A0"/>
                </a:solidFill>
                <a:latin typeface="Calibri" pitchFamily="34" charset="0"/>
                <a:ea typeface="Calibri" pitchFamily="34" charset="-122"/>
                <a:cs typeface="Calibri" pitchFamily="34" charset="-120"/>
              </a:rPr>
              <a:t>A cheat-sheet for choosing the right approach for a given task.</a:t>
            </a:r>
            <a:endParaRPr lang="en-US" sz="1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2514600"/>
        </p:xfrm>
        <a:graphic>
          <a:graphicData uri="http://schemas.openxmlformats.org/drawingml/2006/table">
            <a:tbl>
              <a:tblPr/>
              <a:tblGrid>
                <a:gridCol w="2743200"/>
                <a:gridCol w="4233672"/>
                <a:gridCol w="4114800"/>
              </a:tblGrid>
              <a:tr h="50292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Technique</a:t>
                      </a:r>
                      <a:endParaRPr lang="en-US" sz="11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B2A4A"/>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Best for</a:t>
                      </a:r>
                      <a:endParaRPr lang="en-US" sz="11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B2A4A"/>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Example use case</a:t>
                      </a:r>
                      <a:endParaRPr lang="en-US" sz="11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B2A4A"/>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Zero-shot</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Common, well-defined tasks</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Translating a paragraph, summarising a short text</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Few-shot</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Unusual formats or specific style/tone</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Converting lecture notes into a fixed exam-question format</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Structured reasoning</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Multi-step logic, maths, analysis</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Working through a word problem or a multi-step argument</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Decomposition</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Large, complex, multi-part tasks</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Drafting a full report, paper, or multi-section lesson plan</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r>
            </a:tbl>
          </a:graphicData>
        </a:graphic>
      </p:graphicFrame>
      <p:sp>
        <p:nvSpPr>
          <p:cNvPr id="6" name="Text 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Prompting Techniques</a:t>
            </a:r>
            <a:endParaRPr lang="en-US" sz="950" dirty="0"/>
          </a:p>
        </p:txBody>
      </p:sp>
      <p:sp>
        <p:nvSpPr>
          <p:cNvPr id="7" name="Text 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21</a:t>
            </a:r>
            <a:endParaRPr lang="en-US" sz="95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2 · PROMPTING TECHNIQUES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Decomposition in Action: Planning a Guest Lecture</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00" i="1" dirty="0">
                <a:solidFill>
                  <a:srgbClr val="8A94A0"/>
                </a:solidFill>
                <a:latin typeface="Calibri" pitchFamily="34" charset="0"/>
                <a:ea typeface="Calibri" pitchFamily="34" charset="-122"/>
                <a:cs typeface="Calibri" pitchFamily="34" charset="-120"/>
              </a:rPr>
              <a:t>One complex task, broken into four small, reviewable prompts.</a:t>
            </a:r>
            <a:endParaRPr lang="en-US" sz="1400" dirty="0"/>
          </a:p>
        </p:txBody>
      </p:sp>
      <p:sp>
        <p:nvSpPr>
          <p:cNvPr id="5" name="Shape 3"/>
          <p:cNvSpPr/>
          <p:nvPr/>
        </p:nvSpPr>
        <p:spPr>
          <a:xfrm>
            <a:off x="548640" y="2286000"/>
            <a:ext cx="2148840" cy="265176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6" name="Shape 4"/>
          <p:cNvSpPr/>
          <p:nvPr/>
        </p:nvSpPr>
        <p:spPr>
          <a:xfrm>
            <a:off x="1165860" y="2560320"/>
            <a:ext cx="914400" cy="914400"/>
          </a:xfrm>
          <a:prstGeom prst="ellipse">
            <a:avLst/>
          </a:prstGeom>
          <a:solidFill>
            <a:srgbClr val="1C7293"/>
          </a:solidFill>
          <a:ln/>
        </p:spPr>
      </p:sp>
      <p:pic>
        <p:nvPicPr>
          <p:cNvPr id="7" name="Image 0" descr="icons/lightbulb.png"/>
          <p:cNvPicPr>
            <a:picLocks noChangeAspect="1"/>
          </p:cNvPicPr>
          <p:nvPr/>
        </p:nvPicPr>
        <p:blipFill>
          <a:blip r:embed="rId3"/>
          <a:stretch>
            <a:fillRect/>
          </a:stretch>
        </p:blipFill>
        <p:spPr>
          <a:xfrm>
            <a:off x="1403604" y="2798064"/>
            <a:ext cx="438912" cy="438912"/>
          </a:xfrm>
          <a:prstGeom prst="rect">
            <a:avLst/>
          </a:prstGeom>
        </p:spPr>
      </p:pic>
      <p:sp>
        <p:nvSpPr>
          <p:cNvPr id="8" name="Text 5"/>
          <p:cNvSpPr txBox="1"/>
          <p:nvPr/>
        </p:nvSpPr>
        <p:spPr>
          <a:xfrm>
            <a:off x="685800" y="3584448"/>
            <a:ext cx="1874520" cy="228600"/>
          </a:xfrm>
          <a:prstGeom prst="rect">
            <a:avLst/>
          </a:prstGeom>
          <a:noFill/>
          <a:ln/>
        </p:spPr>
        <p:txBody>
          <a:bodyPr wrap="square" lIns="0" tIns="0" rIns="0" bIns="0" rtlCol="0" anchor="ctr"/>
          <a:lstStyle/>
          <a:p>
            <a:pPr marL="0" indent="0" algn="ctr">
              <a:buNone/>
            </a:pPr>
            <a:r>
              <a:rPr lang="en-US" sz="950" b="1" kern="0" spc="120" dirty="0">
                <a:solidFill>
                  <a:srgbClr val="8A94A0"/>
                </a:solidFill>
                <a:latin typeface="Calibri" pitchFamily="34" charset="0"/>
                <a:ea typeface="Calibri" pitchFamily="34" charset="-122"/>
                <a:cs typeface="Calibri" pitchFamily="34" charset="-120"/>
              </a:rPr>
              <a:t>STEP 1</a:t>
            </a:r>
            <a:endParaRPr lang="en-US" sz="950" dirty="0"/>
          </a:p>
        </p:txBody>
      </p:sp>
      <p:sp>
        <p:nvSpPr>
          <p:cNvPr id="9" name="Text 6"/>
          <p:cNvSpPr txBox="1"/>
          <p:nvPr/>
        </p:nvSpPr>
        <p:spPr>
          <a:xfrm>
            <a:off x="685800" y="3822192"/>
            <a:ext cx="1874520" cy="457200"/>
          </a:xfrm>
          <a:prstGeom prst="rect">
            <a:avLst/>
          </a:prstGeom>
          <a:noFill/>
          <a:ln/>
        </p:spPr>
        <p:txBody>
          <a:bodyPr wrap="square" lIns="0" tIns="0" rIns="0" bIns="0" rtlCol="0" anchor="ctr"/>
          <a:lstStyle/>
          <a:p>
            <a:pPr marL="0" indent="0" algn="ctr">
              <a:buNone/>
            </a:pPr>
            <a:r>
              <a:rPr lang="en-US" sz="1350" b="1" dirty="0">
                <a:solidFill>
                  <a:srgbClr val="1B2A4A"/>
                </a:solidFill>
                <a:latin typeface="Calibri" pitchFamily="34" charset="0"/>
                <a:ea typeface="Calibri" pitchFamily="34" charset="-122"/>
                <a:cs typeface="Calibri" pitchFamily="34" charset="-120"/>
              </a:rPr>
              <a:t>Brainstorm Topics</a:t>
            </a:r>
            <a:endParaRPr lang="en-US" sz="1350" dirty="0"/>
          </a:p>
        </p:txBody>
      </p:sp>
      <p:sp>
        <p:nvSpPr>
          <p:cNvPr id="10" name="Text 7"/>
          <p:cNvSpPr txBox="1"/>
          <p:nvPr/>
        </p:nvSpPr>
        <p:spPr>
          <a:xfrm>
            <a:off x="685800" y="4279392"/>
            <a:ext cx="1874520" cy="594360"/>
          </a:xfrm>
          <a:prstGeom prst="rect">
            <a:avLst/>
          </a:prstGeom>
          <a:noFill/>
          <a:ln/>
        </p:spPr>
        <p:txBody>
          <a:bodyPr wrap="square" lIns="0" tIns="0" rIns="0" bIns="0" rtlCol="0" anchor="ctr"/>
          <a:lstStyle/>
          <a:p>
            <a:pPr marL="0" indent="0" algn="ctr">
              <a:lnSpc>
                <a:spcPct val="115000"/>
              </a:lnSpc>
              <a:buNone/>
            </a:pPr>
            <a:r>
              <a:rPr lang="en-US" sz="1000" dirty="0">
                <a:solidFill>
                  <a:srgbClr val="55606C"/>
                </a:solidFill>
                <a:latin typeface="Calibri" pitchFamily="34" charset="0"/>
                <a:ea typeface="Calibri" pitchFamily="34" charset="-122"/>
                <a:cs typeface="Calibri" pitchFamily="34" charset="-120"/>
              </a:rPr>
              <a:t>Ask for 5 possible themes for the lecture</a:t>
            </a:r>
            <a:endParaRPr lang="en-US" sz="1000" dirty="0"/>
          </a:p>
        </p:txBody>
      </p:sp>
      <p:sp>
        <p:nvSpPr>
          <p:cNvPr id="11" name="Shape 8"/>
          <p:cNvSpPr/>
          <p:nvPr/>
        </p:nvSpPr>
        <p:spPr>
          <a:xfrm>
            <a:off x="2847259" y="3474720"/>
            <a:ext cx="532547" cy="274320"/>
          </a:xfrm>
          <a:prstGeom prst="rightArrow">
            <a:avLst/>
          </a:prstGeom>
          <a:solidFill>
            <a:srgbClr val="1C7293"/>
          </a:solidFill>
          <a:ln/>
        </p:spPr>
      </p:sp>
      <p:sp>
        <p:nvSpPr>
          <p:cNvPr id="12" name="Shape 9"/>
          <p:cNvSpPr/>
          <p:nvPr/>
        </p:nvSpPr>
        <p:spPr>
          <a:xfrm>
            <a:off x="3529584" y="2286000"/>
            <a:ext cx="2148840" cy="265176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3" name="Shape 10"/>
          <p:cNvSpPr/>
          <p:nvPr/>
        </p:nvSpPr>
        <p:spPr>
          <a:xfrm>
            <a:off x="4146804" y="2560320"/>
            <a:ext cx="914400" cy="914400"/>
          </a:xfrm>
          <a:prstGeom prst="ellipse">
            <a:avLst/>
          </a:prstGeom>
          <a:solidFill>
            <a:srgbClr val="1C7293"/>
          </a:solidFill>
          <a:ln/>
        </p:spPr>
      </p:sp>
      <p:pic>
        <p:nvPicPr>
          <p:cNvPr id="14" name="Image 1" descr="icons/sitemap.png"/>
          <p:cNvPicPr>
            <a:picLocks noChangeAspect="1"/>
          </p:cNvPicPr>
          <p:nvPr/>
        </p:nvPicPr>
        <p:blipFill>
          <a:blip r:embed="rId4"/>
          <a:stretch>
            <a:fillRect/>
          </a:stretch>
        </p:blipFill>
        <p:spPr>
          <a:xfrm>
            <a:off x="4384548" y="2798064"/>
            <a:ext cx="438912" cy="438912"/>
          </a:xfrm>
          <a:prstGeom prst="rect">
            <a:avLst/>
          </a:prstGeom>
        </p:spPr>
      </p:pic>
      <p:sp>
        <p:nvSpPr>
          <p:cNvPr id="15" name="Text 11"/>
          <p:cNvSpPr txBox="1"/>
          <p:nvPr/>
        </p:nvSpPr>
        <p:spPr>
          <a:xfrm>
            <a:off x="3666744" y="3584448"/>
            <a:ext cx="1874520" cy="228600"/>
          </a:xfrm>
          <a:prstGeom prst="rect">
            <a:avLst/>
          </a:prstGeom>
          <a:noFill/>
          <a:ln/>
        </p:spPr>
        <p:txBody>
          <a:bodyPr wrap="square" lIns="0" tIns="0" rIns="0" bIns="0" rtlCol="0" anchor="ctr"/>
          <a:lstStyle/>
          <a:p>
            <a:pPr marL="0" indent="0" algn="ctr">
              <a:buNone/>
            </a:pPr>
            <a:r>
              <a:rPr lang="en-US" sz="950" b="1" kern="0" spc="120" dirty="0">
                <a:solidFill>
                  <a:srgbClr val="8A94A0"/>
                </a:solidFill>
                <a:latin typeface="Calibri" pitchFamily="34" charset="0"/>
                <a:ea typeface="Calibri" pitchFamily="34" charset="-122"/>
                <a:cs typeface="Calibri" pitchFamily="34" charset="-120"/>
              </a:rPr>
              <a:t>STEP 2</a:t>
            </a:r>
            <a:endParaRPr lang="en-US" sz="950" dirty="0"/>
          </a:p>
        </p:txBody>
      </p:sp>
      <p:sp>
        <p:nvSpPr>
          <p:cNvPr id="16" name="Text 12"/>
          <p:cNvSpPr txBox="1"/>
          <p:nvPr/>
        </p:nvSpPr>
        <p:spPr>
          <a:xfrm>
            <a:off x="3666744" y="3822192"/>
            <a:ext cx="1874520" cy="457200"/>
          </a:xfrm>
          <a:prstGeom prst="rect">
            <a:avLst/>
          </a:prstGeom>
          <a:noFill/>
          <a:ln/>
        </p:spPr>
        <p:txBody>
          <a:bodyPr wrap="square" lIns="0" tIns="0" rIns="0" bIns="0" rtlCol="0" anchor="ctr"/>
          <a:lstStyle/>
          <a:p>
            <a:pPr marL="0" indent="0" algn="ctr">
              <a:buNone/>
            </a:pPr>
            <a:r>
              <a:rPr lang="en-US" sz="1350" b="1" dirty="0">
                <a:solidFill>
                  <a:srgbClr val="1B2A4A"/>
                </a:solidFill>
                <a:latin typeface="Calibri" pitchFamily="34" charset="0"/>
                <a:ea typeface="Calibri" pitchFamily="34" charset="-122"/>
                <a:cs typeface="Calibri" pitchFamily="34" charset="-120"/>
              </a:rPr>
              <a:t>Build an Outline</a:t>
            </a:r>
            <a:endParaRPr lang="en-US" sz="1350" dirty="0"/>
          </a:p>
        </p:txBody>
      </p:sp>
      <p:sp>
        <p:nvSpPr>
          <p:cNvPr id="17" name="Text 13"/>
          <p:cNvSpPr txBox="1"/>
          <p:nvPr/>
        </p:nvSpPr>
        <p:spPr>
          <a:xfrm>
            <a:off x="3666744" y="4279392"/>
            <a:ext cx="1874520" cy="594360"/>
          </a:xfrm>
          <a:prstGeom prst="rect">
            <a:avLst/>
          </a:prstGeom>
          <a:noFill/>
          <a:ln/>
        </p:spPr>
        <p:txBody>
          <a:bodyPr wrap="square" lIns="0" tIns="0" rIns="0" bIns="0" rtlCol="0" anchor="ctr"/>
          <a:lstStyle/>
          <a:p>
            <a:pPr marL="0" indent="0" algn="ctr">
              <a:lnSpc>
                <a:spcPct val="115000"/>
              </a:lnSpc>
              <a:buNone/>
            </a:pPr>
            <a:r>
              <a:rPr lang="en-US" sz="1000" dirty="0">
                <a:solidFill>
                  <a:srgbClr val="55606C"/>
                </a:solidFill>
                <a:latin typeface="Calibri" pitchFamily="34" charset="0"/>
                <a:ea typeface="Calibri" pitchFamily="34" charset="-122"/>
                <a:cs typeface="Calibri" pitchFamily="34" charset="-120"/>
              </a:rPr>
              <a:t>Turn the chosen theme into section headings</a:t>
            </a:r>
            <a:endParaRPr lang="en-US" sz="1000" dirty="0"/>
          </a:p>
        </p:txBody>
      </p:sp>
      <p:sp>
        <p:nvSpPr>
          <p:cNvPr id="18" name="Shape 14"/>
          <p:cNvSpPr/>
          <p:nvPr/>
        </p:nvSpPr>
        <p:spPr>
          <a:xfrm>
            <a:off x="5828203" y="3474720"/>
            <a:ext cx="532547" cy="274320"/>
          </a:xfrm>
          <a:prstGeom prst="rightArrow">
            <a:avLst/>
          </a:prstGeom>
          <a:solidFill>
            <a:srgbClr val="1C7293"/>
          </a:solidFill>
          <a:ln/>
        </p:spPr>
      </p:sp>
      <p:sp>
        <p:nvSpPr>
          <p:cNvPr id="19" name="Shape 15"/>
          <p:cNvSpPr/>
          <p:nvPr/>
        </p:nvSpPr>
        <p:spPr>
          <a:xfrm>
            <a:off x="6510528" y="2286000"/>
            <a:ext cx="2148840" cy="265176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0" name="Shape 16"/>
          <p:cNvSpPr/>
          <p:nvPr/>
        </p:nvSpPr>
        <p:spPr>
          <a:xfrm>
            <a:off x="7127748" y="2560320"/>
            <a:ext cx="914400" cy="914400"/>
          </a:xfrm>
          <a:prstGeom prst="ellipse">
            <a:avLst/>
          </a:prstGeom>
          <a:solidFill>
            <a:srgbClr val="1C7293"/>
          </a:solidFill>
          <a:ln/>
        </p:spPr>
      </p:sp>
      <p:pic>
        <p:nvPicPr>
          <p:cNvPr id="21" name="Image 2" descr="icons/filealt.png"/>
          <p:cNvPicPr>
            <a:picLocks noChangeAspect="1"/>
          </p:cNvPicPr>
          <p:nvPr/>
        </p:nvPicPr>
        <p:blipFill>
          <a:blip r:embed="rId5"/>
          <a:stretch>
            <a:fillRect/>
          </a:stretch>
        </p:blipFill>
        <p:spPr>
          <a:xfrm>
            <a:off x="7365492" y="2798064"/>
            <a:ext cx="438912" cy="438912"/>
          </a:xfrm>
          <a:prstGeom prst="rect">
            <a:avLst/>
          </a:prstGeom>
        </p:spPr>
      </p:pic>
      <p:sp>
        <p:nvSpPr>
          <p:cNvPr id="22" name="Text 17"/>
          <p:cNvSpPr txBox="1"/>
          <p:nvPr/>
        </p:nvSpPr>
        <p:spPr>
          <a:xfrm>
            <a:off x="6647688" y="3584448"/>
            <a:ext cx="1874520" cy="228600"/>
          </a:xfrm>
          <a:prstGeom prst="rect">
            <a:avLst/>
          </a:prstGeom>
          <a:noFill/>
          <a:ln/>
        </p:spPr>
        <p:txBody>
          <a:bodyPr wrap="square" lIns="0" tIns="0" rIns="0" bIns="0" rtlCol="0" anchor="ctr"/>
          <a:lstStyle/>
          <a:p>
            <a:pPr marL="0" indent="0" algn="ctr">
              <a:buNone/>
            </a:pPr>
            <a:r>
              <a:rPr lang="en-US" sz="950" b="1" kern="0" spc="120" dirty="0">
                <a:solidFill>
                  <a:srgbClr val="8A94A0"/>
                </a:solidFill>
                <a:latin typeface="Calibri" pitchFamily="34" charset="0"/>
                <a:ea typeface="Calibri" pitchFamily="34" charset="-122"/>
                <a:cs typeface="Calibri" pitchFamily="34" charset="-120"/>
              </a:rPr>
              <a:t>STEP 3</a:t>
            </a:r>
            <a:endParaRPr lang="en-US" sz="950" dirty="0"/>
          </a:p>
        </p:txBody>
      </p:sp>
      <p:sp>
        <p:nvSpPr>
          <p:cNvPr id="23" name="Text 18"/>
          <p:cNvSpPr txBox="1"/>
          <p:nvPr/>
        </p:nvSpPr>
        <p:spPr>
          <a:xfrm>
            <a:off x="6647688" y="3822192"/>
            <a:ext cx="1874520" cy="457200"/>
          </a:xfrm>
          <a:prstGeom prst="rect">
            <a:avLst/>
          </a:prstGeom>
          <a:noFill/>
          <a:ln/>
        </p:spPr>
        <p:txBody>
          <a:bodyPr wrap="square" lIns="0" tIns="0" rIns="0" bIns="0" rtlCol="0" anchor="ctr"/>
          <a:lstStyle/>
          <a:p>
            <a:pPr marL="0" indent="0" algn="ctr">
              <a:buNone/>
            </a:pPr>
            <a:r>
              <a:rPr lang="en-US" sz="1350" b="1" dirty="0">
                <a:solidFill>
                  <a:srgbClr val="1B2A4A"/>
                </a:solidFill>
                <a:latin typeface="Calibri" pitchFamily="34" charset="0"/>
                <a:ea typeface="Calibri" pitchFamily="34" charset="-122"/>
                <a:cs typeface="Calibri" pitchFamily="34" charset="-120"/>
              </a:rPr>
              <a:t>Draft Each Section</a:t>
            </a:r>
            <a:endParaRPr lang="en-US" sz="1350" dirty="0"/>
          </a:p>
        </p:txBody>
      </p:sp>
      <p:sp>
        <p:nvSpPr>
          <p:cNvPr id="24" name="Text 19"/>
          <p:cNvSpPr txBox="1"/>
          <p:nvPr/>
        </p:nvSpPr>
        <p:spPr>
          <a:xfrm>
            <a:off x="6647688" y="4279392"/>
            <a:ext cx="1874520" cy="594360"/>
          </a:xfrm>
          <a:prstGeom prst="rect">
            <a:avLst/>
          </a:prstGeom>
          <a:noFill/>
          <a:ln/>
        </p:spPr>
        <p:txBody>
          <a:bodyPr wrap="square" lIns="0" tIns="0" rIns="0" bIns="0" rtlCol="0" anchor="ctr"/>
          <a:lstStyle/>
          <a:p>
            <a:pPr marL="0" indent="0" algn="ctr">
              <a:lnSpc>
                <a:spcPct val="115000"/>
              </a:lnSpc>
              <a:buNone/>
            </a:pPr>
            <a:r>
              <a:rPr lang="en-US" sz="1000" dirty="0">
                <a:solidFill>
                  <a:srgbClr val="55606C"/>
                </a:solidFill>
                <a:latin typeface="Calibri" pitchFamily="34" charset="0"/>
                <a:ea typeface="Calibri" pitchFamily="34" charset="-122"/>
                <a:cs typeface="Calibri" pitchFamily="34" charset="-120"/>
              </a:rPr>
              <a:t>Expand one section at a time into full content</a:t>
            </a:r>
            <a:endParaRPr lang="en-US" sz="1000" dirty="0"/>
          </a:p>
        </p:txBody>
      </p:sp>
      <p:sp>
        <p:nvSpPr>
          <p:cNvPr id="25" name="Shape 20"/>
          <p:cNvSpPr/>
          <p:nvPr/>
        </p:nvSpPr>
        <p:spPr>
          <a:xfrm>
            <a:off x="8809147" y="3474720"/>
            <a:ext cx="532547" cy="274320"/>
          </a:xfrm>
          <a:prstGeom prst="rightArrow">
            <a:avLst/>
          </a:prstGeom>
          <a:solidFill>
            <a:srgbClr val="1C7293"/>
          </a:solidFill>
          <a:ln/>
        </p:spPr>
      </p:sp>
      <p:sp>
        <p:nvSpPr>
          <p:cNvPr id="26" name="Shape 21"/>
          <p:cNvSpPr/>
          <p:nvPr/>
        </p:nvSpPr>
        <p:spPr>
          <a:xfrm>
            <a:off x="9491472" y="2286000"/>
            <a:ext cx="2148840" cy="265176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7" name="Shape 22"/>
          <p:cNvSpPr/>
          <p:nvPr/>
        </p:nvSpPr>
        <p:spPr>
          <a:xfrm>
            <a:off x="10108692" y="2560320"/>
            <a:ext cx="914400" cy="914400"/>
          </a:xfrm>
          <a:prstGeom prst="ellipse">
            <a:avLst/>
          </a:prstGeom>
          <a:solidFill>
            <a:srgbClr val="1C7293"/>
          </a:solidFill>
          <a:ln/>
        </p:spPr>
      </p:sp>
      <p:pic>
        <p:nvPicPr>
          <p:cNvPr id="28" name="Image 3" descr="icons/check.png"/>
          <p:cNvPicPr>
            <a:picLocks noChangeAspect="1"/>
          </p:cNvPicPr>
          <p:nvPr/>
        </p:nvPicPr>
        <p:blipFill>
          <a:blip r:embed="rId6"/>
          <a:stretch>
            <a:fillRect/>
          </a:stretch>
        </p:blipFill>
        <p:spPr>
          <a:xfrm>
            <a:off x="10346436" y="2798064"/>
            <a:ext cx="438912" cy="438912"/>
          </a:xfrm>
          <a:prstGeom prst="rect">
            <a:avLst/>
          </a:prstGeom>
        </p:spPr>
      </p:pic>
      <p:sp>
        <p:nvSpPr>
          <p:cNvPr id="29" name="Text 23"/>
          <p:cNvSpPr txBox="1"/>
          <p:nvPr/>
        </p:nvSpPr>
        <p:spPr>
          <a:xfrm>
            <a:off x="9628632" y="3584448"/>
            <a:ext cx="1874520" cy="228600"/>
          </a:xfrm>
          <a:prstGeom prst="rect">
            <a:avLst/>
          </a:prstGeom>
          <a:noFill/>
          <a:ln/>
        </p:spPr>
        <p:txBody>
          <a:bodyPr wrap="square" lIns="0" tIns="0" rIns="0" bIns="0" rtlCol="0" anchor="ctr"/>
          <a:lstStyle/>
          <a:p>
            <a:pPr marL="0" indent="0" algn="ctr">
              <a:buNone/>
            </a:pPr>
            <a:r>
              <a:rPr lang="en-US" sz="950" b="1" kern="0" spc="120" dirty="0">
                <a:solidFill>
                  <a:srgbClr val="8A94A0"/>
                </a:solidFill>
                <a:latin typeface="Calibri" pitchFamily="34" charset="0"/>
                <a:ea typeface="Calibri" pitchFamily="34" charset="-122"/>
                <a:cs typeface="Calibri" pitchFamily="34" charset="-120"/>
              </a:rPr>
              <a:t>STEP 4</a:t>
            </a:r>
            <a:endParaRPr lang="en-US" sz="950" dirty="0"/>
          </a:p>
        </p:txBody>
      </p:sp>
      <p:sp>
        <p:nvSpPr>
          <p:cNvPr id="30" name="Text 24"/>
          <p:cNvSpPr txBox="1"/>
          <p:nvPr/>
        </p:nvSpPr>
        <p:spPr>
          <a:xfrm>
            <a:off x="9628632" y="3822192"/>
            <a:ext cx="1874520" cy="457200"/>
          </a:xfrm>
          <a:prstGeom prst="rect">
            <a:avLst/>
          </a:prstGeom>
          <a:noFill/>
          <a:ln/>
        </p:spPr>
        <p:txBody>
          <a:bodyPr wrap="square" lIns="0" tIns="0" rIns="0" bIns="0" rtlCol="0" anchor="ctr"/>
          <a:lstStyle/>
          <a:p>
            <a:pPr marL="0" indent="0" algn="ctr">
              <a:buNone/>
            </a:pPr>
            <a:r>
              <a:rPr lang="en-US" sz="1350" b="1" dirty="0">
                <a:solidFill>
                  <a:srgbClr val="1B2A4A"/>
                </a:solidFill>
                <a:latin typeface="Calibri" pitchFamily="34" charset="0"/>
                <a:ea typeface="Calibri" pitchFamily="34" charset="-122"/>
                <a:cs typeface="Calibri" pitchFamily="34" charset="-120"/>
              </a:rPr>
              <a:t>Review &amp; Polish</a:t>
            </a:r>
            <a:endParaRPr lang="en-US" sz="1350" dirty="0"/>
          </a:p>
        </p:txBody>
      </p:sp>
      <p:sp>
        <p:nvSpPr>
          <p:cNvPr id="31" name="Text 25"/>
          <p:cNvSpPr txBox="1"/>
          <p:nvPr/>
        </p:nvSpPr>
        <p:spPr>
          <a:xfrm>
            <a:off x="9628632" y="4279392"/>
            <a:ext cx="1874520" cy="594360"/>
          </a:xfrm>
          <a:prstGeom prst="rect">
            <a:avLst/>
          </a:prstGeom>
          <a:noFill/>
          <a:ln/>
        </p:spPr>
        <p:txBody>
          <a:bodyPr wrap="square" lIns="0" tIns="0" rIns="0" bIns="0" rtlCol="0" anchor="ctr"/>
          <a:lstStyle/>
          <a:p>
            <a:pPr marL="0" indent="0" algn="ctr">
              <a:lnSpc>
                <a:spcPct val="115000"/>
              </a:lnSpc>
              <a:buNone/>
            </a:pPr>
            <a:r>
              <a:rPr lang="en-US" sz="1000" dirty="0">
                <a:solidFill>
                  <a:srgbClr val="55606C"/>
                </a:solidFill>
                <a:latin typeface="Calibri" pitchFamily="34" charset="0"/>
                <a:ea typeface="Calibri" pitchFamily="34" charset="-122"/>
                <a:cs typeface="Calibri" pitchFamily="34" charset="-120"/>
              </a:rPr>
              <a:t>Ask the AI to tighten transitions and tone</a:t>
            </a:r>
            <a:endParaRPr lang="en-US" sz="1000" dirty="0"/>
          </a:p>
        </p:txBody>
      </p:sp>
      <p:sp>
        <p:nvSpPr>
          <p:cNvPr id="32" name="Text 26"/>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Prompting Techniques</a:t>
            </a:r>
            <a:endParaRPr lang="en-US" sz="950" dirty="0"/>
          </a:p>
        </p:txBody>
      </p:sp>
      <p:sp>
        <p:nvSpPr>
          <p:cNvPr id="33" name="Text 27"/>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22</a:t>
            </a:r>
            <a:endParaRPr lang="en-US" sz="95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2 · PROMPTING TECHNIQUES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Worked Example: Structured Reasoning for Grading Logic</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00" i="1" dirty="0">
                <a:solidFill>
                  <a:srgbClr val="8A94A0"/>
                </a:solidFill>
                <a:latin typeface="Calibri" pitchFamily="34" charset="0"/>
                <a:ea typeface="Calibri" pitchFamily="34" charset="-122"/>
                <a:cs typeface="Calibri" pitchFamily="34" charset="-120"/>
              </a:rPr>
              <a:t>Asking the AI to show its work before committing to an answer.</a:t>
            </a:r>
            <a:endParaRPr lang="en-US" sz="1400" dirty="0"/>
          </a:p>
        </p:txBody>
      </p:sp>
      <p:sp>
        <p:nvSpPr>
          <p:cNvPr id="5" name="Shape 3"/>
          <p:cNvSpPr/>
          <p:nvPr/>
        </p:nvSpPr>
        <p:spPr>
          <a:xfrm>
            <a:off x="548640" y="1965960"/>
            <a:ext cx="6720840" cy="2331720"/>
          </a:xfrm>
          <a:prstGeom prst="roundRect">
            <a:avLst>
              <a:gd name="adj" fmla="val 3529"/>
            </a:avLst>
          </a:prstGeom>
          <a:solidFill>
            <a:srgbClr val="1B2A4A"/>
          </a:solidFill>
          <a:ln/>
        </p:spPr>
      </p:sp>
      <p:pic>
        <p:nvPicPr>
          <p:cNvPr id="6" name="Image 0" descr="icons/quote.png"/>
          <p:cNvPicPr>
            <a:picLocks noChangeAspect="1"/>
          </p:cNvPicPr>
          <p:nvPr/>
        </p:nvPicPr>
        <p:blipFill>
          <a:blip r:embed="rId3"/>
          <a:stretch>
            <a:fillRect/>
          </a:stretch>
        </p:blipFill>
        <p:spPr>
          <a:xfrm>
            <a:off x="841248" y="2194560"/>
            <a:ext cx="274320" cy="274320"/>
          </a:xfrm>
          <a:prstGeom prst="rect">
            <a:avLst/>
          </a:prstGeom>
        </p:spPr>
      </p:pic>
      <p:sp>
        <p:nvSpPr>
          <p:cNvPr id="7" name="Text 4"/>
          <p:cNvSpPr txBox="1"/>
          <p:nvPr/>
        </p:nvSpPr>
        <p:spPr>
          <a:xfrm>
            <a:off x="1207008" y="2167128"/>
            <a:ext cx="3657600" cy="274320"/>
          </a:xfrm>
          <a:prstGeom prst="rect">
            <a:avLst/>
          </a:prstGeom>
          <a:noFill/>
          <a:ln/>
        </p:spPr>
        <p:txBody>
          <a:bodyPr wrap="square" lIns="0" tIns="0" rIns="0" bIns="0" rtlCol="0" anchor="ctr"/>
          <a:lstStyle/>
          <a:p>
            <a:pPr marL="0" indent="0">
              <a:buNone/>
            </a:pPr>
            <a:r>
              <a:rPr lang="en-US" sz="1050" b="1" kern="0" spc="140" dirty="0">
                <a:solidFill>
                  <a:srgbClr val="9FD6E8"/>
                </a:solidFill>
                <a:latin typeface="Calibri" pitchFamily="34" charset="0"/>
                <a:ea typeface="Calibri" pitchFamily="34" charset="-122"/>
                <a:cs typeface="Calibri" pitchFamily="34" charset="-120"/>
              </a:rPr>
              <a:t>PROMPT</a:t>
            </a:r>
            <a:endParaRPr lang="en-US" sz="1050" dirty="0"/>
          </a:p>
        </p:txBody>
      </p:sp>
      <p:sp>
        <p:nvSpPr>
          <p:cNvPr id="8" name="Text 5"/>
          <p:cNvSpPr txBox="1"/>
          <p:nvPr/>
        </p:nvSpPr>
        <p:spPr>
          <a:xfrm>
            <a:off x="868680" y="2542032"/>
            <a:ext cx="6172200" cy="1645920"/>
          </a:xfrm>
          <a:prstGeom prst="rect">
            <a:avLst/>
          </a:prstGeom>
          <a:noFill/>
          <a:ln/>
        </p:spPr>
        <p:txBody>
          <a:bodyPr wrap="square" lIns="0" tIns="0" rIns="0" bIns="0" rtlCol="0" anchor="t"/>
          <a:lstStyle/>
          <a:p>
            <a:pPr marL="0" indent="0">
              <a:lnSpc>
                <a:spcPct val="130000"/>
              </a:lnSpc>
              <a:buNone/>
            </a:pPr>
            <a:r>
              <a:rPr lang="en-US" sz="1250" dirty="0">
                <a:solidFill>
                  <a:srgbClr val="E7EEF3"/>
                </a:solidFill>
                <a:latin typeface="Courier New" pitchFamily="34" charset="0"/>
                <a:ea typeface="Courier New" pitchFamily="34" charset="-122"/>
                <a:cs typeface="Courier New" pitchFamily="34" charset="-120"/>
              </a:rPr>
              <a:t>"A rubric awards up to 10 points for Content, 5 for Structure, and 5 for Grammar. A student scores 8/10, 4/5, and 3/5. Work through the total step-by-step, then state the final percentage out of 20."</a:t>
            </a:r>
            <a:endParaRPr lang="en-US" sz="1250" dirty="0"/>
          </a:p>
        </p:txBody>
      </p:sp>
      <p:sp>
        <p:nvSpPr>
          <p:cNvPr id="9" name="Shape 6"/>
          <p:cNvSpPr/>
          <p:nvPr/>
        </p:nvSpPr>
        <p:spPr>
          <a:xfrm>
            <a:off x="548640" y="4480560"/>
            <a:ext cx="6720840" cy="1645920"/>
          </a:xfrm>
          <a:prstGeom prst="roundRect">
            <a:avLst>
              <a:gd name="adj" fmla="val 500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Text 7"/>
          <p:cNvSpPr txBox="1"/>
          <p:nvPr/>
        </p:nvSpPr>
        <p:spPr>
          <a:xfrm>
            <a:off x="841248" y="4663440"/>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TYPICAL AI RESPONSE</a:t>
            </a:r>
            <a:endParaRPr lang="en-US" sz="1050" dirty="0"/>
          </a:p>
        </p:txBody>
      </p:sp>
      <p:sp>
        <p:nvSpPr>
          <p:cNvPr id="11" name="Text 8"/>
          <p:cNvSpPr txBox="1"/>
          <p:nvPr/>
        </p:nvSpPr>
        <p:spPr>
          <a:xfrm>
            <a:off x="841248" y="4974336"/>
            <a:ext cx="6172200" cy="1051560"/>
          </a:xfrm>
          <a:prstGeom prst="rect">
            <a:avLst/>
          </a:prstGeom>
          <a:noFill/>
          <a:ln/>
        </p:spPr>
        <p:txBody>
          <a:bodyPr wrap="square" lIns="0" tIns="0" rIns="0" bIns="0" rtlCol="0" anchor="t"/>
          <a:lstStyle/>
          <a:p>
            <a:pPr marL="0" indent="0">
              <a:lnSpc>
                <a:spcPct val="122000"/>
              </a:lnSpc>
              <a:buNone/>
            </a:pPr>
            <a:r>
              <a:rPr lang="en-US" sz="1200" i="1" dirty="0">
                <a:solidFill>
                  <a:srgbClr val="55606C"/>
                </a:solidFill>
                <a:latin typeface="Calibri" pitchFamily="34" charset="0"/>
                <a:ea typeface="Calibri" pitchFamily="34" charset="-122"/>
                <a:cs typeface="Calibri" pitchFamily="34" charset="-120"/>
              </a:rPr>
              <a:t>Step 1: 8 + 4 + 3 = 15. Step 2: 15 out of 20 total possible points. Step 3: 15/20 = 75%. Final answer: the student scored 75%.</a:t>
            </a:r>
            <a:endParaRPr lang="en-US" sz="1200" dirty="0"/>
          </a:p>
        </p:txBody>
      </p:sp>
      <p:sp>
        <p:nvSpPr>
          <p:cNvPr id="12" name="Shape 9"/>
          <p:cNvSpPr/>
          <p:nvPr/>
        </p:nvSpPr>
        <p:spPr>
          <a:xfrm>
            <a:off x="7635240" y="1965960"/>
            <a:ext cx="1143000" cy="1143000"/>
          </a:xfrm>
          <a:prstGeom prst="ellipse">
            <a:avLst/>
          </a:prstGeom>
          <a:solidFill>
            <a:srgbClr val="1C7293"/>
          </a:solidFill>
          <a:ln/>
        </p:spPr>
      </p:sp>
      <p:pic>
        <p:nvPicPr>
          <p:cNvPr id="13" name="Image 1" descr="icons/sitemap.png"/>
          <p:cNvPicPr>
            <a:picLocks noChangeAspect="1"/>
          </p:cNvPicPr>
          <p:nvPr/>
        </p:nvPicPr>
        <p:blipFill>
          <a:blip r:embed="rId4"/>
          <a:stretch>
            <a:fillRect/>
          </a:stretch>
        </p:blipFill>
        <p:spPr>
          <a:xfrm>
            <a:off x="7932420" y="2263140"/>
            <a:ext cx="548640" cy="548640"/>
          </a:xfrm>
          <a:prstGeom prst="rect">
            <a:avLst/>
          </a:prstGeom>
        </p:spPr>
      </p:pic>
      <p:sp>
        <p:nvSpPr>
          <p:cNvPr id="14" name="Shape 10"/>
          <p:cNvSpPr/>
          <p:nvPr/>
        </p:nvSpPr>
        <p:spPr>
          <a:xfrm>
            <a:off x="7406640" y="3337560"/>
            <a:ext cx="420624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Text 11"/>
          <p:cNvSpPr txBox="1"/>
          <p:nvPr/>
        </p:nvSpPr>
        <p:spPr>
          <a:xfrm>
            <a:off x="7699248" y="3547872"/>
            <a:ext cx="36576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WHY THIS WORKS</a:t>
            </a:r>
            <a:endParaRPr lang="en-US" sz="1050" dirty="0"/>
          </a:p>
        </p:txBody>
      </p:sp>
      <p:sp>
        <p:nvSpPr>
          <p:cNvPr id="16" name="Text 12"/>
          <p:cNvSpPr txBox="1"/>
          <p:nvPr/>
        </p:nvSpPr>
        <p:spPr>
          <a:xfrm>
            <a:off x="7699248" y="3858768"/>
            <a:ext cx="374904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Asking for steps reduces simple arithmetic slip-ups</a:t>
            </a:r>
            <a:endParaRPr lang="en-US" sz="120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You can verify each step, not just trust the final number</a:t>
            </a:r>
            <a:endParaRPr lang="en-US" sz="120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Useful any time a result depends on several combined parts</a:t>
            </a:r>
            <a:endParaRPr lang="en-US" sz="1200" dirty="0"/>
          </a:p>
        </p:txBody>
      </p:sp>
      <p:sp>
        <p:nvSpPr>
          <p:cNvPr id="17" name="Text 1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Prompting Techniques</a:t>
            </a:r>
            <a:endParaRPr lang="en-US" sz="950" dirty="0"/>
          </a:p>
        </p:txBody>
      </p:sp>
      <p:sp>
        <p:nvSpPr>
          <p:cNvPr id="18" name="Text 1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23</a:t>
            </a:r>
            <a:endParaRPr lang="en-US" sz="95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2 · PROMPTING TECHNIQUES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Choosing the Right Technique: Decision Guide</a:t>
            </a:r>
            <a:endParaRPr lang="en-US" sz="3200" dirty="0"/>
          </a:p>
        </p:txBody>
      </p:sp>
      <p:sp>
        <p:nvSpPr>
          <p:cNvPr id="4" name="Shape 2"/>
          <p:cNvSpPr/>
          <p:nvPr/>
        </p:nvSpPr>
        <p:spPr>
          <a:xfrm>
            <a:off x="548640"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41248" y="2212848"/>
            <a:ext cx="658368" cy="658368"/>
          </a:xfrm>
          <a:prstGeom prst="ellipse">
            <a:avLst/>
          </a:prstGeom>
          <a:solidFill>
            <a:srgbClr val="1C7293"/>
          </a:solidFill>
          <a:ln/>
        </p:spPr>
      </p:sp>
      <p:pic>
        <p:nvPicPr>
          <p:cNvPr id="6" name="Image 0" descr="icons/question.png"/>
          <p:cNvPicPr>
            <a:picLocks noChangeAspect="1"/>
          </p:cNvPicPr>
          <p:nvPr/>
        </p:nvPicPr>
        <p:blipFill>
          <a:blip r:embed="rId3"/>
          <a:stretch>
            <a:fillRect/>
          </a:stretch>
        </p:blipFill>
        <p:spPr>
          <a:xfrm>
            <a:off x="1012424" y="2384024"/>
            <a:ext cx="316017" cy="316017"/>
          </a:xfrm>
          <a:prstGeom prst="rect">
            <a:avLst/>
          </a:prstGeom>
        </p:spPr>
      </p:pic>
      <p:sp>
        <p:nvSpPr>
          <p:cNvPr id="7" name="Text 4"/>
          <p:cNvSpPr txBox="1"/>
          <p:nvPr/>
        </p:nvSpPr>
        <p:spPr>
          <a:xfrm>
            <a:off x="1645920"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Is it a simple, common task?</a:t>
            </a:r>
            <a:endParaRPr lang="en-US" sz="1650" dirty="0"/>
          </a:p>
        </p:txBody>
      </p:sp>
      <p:sp>
        <p:nvSpPr>
          <p:cNvPr id="8" name="Text 5"/>
          <p:cNvSpPr txBox="1"/>
          <p:nvPr/>
        </p:nvSpPr>
        <p:spPr>
          <a:xfrm>
            <a:off x="841248"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Start with zero-shot. Only add complexity if the first answer disappoints.</a:t>
            </a:r>
            <a:endParaRPr lang="en-US" sz="1200" dirty="0"/>
          </a:p>
        </p:txBody>
      </p:sp>
      <p:sp>
        <p:nvSpPr>
          <p:cNvPr id="9" name="Shape 6"/>
          <p:cNvSpPr/>
          <p:nvPr/>
        </p:nvSpPr>
        <p:spPr>
          <a:xfrm>
            <a:off x="6254496"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Shape 7"/>
          <p:cNvSpPr/>
          <p:nvPr/>
        </p:nvSpPr>
        <p:spPr>
          <a:xfrm>
            <a:off x="6547104" y="2212848"/>
            <a:ext cx="658368" cy="658368"/>
          </a:xfrm>
          <a:prstGeom prst="ellipse">
            <a:avLst/>
          </a:prstGeom>
          <a:solidFill>
            <a:srgbClr val="1C7293"/>
          </a:solidFill>
          <a:ln/>
        </p:spPr>
      </p:sp>
      <p:pic>
        <p:nvPicPr>
          <p:cNvPr id="11" name="Image 1" descr="icons/listol.png"/>
          <p:cNvPicPr>
            <a:picLocks noChangeAspect="1"/>
          </p:cNvPicPr>
          <p:nvPr/>
        </p:nvPicPr>
        <p:blipFill>
          <a:blip r:embed="rId4"/>
          <a:stretch>
            <a:fillRect/>
          </a:stretch>
        </p:blipFill>
        <p:spPr>
          <a:xfrm>
            <a:off x="6718280" y="2384024"/>
            <a:ext cx="316017" cy="316017"/>
          </a:xfrm>
          <a:prstGeom prst="rect">
            <a:avLst/>
          </a:prstGeom>
        </p:spPr>
      </p:pic>
      <p:sp>
        <p:nvSpPr>
          <p:cNvPr id="12" name="Text 8"/>
          <p:cNvSpPr txBox="1"/>
          <p:nvPr/>
        </p:nvSpPr>
        <p:spPr>
          <a:xfrm>
            <a:off x="7351776"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Is the output format unusual?</a:t>
            </a:r>
            <a:endParaRPr lang="en-US" sz="1650" dirty="0"/>
          </a:p>
        </p:txBody>
      </p:sp>
      <p:sp>
        <p:nvSpPr>
          <p:cNvPr id="13" name="Text 9"/>
          <p:cNvSpPr txBox="1"/>
          <p:nvPr/>
        </p:nvSpPr>
        <p:spPr>
          <a:xfrm>
            <a:off x="6547104"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Use few-shot — show 2–3 examples of exactly the pattern you want.</a:t>
            </a:r>
            <a:endParaRPr lang="en-US" sz="1200" dirty="0"/>
          </a:p>
        </p:txBody>
      </p:sp>
      <p:sp>
        <p:nvSpPr>
          <p:cNvPr id="14" name="Shape 10"/>
          <p:cNvSpPr/>
          <p:nvPr/>
        </p:nvSpPr>
        <p:spPr>
          <a:xfrm>
            <a:off x="548640"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Shape 11"/>
          <p:cNvSpPr/>
          <p:nvPr/>
        </p:nvSpPr>
        <p:spPr>
          <a:xfrm>
            <a:off x="841248" y="4681728"/>
            <a:ext cx="658368" cy="658368"/>
          </a:xfrm>
          <a:prstGeom prst="ellipse">
            <a:avLst/>
          </a:prstGeom>
          <a:solidFill>
            <a:srgbClr val="1C7293"/>
          </a:solidFill>
          <a:ln/>
        </p:spPr>
      </p:sp>
      <p:pic>
        <p:nvPicPr>
          <p:cNvPr id="16" name="Image 2" descr="icons/sitemap.png"/>
          <p:cNvPicPr>
            <a:picLocks noChangeAspect="1"/>
          </p:cNvPicPr>
          <p:nvPr/>
        </p:nvPicPr>
        <p:blipFill>
          <a:blip r:embed="rId5"/>
          <a:stretch>
            <a:fillRect/>
          </a:stretch>
        </p:blipFill>
        <p:spPr>
          <a:xfrm>
            <a:off x="1012424" y="4852904"/>
            <a:ext cx="316017" cy="316017"/>
          </a:xfrm>
          <a:prstGeom prst="rect">
            <a:avLst/>
          </a:prstGeom>
        </p:spPr>
      </p:pic>
      <p:sp>
        <p:nvSpPr>
          <p:cNvPr id="17" name="Text 12"/>
          <p:cNvSpPr txBox="1"/>
          <p:nvPr/>
        </p:nvSpPr>
        <p:spPr>
          <a:xfrm>
            <a:off x="1645920"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Does it involve multi-step logic?</a:t>
            </a:r>
            <a:endParaRPr lang="en-US" sz="1650" dirty="0"/>
          </a:p>
        </p:txBody>
      </p:sp>
      <p:sp>
        <p:nvSpPr>
          <p:cNvPr id="18" name="Text 13"/>
          <p:cNvSpPr txBox="1"/>
          <p:nvPr/>
        </p:nvSpPr>
        <p:spPr>
          <a:xfrm>
            <a:off x="841248"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Ask for structured, step-by-step reasoning before the final answer.</a:t>
            </a:r>
            <a:endParaRPr lang="en-US" sz="1200" dirty="0"/>
          </a:p>
        </p:txBody>
      </p:sp>
      <p:sp>
        <p:nvSpPr>
          <p:cNvPr id="19" name="Shape 14"/>
          <p:cNvSpPr/>
          <p:nvPr/>
        </p:nvSpPr>
        <p:spPr>
          <a:xfrm>
            <a:off x="6254496"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0" name="Shape 15"/>
          <p:cNvSpPr/>
          <p:nvPr/>
        </p:nvSpPr>
        <p:spPr>
          <a:xfrm>
            <a:off x="6547104" y="4681728"/>
            <a:ext cx="658368" cy="658368"/>
          </a:xfrm>
          <a:prstGeom prst="ellipse">
            <a:avLst/>
          </a:prstGeom>
          <a:solidFill>
            <a:srgbClr val="1C7293"/>
          </a:solidFill>
          <a:ln/>
        </p:spPr>
      </p:sp>
      <p:pic>
        <p:nvPicPr>
          <p:cNvPr id="21" name="Image 3" descr="icons/puzzle.png"/>
          <p:cNvPicPr>
            <a:picLocks noChangeAspect="1"/>
          </p:cNvPicPr>
          <p:nvPr/>
        </p:nvPicPr>
        <p:blipFill>
          <a:blip r:embed="rId6"/>
          <a:stretch>
            <a:fillRect/>
          </a:stretch>
        </p:blipFill>
        <p:spPr>
          <a:xfrm>
            <a:off x="6718280" y="4852904"/>
            <a:ext cx="316017" cy="316017"/>
          </a:xfrm>
          <a:prstGeom prst="rect">
            <a:avLst/>
          </a:prstGeom>
        </p:spPr>
      </p:pic>
      <p:sp>
        <p:nvSpPr>
          <p:cNvPr id="22" name="Text 16"/>
          <p:cNvSpPr txBox="1"/>
          <p:nvPr/>
        </p:nvSpPr>
        <p:spPr>
          <a:xfrm>
            <a:off x="7351776"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Is the task large or multi-part?</a:t>
            </a:r>
            <a:endParaRPr lang="en-US" sz="1650" dirty="0"/>
          </a:p>
        </p:txBody>
      </p:sp>
      <p:sp>
        <p:nvSpPr>
          <p:cNvPr id="23" name="Text 17"/>
          <p:cNvSpPr txBox="1"/>
          <p:nvPr/>
        </p:nvSpPr>
        <p:spPr>
          <a:xfrm>
            <a:off x="6547104"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Decompose it into a sequence of smaller, reviewable prompts.</a:t>
            </a:r>
            <a:endParaRPr lang="en-US" sz="1200" dirty="0"/>
          </a:p>
        </p:txBody>
      </p:sp>
      <p:sp>
        <p:nvSpPr>
          <p:cNvPr id="24" name="Text 1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Part 2 · Prompting Techniques</a:t>
            </a:r>
            <a:endParaRPr lang="en-US" sz="950" dirty="0"/>
          </a:p>
        </p:txBody>
      </p:sp>
      <p:sp>
        <p:nvSpPr>
          <p:cNvPr id="25" name="Text 1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24</a:t>
            </a:r>
            <a:endParaRPr lang="en-US" sz="95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2 · PROMPTING TECHNIQUES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Common Mistakes to Avoid</a:t>
            </a:r>
            <a:endParaRPr lang="en-US" sz="3200" dirty="0"/>
          </a:p>
        </p:txBody>
      </p:sp>
      <p:sp>
        <p:nvSpPr>
          <p:cNvPr id="4" name="Shape 2"/>
          <p:cNvSpPr/>
          <p:nvPr/>
        </p:nvSpPr>
        <p:spPr>
          <a:xfrm>
            <a:off x="548640"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41248" y="2212848"/>
            <a:ext cx="658368" cy="658368"/>
          </a:xfrm>
          <a:prstGeom prst="ellipse">
            <a:avLst/>
          </a:prstGeom>
          <a:solidFill>
            <a:srgbClr val="B3261E"/>
          </a:solidFill>
          <a:ln/>
        </p:spPr>
      </p:sp>
      <p:pic>
        <p:nvPicPr>
          <p:cNvPr id="6" name="Image 0" descr="icons/times.png"/>
          <p:cNvPicPr>
            <a:picLocks noChangeAspect="1"/>
          </p:cNvPicPr>
          <p:nvPr/>
        </p:nvPicPr>
        <p:blipFill>
          <a:blip r:embed="rId3"/>
          <a:stretch>
            <a:fillRect/>
          </a:stretch>
        </p:blipFill>
        <p:spPr>
          <a:xfrm>
            <a:off x="1012424" y="2384024"/>
            <a:ext cx="316017" cy="316017"/>
          </a:xfrm>
          <a:prstGeom prst="rect">
            <a:avLst/>
          </a:prstGeom>
        </p:spPr>
      </p:pic>
      <p:sp>
        <p:nvSpPr>
          <p:cNvPr id="7" name="Text 4"/>
          <p:cNvSpPr txBox="1"/>
          <p:nvPr/>
        </p:nvSpPr>
        <p:spPr>
          <a:xfrm>
            <a:off x="1645920"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Using few-shot for simple tasks</a:t>
            </a:r>
            <a:endParaRPr lang="en-US" sz="1650" dirty="0"/>
          </a:p>
        </p:txBody>
      </p:sp>
      <p:sp>
        <p:nvSpPr>
          <p:cNvPr id="8" name="Text 5"/>
          <p:cNvSpPr txBox="1"/>
          <p:nvPr/>
        </p:nvSpPr>
        <p:spPr>
          <a:xfrm>
            <a:off x="841248"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Examples take up space and time when zero-shot would already work fine.</a:t>
            </a:r>
            <a:endParaRPr lang="en-US" sz="1200" dirty="0"/>
          </a:p>
        </p:txBody>
      </p:sp>
      <p:sp>
        <p:nvSpPr>
          <p:cNvPr id="9" name="Shape 6"/>
          <p:cNvSpPr/>
          <p:nvPr/>
        </p:nvSpPr>
        <p:spPr>
          <a:xfrm>
            <a:off x="6254496"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Shape 7"/>
          <p:cNvSpPr/>
          <p:nvPr/>
        </p:nvSpPr>
        <p:spPr>
          <a:xfrm>
            <a:off x="6547104" y="2212848"/>
            <a:ext cx="658368" cy="658368"/>
          </a:xfrm>
          <a:prstGeom prst="ellipse">
            <a:avLst/>
          </a:prstGeom>
          <a:solidFill>
            <a:srgbClr val="B3261E"/>
          </a:solidFill>
          <a:ln/>
        </p:spPr>
      </p:sp>
      <p:pic>
        <p:nvPicPr>
          <p:cNvPr id="11" name="Image 1" descr="icons/times.png"/>
          <p:cNvPicPr>
            <a:picLocks noChangeAspect="1"/>
          </p:cNvPicPr>
          <p:nvPr/>
        </p:nvPicPr>
        <p:blipFill>
          <a:blip r:embed="rId3"/>
          <a:stretch>
            <a:fillRect/>
          </a:stretch>
        </p:blipFill>
        <p:spPr>
          <a:xfrm>
            <a:off x="6718280" y="2384024"/>
            <a:ext cx="316017" cy="316017"/>
          </a:xfrm>
          <a:prstGeom prst="rect">
            <a:avLst/>
          </a:prstGeom>
        </p:spPr>
      </p:pic>
      <p:sp>
        <p:nvSpPr>
          <p:cNvPr id="12" name="Text 8"/>
          <p:cNvSpPr txBox="1"/>
          <p:nvPr/>
        </p:nvSpPr>
        <p:spPr>
          <a:xfrm>
            <a:off x="7351776"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Skipping reasoning on logic tasks</a:t>
            </a:r>
            <a:endParaRPr lang="en-US" sz="1650" dirty="0"/>
          </a:p>
        </p:txBody>
      </p:sp>
      <p:sp>
        <p:nvSpPr>
          <p:cNvPr id="13" name="Text 9"/>
          <p:cNvSpPr txBox="1"/>
          <p:nvPr/>
        </p:nvSpPr>
        <p:spPr>
          <a:xfrm>
            <a:off x="6547104"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Jumping straight to an answer on multi-step problems invites avoidable errors.</a:t>
            </a:r>
            <a:endParaRPr lang="en-US" sz="1200" dirty="0"/>
          </a:p>
        </p:txBody>
      </p:sp>
      <p:sp>
        <p:nvSpPr>
          <p:cNvPr id="14" name="Shape 10"/>
          <p:cNvSpPr/>
          <p:nvPr/>
        </p:nvSpPr>
        <p:spPr>
          <a:xfrm>
            <a:off x="548640"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Shape 11"/>
          <p:cNvSpPr/>
          <p:nvPr/>
        </p:nvSpPr>
        <p:spPr>
          <a:xfrm>
            <a:off x="841248" y="4681728"/>
            <a:ext cx="658368" cy="658368"/>
          </a:xfrm>
          <a:prstGeom prst="ellipse">
            <a:avLst/>
          </a:prstGeom>
          <a:solidFill>
            <a:srgbClr val="B3261E"/>
          </a:solidFill>
          <a:ln/>
        </p:spPr>
      </p:sp>
      <p:pic>
        <p:nvPicPr>
          <p:cNvPr id="16" name="Image 2" descr="icons/times.png"/>
          <p:cNvPicPr>
            <a:picLocks noChangeAspect="1"/>
          </p:cNvPicPr>
          <p:nvPr/>
        </p:nvPicPr>
        <p:blipFill>
          <a:blip r:embed="rId3"/>
          <a:stretch>
            <a:fillRect/>
          </a:stretch>
        </p:blipFill>
        <p:spPr>
          <a:xfrm>
            <a:off x="1012424" y="4852904"/>
            <a:ext cx="316017" cy="316017"/>
          </a:xfrm>
          <a:prstGeom prst="rect">
            <a:avLst/>
          </a:prstGeom>
        </p:spPr>
      </p:pic>
      <p:sp>
        <p:nvSpPr>
          <p:cNvPr id="17" name="Text 12"/>
          <p:cNvSpPr txBox="1"/>
          <p:nvPr/>
        </p:nvSpPr>
        <p:spPr>
          <a:xfrm>
            <a:off x="1645920"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One giant prompt for a big task</a:t>
            </a:r>
            <a:endParaRPr lang="en-US" sz="1650" dirty="0"/>
          </a:p>
        </p:txBody>
      </p:sp>
      <p:sp>
        <p:nvSpPr>
          <p:cNvPr id="18" name="Text 13"/>
          <p:cNvSpPr txBox="1"/>
          <p:nvPr/>
        </p:nvSpPr>
        <p:spPr>
          <a:xfrm>
            <a:off x="841248"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Overloading a single prompt makes errors hard to spot and fix.</a:t>
            </a:r>
            <a:endParaRPr lang="en-US" sz="1200" dirty="0"/>
          </a:p>
        </p:txBody>
      </p:sp>
      <p:sp>
        <p:nvSpPr>
          <p:cNvPr id="19" name="Shape 14"/>
          <p:cNvSpPr/>
          <p:nvPr/>
        </p:nvSpPr>
        <p:spPr>
          <a:xfrm>
            <a:off x="6254496"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0" name="Shape 15"/>
          <p:cNvSpPr/>
          <p:nvPr/>
        </p:nvSpPr>
        <p:spPr>
          <a:xfrm>
            <a:off x="6547104" y="4681728"/>
            <a:ext cx="658368" cy="658368"/>
          </a:xfrm>
          <a:prstGeom prst="ellipse">
            <a:avLst/>
          </a:prstGeom>
          <a:solidFill>
            <a:srgbClr val="B3261E"/>
          </a:solidFill>
          <a:ln/>
        </p:spPr>
      </p:sp>
      <p:pic>
        <p:nvPicPr>
          <p:cNvPr id="21" name="Image 3" descr="icons/times.png"/>
          <p:cNvPicPr>
            <a:picLocks noChangeAspect="1"/>
          </p:cNvPicPr>
          <p:nvPr/>
        </p:nvPicPr>
        <p:blipFill>
          <a:blip r:embed="rId3"/>
          <a:stretch>
            <a:fillRect/>
          </a:stretch>
        </p:blipFill>
        <p:spPr>
          <a:xfrm>
            <a:off x="6718280" y="4852904"/>
            <a:ext cx="316017" cy="316017"/>
          </a:xfrm>
          <a:prstGeom prst="rect">
            <a:avLst/>
          </a:prstGeom>
        </p:spPr>
      </p:pic>
      <p:sp>
        <p:nvSpPr>
          <p:cNvPr id="22" name="Text 16"/>
          <p:cNvSpPr txBox="1"/>
          <p:nvPr/>
        </p:nvSpPr>
        <p:spPr>
          <a:xfrm>
            <a:off x="7351776"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Inconsistent few-shot examples</a:t>
            </a:r>
            <a:endParaRPr lang="en-US" sz="1650" dirty="0"/>
          </a:p>
        </p:txBody>
      </p:sp>
      <p:sp>
        <p:nvSpPr>
          <p:cNvPr id="23" name="Text 17"/>
          <p:cNvSpPr txBox="1"/>
          <p:nvPr/>
        </p:nvSpPr>
        <p:spPr>
          <a:xfrm>
            <a:off x="6547104"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Examples with mismatched style or formatting confuse rather than guide.</a:t>
            </a:r>
            <a:endParaRPr lang="en-US" sz="1200" dirty="0"/>
          </a:p>
        </p:txBody>
      </p:sp>
      <p:sp>
        <p:nvSpPr>
          <p:cNvPr id="24" name="Text 1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Part 2 · Prompting Techniques</a:t>
            </a:r>
            <a:endParaRPr lang="en-US" sz="950" dirty="0"/>
          </a:p>
        </p:txBody>
      </p:sp>
      <p:sp>
        <p:nvSpPr>
          <p:cNvPr id="25" name="Text 1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25</a:t>
            </a:r>
            <a:endParaRPr lang="en-US" sz="95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2 · QUICK CHECK</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Mini Exercise</a:t>
            </a:r>
            <a:endParaRPr lang="en-US" sz="3200" dirty="0"/>
          </a:p>
        </p:txBody>
      </p:sp>
      <p:sp>
        <p:nvSpPr>
          <p:cNvPr id="4" name="Shape 2"/>
          <p:cNvSpPr/>
          <p:nvPr/>
        </p:nvSpPr>
        <p:spPr>
          <a:xfrm>
            <a:off x="548640" y="2103120"/>
            <a:ext cx="10195560" cy="3566160"/>
          </a:xfrm>
          <a:prstGeom prst="roundRect">
            <a:avLst>
              <a:gd name="adj" fmla="val 230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5193792" y="2514600"/>
            <a:ext cx="1097280" cy="1097280"/>
          </a:xfrm>
          <a:prstGeom prst="ellipse">
            <a:avLst/>
          </a:prstGeom>
          <a:solidFill>
            <a:srgbClr val="1C7293"/>
          </a:solidFill>
          <a:ln/>
        </p:spPr>
      </p:sp>
      <p:pic>
        <p:nvPicPr>
          <p:cNvPr id="6" name="Image 0" descr="icons/question.png"/>
          <p:cNvPicPr>
            <a:picLocks noChangeAspect="1"/>
          </p:cNvPicPr>
          <p:nvPr/>
        </p:nvPicPr>
        <p:blipFill>
          <a:blip r:embed="rId3"/>
          <a:stretch>
            <a:fillRect/>
          </a:stretch>
        </p:blipFill>
        <p:spPr>
          <a:xfrm>
            <a:off x="5479085" y="2799893"/>
            <a:ext cx="526694" cy="526694"/>
          </a:xfrm>
          <a:prstGeom prst="rect">
            <a:avLst/>
          </a:prstGeom>
        </p:spPr>
      </p:pic>
      <p:sp>
        <p:nvSpPr>
          <p:cNvPr id="7" name="Text 4"/>
          <p:cNvSpPr txBox="1"/>
          <p:nvPr/>
        </p:nvSpPr>
        <p:spPr>
          <a:xfrm>
            <a:off x="1188720" y="3794760"/>
            <a:ext cx="9829800" cy="1005840"/>
          </a:xfrm>
          <a:prstGeom prst="rect">
            <a:avLst/>
          </a:prstGeom>
          <a:noFill/>
          <a:ln/>
        </p:spPr>
        <p:txBody>
          <a:bodyPr wrap="square" lIns="0" tIns="0" rIns="0" bIns="0" rtlCol="0" anchor="ctr"/>
          <a:lstStyle/>
          <a:p>
            <a:pPr marL="0" indent="0" algn="ctr">
              <a:lnSpc>
                <a:spcPct val="120000"/>
              </a:lnSpc>
              <a:buNone/>
            </a:pPr>
            <a:r>
              <a:rPr lang="en-US" sz="1900" b="1" i="1" dirty="0">
                <a:solidFill>
                  <a:srgbClr val="1B2A4A"/>
                </a:solidFill>
                <a:latin typeface="Cambria" pitchFamily="34" charset="0"/>
                <a:ea typeface="Cambria" pitchFamily="34" charset="-122"/>
                <a:cs typeface="Cambria" pitchFamily="34" charset="-120"/>
              </a:rPr>
              <a:t>“You need the AI to turn 30 raw interview transcripts into a consistent, one-paragraph summary format. Which technique(s) would you combine?”</a:t>
            </a:r>
            <a:endParaRPr lang="en-US" sz="1900" dirty="0"/>
          </a:p>
        </p:txBody>
      </p:sp>
      <p:sp>
        <p:nvSpPr>
          <p:cNvPr id="8" name="Text 5"/>
          <p:cNvSpPr txBox="1"/>
          <p:nvPr/>
        </p:nvSpPr>
        <p:spPr>
          <a:xfrm>
            <a:off x="1645920" y="4846320"/>
            <a:ext cx="8915400" cy="640080"/>
          </a:xfrm>
          <a:prstGeom prst="rect">
            <a:avLst/>
          </a:prstGeom>
          <a:noFill/>
          <a:ln/>
        </p:spPr>
        <p:txBody>
          <a:bodyPr wrap="square" lIns="0" tIns="0" rIns="0" bIns="0" rtlCol="0" anchor="ctr"/>
          <a:lstStyle/>
          <a:p>
            <a:pPr marL="0" indent="0" algn="ctr">
              <a:lnSpc>
                <a:spcPct val="120000"/>
              </a:lnSpc>
              <a:buNone/>
            </a:pPr>
            <a:r>
              <a:rPr lang="en-US" sz="1250" dirty="0">
                <a:solidFill>
                  <a:srgbClr val="8A94A0"/>
                </a:solidFill>
                <a:latin typeface="Calibri" pitchFamily="34" charset="0"/>
                <a:ea typeface="Calibri" pitchFamily="34" charset="-122"/>
                <a:cs typeface="Calibri" pitchFamily="34" charset="-120"/>
              </a:rPr>
              <a:t>Hint: think about both the repeating format (one technique) and the scale of the task (another technique).</a:t>
            </a:r>
            <a:endParaRPr lang="en-US" sz="1250" dirty="0"/>
          </a:p>
        </p:txBody>
      </p:sp>
      <p:sp>
        <p:nvSpPr>
          <p:cNvPr id="9" name="Text 6"/>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Prompting Techniques</a:t>
            </a:r>
            <a:endParaRPr lang="en-US" sz="950" dirty="0"/>
          </a:p>
        </p:txBody>
      </p:sp>
      <p:sp>
        <p:nvSpPr>
          <p:cNvPr id="10" name="Text 7"/>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26</a:t>
            </a:r>
            <a:endParaRPr lang="en-US" sz="95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0058400" y="-1645920"/>
            <a:ext cx="4114800" cy="4114800"/>
          </a:xfrm>
          <a:prstGeom prst="ellipse">
            <a:avLst/>
          </a:prstGeom>
          <a:solidFill>
            <a:srgbClr val="233A63"/>
          </a:solidFill>
          <a:ln/>
        </p:spPr>
      </p:sp>
      <p:sp>
        <p:nvSpPr>
          <p:cNvPr id="3" name="Text 1"/>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9FD6E8"/>
                </a:solidFill>
                <a:latin typeface="Calibri" pitchFamily="34" charset="0"/>
                <a:ea typeface="Calibri" pitchFamily="34" charset="-122"/>
                <a:cs typeface="Calibri" pitchFamily="34" charset="-120"/>
              </a:rPr>
              <a:t>PART 2 RECAP</a:t>
            </a:r>
            <a:endParaRPr lang="en-US" sz="1250" dirty="0"/>
          </a:p>
        </p:txBody>
      </p:sp>
      <p:sp>
        <p:nvSpPr>
          <p:cNvPr id="4" name="Text 2"/>
          <p:cNvSpPr txBox="1"/>
          <p:nvPr/>
        </p:nvSpPr>
        <p:spPr>
          <a:xfrm>
            <a:off x="548640" y="731520"/>
            <a:ext cx="10607040"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Takeaways: Prompting Techniques</a:t>
            </a:r>
            <a:endParaRPr lang="en-US" sz="3000" dirty="0"/>
          </a:p>
        </p:txBody>
      </p:sp>
      <p:sp>
        <p:nvSpPr>
          <p:cNvPr id="5" name="Shape 3"/>
          <p:cNvSpPr/>
          <p:nvPr/>
        </p:nvSpPr>
        <p:spPr>
          <a:xfrm>
            <a:off x="10149840" y="502920"/>
            <a:ext cx="1051560" cy="1051560"/>
          </a:xfrm>
          <a:prstGeom prst="ellipse">
            <a:avLst/>
          </a:prstGeom>
          <a:solidFill>
            <a:srgbClr val="1C7293"/>
          </a:solidFill>
          <a:ln/>
        </p:spPr>
      </p:sp>
      <p:pic>
        <p:nvPicPr>
          <p:cNvPr id="6" name="Image 0" descr="icons/listol.png"/>
          <p:cNvPicPr>
            <a:picLocks noChangeAspect="1"/>
          </p:cNvPicPr>
          <p:nvPr/>
        </p:nvPicPr>
        <p:blipFill>
          <a:blip r:embed="rId3"/>
          <a:stretch>
            <a:fillRect/>
          </a:stretch>
        </p:blipFill>
        <p:spPr>
          <a:xfrm>
            <a:off x="10423246" y="776326"/>
            <a:ext cx="504749" cy="504749"/>
          </a:xfrm>
          <a:prstGeom prst="rect">
            <a:avLst/>
          </a:prstGeom>
        </p:spPr>
      </p:pic>
      <p:sp>
        <p:nvSpPr>
          <p:cNvPr id="7" name="Shape 4"/>
          <p:cNvSpPr/>
          <p:nvPr/>
        </p:nvSpPr>
        <p:spPr>
          <a:xfrm>
            <a:off x="548640" y="1965960"/>
            <a:ext cx="5408676" cy="1965960"/>
          </a:xfrm>
          <a:prstGeom prst="roundRect">
            <a:avLst>
              <a:gd name="adj" fmla="val 3721"/>
            </a:avLst>
          </a:prstGeom>
          <a:solidFill>
            <a:srgbClr val="233A63"/>
          </a:solidFill>
          <a:ln/>
        </p:spPr>
      </p:sp>
      <p:sp>
        <p:nvSpPr>
          <p:cNvPr id="8" name="Shape 5"/>
          <p:cNvSpPr/>
          <p:nvPr/>
        </p:nvSpPr>
        <p:spPr>
          <a:xfrm>
            <a:off x="804672" y="2221992"/>
            <a:ext cx="457200" cy="457200"/>
          </a:xfrm>
          <a:prstGeom prst="ellipse">
            <a:avLst/>
          </a:prstGeom>
          <a:solidFill>
            <a:srgbClr val="1C7293"/>
          </a:solidFill>
          <a:ln/>
        </p:spPr>
      </p:sp>
      <p:pic>
        <p:nvPicPr>
          <p:cNvPr id="9" name="Image 1" descr="icons/bullseye.png"/>
          <p:cNvPicPr>
            <a:picLocks noChangeAspect="1"/>
          </p:cNvPicPr>
          <p:nvPr/>
        </p:nvPicPr>
        <p:blipFill>
          <a:blip r:embed="rId4"/>
          <a:stretch>
            <a:fillRect/>
          </a:stretch>
        </p:blipFill>
        <p:spPr>
          <a:xfrm>
            <a:off x="896112" y="2313432"/>
            <a:ext cx="274320" cy="274320"/>
          </a:xfrm>
          <a:prstGeom prst="rect">
            <a:avLst/>
          </a:prstGeom>
        </p:spPr>
      </p:pic>
      <p:sp>
        <p:nvSpPr>
          <p:cNvPr id="10" name="Text 6"/>
          <p:cNvSpPr txBox="1"/>
          <p:nvPr/>
        </p:nvSpPr>
        <p:spPr>
          <a:xfrm>
            <a:off x="1417320" y="218541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Zero-shot first</a:t>
            </a:r>
            <a:endParaRPr lang="en-US" sz="1450" dirty="0"/>
          </a:p>
        </p:txBody>
      </p:sp>
      <p:sp>
        <p:nvSpPr>
          <p:cNvPr id="11" name="Text 7"/>
          <p:cNvSpPr txBox="1"/>
          <p:nvPr/>
        </p:nvSpPr>
        <p:spPr>
          <a:xfrm>
            <a:off x="804672" y="278892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Start simple; only add technique complexity when the first attempt falls short.</a:t>
            </a:r>
            <a:endParaRPr lang="en-US" sz="1150" dirty="0"/>
          </a:p>
        </p:txBody>
      </p:sp>
      <p:sp>
        <p:nvSpPr>
          <p:cNvPr id="12" name="Shape 8"/>
          <p:cNvSpPr/>
          <p:nvPr/>
        </p:nvSpPr>
        <p:spPr>
          <a:xfrm>
            <a:off x="6231636" y="1965960"/>
            <a:ext cx="5408676" cy="1965960"/>
          </a:xfrm>
          <a:prstGeom prst="roundRect">
            <a:avLst>
              <a:gd name="adj" fmla="val 3721"/>
            </a:avLst>
          </a:prstGeom>
          <a:solidFill>
            <a:srgbClr val="233A63"/>
          </a:solidFill>
          <a:ln/>
        </p:spPr>
      </p:sp>
      <p:sp>
        <p:nvSpPr>
          <p:cNvPr id="13" name="Shape 9"/>
          <p:cNvSpPr/>
          <p:nvPr/>
        </p:nvSpPr>
        <p:spPr>
          <a:xfrm>
            <a:off x="6487668" y="2221992"/>
            <a:ext cx="457200" cy="457200"/>
          </a:xfrm>
          <a:prstGeom prst="ellipse">
            <a:avLst/>
          </a:prstGeom>
          <a:solidFill>
            <a:srgbClr val="1C7293"/>
          </a:solidFill>
          <a:ln/>
        </p:spPr>
      </p:sp>
      <p:pic>
        <p:nvPicPr>
          <p:cNvPr id="14" name="Image 2" descr="icons/listol.png"/>
          <p:cNvPicPr>
            <a:picLocks noChangeAspect="1"/>
          </p:cNvPicPr>
          <p:nvPr/>
        </p:nvPicPr>
        <p:blipFill>
          <a:blip r:embed="rId3"/>
          <a:stretch>
            <a:fillRect/>
          </a:stretch>
        </p:blipFill>
        <p:spPr>
          <a:xfrm>
            <a:off x="6579108" y="2313432"/>
            <a:ext cx="274320" cy="274320"/>
          </a:xfrm>
          <a:prstGeom prst="rect">
            <a:avLst/>
          </a:prstGeom>
        </p:spPr>
      </p:pic>
      <p:sp>
        <p:nvSpPr>
          <p:cNvPr id="15" name="Text 10"/>
          <p:cNvSpPr txBox="1"/>
          <p:nvPr/>
        </p:nvSpPr>
        <p:spPr>
          <a:xfrm>
            <a:off x="7100316" y="218541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Few-shot teaches by example</a:t>
            </a:r>
            <a:endParaRPr lang="en-US" sz="1450" dirty="0"/>
          </a:p>
        </p:txBody>
      </p:sp>
      <p:sp>
        <p:nvSpPr>
          <p:cNvPr id="16" name="Text 11"/>
          <p:cNvSpPr txBox="1"/>
          <p:nvPr/>
        </p:nvSpPr>
        <p:spPr>
          <a:xfrm>
            <a:off x="6487668" y="278892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Best when describing a format in words is harder than just showing it.</a:t>
            </a:r>
            <a:endParaRPr lang="en-US" sz="1150" dirty="0"/>
          </a:p>
        </p:txBody>
      </p:sp>
      <p:sp>
        <p:nvSpPr>
          <p:cNvPr id="17" name="Shape 12"/>
          <p:cNvSpPr/>
          <p:nvPr/>
        </p:nvSpPr>
        <p:spPr>
          <a:xfrm>
            <a:off x="548640" y="4206240"/>
            <a:ext cx="5408676" cy="1965960"/>
          </a:xfrm>
          <a:prstGeom prst="roundRect">
            <a:avLst>
              <a:gd name="adj" fmla="val 3721"/>
            </a:avLst>
          </a:prstGeom>
          <a:solidFill>
            <a:srgbClr val="233A63"/>
          </a:solidFill>
          <a:ln/>
        </p:spPr>
      </p:sp>
      <p:sp>
        <p:nvSpPr>
          <p:cNvPr id="18" name="Shape 13"/>
          <p:cNvSpPr/>
          <p:nvPr/>
        </p:nvSpPr>
        <p:spPr>
          <a:xfrm>
            <a:off x="804672" y="4462272"/>
            <a:ext cx="457200" cy="457200"/>
          </a:xfrm>
          <a:prstGeom prst="ellipse">
            <a:avLst/>
          </a:prstGeom>
          <a:solidFill>
            <a:srgbClr val="1C7293"/>
          </a:solidFill>
          <a:ln/>
        </p:spPr>
      </p:sp>
      <p:pic>
        <p:nvPicPr>
          <p:cNvPr id="19" name="Image 3" descr="icons/sitemap.png"/>
          <p:cNvPicPr>
            <a:picLocks noChangeAspect="1"/>
          </p:cNvPicPr>
          <p:nvPr/>
        </p:nvPicPr>
        <p:blipFill>
          <a:blip r:embed="rId5"/>
          <a:stretch>
            <a:fillRect/>
          </a:stretch>
        </p:blipFill>
        <p:spPr>
          <a:xfrm>
            <a:off x="896112" y="4553712"/>
            <a:ext cx="274320" cy="274320"/>
          </a:xfrm>
          <a:prstGeom prst="rect">
            <a:avLst/>
          </a:prstGeom>
        </p:spPr>
      </p:pic>
      <p:sp>
        <p:nvSpPr>
          <p:cNvPr id="20" name="Text 14"/>
          <p:cNvSpPr txBox="1"/>
          <p:nvPr/>
        </p:nvSpPr>
        <p:spPr>
          <a:xfrm>
            <a:off x="1417320" y="442569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Reasoning improves logic tasks</a:t>
            </a:r>
            <a:endParaRPr lang="en-US" sz="1450" dirty="0"/>
          </a:p>
        </p:txBody>
      </p:sp>
      <p:sp>
        <p:nvSpPr>
          <p:cNvPr id="21" name="Text 15"/>
          <p:cNvSpPr txBox="1"/>
          <p:nvPr/>
        </p:nvSpPr>
        <p:spPr>
          <a:xfrm>
            <a:off x="804672" y="502920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Ask for step-by-step thinking whenever a result depends on several steps.</a:t>
            </a:r>
            <a:endParaRPr lang="en-US" sz="1150" dirty="0"/>
          </a:p>
        </p:txBody>
      </p:sp>
      <p:sp>
        <p:nvSpPr>
          <p:cNvPr id="22" name="Shape 16"/>
          <p:cNvSpPr/>
          <p:nvPr/>
        </p:nvSpPr>
        <p:spPr>
          <a:xfrm>
            <a:off x="6231636" y="4206240"/>
            <a:ext cx="5408676" cy="1965960"/>
          </a:xfrm>
          <a:prstGeom prst="roundRect">
            <a:avLst>
              <a:gd name="adj" fmla="val 3721"/>
            </a:avLst>
          </a:prstGeom>
          <a:solidFill>
            <a:srgbClr val="233A63"/>
          </a:solidFill>
          <a:ln/>
        </p:spPr>
      </p:sp>
      <p:sp>
        <p:nvSpPr>
          <p:cNvPr id="23" name="Shape 17"/>
          <p:cNvSpPr/>
          <p:nvPr/>
        </p:nvSpPr>
        <p:spPr>
          <a:xfrm>
            <a:off x="6487668" y="4462272"/>
            <a:ext cx="457200" cy="457200"/>
          </a:xfrm>
          <a:prstGeom prst="ellipse">
            <a:avLst/>
          </a:prstGeom>
          <a:solidFill>
            <a:srgbClr val="1C7293"/>
          </a:solidFill>
          <a:ln/>
        </p:spPr>
      </p:sp>
      <p:pic>
        <p:nvPicPr>
          <p:cNvPr id="24" name="Image 4" descr="icons/puzzle.png"/>
          <p:cNvPicPr>
            <a:picLocks noChangeAspect="1"/>
          </p:cNvPicPr>
          <p:nvPr/>
        </p:nvPicPr>
        <p:blipFill>
          <a:blip r:embed="rId6"/>
          <a:stretch>
            <a:fillRect/>
          </a:stretch>
        </p:blipFill>
        <p:spPr>
          <a:xfrm>
            <a:off x="6579108" y="4553712"/>
            <a:ext cx="274320" cy="274320"/>
          </a:xfrm>
          <a:prstGeom prst="rect">
            <a:avLst/>
          </a:prstGeom>
        </p:spPr>
      </p:pic>
      <p:sp>
        <p:nvSpPr>
          <p:cNvPr id="25" name="Text 18"/>
          <p:cNvSpPr txBox="1"/>
          <p:nvPr/>
        </p:nvSpPr>
        <p:spPr>
          <a:xfrm>
            <a:off x="7100316" y="442569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Decompose large tasks</a:t>
            </a:r>
            <a:endParaRPr lang="en-US" sz="1450" dirty="0"/>
          </a:p>
        </p:txBody>
      </p:sp>
      <p:sp>
        <p:nvSpPr>
          <p:cNvPr id="26" name="Text 19"/>
          <p:cNvSpPr txBox="1"/>
          <p:nvPr/>
        </p:nvSpPr>
        <p:spPr>
          <a:xfrm>
            <a:off x="6487668" y="502920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Smaller prompts are easier to review, trust, and fix than one giant request.</a:t>
            </a:r>
            <a:endParaRPr lang="en-US" sz="1150" dirty="0"/>
          </a:p>
        </p:txBody>
      </p:sp>
      <p:sp>
        <p:nvSpPr>
          <p:cNvPr id="27" name="Text 20"/>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9FD6E8"/>
                </a:solidFill>
                <a:latin typeface="Calibri" pitchFamily="34" charset="0"/>
                <a:ea typeface="Calibri" pitchFamily="34" charset="-122"/>
                <a:cs typeface="Calibri" pitchFamily="34" charset="-120"/>
              </a:rPr>
              <a:t>Prompting Techniques</a:t>
            </a:r>
            <a:endParaRPr lang="en-US" sz="950" dirty="0"/>
          </a:p>
        </p:txBody>
      </p:sp>
      <p:sp>
        <p:nvSpPr>
          <p:cNvPr id="28" name="Text 21"/>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9FD6E8"/>
                </a:solidFill>
                <a:latin typeface="Calibri" pitchFamily="34" charset="0"/>
                <a:ea typeface="Calibri" pitchFamily="34" charset="-122"/>
                <a:cs typeface="Calibri" pitchFamily="34" charset="-120"/>
              </a:rPr>
              <a:t>27</a:t>
            </a:r>
            <a:endParaRPr lang="en-US" sz="95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828800" y="-2011680"/>
            <a:ext cx="5486400" cy="5486400"/>
          </a:xfrm>
          <a:prstGeom prst="ellipse">
            <a:avLst/>
          </a:prstGeom>
          <a:solidFill>
            <a:srgbClr val="233A63"/>
          </a:solidFill>
          <a:ln/>
        </p:spPr>
      </p:sp>
      <p:sp>
        <p:nvSpPr>
          <p:cNvPr id="3" name="Shape 1"/>
          <p:cNvSpPr/>
          <p:nvPr/>
        </p:nvSpPr>
        <p:spPr>
          <a:xfrm>
            <a:off x="9875520" y="4206240"/>
            <a:ext cx="5029200" cy="5029200"/>
          </a:xfrm>
          <a:prstGeom prst="ellipse">
            <a:avLst/>
          </a:prstGeom>
          <a:solidFill>
            <a:srgbClr val="121C33"/>
          </a:solidFill>
          <a:ln/>
        </p:spPr>
      </p:sp>
      <p:sp>
        <p:nvSpPr>
          <p:cNvPr id="4" name="Text 2"/>
          <p:cNvSpPr txBox="1"/>
          <p:nvPr/>
        </p:nvSpPr>
        <p:spPr>
          <a:xfrm>
            <a:off x="822960" y="2286000"/>
            <a:ext cx="3657600" cy="457200"/>
          </a:xfrm>
          <a:prstGeom prst="rect">
            <a:avLst/>
          </a:prstGeom>
          <a:noFill/>
          <a:ln/>
        </p:spPr>
        <p:txBody>
          <a:bodyPr wrap="square" lIns="0" tIns="0" rIns="0" bIns="0"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PART 3</a:t>
            </a:r>
            <a:endParaRPr lang="en-US" sz="1600" dirty="0"/>
          </a:p>
        </p:txBody>
      </p:sp>
      <p:sp>
        <p:nvSpPr>
          <p:cNvPr id="5" name="Shape 3"/>
          <p:cNvSpPr/>
          <p:nvPr/>
        </p:nvSpPr>
        <p:spPr>
          <a:xfrm>
            <a:off x="868680" y="2788920"/>
            <a:ext cx="1280160" cy="0"/>
          </a:xfrm>
          <a:prstGeom prst="line">
            <a:avLst/>
          </a:prstGeom>
          <a:noFill/>
          <a:ln w="31750">
            <a:solidFill>
              <a:srgbClr val="1C7293"/>
            </a:solidFill>
            <a:prstDash val="solid"/>
          </a:ln>
        </p:spPr>
      </p:sp>
      <p:sp>
        <p:nvSpPr>
          <p:cNvPr id="6" name="Text 4"/>
          <p:cNvSpPr txBox="1"/>
          <p:nvPr/>
        </p:nvSpPr>
        <p:spPr>
          <a:xfrm>
            <a:off x="822960" y="2880360"/>
            <a:ext cx="9601200" cy="365760"/>
          </a:xfrm>
          <a:prstGeom prst="rect">
            <a:avLst/>
          </a:prstGeom>
          <a:noFill/>
          <a:ln/>
        </p:spPr>
        <p:txBody>
          <a:bodyPr wrap="square" lIns="0" tIns="0" rIns="0" bIns="0" rtlCol="0" anchor="ctr"/>
          <a:lstStyle/>
          <a:p>
            <a:pPr marL="0" indent="0">
              <a:buNone/>
            </a:pPr>
            <a:r>
              <a:rPr lang="en-US" sz="1300" b="1" kern="0" spc="180" dirty="0">
                <a:solidFill>
                  <a:srgbClr val="9FD6E8"/>
                </a:solidFill>
                <a:latin typeface="Calibri" pitchFamily="34" charset="0"/>
                <a:ea typeface="Calibri" pitchFamily="34" charset="-122"/>
                <a:cs typeface="Calibri" pitchFamily="34" charset="-120"/>
              </a:rPr>
              <a:t>PERSONAS &amp; CONTEXT-SETTING</a:t>
            </a:r>
            <a:endParaRPr lang="en-US" sz="1300" dirty="0"/>
          </a:p>
        </p:txBody>
      </p:sp>
      <p:sp>
        <p:nvSpPr>
          <p:cNvPr id="7" name="Text 5"/>
          <p:cNvSpPr txBox="1"/>
          <p:nvPr/>
        </p:nvSpPr>
        <p:spPr>
          <a:xfrm>
            <a:off x="777240" y="3246120"/>
            <a:ext cx="9692640" cy="1463040"/>
          </a:xfrm>
          <a:prstGeom prst="rect">
            <a:avLst/>
          </a:prstGeom>
          <a:noFill/>
          <a:ln/>
        </p:spPr>
        <p:txBody>
          <a:bodyPr wrap="square" lIns="0" tIns="0" rIns="0" bIns="0" rtlCol="0" anchor="ctr"/>
          <a:lstStyle/>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Role-Based and</a:t>
            </a:r>
            <a:endParaRPr lang="en-US" sz="3600" dirty="0"/>
          </a:p>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Context-Setting Prompts</a:t>
            </a:r>
            <a:endParaRPr lang="en-US" sz="3600" dirty="0"/>
          </a:p>
        </p:txBody>
      </p:sp>
      <p:sp>
        <p:nvSpPr>
          <p:cNvPr id="8" name="Text 6"/>
          <p:cNvSpPr txBox="1"/>
          <p:nvPr/>
        </p:nvSpPr>
        <p:spPr>
          <a:xfrm>
            <a:off x="822960" y="4709160"/>
            <a:ext cx="8686800" cy="731520"/>
          </a:xfrm>
          <a:prstGeom prst="rect">
            <a:avLst/>
          </a:prstGeom>
          <a:noFill/>
          <a:ln/>
        </p:spPr>
        <p:txBody>
          <a:bodyPr wrap="square" lIns="0" tIns="0" rIns="0" bIns="0" rtlCol="0" anchor="ctr"/>
          <a:lstStyle/>
          <a:p>
            <a:pPr marL="0" indent="0">
              <a:lnSpc>
                <a:spcPct val="125000"/>
              </a:lnSpc>
              <a:buNone/>
            </a:pPr>
            <a:r>
              <a:rPr lang="en-US" sz="1500" i="1" dirty="0">
                <a:solidFill>
                  <a:srgbClr val="C9D6E3"/>
                </a:solidFill>
                <a:latin typeface="Calibri" pitchFamily="34" charset="0"/>
                <a:ea typeface="Calibri" pitchFamily="34" charset="-122"/>
                <a:cs typeface="Calibri" pitchFamily="34" charset="-120"/>
              </a:rPr>
              <a:t>Asking the AI to respond as a reviewer, tutor, or domain expert — and why the persona you choose changes everything.</a:t>
            </a:r>
            <a:endParaRPr lang="en-US" sz="1500" dirty="0"/>
          </a:p>
        </p:txBody>
      </p:sp>
      <p:sp>
        <p:nvSpPr>
          <p:cNvPr id="9" name="Shape 7"/>
          <p:cNvSpPr/>
          <p:nvPr/>
        </p:nvSpPr>
        <p:spPr>
          <a:xfrm>
            <a:off x="10195560" y="685800"/>
            <a:ext cx="1143000" cy="1143000"/>
          </a:xfrm>
          <a:prstGeom prst="ellipse">
            <a:avLst/>
          </a:prstGeom>
          <a:solidFill>
            <a:srgbClr val="1C7293"/>
          </a:solidFill>
          <a:ln/>
        </p:spPr>
      </p:sp>
      <p:pic>
        <p:nvPicPr>
          <p:cNvPr id="10" name="Image 0" descr="icons/usertie.png"/>
          <p:cNvPicPr>
            <a:picLocks noChangeAspect="1"/>
          </p:cNvPicPr>
          <p:nvPr/>
        </p:nvPicPr>
        <p:blipFill>
          <a:blip r:embed="rId3"/>
          <a:stretch>
            <a:fillRect/>
          </a:stretch>
        </p:blipFill>
        <p:spPr>
          <a:xfrm>
            <a:off x="10492740" y="982980"/>
            <a:ext cx="548640" cy="548640"/>
          </a:xfrm>
          <a:prstGeom prst="rect">
            <a:avLst/>
          </a:prstGeom>
        </p:spPr>
      </p:pic>
      <p:sp>
        <p:nvSpPr>
          <p:cNvPr id="11" name="Text 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9FD6E8"/>
                </a:solidFill>
                <a:latin typeface="Calibri" pitchFamily="34" charset="0"/>
                <a:ea typeface="Calibri" pitchFamily="34" charset="-122"/>
                <a:cs typeface="Calibri" pitchFamily="34" charset="-120"/>
              </a:rPr>
              <a:t>Part 3 · Personas &amp; Context-Setting</a:t>
            </a:r>
            <a:endParaRPr lang="en-US" sz="950" dirty="0"/>
          </a:p>
        </p:txBody>
      </p:sp>
      <p:sp>
        <p:nvSpPr>
          <p:cNvPr id="12" name="Text 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9FD6E8"/>
                </a:solidFill>
                <a:latin typeface="Calibri" pitchFamily="34" charset="0"/>
                <a:ea typeface="Calibri" pitchFamily="34" charset="-122"/>
                <a:cs typeface="Calibri" pitchFamily="34" charset="-120"/>
              </a:rPr>
              <a:t>28</a:t>
            </a:r>
            <a:endParaRPr lang="en-US" sz="950"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3 · PERSONAS &amp; CONTEXT-SETTING</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Role-Based Prompting</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50" i="1" dirty="0">
                <a:solidFill>
                  <a:srgbClr val="8A94A0"/>
                </a:solidFill>
                <a:latin typeface="Calibri" pitchFamily="34" charset="0"/>
                <a:ea typeface="Calibri" pitchFamily="34" charset="-122"/>
                <a:cs typeface="Calibri" pitchFamily="34" charset="-120"/>
              </a:rPr>
              <a:t>Giving the AI a persona shapes its vocabulary, tone and priorities</a:t>
            </a:r>
            <a:endParaRPr lang="en-US" sz="1450" dirty="0"/>
          </a:p>
        </p:txBody>
      </p:sp>
      <p:sp>
        <p:nvSpPr>
          <p:cNvPr id="5" name="Shape 3"/>
          <p:cNvSpPr/>
          <p:nvPr/>
        </p:nvSpPr>
        <p:spPr>
          <a:xfrm>
            <a:off x="548640" y="1965960"/>
            <a:ext cx="6720840"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6" name="Text 4"/>
          <p:cNvSpPr txBox="1"/>
          <p:nvPr/>
        </p:nvSpPr>
        <p:spPr>
          <a:xfrm>
            <a:off x="868680" y="2212848"/>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SIMPLE DEFINITION</a:t>
            </a:r>
            <a:endParaRPr lang="en-US" sz="1050" dirty="0"/>
          </a:p>
        </p:txBody>
      </p:sp>
      <p:sp>
        <p:nvSpPr>
          <p:cNvPr id="7" name="Text 5"/>
          <p:cNvSpPr txBox="1"/>
          <p:nvPr/>
        </p:nvSpPr>
        <p:spPr>
          <a:xfrm>
            <a:off x="868680" y="2542032"/>
            <a:ext cx="6080760" cy="1417320"/>
          </a:xfrm>
          <a:prstGeom prst="rect">
            <a:avLst/>
          </a:prstGeom>
          <a:noFill/>
          <a:ln/>
        </p:spPr>
        <p:txBody>
          <a:bodyPr wrap="square" lIns="0" tIns="0" rIns="0" bIns="0" rtlCol="0" anchor="t"/>
          <a:lstStyle/>
          <a:p>
            <a:pPr marL="0" indent="0">
              <a:lnSpc>
                <a:spcPct val="122000"/>
              </a:lnSpc>
              <a:buNone/>
            </a:pPr>
            <a:r>
              <a:rPr lang="en-US" sz="1550" dirty="0">
                <a:solidFill>
                  <a:srgbClr val="1B2A4A"/>
                </a:solidFill>
                <a:latin typeface="Calibri" pitchFamily="34" charset="0"/>
                <a:ea typeface="Calibri" pitchFamily="34" charset="-122"/>
                <a:cs typeface="Calibri" pitchFamily="34" charset="-120"/>
              </a:rPr>
              <a:t>Role-based prompting asks the AI to respond from the perspective of a specific persona — a peer reviewer, a patient tutor, a senior domain expert — rather than as a generic assistant. The assigned role shifts the AI’s vocabulary, depth, tone, and what it chooses to focus on.</a:t>
            </a:r>
            <a:endParaRPr lang="en-US" sz="1550" dirty="0"/>
          </a:p>
        </p:txBody>
      </p:sp>
      <p:sp>
        <p:nvSpPr>
          <p:cNvPr id="8" name="Shape 6"/>
          <p:cNvSpPr/>
          <p:nvPr/>
        </p:nvSpPr>
        <p:spPr>
          <a:xfrm>
            <a:off x="868680" y="4041648"/>
            <a:ext cx="6080760" cy="0"/>
          </a:xfrm>
          <a:prstGeom prst="line">
            <a:avLst/>
          </a:prstGeom>
          <a:noFill/>
          <a:ln w="12700">
            <a:solidFill>
              <a:srgbClr val="E2E6EA"/>
            </a:solidFill>
            <a:prstDash val="solid"/>
          </a:ln>
        </p:spPr>
      </p:sp>
      <p:sp>
        <p:nvSpPr>
          <p:cNvPr id="9" name="Text 7"/>
          <p:cNvSpPr txBox="1"/>
          <p:nvPr/>
        </p:nvSpPr>
        <p:spPr>
          <a:xfrm>
            <a:off x="868680" y="4187952"/>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EXAMPLE</a:t>
            </a:r>
            <a:endParaRPr lang="en-US" sz="1050" dirty="0"/>
          </a:p>
        </p:txBody>
      </p:sp>
      <p:sp>
        <p:nvSpPr>
          <p:cNvPr id="10" name="Text 8"/>
          <p:cNvSpPr txBox="1"/>
          <p:nvPr/>
        </p:nvSpPr>
        <p:spPr>
          <a:xfrm>
            <a:off x="868680" y="4517136"/>
            <a:ext cx="6080760" cy="1463040"/>
          </a:xfrm>
          <a:prstGeom prst="rect">
            <a:avLst/>
          </a:prstGeom>
          <a:noFill/>
          <a:ln/>
        </p:spPr>
        <p:txBody>
          <a:bodyPr wrap="square" lIns="0" tIns="0" rIns="0" bIns="0" rtlCol="0" anchor="t"/>
          <a:lstStyle/>
          <a:p>
            <a:pPr marL="0" indent="0">
              <a:lnSpc>
                <a:spcPct val="122000"/>
              </a:lnSpc>
              <a:buNone/>
            </a:pPr>
            <a:r>
              <a:rPr lang="en-US" sz="1350" dirty="0">
                <a:solidFill>
                  <a:srgbClr val="55606C"/>
                </a:solidFill>
                <a:latin typeface="Calibri" pitchFamily="34" charset="0"/>
                <a:ea typeface="Calibri" pitchFamily="34" charset="-122"/>
                <a:cs typeface="Calibri" pitchFamily="34" charset="-120"/>
              </a:rPr>
              <a:t>"Respond as a strict journal peer reviewer" produces blunt, critical, evidence-focused feedback. "Respond as a patient first-year tutor" produces gentle, example-rich, plain-language explanations — for the very same input text.</a:t>
            </a:r>
            <a:endParaRPr lang="en-US" sz="1350" dirty="0"/>
          </a:p>
        </p:txBody>
      </p:sp>
      <p:sp>
        <p:nvSpPr>
          <p:cNvPr id="11" name="Shape 9"/>
          <p:cNvSpPr/>
          <p:nvPr/>
        </p:nvSpPr>
        <p:spPr>
          <a:xfrm>
            <a:off x="7635240" y="1965960"/>
            <a:ext cx="1143000" cy="1143000"/>
          </a:xfrm>
          <a:prstGeom prst="ellipse">
            <a:avLst/>
          </a:prstGeom>
          <a:solidFill>
            <a:srgbClr val="1C7293"/>
          </a:solidFill>
          <a:ln/>
        </p:spPr>
      </p:sp>
      <p:pic>
        <p:nvPicPr>
          <p:cNvPr id="12" name="Image 0" descr="icons/usertie.png"/>
          <p:cNvPicPr>
            <a:picLocks noChangeAspect="1"/>
          </p:cNvPicPr>
          <p:nvPr/>
        </p:nvPicPr>
        <p:blipFill>
          <a:blip r:embed="rId3"/>
          <a:stretch>
            <a:fillRect/>
          </a:stretch>
        </p:blipFill>
        <p:spPr>
          <a:xfrm>
            <a:off x="7932420" y="2263140"/>
            <a:ext cx="548640" cy="548640"/>
          </a:xfrm>
          <a:prstGeom prst="rect">
            <a:avLst/>
          </a:prstGeom>
        </p:spPr>
      </p:pic>
      <p:sp>
        <p:nvSpPr>
          <p:cNvPr id="13" name="Shape 10"/>
          <p:cNvSpPr/>
          <p:nvPr/>
        </p:nvSpPr>
        <p:spPr>
          <a:xfrm>
            <a:off x="7406640" y="3337560"/>
            <a:ext cx="420624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4" name="Text 11"/>
          <p:cNvSpPr txBox="1"/>
          <p:nvPr/>
        </p:nvSpPr>
        <p:spPr>
          <a:xfrm>
            <a:off x="7699248" y="3547872"/>
            <a:ext cx="36576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KEY POINTS</a:t>
            </a:r>
            <a:endParaRPr lang="en-US" sz="1050" dirty="0"/>
          </a:p>
        </p:txBody>
      </p:sp>
      <p:sp>
        <p:nvSpPr>
          <p:cNvPr id="15" name="Text 12"/>
          <p:cNvSpPr txBox="1"/>
          <p:nvPr/>
        </p:nvSpPr>
        <p:spPr>
          <a:xfrm>
            <a:off x="7699248" y="3858768"/>
            <a:ext cx="374904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Changes tone, vocabulary level, and what gets emphasised</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Works best combined with the four building blocks from Part 1</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Common roles: reviewer, tutor, domain expert, editor, examiner</a:t>
            </a:r>
            <a:endParaRPr lang="en-US" sz="1250" dirty="0"/>
          </a:p>
        </p:txBody>
      </p:sp>
      <p:sp>
        <p:nvSpPr>
          <p:cNvPr id="16" name="Text 1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Personas &amp; Context-Setting</a:t>
            </a:r>
            <a:endParaRPr lang="en-US" sz="950" dirty="0"/>
          </a:p>
        </p:txBody>
      </p:sp>
      <p:sp>
        <p:nvSpPr>
          <p:cNvPr id="17" name="Text 1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29</a:t>
            </a:r>
            <a:endParaRPr lang="en-US" sz="95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3 · PERSONAS &amp; CONTEXT-SETTING</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Role: Peer Reviewer</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00" i="1" dirty="0">
                <a:solidFill>
                  <a:srgbClr val="8A94A0"/>
                </a:solidFill>
                <a:latin typeface="Calibri" pitchFamily="34" charset="0"/>
                <a:ea typeface="Calibri" pitchFamily="34" charset="-122"/>
                <a:cs typeface="Calibri" pitchFamily="34" charset="-120"/>
              </a:rPr>
              <a:t>Useful for pressure-testing a paper, proposal, or argument before submission.</a:t>
            </a:r>
            <a:endParaRPr lang="en-US" sz="1400" dirty="0"/>
          </a:p>
        </p:txBody>
      </p:sp>
      <p:sp>
        <p:nvSpPr>
          <p:cNvPr id="5" name="Shape 3"/>
          <p:cNvSpPr/>
          <p:nvPr/>
        </p:nvSpPr>
        <p:spPr>
          <a:xfrm>
            <a:off x="548640" y="1965960"/>
            <a:ext cx="6720840" cy="2331720"/>
          </a:xfrm>
          <a:prstGeom prst="roundRect">
            <a:avLst>
              <a:gd name="adj" fmla="val 3529"/>
            </a:avLst>
          </a:prstGeom>
          <a:solidFill>
            <a:srgbClr val="1B2A4A"/>
          </a:solidFill>
          <a:ln/>
        </p:spPr>
      </p:sp>
      <p:pic>
        <p:nvPicPr>
          <p:cNvPr id="6" name="Image 0" descr="icons/quote.png"/>
          <p:cNvPicPr>
            <a:picLocks noChangeAspect="1"/>
          </p:cNvPicPr>
          <p:nvPr/>
        </p:nvPicPr>
        <p:blipFill>
          <a:blip r:embed="rId3"/>
          <a:stretch>
            <a:fillRect/>
          </a:stretch>
        </p:blipFill>
        <p:spPr>
          <a:xfrm>
            <a:off x="841248" y="2194560"/>
            <a:ext cx="274320" cy="274320"/>
          </a:xfrm>
          <a:prstGeom prst="rect">
            <a:avLst/>
          </a:prstGeom>
        </p:spPr>
      </p:pic>
      <p:sp>
        <p:nvSpPr>
          <p:cNvPr id="7" name="Text 4"/>
          <p:cNvSpPr txBox="1"/>
          <p:nvPr/>
        </p:nvSpPr>
        <p:spPr>
          <a:xfrm>
            <a:off x="1207008" y="2167128"/>
            <a:ext cx="3657600" cy="274320"/>
          </a:xfrm>
          <a:prstGeom prst="rect">
            <a:avLst/>
          </a:prstGeom>
          <a:noFill/>
          <a:ln/>
        </p:spPr>
        <p:txBody>
          <a:bodyPr wrap="square" lIns="0" tIns="0" rIns="0" bIns="0" rtlCol="0" anchor="ctr"/>
          <a:lstStyle/>
          <a:p>
            <a:pPr marL="0" indent="0">
              <a:buNone/>
            </a:pPr>
            <a:r>
              <a:rPr lang="en-US" sz="1050" b="1" kern="0" spc="140" dirty="0">
                <a:solidFill>
                  <a:srgbClr val="9FD6E8"/>
                </a:solidFill>
                <a:latin typeface="Calibri" pitchFamily="34" charset="0"/>
                <a:ea typeface="Calibri" pitchFamily="34" charset="-122"/>
                <a:cs typeface="Calibri" pitchFamily="34" charset="-120"/>
              </a:rPr>
              <a:t>PROMPT</a:t>
            </a:r>
            <a:endParaRPr lang="en-US" sz="1050" dirty="0"/>
          </a:p>
        </p:txBody>
      </p:sp>
      <p:sp>
        <p:nvSpPr>
          <p:cNvPr id="8" name="Text 5"/>
          <p:cNvSpPr txBox="1"/>
          <p:nvPr/>
        </p:nvSpPr>
        <p:spPr>
          <a:xfrm>
            <a:off x="868680" y="2542032"/>
            <a:ext cx="6172200" cy="1645920"/>
          </a:xfrm>
          <a:prstGeom prst="rect">
            <a:avLst/>
          </a:prstGeom>
          <a:noFill/>
          <a:ln/>
        </p:spPr>
        <p:txBody>
          <a:bodyPr wrap="square" lIns="0" tIns="0" rIns="0" bIns="0" rtlCol="0" anchor="t"/>
          <a:lstStyle/>
          <a:p>
            <a:pPr marL="0" indent="0">
              <a:lnSpc>
                <a:spcPct val="130000"/>
              </a:lnSpc>
              <a:buNone/>
            </a:pPr>
            <a:r>
              <a:rPr lang="en-US" sz="1250" dirty="0">
                <a:solidFill>
                  <a:srgbClr val="E7EEF3"/>
                </a:solidFill>
                <a:latin typeface="Courier New" pitchFamily="34" charset="0"/>
                <a:ea typeface="Courier New" pitchFamily="34" charset="-122"/>
                <a:cs typeface="Courier New" pitchFamily="34" charset="-120"/>
              </a:rPr>
              <a:t>"Act as a critical peer reviewer for a journal in environmental science. Review the attached abstract and identify 3 methodological weaknesses and 2 clarity issues. Be direct and specific — do not soften your critique."</a:t>
            </a:r>
            <a:endParaRPr lang="en-US" sz="1250" dirty="0"/>
          </a:p>
        </p:txBody>
      </p:sp>
      <p:sp>
        <p:nvSpPr>
          <p:cNvPr id="9" name="Shape 6"/>
          <p:cNvSpPr/>
          <p:nvPr/>
        </p:nvSpPr>
        <p:spPr>
          <a:xfrm>
            <a:off x="548640" y="4480560"/>
            <a:ext cx="6720840" cy="1645920"/>
          </a:xfrm>
          <a:prstGeom prst="roundRect">
            <a:avLst>
              <a:gd name="adj" fmla="val 500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Text 7"/>
          <p:cNvSpPr txBox="1"/>
          <p:nvPr/>
        </p:nvSpPr>
        <p:spPr>
          <a:xfrm>
            <a:off x="841248" y="4663440"/>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TYPICAL AI RESPONSE</a:t>
            </a:r>
            <a:endParaRPr lang="en-US" sz="1050" dirty="0"/>
          </a:p>
        </p:txBody>
      </p:sp>
      <p:sp>
        <p:nvSpPr>
          <p:cNvPr id="11" name="Text 8"/>
          <p:cNvSpPr txBox="1"/>
          <p:nvPr/>
        </p:nvSpPr>
        <p:spPr>
          <a:xfrm>
            <a:off x="841248" y="4974336"/>
            <a:ext cx="6172200" cy="1051560"/>
          </a:xfrm>
          <a:prstGeom prst="rect">
            <a:avLst/>
          </a:prstGeom>
          <a:noFill/>
          <a:ln/>
        </p:spPr>
        <p:txBody>
          <a:bodyPr wrap="square" lIns="0" tIns="0" rIns="0" bIns="0" rtlCol="0" anchor="t"/>
          <a:lstStyle/>
          <a:p>
            <a:pPr marL="0" indent="0">
              <a:lnSpc>
                <a:spcPct val="122000"/>
              </a:lnSpc>
              <a:buNone/>
            </a:pPr>
            <a:r>
              <a:rPr lang="en-US" sz="1200" i="1" dirty="0">
                <a:solidFill>
                  <a:srgbClr val="55606C"/>
                </a:solidFill>
                <a:latin typeface="Calibri" pitchFamily="34" charset="0"/>
                <a:ea typeface="Calibri" pitchFamily="34" charset="-122"/>
                <a:cs typeface="Calibri" pitchFamily="34" charset="-120"/>
              </a:rPr>
              <a:t>A blunt, structured critique organised under “Methodological Weaknesses” and “Clarity Issues” — the kind of tough feedback a real reviewer would give before publication.</a:t>
            </a:r>
            <a:endParaRPr lang="en-US" sz="1200" dirty="0"/>
          </a:p>
        </p:txBody>
      </p:sp>
      <p:sp>
        <p:nvSpPr>
          <p:cNvPr id="12" name="Shape 9"/>
          <p:cNvSpPr/>
          <p:nvPr/>
        </p:nvSpPr>
        <p:spPr>
          <a:xfrm>
            <a:off x="7635240" y="1965960"/>
            <a:ext cx="1143000" cy="1143000"/>
          </a:xfrm>
          <a:prstGeom prst="ellipse">
            <a:avLst/>
          </a:prstGeom>
          <a:solidFill>
            <a:srgbClr val="1C7293"/>
          </a:solidFill>
          <a:ln/>
        </p:spPr>
      </p:sp>
      <p:pic>
        <p:nvPicPr>
          <p:cNvPr id="13" name="Image 1" descr="icons/search.png"/>
          <p:cNvPicPr>
            <a:picLocks noChangeAspect="1"/>
          </p:cNvPicPr>
          <p:nvPr/>
        </p:nvPicPr>
        <p:blipFill>
          <a:blip r:embed="rId4"/>
          <a:stretch>
            <a:fillRect/>
          </a:stretch>
        </p:blipFill>
        <p:spPr>
          <a:xfrm>
            <a:off x="7932420" y="2263140"/>
            <a:ext cx="548640" cy="548640"/>
          </a:xfrm>
          <a:prstGeom prst="rect">
            <a:avLst/>
          </a:prstGeom>
        </p:spPr>
      </p:pic>
      <p:sp>
        <p:nvSpPr>
          <p:cNvPr id="14" name="Shape 10"/>
          <p:cNvSpPr/>
          <p:nvPr/>
        </p:nvSpPr>
        <p:spPr>
          <a:xfrm>
            <a:off x="7406640" y="3337560"/>
            <a:ext cx="420624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Text 11"/>
          <p:cNvSpPr txBox="1"/>
          <p:nvPr/>
        </p:nvSpPr>
        <p:spPr>
          <a:xfrm>
            <a:off x="7699248" y="3547872"/>
            <a:ext cx="36576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WHY THIS ROLE HELPS</a:t>
            </a:r>
            <a:endParaRPr lang="en-US" sz="1050" dirty="0"/>
          </a:p>
        </p:txBody>
      </p:sp>
      <p:sp>
        <p:nvSpPr>
          <p:cNvPr id="16" name="Text 12"/>
          <p:cNvSpPr txBox="1"/>
          <p:nvPr/>
        </p:nvSpPr>
        <p:spPr>
          <a:xfrm>
            <a:off x="7699248" y="3858768"/>
            <a:ext cx="374904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Produces more rigorous, less agreeable feedback than a generic prompt</a:t>
            </a:r>
            <a:endParaRPr lang="en-US" sz="120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Forces specific, actionable criticism instead of vague praise</a:t>
            </a:r>
            <a:endParaRPr lang="en-US" sz="120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Useful rehearsal before submitting to an actual journal</a:t>
            </a:r>
            <a:endParaRPr lang="en-US" sz="1200" dirty="0"/>
          </a:p>
        </p:txBody>
      </p:sp>
      <p:sp>
        <p:nvSpPr>
          <p:cNvPr id="17" name="Text 1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Personas &amp; Context-Setting</a:t>
            </a:r>
            <a:endParaRPr lang="en-US" sz="950" dirty="0"/>
          </a:p>
        </p:txBody>
      </p:sp>
      <p:sp>
        <p:nvSpPr>
          <p:cNvPr id="18" name="Text 1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30</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3 · PERSONAS &amp; CONTEXT-SETTING</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Role: Patient Tutor</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00" i="1" dirty="0">
                <a:solidFill>
                  <a:srgbClr val="8A94A0"/>
                </a:solidFill>
                <a:latin typeface="Calibri" pitchFamily="34" charset="0"/>
                <a:ea typeface="Calibri" pitchFamily="34" charset="-122"/>
                <a:cs typeface="Calibri" pitchFamily="34" charset="-120"/>
              </a:rPr>
              <a:t>Useful for generating student-facing explanations at the right level.</a:t>
            </a:r>
            <a:endParaRPr lang="en-US" sz="1400" dirty="0"/>
          </a:p>
        </p:txBody>
      </p:sp>
      <p:sp>
        <p:nvSpPr>
          <p:cNvPr id="5" name="Shape 3"/>
          <p:cNvSpPr/>
          <p:nvPr/>
        </p:nvSpPr>
        <p:spPr>
          <a:xfrm>
            <a:off x="548640" y="1965960"/>
            <a:ext cx="6720840" cy="2331720"/>
          </a:xfrm>
          <a:prstGeom prst="roundRect">
            <a:avLst>
              <a:gd name="adj" fmla="val 3529"/>
            </a:avLst>
          </a:prstGeom>
          <a:solidFill>
            <a:srgbClr val="1B2A4A"/>
          </a:solidFill>
          <a:ln/>
        </p:spPr>
      </p:sp>
      <p:pic>
        <p:nvPicPr>
          <p:cNvPr id="6" name="Image 0" descr="icons/quote.png"/>
          <p:cNvPicPr>
            <a:picLocks noChangeAspect="1"/>
          </p:cNvPicPr>
          <p:nvPr/>
        </p:nvPicPr>
        <p:blipFill>
          <a:blip r:embed="rId3"/>
          <a:stretch>
            <a:fillRect/>
          </a:stretch>
        </p:blipFill>
        <p:spPr>
          <a:xfrm>
            <a:off x="841248" y="2194560"/>
            <a:ext cx="274320" cy="274320"/>
          </a:xfrm>
          <a:prstGeom prst="rect">
            <a:avLst/>
          </a:prstGeom>
        </p:spPr>
      </p:pic>
      <p:sp>
        <p:nvSpPr>
          <p:cNvPr id="7" name="Text 4"/>
          <p:cNvSpPr txBox="1"/>
          <p:nvPr/>
        </p:nvSpPr>
        <p:spPr>
          <a:xfrm>
            <a:off x="1207008" y="2167128"/>
            <a:ext cx="3657600" cy="274320"/>
          </a:xfrm>
          <a:prstGeom prst="rect">
            <a:avLst/>
          </a:prstGeom>
          <a:noFill/>
          <a:ln/>
        </p:spPr>
        <p:txBody>
          <a:bodyPr wrap="square" lIns="0" tIns="0" rIns="0" bIns="0" rtlCol="0" anchor="ctr"/>
          <a:lstStyle/>
          <a:p>
            <a:pPr marL="0" indent="0">
              <a:buNone/>
            </a:pPr>
            <a:r>
              <a:rPr lang="en-US" sz="1050" b="1" kern="0" spc="140" dirty="0">
                <a:solidFill>
                  <a:srgbClr val="9FD6E8"/>
                </a:solidFill>
                <a:latin typeface="Calibri" pitchFamily="34" charset="0"/>
                <a:ea typeface="Calibri" pitchFamily="34" charset="-122"/>
                <a:cs typeface="Calibri" pitchFamily="34" charset="-120"/>
              </a:rPr>
              <a:t>PROMPT</a:t>
            </a:r>
            <a:endParaRPr lang="en-US" sz="1050" dirty="0"/>
          </a:p>
        </p:txBody>
      </p:sp>
      <p:sp>
        <p:nvSpPr>
          <p:cNvPr id="8" name="Text 5"/>
          <p:cNvSpPr txBox="1"/>
          <p:nvPr/>
        </p:nvSpPr>
        <p:spPr>
          <a:xfrm>
            <a:off x="868680" y="2542032"/>
            <a:ext cx="6172200" cy="1645920"/>
          </a:xfrm>
          <a:prstGeom prst="rect">
            <a:avLst/>
          </a:prstGeom>
          <a:noFill/>
          <a:ln/>
        </p:spPr>
        <p:txBody>
          <a:bodyPr wrap="square" lIns="0" tIns="0" rIns="0" bIns="0" rtlCol="0" anchor="t"/>
          <a:lstStyle/>
          <a:p>
            <a:pPr marL="0" indent="0">
              <a:lnSpc>
                <a:spcPct val="130000"/>
              </a:lnSpc>
              <a:buNone/>
            </a:pPr>
            <a:r>
              <a:rPr lang="en-US" sz="1250" dirty="0">
                <a:solidFill>
                  <a:srgbClr val="E7EEF3"/>
                </a:solidFill>
                <a:latin typeface="Courier New" pitchFamily="34" charset="0"/>
                <a:ea typeface="Courier New" pitchFamily="34" charset="-122"/>
                <a:cs typeface="Courier New" pitchFamily="34" charset="-120"/>
              </a:rPr>
              <a:t>"Act as a patient, encouraging tutor helping a first-year student who is struggling with the concept of statistical significance. Use a simple real-world analogy and avoid any formulas."</a:t>
            </a:r>
            <a:endParaRPr lang="en-US" sz="1250" dirty="0"/>
          </a:p>
        </p:txBody>
      </p:sp>
      <p:sp>
        <p:nvSpPr>
          <p:cNvPr id="9" name="Shape 6"/>
          <p:cNvSpPr/>
          <p:nvPr/>
        </p:nvSpPr>
        <p:spPr>
          <a:xfrm>
            <a:off x="548640" y="4480560"/>
            <a:ext cx="6720840" cy="1645920"/>
          </a:xfrm>
          <a:prstGeom prst="roundRect">
            <a:avLst>
              <a:gd name="adj" fmla="val 500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Text 7"/>
          <p:cNvSpPr txBox="1"/>
          <p:nvPr/>
        </p:nvSpPr>
        <p:spPr>
          <a:xfrm>
            <a:off x="841248" y="4663440"/>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TYPICAL AI RESPONSE</a:t>
            </a:r>
            <a:endParaRPr lang="en-US" sz="1050" dirty="0"/>
          </a:p>
        </p:txBody>
      </p:sp>
      <p:sp>
        <p:nvSpPr>
          <p:cNvPr id="11" name="Text 8"/>
          <p:cNvSpPr txBox="1"/>
          <p:nvPr/>
        </p:nvSpPr>
        <p:spPr>
          <a:xfrm>
            <a:off x="841248" y="4974336"/>
            <a:ext cx="6172200" cy="1051560"/>
          </a:xfrm>
          <a:prstGeom prst="rect">
            <a:avLst/>
          </a:prstGeom>
          <a:noFill/>
          <a:ln/>
        </p:spPr>
        <p:txBody>
          <a:bodyPr wrap="square" lIns="0" tIns="0" rIns="0" bIns="0" rtlCol="0" anchor="t"/>
          <a:lstStyle/>
          <a:p>
            <a:pPr marL="0" indent="0">
              <a:lnSpc>
                <a:spcPct val="122000"/>
              </a:lnSpc>
              <a:buNone/>
            </a:pPr>
            <a:r>
              <a:rPr lang="en-US" sz="1200" i="1" dirty="0">
                <a:solidFill>
                  <a:srgbClr val="55606C"/>
                </a:solidFill>
                <a:latin typeface="Calibri" pitchFamily="34" charset="0"/>
                <a:ea typeface="Calibri" pitchFamily="34" charset="-122"/>
                <a:cs typeface="Calibri" pitchFamily="34" charset="-120"/>
              </a:rPr>
              <a:t>A warm, plain-language explanation built around a relatable analogy (e.g. a courtroom verdict), deliberately avoiding formulas or jargon — matched to a struggling beginner.</a:t>
            </a:r>
            <a:endParaRPr lang="en-US" sz="1200" dirty="0"/>
          </a:p>
        </p:txBody>
      </p:sp>
      <p:sp>
        <p:nvSpPr>
          <p:cNvPr id="12" name="Shape 9"/>
          <p:cNvSpPr/>
          <p:nvPr/>
        </p:nvSpPr>
        <p:spPr>
          <a:xfrm>
            <a:off x="7635240" y="1965960"/>
            <a:ext cx="1143000" cy="1143000"/>
          </a:xfrm>
          <a:prstGeom prst="ellipse">
            <a:avLst/>
          </a:prstGeom>
          <a:solidFill>
            <a:srgbClr val="1C7293"/>
          </a:solidFill>
          <a:ln/>
        </p:spPr>
      </p:sp>
      <p:pic>
        <p:nvPicPr>
          <p:cNvPr id="13" name="Image 1" descr="icons/chalkboard.png"/>
          <p:cNvPicPr>
            <a:picLocks noChangeAspect="1"/>
          </p:cNvPicPr>
          <p:nvPr/>
        </p:nvPicPr>
        <p:blipFill>
          <a:blip r:embed="rId4"/>
          <a:stretch>
            <a:fillRect/>
          </a:stretch>
        </p:blipFill>
        <p:spPr>
          <a:xfrm>
            <a:off x="7932420" y="2263140"/>
            <a:ext cx="548640" cy="548640"/>
          </a:xfrm>
          <a:prstGeom prst="rect">
            <a:avLst/>
          </a:prstGeom>
        </p:spPr>
      </p:pic>
      <p:sp>
        <p:nvSpPr>
          <p:cNvPr id="14" name="Shape 10"/>
          <p:cNvSpPr/>
          <p:nvPr/>
        </p:nvSpPr>
        <p:spPr>
          <a:xfrm>
            <a:off x="7406640" y="3337560"/>
            <a:ext cx="420624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Text 11"/>
          <p:cNvSpPr txBox="1"/>
          <p:nvPr/>
        </p:nvSpPr>
        <p:spPr>
          <a:xfrm>
            <a:off x="7699248" y="3547872"/>
            <a:ext cx="36576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WHY THIS ROLE HELPS</a:t>
            </a:r>
            <a:endParaRPr lang="en-US" sz="1050" dirty="0"/>
          </a:p>
        </p:txBody>
      </p:sp>
      <p:sp>
        <p:nvSpPr>
          <p:cNvPr id="16" name="Text 12"/>
          <p:cNvSpPr txBox="1"/>
          <p:nvPr/>
        </p:nvSpPr>
        <p:spPr>
          <a:xfrm>
            <a:off x="7699248" y="3858768"/>
            <a:ext cx="374904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Shifts tone from clinical to encouraging and supportive</a:t>
            </a:r>
            <a:endParaRPr lang="en-US" sz="120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Naturally avoids jargon without needing to say so explicitly</a:t>
            </a:r>
            <a:endParaRPr lang="en-US" sz="120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Great starting point for differentiated materials for weaker students</a:t>
            </a:r>
            <a:endParaRPr lang="en-US" sz="1200" dirty="0"/>
          </a:p>
        </p:txBody>
      </p:sp>
      <p:sp>
        <p:nvSpPr>
          <p:cNvPr id="17" name="Text 1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Personas &amp; Context-Setting</a:t>
            </a:r>
            <a:endParaRPr lang="en-US" sz="950" dirty="0"/>
          </a:p>
        </p:txBody>
      </p:sp>
      <p:sp>
        <p:nvSpPr>
          <p:cNvPr id="18" name="Text 1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31</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3 · PERSONAS &amp; CONTEXT-SETTING</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Role: Domain Expert</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00" i="1" dirty="0">
                <a:solidFill>
                  <a:srgbClr val="8A94A0"/>
                </a:solidFill>
                <a:latin typeface="Calibri" pitchFamily="34" charset="0"/>
                <a:ea typeface="Calibri" pitchFamily="34" charset="-122"/>
                <a:cs typeface="Calibri" pitchFamily="34" charset="-120"/>
              </a:rPr>
              <a:t>Useful for quickly orienting yourself in an unfamiliar sub-field.</a:t>
            </a:r>
            <a:endParaRPr lang="en-US" sz="1400" dirty="0"/>
          </a:p>
        </p:txBody>
      </p:sp>
      <p:sp>
        <p:nvSpPr>
          <p:cNvPr id="5" name="Shape 3"/>
          <p:cNvSpPr/>
          <p:nvPr/>
        </p:nvSpPr>
        <p:spPr>
          <a:xfrm>
            <a:off x="548640" y="1965960"/>
            <a:ext cx="6720840" cy="2331720"/>
          </a:xfrm>
          <a:prstGeom prst="roundRect">
            <a:avLst>
              <a:gd name="adj" fmla="val 3529"/>
            </a:avLst>
          </a:prstGeom>
          <a:solidFill>
            <a:srgbClr val="1B2A4A"/>
          </a:solidFill>
          <a:ln/>
        </p:spPr>
      </p:sp>
      <p:pic>
        <p:nvPicPr>
          <p:cNvPr id="6" name="Image 0" descr="icons/quote.png"/>
          <p:cNvPicPr>
            <a:picLocks noChangeAspect="1"/>
          </p:cNvPicPr>
          <p:nvPr/>
        </p:nvPicPr>
        <p:blipFill>
          <a:blip r:embed="rId3"/>
          <a:stretch>
            <a:fillRect/>
          </a:stretch>
        </p:blipFill>
        <p:spPr>
          <a:xfrm>
            <a:off x="841248" y="2194560"/>
            <a:ext cx="274320" cy="274320"/>
          </a:xfrm>
          <a:prstGeom prst="rect">
            <a:avLst/>
          </a:prstGeom>
        </p:spPr>
      </p:pic>
      <p:sp>
        <p:nvSpPr>
          <p:cNvPr id="7" name="Text 4"/>
          <p:cNvSpPr txBox="1"/>
          <p:nvPr/>
        </p:nvSpPr>
        <p:spPr>
          <a:xfrm>
            <a:off x="1207008" y="2167128"/>
            <a:ext cx="3657600" cy="274320"/>
          </a:xfrm>
          <a:prstGeom prst="rect">
            <a:avLst/>
          </a:prstGeom>
          <a:noFill/>
          <a:ln/>
        </p:spPr>
        <p:txBody>
          <a:bodyPr wrap="square" lIns="0" tIns="0" rIns="0" bIns="0" rtlCol="0" anchor="ctr"/>
          <a:lstStyle/>
          <a:p>
            <a:pPr marL="0" indent="0">
              <a:buNone/>
            </a:pPr>
            <a:r>
              <a:rPr lang="en-US" sz="1050" b="1" kern="0" spc="140" dirty="0">
                <a:solidFill>
                  <a:srgbClr val="9FD6E8"/>
                </a:solidFill>
                <a:latin typeface="Calibri" pitchFamily="34" charset="0"/>
                <a:ea typeface="Calibri" pitchFamily="34" charset="-122"/>
                <a:cs typeface="Calibri" pitchFamily="34" charset="-120"/>
              </a:rPr>
              <a:t>PROMPT</a:t>
            </a:r>
            <a:endParaRPr lang="en-US" sz="1050" dirty="0"/>
          </a:p>
        </p:txBody>
      </p:sp>
      <p:sp>
        <p:nvSpPr>
          <p:cNvPr id="8" name="Text 5"/>
          <p:cNvSpPr txBox="1"/>
          <p:nvPr/>
        </p:nvSpPr>
        <p:spPr>
          <a:xfrm>
            <a:off x="868680" y="2542032"/>
            <a:ext cx="6172200" cy="1645920"/>
          </a:xfrm>
          <a:prstGeom prst="rect">
            <a:avLst/>
          </a:prstGeom>
          <a:noFill/>
          <a:ln/>
        </p:spPr>
        <p:txBody>
          <a:bodyPr wrap="square" lIns="0" tIns="0" rIns="0" bIns="0" rtlCol="0" anchor="t"/>
          <a:lstStyle/>
          <a:p>
            <a:pPr marL="0" indent="0">
              <a:lnSpc>
                <a:spcPct val="130000"/>
              </a:lnSpc>
              <a:buNone/>
            </a:pPr>
            <a:r>
              <a:rPr lang="en-US" sz="1250" dirty="0">
                <a:solidFill>
                  <a:srgbClr val="E7EEF3"/>
                </a:solidFill>
                <a:latin typeface="Courier New" pitchFamily="34" charset="0"/>
                <a:ea typeface="Courier New" pitchFamily="34" charset="-122"/>
                <a:cs typeface="Courier New" pitchFamily="34" charset="-120"/>
              </a:rPr>
              <a:t>"Act as a senior expert in behavioural economics. Explain the concept of ‘loss aversion’ to a colleague from an unrelated field (mechanical engineering), using one concrete example from everyday decision-making."</a:t>
            </a:r>
            <a:endParaRPr lang="en-US" sz="1250" dirty="0"/>
          </a:p>
        </p:txBody>
      </p:sp>
      <p:sp>
        <p:nvSpPr>
          <p:cNvPr id="9" name="Shape 6"/>
          <p:cNvSpPr/>
          <p:nvPr/>
        </p:nvSpPr>
        <p:spPr>
          <a:xfrm>
            <a:off x="548640" y="4480560"/>
            <a:ext cx="6720840" cy="1645920"/>
          </a:xfrm>
          <a:prstGeom prst="roundRect">
            <a:avLst>
              <a:gd name="adj" fmla="val 500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Text 7"/>
          <p:cNvSpPr txBox="1"/>
          <p:nvPr/>
        </p:nvSpPr>
        <p:spPr>
          <a:xfrm>
            <a:off x="841248" y="4663440"/>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TYPICAL AI RESPONSE</a:t>
            </a:r>
            <a:endParaRPr lang="en-US" sz="1050" dirty="0"/>
          </a:p>
        </p:txBody>
      </p:sp>
      <p:sp>
        <p:nvSpPr>
          <p:cNvPr id="11" name="Text 8"/>
          <p:cNvSpPr txBox="1"/>
          <p:nvPr/>
        </p:nvSpPr>
        <p:spPr>
          <a:xfrm>
            <a:off x="841248" y="4974336"/>
            <a:ext cx="6172200" cy="1051560"/>
          </a:xfrm>
          <a:prstGeom prst="rect">
            <a:avLst/>
          </a:prstGeom>
          <a:noFill/>
          <a:ln/>
        </p:spPr>
        <p:txBody>
          <a:bodyPr wrap="square" lIns="0" tIns="0" rIns="0" bIns="0" rtlCol="0" anchor="t"/>
          <a:lstStyle/>
          <a:p>
            <a:pPr marL="0" indent="0">
              <a:lnSpc>
                <a:spcPct val="122000"/>
              </a:lnSpc>
              <a:buNone/>
            </a:pPr>
            <a:r>
              <a:rPr lang="en-US" sz="1200" i="1" dirty="0">
                <a:solidFill>
                  <a:srgbClr val="55606C"/>
                </a:solidFill>
                <a:latin typeface="Calibri" pitchFamily="34" charset="0"/>
                <a:ea typeface="Calibri" pitchFamily="34" charset="-122"/>
                <a:cs typeface="Calibri" pitchFamily="34" charset="-120"/>
              </a:rPr>
              <a:t>A confident, precise explanation pitched for an intelligent non-specialist — using domain-accurate terminology, but translated through one clear, relatable example.</a:t>
            </a:r>
            <a:endParaRPr lang="en-US" sz="1200" dirty="0"/>
          </a:p>
        </p:txBody>
      </p:sp>
      <p:sp>
        <p:nvSpPr>
          <p:cNvPr id="12" name="Shape 9"/>
          <p:cNvSpPr/>
          <p:nvPr/>
        </p:nvSpPr>
        <p:spPr>
          <a:xfrm>
            <a:off x="7635240" y="1965960"/>
            <a:ext cx="1143000" cy="1143000"/>
          </a:xfrm>
          <a:prstGeom prst="ellipse">
            <a:avLst/>
          </a:prstGeom>
          <a:solidFill>
            <a:srgbClr val="1C7293"/>
          </a:solidFill>
          <a:ln/>
        </p:spPr>
      </p:sp>
      <p:pic>
        <p:nvPicPr>
          <p:cNvPr id="13" name="Image 1" descr="icons/flask.png"/>
          <p:cNvPicPr>
            <a:picLocks noChangeAspect="1"/>
          </p:cNvPicPr>
          <p:nvPr/>
        </p:nvPicPr>
        <p:blipFill>
          <a:blip r:embed="rId4"/>
          <a:stretch>
            <a:fillRect/>
          </a:stretch>
        </p:blipFill>
        <p:spPr>
          <a:xfrm>
            <a:off x="7932420" y="2263140"/>
            <a:ext cx="548640" cy="548640"/>
          </a:xfrm>
          <a:prstGeom prst="rect">
            <a:avLst/>
          </a:prstGeom>
        </p:spPr>
      </p:pic>
      <p:sp>
        <p:nvSpPr>
          <p:cNvPr id="14" name="Shape 10"/>
          <p:cNvSpPr/>
          <p:nvPr/>
        </p:nvSpPr>
        <p:spPr>
          <a:xfrm>
            <a:off x="7406640" y="3337560"/>
            <a:ext cx="420624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Text 11"/>
          <p:cNvSpPr txBox="1"/>
          <p:nvPr/>
        </p:nvSpPr>
        <p:spPr>
          <a:xfrm>
            <a:off x="7699248" y="3547872"/>
            <a:ext cx="36576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WHY THIS ROLE HELPS</a:t>
            </a:r>
            <a:endParaRPr lang="en-US" sz="1050" dirty="0"/>
          </a:p>
        </p:txBody>
      </p:sp>
      <p:sp>
        <p:nvSpPr>
          <p:cNvPr id="16" name="Text 12"/>
          <p:cNvSpPr txBox="1"/>
          <p:nvPr/>
        </p:nvSpPr>
        <p:spPr>
          <a:xfrm>
            <a:off x="7699248" y="3858768"/>
            <a:ext cx="374904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Produces more precise, discipline-accurate terminology</a:t>
            </a:r>
            <a:endParaRPr lang="en-US" sz="120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Useful for cross-disciplinary collaboration and grant writing</a:t>
            </a:r>
            <a:endParaRPr lang="en-US" sz="120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Good first step before deep-diving into unfamiliar literature</a:t>
            </a:r>
            <a:endParaRPr lang="en-US" sz="1200" dirty="0"/>
          </a:p>
        </p:txBody>
      </p:sp>
      <p:sp>
        <p:nvSpPr>
          <p:cNvPr id="17" name="Text 1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Personas &amp; Context-Setting</a:t>
            </a:r>
            <a:endParaRPr lang="en-US" sz="950" dirty="0"/>
          </a:p>
        </p:txBody>
      </p:sp>
      <p:sp>
        <p:nvSpPr>
          <p:cNvPr id="18" name="Text 1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32</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3 · PERSONAS &amp; CONTEXT-SETTING</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Crafting an Effective Persona</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00" i="1" dirty="0">
                <a:solidFill>
                  <a:srgbClr val="8A94A0"/>
                </a:solidFill>
                <a:latin typeface="Calibri" pitchFamily="34" charset="0"/>
                <a:ea typeface="Calibri" pitchFamily="34" charset="-122"/>
                <a:cs typeface="Calibri" pitchFamily="34" charset="-120"/>
              </a:rPr>
              <a:t>Four ingredients that make a role-based prompt actually work.</a:t>
            </a:r>
            <a:endParaRPr lang="en-US" sz="1400" dirty="0"/>
          </a:p>
        </p:txBody>
      </p:sp>
      <p:sp>
        <p:nvSpPr>
          <p:cNvPr id="5" name="Shape 3"/>
          <p:cNvSpPr/>
          <p:nvPr/>
        </p:nvSpPr>
        <p:spPr>
          <a:xfrm>
            <a:off x="548640" y="2011680"/>
            <a:ext cx="10195560" cy="944118"/>
          </a:xfrm>
          <a:prstGeom prst="roundRect">
            <a:avLst>
              <a:gd name="adj" fmla="val 8717"/>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6" name="Shape 4"/>
          <p:cNvSpPr/>
          <p:nvPr/>
        </p:nvSpPr>
        <p:spPr>
          <a:xfrm>
            <a:off x="841248" y="2227707"/>
            <a:ext cx="512064" cy="512064"/>
          </a:xfrm>
          <a:prstGeom prst="ellipse">
            <a:avLst/>
          </a:prstGeom>
          <a:solidFill>
            <a:srgbClr val="1C7293"/>
          </a:solidFill>
          <a:ln/>
        </p:spPr>
      </p:sp>
      <p:sp>
        <p:nvSpPr>
          <p:cNvPr id="7" name="Text 5"/>
          <p:cNvSpPr txBox="1"/>
          <p:nvPr/>
        </p:nvSpPr>
        <p:spPr>
          <a:xfrm>
            <a:off x="841248" y="2227707"/>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txBox="1"/>
          <p:nvPr/>
        </p:nvSpPr>
        <p:spPr>
          <a:xfrm>
            <a:off x="1600200" y="2121408"/>
            <a:ext cx="4023360" cy="724662"/>
          </a:xfrm>
          <a:prstGeom prst="rect">
            <a:avLst/>
          </a:prstGeom>
          <a:noFill/>
          <a:ln/>
        </p:spPr>
        <p:txBody>
          <a:bodyPr wrap="square" lIns="0" tIns="0" rIns="0" bIns="0"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Name the role precisely</a:t>
            </a:r>
            <a:endParaRPr lang="en-US" sz="1450" dirty="0"/>
          </a:p>
        </p:txBody>
      </p:sp>
      <p:sp>
        <p:nvSpPr>
          <p:cNvPr id="9" name="Text 7"/>
          <p:cNvSpPr txBox="1"/>
          <p:nvPr/>
        </p:nvSpPr>
        <p:spPr>
          <a:xfrm>
            <a:off x="5715000" y="2103120"/>
            <a:ext cx="4892040" cy="761238"/>
          </a:xfrm>
          <a:prstGeom prst="rect">
            <a:avLst/>
          </a:prstGeom>
          <a:noFill/>
          <a:ln/>
        </p:spPr>
        <p:txBody>
          <a:bodyPr wrap="square" lIns="0" tIns="0" rIns="0" bIns="0" rtlCol="0" anchor="ctr"/>
          <a:lstStyle/>
          <a:p>
            <a:pPr marL="0" indent="0">
              <a:lnSpc>
                <a:spcPct val="115000"/>
              </a:lnSpc>
              <a:buNone/>
            </a:pPr>
            <a:r>
              <a:rPr lang="en-US" sz="1200" dirty="0">
                <a:solidFill>
                  <a:srgbClr val="55606C"/>
                </a:solidFill>
                <a:latin typeface="Calibri" pitchFamily="34" charset="0"/>
                <a:ea typeface="Calibri" pitchFamily="34" charset="-122"/>
                <a:cs typeface="Calibri" pitchFamily="34" charset="-120"/>
              </a:rPr>
              <a:t>"A strict journal reviewer" works better than just "a reviewer" — add the field and the standard.</a:t>
            </a:r>
            <a:endParaRPr lang="en-US" sz="1200" dirty="0"/>
          </a:p>
        </p:txBody>
      </p:sp>
      <p:sp>
        <p:nvSpPr>
          <p:cNvPr id="10" name="Shape 8"/>
          <p:cNvSpPr/>
          <p:nvPr/>
        </p:nvSpPr>
        <p:spPr>
          <a:xfrm>
            <a:off x="548640" y="3120390"/>
            <a:ext cx="10195560" cy="944118"/>
          </a:xfrm>
          <a:prstGeom prst="roundRect">
            <a:avLst>
              <a:gd name="adj" fmla="val 8717"/>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1" name="Shape 9"/>
          <p:cNvSpPr/>
          <p:nvPr/>
        </p:nvSpPr>
        <p:spPr>
          <a:xfrm>
            <a:off x="841248" y="3336417"/>
            <a:ext cx="512064" cy="512064"/>
          </a:xfrm>
          <a:prstGeom prst="ellipse">
            <a:avLst/>
          </a:prstGeom>
          <a:solidFill>
            <a:srgbClr val="1C7293"/>
          </a:solidFill>
          <a:ln/>
        </p:spPr>
      </p:sp>
      <p:sp>
        <p:nvSpPr>
          <p:cNvPr id="12" name="Text 10"/>
          <p:cNvSpPr txBox="1"/>
          <p:nvPr/>
        </p:nvSpPr>
        <p:spPr>
          <a:xfrm>
            <a:off x="841248" y="3336417"/>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1600200" y="3230118"/>
            <a:ext cx="4023360" cy="724662"/>
          </a:xfrm>
          <a:prstGeom prst="rect">
            <a:avLst/>
          </a:prstGeom>
          <a:noFill/>
          <a:ln/>
        </p:spPr>
        <p:txBody>
          <a:bodyPr wrap="square" lIns="0" tIns="0" rIns="0" bIns="0"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State the audience</a:t>
            </a:r>
            <a:endParaRPr lang="en-US" sz="1450" dirty="0"/>
          </a:p>
        </p:txBody>
      </p:sp>
      <p:sp>
        <p:nvSpPr>
          <p:cNvPr id="14" name="Text 12"/>
          <p:cNvSpPr txBox="1"/>
          <p:nvPr/>
        </p:nvSpPr>
        <p:spPr>
          <a:xfrm>
            <a:off x="5715000" y="3211830"/>
            <a:ext cx="4892040" cy="761238"/>
          </a:xfrm>
          <a:prstGeom prst="rect">
            <a:avLst/>
          </a:prstGeom>
          <a:noFill/>
          <a:ln/>
        </p:spPr>
        <p:txBody>
          <a:bodyPr wrap="square" lIns="0" tIns="0" rIns="0" bIns="0" rtlCol="0" anchor="ctr"/>
          <a:lstStyle/>
          <a:p>
            <a:pPr marL="0" indent="0">
              <a:lnSpc>
                <a:spcPct val="115000"/>
              </a:lnSpc>
              <a:buNone/>
            </a:pPr>
            <a:r>
              <a:rPr lang="en-US" sz="1200" dirty="0">
                <a:solidFill>
                  <a:srgbClr val="55606C"/>
                </a:solidFill>
                <a:latin typeface="Calibri" pitchFamily="34" charset="0"/>
                <a:ea typeface="Calibri" pitchFamily="34" charset="-122"/>
                <a:cs typeface="Calibri" pitchFamily="34" charset="-120"/>
              </a:rPr>
              <a:t>Tell the AI who the response is for — a student, a colleague, a committee.</a:t>
            </a:r>
            <a:endParaRPr lang="en-US" sz="1200" dirty="0"/>
          </a:p>
        </p:txBody>
      </p:sp>
      <p:sp>
        <p:nvSpPr>
          <p:cNvPr id="15" name="Shape 13"/>
          <p:cNvSpPr/>
          <p:nvPr/>
        </p:nvSpPr>
        <p:spPr>
          <a:xfrm>
            <a:off x="548640" y="4229100"/>
            <a:ext cx="10195560" cy="944118"/>
          </a:xfrm>
          <a:prstGeom prst="roundRect">
            <a:avLst>
              <a:gd name="adj" fmla="val 8717"/>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6" name="Shape 14"/>
          <p:cNvSpPr/>
          <p:nvPr/>
        </p:nvSpPr>
        <p:spPr>
          <a:xfrm>
            <a:off x="841248" y="4445127"/>
            <a:ext cx="512064" cy="512064"/>
          </a:xfrm>
          <a:prstGeom prst="ellipse">
            <a:avLst/>
          </a:prstGeom>
          <a:solidFill>
            <a:srgbClr val="1C7293"/>
          </a:solidFill>
          <a:ln/>
        </p:spPr>
      </p:sp>
      <p:sp>
        <p:nvSpPr>
          <p:cNvPr id="17" name="Text 15"/>
          <p:cNvSpPr txBox="1"/>
          <p:nvPr/>
        </p:nvSpPr>
        <p:spPr>
          <a:xfrm>
            <a:off x="841248" y="4445127"/>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txBox="1"/>
          <p:nvPr/>
        </p:nvSpPr>
        <p:spPr>
          <a:xfrm>
            <a:off x="1600200" y="4338828"/>
            <a:ext cx="4023360" cy="724662"/>
          </a:xfrm>
          <a:prstGeom prst="rect">
            <a:avLst/>
          </a:prstGeom>
          <a:noFill/>
          <a:ln/>
        </p:spPr>
        <p:txBody>
          <a:bodyPr wrap="square" lIns="0" tIns="0" rIns="0" bIns="0"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Describe the desired tone</a:t>
            </a:r>
            <a:endParaRPr lang="en-US" sz="1450" dirty="0"/>
          </a:p>
        </p:txBody>
      </p:sp>
      <p:sp>
        <p:nvSpPr>
          <p:cNvPr id="19" name="Text 17"/>
          <p:cNvSpPr txBox="1"/>
          <p:nvPr/>
        </p:nvSpPr>
        <p:spPr>
          <a:xfrm>
            <a:off x="5715000" y="4320540"/>
            <a:ext cx="4892040" cy="761238"/>
          </a:xfrm>
          <a:prstGeom prst="rect">
            <a:avLst/>
          </a:prstGeom>
          <a:noFill/>
          <a:ln/>
        </p:spPr>
        <p:txBody>
          <a:bodyPr wrap="square" lIns="0" tIns="0" rIns="0" bIns="0" rtlCol="0" anchor="ctr"/>
          <a:lstStyle/>
          <a:p>
            <a:pPr marL="0" indent="0">
              <a:lnSpc>
                <a:spcPct val="115000"/>
              </a:lnSpc>
              <a:buNone/>
            </a:pPr>
            <a:r>
              <a:rPr lang="en-US" sz="1200" dirty="0">
                <a:solidFill>
                  <a:srgbClr val="55606C"/>
                </a:solidFill>
                <a:latin typeface="Calibri" pitchFamily="34" charset="0"/>
                <a:ea typeface="Calibri" pitchFamily="34" charset="-122"/>
                <a:cs typeface="Calibri" pitchFamily="34" charset="-120"/>
              </a:rPr>
              <a:t>Blunt, encouraging, formal, concise — name the tone you want explicitly.</a:t>
            </a:r>
            <a:endParaRPr lang="en-US" sz="1200" dirty="0"/>
          </a:p>
        </p:txBody>
      </p:sp>
      <p:sp>
        <p:nvSpPr>
          <p:cNvPr id="20" name="Shape 18"/>
          <p:cNvSpPr/>
          <p:nvPr/>
        </p:nvSpPr>
        <p:spPr>
          <a:xfrm>
            <a:off x="548640" y="5337810"/>
            <a:ext cx="10195560" cy="944118"/>
          </a:xfrm>
          <a:prstGeom prst="roundRect">
            <a:avLst>
              <a:gd name="adj" fmla="val 8717"/>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1" name="Shape 19"/>
          <p:cNvSpPr/>
          <p:nvPr/>
        </p:nvSpPr>
        <p:spPr>
          <a:xfrm>
            <a:off x="841248" y="5553837"/>
            <a:ext cx="512064" cy="512064"/>
          </a:xfrm>
          <a:prstGeom prst="ellipse">
            <a:avLst/>
          </a:prstGeom>
          <a:solidFill>
            <a:srgbClr val="1C7293"/>
          </a:solidFill>
          <a:ln/>
        </p:spPr>
      </p:sp>
      <p:sp>
        <p:nvSpPr>
          <p:cNvPr id="22" name="Text 20"/>
          <p:cNvSpPr txBox="1"/>
          <p:nvPr/>
        </p:nvSpPr>
        <p:spPr>
          <a:xfrm>
            <a:off x="841248" y="5553837"/>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3" name="Text 21"/>
          <p:cNvSpPr txBox="1"/>
          <p:nvPr/>
        </p:nvSpPr>
        <p:spPr>
          <a:xfrm>
            <a:off x="1600200" y="5447538"/>
            <a:ext cx="4023360" cy="724662"/>
          </a:xfrm>
          <a:prstGeom prst="rect">
            <a:avLst/>
          </a:prstGeom>
          <a:noFill/>
          <a:ln/>
        </p:spPr>
        <p:txBody>
          <a:bodyPr wrap="square" lIns="0" tIns="0" rIns="0" bIns="0"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Combine with the four blocks</a:t>
            </a:r>
            <a:endParaRPr lang="en-US" sz="1450" dirty="0"/>
          </a:p>
        </p:txBody>
      </p:sp>
      <p:sp>
        <p:nvSpPr>
          <p:cNvPr id="24" name="Text 22"/>
          <p:cNvSpPr txBox="1"/>
          <p:nvPr/>
        </p:nvSpPr>
        <p:spPr>
          <a:xfrm>
            <a:off x="5715000" y="5429250"/>
            <a:ext cx="4892040" cy="761238"/>
          </a:xfrm>
          <a:prstGeom prst="rect">
            <a:avLst/>
          </a:prstGeom>
          <a:noFill/>
          <a:ln/>
        </p:spPr>
        <p:txBody>
          <a:bodyPr wrap="square" lIns="0" tIns="0" rIns="0" bIns="0" rtlCol="0" anchor="ctr"/>
          <a:lstStyle/>
          <a:p>
            <a:pPr marL="0" indent="0">
              <a:lnSpc>
                <a:spcPct val="115000"/>
              </a:lnSpc>
              <a:buNone/>
            </a:pPr>
            <a:r>
              <a:rPr lang="en-US" sz="1200" dirty="0">
                <a:solidFill>
                  <a:srgbClr val="55606C"/>
                </a:solidFill>
                <a:latin typeface="Calibri" pitchFamily="34" charset="0"/>
                <a:ea typeface="Calibri" pitchFamily="34" charset="-122"/>
                <a:cs typeface="Calibri" pitchFamily="34" charset="-120"/>
              </a:rPr>
              <a:t>Still add context, instruction, format and constraints — a role alone is not a complete prompt.</a:t>
            </a:r>
            <a:endParaRPr lang="en-US" sz="1200" dirty="0"/>
          </a:p>
        </p:txBody>
      </p:sp>
      <p:sp>
        <p:nvSpPr>
          <p:cNvPr id="25" name="Text 2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Personas &amp; Context-Setting</a:t>
            </a:r>
            <a:endParaRPr lang="en-US" sz="950" dirty="0"/>
          </a:p>
        </p:txBody>
      </p:sp>
      <p:sp>
        <p:nvSpPr>
          <p:cNvPr id="26" name="Text 2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33</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3 · PERSONAS &amp; CONTEXT-SETTING</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Common Pitfalls of Role Prompting</a:t>
            </a:r>
            <a:endParaRPr lang="en-US" sz="3200" dirty="0"/>
          </a:p>
        </p:txBody>
      </p:sp>
      <p:sp>
        <p:nvSpPr>
          <p:cNvPr id="4" name="Shape 2"/>
          <p:cNvSpPr/>
          <p:nvPr/>
        </p:nvSpPr>
        <p:spPr>
          <a:xfrm>
            <a:off x="548640"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41248" y="2212848"/>
            <a:ext cx="658368" cy="658368"/>
          </a:xfrm>
          <a:prstGeom prst="ellipse">
            <a:avLst/>
          </a:prstGeom>
          <a:solidFill>
            <a:srgbClr val="B3261E"/>
          </a:solidFill>
          <a:ln/>
        </p:spPr>
      </p:sp>
      <p:pic>
        <p:nvPicPr>
          <p:cNvPr id="6" name="Image 0" descr="icons/times.png"/>
          <p:cNvPicPr>
            <a:picLocks noChangeAspect="1"/>
          </p:cNvPicPr>
          <p:nvPr/>
        </p:nvPicPr>
        <p:blipFill>
          <a:blip r:embed="rId3"/>
          <a:stretch>
            <a:fillRect/>
          </a:stretch>
        </p:blipFill>
        <p:spPr>
          <a:xfrm>
            <a:off x="1012424" y="2384024"/>
            <a:ext cx="316017" cy="316017"/>
          </a:xfrm>
          <a:prstGeom prst="rect">
            <a:avLst/>
          </a:prstGeom>
        </p:spPr>
      </p:pic>
      <p:sp>
        <p:nvSpPr>
          <p:cNvPr id="7" name="Text 4"/>
          <p:cNvSpPr txBox="1"/>
          <p:nvPr/>
        </p:nvSpPr>
        <p:spPr>
          <a:xfrm>
            <a:off x="1645920"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Role without expertise cues</a:t>
            </a:r>
            <a:endParaRPr lang="en-US" sz="1650" dirty="0"/>
          </a:p>
        </p:txBody>
      </p:sp>
      <p:sp>
        <p:nvSpPr>
          <p:cNvPr id="8" name="Text 5"/>
          <p:cNvSpPr txBox="1"/>
          <p:nvPr/>
        </p:nvSpPr>
        <p:spPr>
          <a:xfrm>
            <a:off x="841248"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"Act as an expert" alone is vague — name the specific field and standard expected.</a:t>
            </a:r>
            <a:endParaRPr lang="en-US" sz="1200" dirty="0"/>
          </a:p>
        </p:txBody>
      </p:sp>
      <p:sp>
        <p:nvSpPr>
          <p:cNvPr id="9" name="Shape 6"/>
          <p:cNvSpPr/>
          <p:nvPr/>
        </p:nvSpPr>
        <p:spPr>
          <a:xfrm>
            <a:off x="6254496"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Shape 7"/>
          <p:cNvSpPr/>
          <p:nvPr/>
        </p:nvSpPr>
        <p:spPr>
          <a:xfrm>
            <a:off x="6547104" y="2212848"/>
            <a:ext cx="658368" cy="658368"/>
          </a:xfrm>
          <a:prstGeom prst="ellipse">
            <a:avLst/>
          </a:prstGeom>
          <a:solidFill>
            <a:srgbClr val="B3261E"/>
          </a:solidFill>
          <a:ln/>
        </p:spPr>
      </p:sp>
      <p:pic>
        <p:nvPicPr>
          <p:cNvPr id="11" name="Image 1" descr="icons/times.png"/>
          <p:cNvPicPr>
            <a:picLocks noChangeAspect="1"/>
          </p:cNvPicPr>
          <p:nvPr/>
        </p:nvPicPr>
        <p:blipFill>
          <a:blip r:embed="rId3"/>
          <a:stretch>
            <a:fillRect/>
          </a:stretch>
        </p:blipFill>
        <p:spPr>
          <a:xfrm>
            <a:off x="6718280" y="2384024"/>
            <a:ext cx="316017" cy="316017"/>
          </a:xfrm>
          <a:prstGeom prst="rect">
            <a:avLst/>
          </a:prstGeom>
        </p:spPr>
      </p:pic>
      <p:sp>
        <p:nvSpPr>
          <p:cNvPr id="12" name="Text 8"/>
          <p:cNvSpPr txBox="1"/>
          <p:nvPr/>
        </p:nvSpPr>
        <p:spPr>
          <a:xfrm>
            <a:off x="7351776"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Assuming the role adds facts</a:t>
            </a:r>
            <a:endParaRPr lang="en-US" sz="1650" dirty="0"/>
          </a:p>
        </p:txBody>
      </p:sp>
      <p:sp>
        <p:nvSpPr>
          <p:cNvPr id="13" name="Text 9"/>
          <p:cNvSpPr txBox="1"/>
          <p:nvPr/>
        </p:nvSpPr>
        <p:spPr>
          <a:xfrm>
            <a:off x="6547104"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A persona changes tone and framing, not the AI’s underlying factual knowledge.</a:t>
            </a:r>
            <a:endParaRPr lang="en-US" sz="1200" dirty="0"/>
          </a:p>
        </p:txBody>
      </p:sp>
      <p:sp>
        <p:nvSpPr>
          <p:cNvPr id="14" name="Shape 10"/>
          <p:cNvSpPr/>
          <p:nvPr/>
        </p:nvSpPr>
        <p:spPr>
          <a:xfrm>
            <a:off x="548640"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Shape 11"/>
          <p:cNvSpPr/>
          <p:nvPr/>
        </p:nvSpPr>
        <p:spPr>
          <a:xfrm>
            <a:off x="841248" y="4681728"/>
            <a:ext cx="658368" cy="658368"/>
          </a:xfrm>
          <a:prstGeom prst="ellipse">
            <a:avLst/>
          </a:prstGeom>
          <a:solidFill>
            <a:srgbClr val="B3261E"/>
          </a:solidFill>
          <a:ln/>
        </p:spPr>
      </p:sp>
      <p:pic>
        <p:nvPicPr>
          <p:cNvPr id="16" name="Image 2" descr="icons/times.png"/>
          <p:cNvPicPr>
            <a:picLocks noChangeAspect="1"/>
          </p:cNvPicPr>
          <p:nvPr/>
        </p:nvPicPr>
        <p:blipFill>
          <a:blip r:embed="rId3"/>
          <a:stretch>
            <a:fillRect/>
          </a:stretch>
        </p:blipFill>
        <p:spPr>
          <a:xfrm>
            <a:off x="1012424" y="4852904"/>
            <a:ext cx="316017" cy="316017"/>
          </a:xfrm>
          <a:prstGeom prst="rect">
            <a:avLst/>
          </a:prstGeom>
        </p:spPr>
      </p:pic>
      <p:sp>
        <p:nvSpPr>
          <p:cNvPr id="17" name="Text 12"/>
          <p:cNvSpPr txBox="1"/>
          <p:nvPr/>
        </p:nvSpPr>
        <p:spPr>
          <a:xfrm>
            <a:off x="1645920"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Over-trusting the critique</a:t>
            </a:r>
            <a:endParaRPr lang="en-US" sz="1650" dirty="0"/>
          </a:p>
        </p:txBody>
      </p:sp>
      <p:sp>
        <p:nvSpPr>
          <p:cNvPr id="18" name="Text 13"/>
          <p:cNvSpPr txBox="1"/>
          <p:nvPr/>
        </p:nvSpPr>
        <p:spPr>
          <a:xfrm>
            <a:off x="841248"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A "strict reviewer" persona can still miss real flaws — verify with a human colleague too.</a:t>
            </a:r>
            <a:endParaRPr lang="en-US" sz="1200" dirty="0"/>
          </a:p>
        </p:txBody>
      </p:sp>
      <p:sp>
        <p:nvSpPr>
          <p:cNvPr id="19" name="Shape 14"/>
          <p:cNvSpPr/>
          <p:nvPr/>
        </p:nvSpPr>
        <p:spPr>
          <a:xfrm>
            <a:off x="6254496"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0" name="Shape 15"/>
          <p:cNvSpPr/>
          <p:nvPr/>
        </p:nvSpPr>
        <p:spPr>
          <a:xfrm>
            <a:off x="6547104" y="4681728"/>
            <a:ext cx="658368" cy="658368"/>
          </a:xfrm>
          <a:prstGeom prst="ellipse">
            <a:avLst/>
          </a:prstGeom>
          <a:solidFill>
            <a:srgbClr val="B3261E"/>
          </a:solidFill>
          <a:ln/>
        </p:spPr>
      </p:sp>
      <p:pic>
        <p:nvPicPr>
          <p:cNvPr id="21" name="Image 3" descr="icons/times.png"/>
          <p:cNvPicPr>
            <a:picLocks noChangeAspect="1"/>
          </p:cNvPicPr>
          <p:nvPr/>
        </p:nvPicPr>
        <p:blipFill>
          <a:blip r:embed="rId3"/>
          <a:stretch>
            <a:fillRect/>
          </a:stretch>
        </p:blipFill>
        <p:spPr>
          <a:xfrm>
            <a:off x="6718280" y="4852904"/>
            <a:ext cx="316017" cy="316017"/>
          </a:xfrm>
          <a:prstGeom prst="rect">
            <a:avLst/>
          </a:prstGeom>
        </p:spPr>
      </p:pic>
      <p:sp>
        <p:nvSpPr>
          <p:cNvPr id="22" name="Text 16"/>
          <p:cNvSpPr txBox="1"/>
          <p:nvPr/>
        </p:nvSpPr>
        <p:spPr>
          <a:xfrm>
            <a:off x="7351776"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Mixing conflicting roles</a:t>
            </a:r>
            <a:endParaRPr lang="en-US" sz="1650" dirty="0"/>
          </a:p>
        </p:txBody>
      </p:sp>
      <p:sp>
        <p:nvSpPr>
          <p:cNvPr id="23" name="Text 17"/>
          <p:cNvSpPr txBox="1"/>
          <p:nvPr/>
        </p:nvSpPr>
        <p:spPr>
          <a:xfrm>
            <a:off x="6547104"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"Be a strict examiner but also very encouraging" sends contradictory signals.</a:t>
            </a:r>
            <a:endParaRPr lang="en-US" sz="1200" dirty="0"/>
          </a:p>
        </p:txBody>
      </p:sp>
      <p:sp>
        <p:nvSpPr>
          <p:cNvPr id="24" name="Text 1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Part 3 · Personas &amp; Context-Setting</a:t>
            </a:r>
            <a:endParaRPr lang="en-US" sz="950" dirty="0"/>
          </a:p>
        </p:txBody>
      </p:sp>
      <p:sp>
        <p:nvSpPr>
          <p:cNvPr id="25" name="Text 1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34</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3 · PERSONAS &amp; CONTEXT-SETTING</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Generic vs. Role-Based: Reviewing a Grant Abstract</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350" i="1" dirty="0">
                <a:solidFill>
                  <a:srgbClr val="8A94A0"/>
                </a:solidFill>
                <a:latin typeface="Calibri" pitchFamily="34" charset="0"/>
                <a:ea typeface="Calibri" pitchFamily="34" charset="-122"/>
                <a:cs typeface="Calibri" pitchFamily="34" charset="-120"/>
              </a:rPr>
              <a:t>Same input abstract, dramatically different usefulness.</a:t>
            </a:r>
            <a:endParaRPr lang="en-US" sz="1350" dirty="0"/>
          </a:p>
        </p:txBody>
      </p:sp>
      <p:sp>
        <p:nvSpPr>
          <p:cNvPr id="5" name="Shape 3"/>
          <p:cNvSpPr/>
          <p:nvPr/>
        </p:nvSpPr>
        <p:spPr>
          <a:xfrm>
            <a:off x="548640" y="1965960"/>
            <a:ext cx="5385816"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6" name="Shape 4"/>
          <p:cNvSpPr/>
          <p:nvPr/>
        </p:nvSpPr>
        <p:spPr>
          <a:xfrm>
            <a:off x="822960" y="2221992"/>
            <a:ext cx="4837176" cy="502920"/>
          </a:xfrm>
          <a:prstGeom prst="roundRect">
            <a:avLst>
              <a:gd name="adj" fmla="val 10909"/>
            </a:avLst>
          </a:prstGeom>
          <a:solidFill>
            <a:srgbClr val="FBEAE9"/>
          </a:solidFill>
          <a:ln/>
        </p:spPr>
      </p:sp>
      <p:pic>
        <p:nvPicPr>
          <p:cNvPr id="7" name="Image 0" descr="icons/times.png"/>
          <p:cNvPicPr>
            <a:picLocks noChangeAspect="1"/>
          </p:cNvPicPr>
          <p:nvPr/>
        </p:nvPicPr>
        <p:blipFill>
          <a:blip r:embed="rId3"/>
          <a:stretch>
            <a:fillRect/>
          </a:stretch>
        </p:blipFill>
        <p:spPr>
          <a:xfrm>
            <a:off x="960120" y="2350008"/>
            <a:ext cx="256032" cy="256032"/>
          </a:xfrm>
          <a:prstGeom prst="rect">
            <a:avLst/>
          </a:prstGeom>
        </p:spPr>
      </p:pic>
      <p:sp>
        <p:nvSpPr>
          <p:cNvPr id="8" name="Text 5"/>
          <p:cNvSpPr txBox="1"/>
          <p:nvPr/>
        </p:nvSpPr>
        <p:spPr>
          <a:xfrm>
            <a:off x="1325880" y="2221992"/>
            <a:ext cx="4288536" cy="502920"/>
          </a:xfrm>
          <a:prstGeom prst="rect">
            <a:avLst/>
          </a:prstGeom>
          <a:noFill/>
          <a:ln/>
        </p:spPr>
        <p:txBody>
          <a:bodyPr wrap="square" lIns="0" tIns="0" rIns="0" bIns="0" rtlCol="0" anchor="ctr"/>
          <a:lstStyle/>
          <a:p>
            <a:pPr marL="0" indent="0">
              <a:buNone/>
            </a:pPr>
            <a:r>
              <a:rPr lang="en-US" sz="1400" b="1" dirty="0">
                <a:solidFill>
                  <a:srgbClr val="B3261E"/>
                </a:solidFill>
                <a:latin typeface="Calibri" pitchFamily="34" charset="0"/>
                <a:ea typeface="Calibri" pitchFamily="34" charset="-122"/>
                <a:cs typeface="Calibri" pitchFamily="34" charset="-120"/>
              </a:rPr>
              <a:t>Generic Prompt</a:t>
            </a:r>
            <a:endParaRPr lang="en-US" sz="1400" dirty="0"/>
          </a:p>
        </p:txBody>
      </p:sp>
      <p:sp>
        <p:nvSpPr>
          <p:cNvPr id="9" name="Shape 6"/>
          <p:cNvSpPr/>
          <p:nvPr/>
        </p:nvSpPr>
        <p:spPr>
          <a:xfrm>
            <a:off x="822960" y="2880360"/>
            <a:ext cx="4837176" cy="1143000"/>
          </a:xfrm>
          <a:prstGeom prst="roundRect">
            <a:avLst>
              <a:gd name="adj" fmla="val 4800"/>
            </a:avLst>
          </a:prstGeom>
          <a:solidFill>
            <a:srgbClr val="F7F8F9"/>
          </a:solidFill>
          <a:ln w="12700">
            <a:solidFill>
              <a:srgbClr val="E2E6EA"/>
            </a:solidFill>
            <a:prstDash val="solid"/>
          </a:ln>
        </p:spPr>
      </p:sp>
      <p:sp>
        <p:nvSpPr>
          <p:cNvPr id="10" name="Text 7"/>
          <p:cNvSpPr txBox="1"/>
          <p:nvPr/>
        </p:nvSpPr>
        <p:spPr>
          <a:xfrm>
            <a:off x="960120" y="2971800"/>
            <a:ext cx="4562856" cy="960120"/>
          </a:xfrm>
          <a:prstGeom prst="rect">
            <a:avLst/>
          </a:prstGeom>
          <a:noFill/>
          <a:ln/>
        </p:spPr>
        <p:txBody>
          <a:bodyPr wrap="square" lIns="0" tIns="0" rIns="0" bIns="0" rtlCol="0" anchor="t"/>
          <a:lstStyle/>
          <a:p>
            <a:pPr marL="0" indent="0">
              <a:lnSpc>
                <a:spcPct val="120000"/>
              </a:lnSpc>
              <a:buNone/>
            </a:pPr>
            <a:r>
              <a:rPr lang="en-US" sz="1150" dirty="0">
                <a:solidFill>
                  <a:srgbClr val="1B2A4A"/>
                </a:solidFill>
                <a:latin typeface="Courier New" pitchFamily="34" charset="0"/>
                <a:ea typeface="Courier New" pitchFamily="34" charset="-122"/>
                <a:cs typeface="Courier New" pitchFamily="34" charset="-120"/>
              </a:rPr>
              <a:t>"What do you think of this grant abstract?"</a:t>
            </a:r>
            <a:endParaRPr lang="en-US" sz="1150" dirty="0"/>
          </a:p>
        </p:txBody>
      </p:sp>
      <p:sp>
        <p:nvSpPr>
          <p:cNvPr id="11" name="Text 8"/>
          <p:cNvSpPr txBox="1"/>
          <p:nvPr/>
        </p:nvSpPr>
        <p:spPr>
          <a:xfrm>
            <a:off x="822960" y="4206240"/>
            <a:ext cx="4837176" cy="256032"/>
          </a:xfrm>
          <a:prstGeom prst="rect">
            <a:avLst/>
          </a:prstGeom>
          <a:noFill/>
          <a:ln/>
        </p:spPr>
        <p:txBody>
          <a:bodyPr wrap="square" lIns="0" tIns="0" rIns="0" bIns="0" rtlCol="0" anchor="ctr"/>
          <a:lstStyle/>
          <a:p>
            <a:pPr marL="0" indent="0">
              <a:buNone/>
            </a:pPr>
            <a:r>
              <a:rPr lang="en-US" sz="1050" b="1" kern="0" spc="140" dirty="0">
                <a:solidFill>
                  <a:srgbClr val="B3261E"/>
                </a:solidFill>
                <a:latin typeface="Calibri" pitchFamily="34" charset="0"/>
                <a:ea typeface="Calibri" pitchFamily="34" charset="-122"/>
                <a:cs typeface="Calibri" pitchFamily="34" charset="-120"/>
              </a:rPr>
              <a:t>WHAT GOES WRONG</a:t>
            </a:r>
            <a:endParaRPr lang="en-US" sz="1050" dirty="0"/>
          </a:p>
        </p:txBody>
      </p:sp>
      <p:sp>
        <p:nvSpPr>
          <p:cNvPr id="12" name="Text 9"/>
          <p:cNvSpPr txBox="1"/>
          <p:nvPr/>
        </p:nvSpPr>
        <p:spPr>
          <a:xfrm>
            <a:off x="822960" y="4507992"/>
            <a:ext cx="4837176" cy="14630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No persona: tone and depth are unpredictable</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No standard to judge against (funder’s expectations?)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Likely to return generic, overly agreeable praise</a:t>
            </a:r>
            <a:endParaRPr lang="en-US" sz="1150" dirty="0"/>
          </a:p>
        </p:txBody>
      </p:sp>
      <p:sp>
        <p:nvSpPr>
          <p:cNvPr id="13" name="Shape 10"/>
          <p:cNvSpPr/>
          <p:nvPr/>
        </p:nvSpPr>
        <p:spPr>
          <a:xfrm>
            <a:off x="6254496" y="1965960"/>
            <a:ext cx="5385816"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4" name="Shape 11"/>
          <p:cNvSpPr/>
          <p:nvPr/>
        </p:nvSpPr>
        <p:spPr>
          <a:xfrm>
            <a:off x="6528816" y="2221992"/>
            <a:ext cx="4837176" cy="502920"/>
          </a:xfrm>
          <a:prstGeom prst="roundRect">
            <a:avLst>
              <a:gd name="adj" fmla="val 10909"/>
            </a:avLst>
          </a:prstGeom>
          <a:solidFill>
            <a:srgbClr val="E7F3E8"/>
          </a:solidFill>
          <a:ln/>
        </p:spPr>
      </p:sp>
      <p:pic>
        <p:nvPicPr>
          <p:cNvPr id="15" name="Image 1" descr="icons/check.png"/>
          <p:cNvPicPr>
            <a:picLocks noChangeAspect="1"/>
          </p:cNvPicPr>
          <p:nvPr/>
        </p:nvPicPr>
        <p:blipFill>
          <a:blip r:embed="rId4"/>
          <a:stretch>
            <a:fillRect/>
          </a:stretch>
        </p:blipFill>
        <p:spPr>
          <a:xfrm>
            <a:off x="6665976" y="2350008"/>
            <a:ext cx="256032" cy="256032"/>
          </a:xfrm>
          <a:prstGeom prst="rect">
            <a:avLst/>
          </a:prstGeom>
        </p:spPr>
      </p:pic>
      <p:sp>
        <p:nvSpPr>
          <p:cNvPr id="16" name="Text 12"/>
          <p:cNvSpPr txBox="1"/>
          <p:nvPr/>
        </p:nvSpPr>
        <p:spPr>
          <a:xfrm>
            <a:off x="7031736" y="2221992"/>
            <a:ext cx="4288536" cy="502920"/>
          </a:xfrm>
          <a:prstGeom prst="rect">
            <a:avLst/>
          </a:prstGeom>
          <a:noFill/>
          <a:ln/>
        </p:spPr>
        <p:txBody>
          <a:bodyPr wrap="square" lIns="0" tIns="0" rIns="0" bIns="0" rtlCol="0" anchor="ctr"/>
          <a:lstStyle/>
          <a:p>
            <a:pPr marL="0" indent="0">
              <a:buNone/>
            </a:pPr>
            <a:r>
              <a:rPr lang="en-US" sz="1400" b="1" dirty="0">
                <a:solidFill>
                  <a:srgbClr val="2E7D32"/>
                </a:solidFill>
                <a:latin typeface="Calibri" pitchFamily="34" charset="0"/>
                <a:ea typeface="Calibri" pitchFamily="34" charset="-122"/>
                <a:cs typeface="Calibri" pitchFamily="34" charset="-120"/>
              </a:rPr>
              <a:t>Role-Based Prompt</a:t>
            </a:r>
            <a:endParaRPr lang="en-US" sz="1400" dirty="0"/>
          </a:p>
        </p:txBody>
      </p:sp>
      <p:sp>
        <p:nvSpPr>
          <p:cNvPr id="17" name="Shape 13"/>
          <p:cNvSpPr/>
          <p:nvPr/>
        </p:nvSpPr>
        <p:spPr>
          <a:xfrm>
            <a:off x="6528816" y="2880360"/>
            <a:ext cx="4837176" cy="1417320"/>
          </a:xfrm>
          <a:prstGeom prst="roundRect">
            <a:avLst>
              <a:gd name="adj" fmla="val 3871"/>
            </a:avLst>
          </a:prstGeom>
          <a:solidFill>
            <a:srgbClr val="F7F8F9"/>
          </a:solidFill>
          <a:ln w="12700">
            <a:solidFill>
              <a:srgbClr val="E2E6EA"/>
            </a:solidFill>
            <a:prstDash val="solid"/>
          </a:ln>
        </p:spPr>
      </p:sp>
      <p:sp>
        <p:nvSpPr>
          <p:cNvPr id="18" name="Text 14"/>
          <p:cNvSpPr txBox="1"/>
          <p:nvPr/>
        </p:nvSpPr>
        <p:spPr>
          <a:xfrm>
            <a:off x="6665976" y="2971800"/>
            <a:ext cx="4562856" cy="1234440"/>
          </a:xfrm>
          <a:prstGeom prst="rect">
            <a:avLst/>
          </a:prstGeom>
          <a:noFill/>
          <a:ln/>
        </p:spPr>
        <p:txBody>
          <a:bodyPr wrap="square" lIns="0" tIns="0" rIns="0" bIns="0" rtlCol="0" anchor="t"/>
          <a:lstStyle/>
          <a:p>
            <a:pPr marL="0" indent="0">
              <a:lnSpc>
                <a:spcPct val="120000"/>
              </a:lnSpc>
              <a:buNone/>
            </a:pPr>
            <a:r>
              <a:rPr lang="en-US" sz="1100" dirty="0">
                <a:solidFill>
                  <a:srgbClr val="1B2A4A"/>
                </a:solidFill>
                <a:latin typeface="Courier New" pitchFamily="34" charset="0"/>
                <a:ea typeface="Courier New" pitchFamily="34" charset="-122"/>
                <a:cs typeface="Courier New" pitchFamily="34" charset="-120"/>
              </a:rPr>
              <a:t>"Act as an experienced grant panel reviewer for a national science funding body. Assess this abstract against typical panel criteria: significance, feasibility, and clarity of aims. Give one concrete suggestion per criterion."</a:t>
            </a:r>
            <a:endParaRPr lang="en-US" sz="1100" dirty="0"/>
          </a:p>
        </p:txBody>
      </p:sp>
      <p:sp>
        <p:nvSpPr>
          <p:cNvPr id="19" name="Text 15"/>
          <p:cNvSpPr txBox="1"/>
          <p:nvPr/>
        </p:nvSpPr>
        <p:spPr>
          <a:xfrm>
            <a:off x="6528816" y="4480560"/>
            <a:ext cx="4837176" cy="256032"/>
          </a:xfrm>
          <a:prstGeom prst="rect">
            <a:avLst/>
          </a:prstGeom>
          <a:noFill/>
          <a:ln/>
        </p:spPr>
        <p:txBody>
          <a:bodyPr wrap="square" lIns="0" tIns="0" rIns="0" bIns="0" rtlCol="0" anchor="ctr"/>
          <a:lstStyle/>
          <a:p>
            <a:pPr marL="0" indent="0">
              <a:buNone/>
            </a:pPr>
            <a:r>
              <a:rPr lang="en-US" sz="1050" b="1" kern="0" spc="140" dirty="0">
                <a:solidFill>
                  <a:srgbClr val="2E7D32"/>
                </a:solidFill>
                <a:latin typeface="Calibri" pitchFamily="34" charset="0"/>
                <a:ea typeface="Calibri" pitchFamily="34" charset="-122"/>
                <a:cs typeface="Calibri" pitchFamily="34" charset="-120"/>
              </a:rPr>
              <a:t>WHY IT WORKS BETTER</a:t>
            </a:r>
            <a:endParaRPr lang="en-US" sz="1050" dirty="0"/>
          </a:p>
        </p:txBody>
      </p:sp>
      <p:sp>
        <p:nvSpPr>
          <p:cNvPr id="20" name="Text 16"/>
          <p:cNvSpPr txBox="1"/>
          <p:nvPr/>
        </p:nvSpPr>
        <p:spPr>
          <a:xfrm>
            <a:off x="6528816" y="4782312"/>
            <a:ext cx="4837176" cy="1188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Clear persona with an implied standard (panel criteria)</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Structured against three named evaluation criteria</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Requests concrete, actionable suggestions, not vague praise</a:t>
            </a:r>
            <a:endParaRPr lang="en-US" sz="1150" dirty="0"/>
          </a:p>
        </p:txBody>
      </p:sp>
      <p:sp>
        <p:nvSpPr>
          <p:cNvPr id="21" name="Text 17"/>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Personas &amp; Context-Setting</a:t>
            </a:r>
            <a:endParaRPr lang="en-US" sz="950" dirty="0"/>
          </a:p>
        </p:txBody>
      </p:sp>
      <p:sp>
        <p:nvSpPr>
          <p:cNvPr id="22" name="Text 18"/>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35</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3 · QUICK CHECK</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Discussion Prompt</a:t>
            </a:r>
            <a:endParaRPr lang="en-US" sz="3200" dirty="0"/>
          </a:p>
        </p:txBody>
      </p:sp>
      <p:sp>
        <p:nvSpPr>
          <p:cNvPr id="4" name="Shape 2"/>
          <p:cNvSpPr/>
          <p:nvPr/>
        </p:nvSpPr>
        <p:spPr>
          <a:xfrm>
            <a:off x="548640" y="2103120"/>
            <a:ext cx="10195560" cy="3566160"/>
          </a:xfrm>
          <a:prstGeom prst="roundRect">
            <a:avLst>
              <a:gd name="adj" fmla="val 230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5193792" y="2514600"/>
            <a:ext cx="1097280" cy="1097280"/>
          </a:xfrm>
          <a:prstGeom prst="ellipse">
            <a:avLst/>
          </a:prstGeom>
          <a:solidFill>
            <a:srgbClr val="1C7293"/>
          </a:solidFill>
          <a:ln/>
        </p:spPr>
      </p:sp>
      <p:pic>
        <p:nvPicPr>
          <p:cNvPr id="6" name="Image 0" descr="icons/question.png"/>
          <p:cNvPicPr>
            <a:picLocks noChangeAspect="1"/>
          </p:cNvPicPr>
          <p:nvPr/>
        </p:nvPicPr>
        <p:blipFill>
          <a:blip r:embed="rId3"/>
          <a:stretch>
            <a:fillRect/>
          </a:stretch>
        </p:blipFill>
        <p:spPr>
          <a:xfrm>
            <a:off x="5479085" y="2799893"/>
            <a:ext cx="526694" cy="526694"/>
          </a:xfrm>
          <a:prstGeom prst="rect">
            <a:avLst/>
          </a:prstGeom>
        </p:spPr>
      </p:pic>
      <p:sp>
        <p:nvSpPr>
          <p:cNvPr id="7" name="Text 4"/>
          <p:cNvSpPr txBox="1"/>
          <p:nvPr/>
        </p:nvSpPr>
        <p:spPr>
          <a:xfrm>
            <a:off x="1188720" y="3794760"/>
            <a:ext cx="9829800" cy="1005840"/>
          </a:xfrm>
          <a:prstGeom prst="rect">
            <a:avLst/>
          </a:prstGeom>
          <a:noFill/>
          <a:ln/>
        </p:spPr>
        <p:txBody>
          <a:bodyPr wrap="square" lIns="0" tIns="0" rIns="0" bIns="0" rtlCol="0" anchor="ctr"/>
          <a:lstStyle/>
          <a:p>
            <a:pPr marL="0" indent="0" algn="ctr">
              <a:lnSpc>
                <a:spcPct val="120000"/>
              </a:lnSpc>
              <a:buNone/>
            </a:pPr>
            <a:r>
              <a:rPr lang="en-US" sz="1900" b="1" i="1" dirty="0">
                <a:solidFill>
                  <a:srgbClr val="1B2A4A"/>
                </a:solidFill>
                <a:latin typeface="Cambria" pitchFamily="34" charset="0"/>
                <a:ea typeface="Cambria" pitchFamily="34" charset="-122"/>
                <a:cs typeface="Cambria" pitchFamily="34" charset="-120"/>
              </a:rPr>
              <a:t>“What persona would you ask an AI to adopt for feedback on a PhD student’s first draft chapter — and why that one?”</a:t>
            </a:r>
            <a:endParaRPr lang="en-US" sz="1900" dirty="0"/>
          </a:p>
        </p:txBody>
      </p:sp>
      <p:sp>
        <p:nvSpPr>
          <p:cNvPr id="8" name="Text 5"/>
          <p:cNvSpPr txBox="1"/>
          <p:nvPr/>
        </p:nvSpPr>
        <p:spPr>
          <a:xfrm>
            <a:off x="1645920" y="4846320"/>
            <a:ext cx="8915400" cy="640080"/>
          </a:xfrm>
          <a:prstGeom prst="rect">
            <a:avLst/>
          </a:prstGeom>
          <a:noFill/>
          <a:ln/>
        </p:spPr>
        <p:txBody>
          <a:bodyPr wrap="square" lIns="0" tIns="0" rIns="0" bIns="0" rtlCol="0" anchor="ctr"/>
          <a:lstStyle/>
          <a:p>
            <a:pPr marL="0" indent="0" algn="ctr">
              <a:lnSpc>
                <a:spcPct val="120000"/>
              </a:lnSpc>
              <a:buNone/>
            </a:pPr>
            <a:r>
              <a:rPr lang="en-US" sz="1250" dirty="0">
                <a:solidFill>
                  <a:srgbClr val="8A94A0"/>
                </a:solidFill>
                <a:latin typeface="Calibri" pitchFamily="34" charset="0"/>
                <a:ea typeface="Calibri" pitchFamily="34" charset="-122"/>
                <a:cs typeface="Calibri" pitchFamily="34" charset="-120"/>
              </a:rPr>
              <a:t>Consider: do you want encouragement, rigorous critique, or both — and at what stage of the writing process?</a:t>
            </a:r>
            <a:endParaRPr lang="en-US" sz="1250" dirty="0"/>
          </a:p>
        </p:txBody>
      </p:sp>
      <p:sp>
        <p:nvSpPr>
          <p:cNvPr id="9" name="Text 6"/>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Personas &amp; Context-Setting</a:t>
            </a:r>
            <a:endParaRPr lang="en-US" sz="950" dirty="0"/>
          </a:p>
        </p:txBody>
      </p:sp>
      <p:sp>
        <p:nvSpPr>
          <p:cNvPr id="10" name="Text 7"/>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36</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0058400" y="-1645920"/>
            <a:ext cx="4114800" cy="4114800"/>
          </a:xfrm>
          <a:prstGeom prst="ellipse">
            <a:avLst/>
          </a:prstGeom>
          <a:solidFill>
            <a:srgbClr val="233A63"/>
          </a:solidFill>
          <a:ln/>
        </p:spPr>
      </p:sp>
      <p:sp>
        <p:nvSpPr>
          <p:cNvPr id="3" name="Text 1"/>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9FD6E8"/>
                </a:solidFill>
                <a:latin typeface="Calibri" pitchFamily="34" charset="0"/>
                <a:ea typeface="Calibri" pitchFamily="34" charset="-122"/>
                <a:cs typeface="Calibri" pitchFamily="34" charset="-120"/>
              </a:rPr>
              <a:t>PART 3 RECAP</a:t>
            </a:r>
            <a:endParaRPr lang="en-US" sz="1250" dirty="0"/>
          </a:p>
        </p:txBody>
      </p:sp>
      <p:sp>
        <p:nvSpPr>
          <p:cNvPr id="4" name="Text 2"/>
          <p:cNvSpPr txBox="1"/>
          <p:nvPr/>
        </p:nvSpPr>
        <p:spPr>
          <a:xfrm>
            <a:off x="548640" y="731520"/>
            <a:ext cx="10607040"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Takeaways: Role-Based Prompts</a:t>
            </a:r>
            <a:endParaRPr lang="en-US" sz="3000" dirty="0"/>
          </a:p>
        </p:txBody>
      </p:sp>
      <p:sp>
        <p:nvSpPr>
          <p:cNvPr id="5" name="Shape 3"/>
          <p:cNvSpPr/>
          <p:nvPr/>
        </p:nvSpPr>
        <p:spPr>
          <a:xfrm>
            <a:off x="10149840" y="502920"/>
            <a:ext cx="1051560" cy="1051560"/>
          </a:xfrm>
          <a:prstGeom prst="ellipse">
            <a:avLst/>
          </a:prstGeom>
          <a:solidFill>
            <a:srgbClr val="1C7293"/>
          </a:solidFill>
          <a:ln/>
        </p:spPr>
      </p:sp>
      <p:pic>
        <p:nvPicPr>
          <p:cNvPr id="6" name="Image 0" descr="icons/usertie.png"/>
          <p:cNvPicPr>
            <a:picLocks noChangeAspect="1"/>
          </p:cNvPicPr>
          <p:nvPr/>
        </p:nvPicPr>
        <p:blipFill>
          <a:blip r:embed="rId3"/>
          <a:stretch>
            <a:fillRect/>
          </a:stretch>
        </p:blipFill>
        <p:spPr>
          <a:xfrm>
            <a:off x="10423246" y="776326"/>
            <a:ext cx="504749" cy="504749"/>
          </a:xfrm>
          <a:prstGeom prst="rect">
            <a:avLst/>
          </a:prstGeom>
        </p:spPr>
      </p:pic>
      <p:sp>
        <p:nvSpPr>
          <p:cNvPr id="7" name="Shape 4"/>
          <p:cNvSpPr/>
          <p:nvPr/>
        </p:nvSpPr>
        <p:spPr>
          <a:xfrm>
            <a:off x="548640" y="1965960"/>
            <a:ext cx="5408676" cy="1965960"/>
          </a:xfrm>
          <a:prstGeom prst="roundRect">
            <a:avLst>
              <a:gd name="adj" fmla="val 3721"/>
            </a:avLst>
          </a:prstGeom>
          <a:solidFill>
            <a:srgbClr val="233A63"/>
          </a:solidFill>
          <a:ln/>
        </p:spPr>
      </p:sp>
      <p:sp>
        <p:nvSpPr>
          <p:cNvPr id="8" name="Shape 5"/>
          <p:cNvSpPr/>
          <p:nvPr/>
        </p:nvSpPr>
        <p:spPr>
          <a:xfrm>
            <a:off x="804672" y="2221992"/>
            <a:ext cx="457200" cy="457200"/>
          </a:xfrm>
          <a:prstGeom prst="ellipse">
            <a:avLst/>
          </a:prstGeom>
          <a:solidFill>
            <a:srgbClr val="1C7293"/>
          </a:solidFill>
          <a:ln/>
        </p:spPr>
      </p:sp>
      <p:pic>
        <p:nvPicPr>
          <p:cNvPr id="9" name="Image 1" descr="icons/usertie.png"/>
          <p:cNvPicPr>
            <a:picLocks noChangeAspect="1"/>
          </p:cNvPicPr>
          <p:nvPr/>
        </p:nvPicPr>
        <p:blipFill>
          <a:blip r:embed="rId3"/>
          <a:stretch>
            <a:fillRect/>
          </a:stretch>
        </p:blipFill>
        <p:spPr>
          <a:xfrm>
            <a:off x="896112" y="2313432"/>
            <a:ext cx="274320" cy="274320"/>
          </a:xfrm>
          <a:prstGeom prst="rect">
            <a:avLst/>
          </a:prstGeom>
        </p:spPr>
      </p:pic>
      <p:sp>
        <p:nvSpPr>
          <p:cNvPr id="10" name="Text 6"/>
          <p:cNvSpPr txBox="1"/>
          <p:nvPr/>
        </p:nvSpPr>
        <p:spPr>
          <a:xfrm>
            <a:off x="1417320" y="218541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Personas shape tone, not facts</a:t>
            </a:r>
            <a:endParaRPr lang="en-US" sz="1450" dirty="0"/>
          </a:p>
        </p:txBody>
      </p:sp>
      <p:sp>
        <p:nvSpPr>
          <p:cNvPr id="11" name="Text 7"/>
          <p:cNvSpPr txBox="1"/>
          <p:nvPr/>
        </p:nvSpPr>
        <p:spPr>
          <a:xfrm>
            <a:off x="804672" y="278892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A role changes vocabulary and framing — it does not add new knowledge.</a:t>
            </a:r>
            <a:endParaRPr lang="en-US" sz="1150" dirty="0"/>
          </a:p>
        </p:txBody>
      </p:sp>
      <p:sp>
        <p:nvSpPr>
          <p:cNvPr id="12" name="Shape 8"/>
          <p:cNvSpPr/>
          <p:nvPr/>
        </p:nvSpPr>
        <p:spPr>
          <a:xfrm>
            <a:off x="6231636" y="1965960"/>
            <a:ext cx="5408676" cy="1965960"/>
          </a:xfrm>
          <a:prstGeom prst="roundRect">
            <a:avLst>
              <a:gd name="adj" fmla="val 3721"/>
            </a:avLst>
          </a:prstGeom>
          <a:solidFill>
            <a:srgbClr val="233A63"/>
          </a:solidFill>
          <a:ln/>
        </p:spPr>
      </p:sp>
      <p:sp>
        <p:nvSpPr>
          <p:cNvPr id="13" name="Shape 9"/>
          <p:cNvSpPr/>
          <p:nvPr/>
        </p:nvSpPr>
        <p:spPr>
          <a:xfrm>
            <a:off x="6487668" y="2221992"/>
            <a:ext cx="457200" cy="457200"/>
          </a:xfrm>
          <a:prstGeom prst="ellipse">
            <a:avLst/>
          </a:prstGeom>
          <a:solidFill>
            <a:srgbClr val="1C7293"/>
          </a:solidFill>
          <a:ln/>
        </p:spPr>
      </p:sp>
      <p:pic>
        <p:nvPicPr>
          <p:cNvPr id="14" name="Image 2" descr="icons/search.png"/>
          <p:cNvPicPr>
            <a:picLocks noChangeAspect="1"/>
          </p:cNvPicPr>
          <p:nvPr/>
        </p:nvPicPr>
        <p:blipFill>
          <a:blip r:embed="rId4"/>
          <a:stretch>
            <a:fillRect/>
          </a:stretch>
        </p:blipFill>
        <p:spPr>
          <a:xfrm>
            <a:off x="6579108" y="2313432"/>
            <a:ext cx="274320" cy="274320"/>
          </a:xfrm>
          <a:prstGeom prst="rect">
            <a:avLst/>
          </a:prstGeom>
        </p:spPr>
      </p:pic>
      <p:sp>
        <p:nvSpPr>
          <p:cNvPr id="15" name="Text 10"/>
          <p:cNvSpPr txBox="1"/>
          <p:nvPr/>
        </p:nvSpPr>
        <p:spPr>
          <a:xfrm>
            <a:off x="7100316" y="218541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Name the role precisely</a:t>
            </a:r>
            <a:endParaRPr lang="en-US" sz="1450" dirty="0"/>
          </a:p>
        </p:txBody>
      </p:sp>
      <p:sp>
        <p:nvSpPr>
          <p:cNvPr id="16" name="Text 11"/>
          <p:cNvSpPr txBox="1"/>
          <p:nvPr/>
        </p:nvSpPr>
        <p:spPr>
          <a:xfrm>
            <a:off x="6487668" y="278892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"Strict journal reviewer" beats "an expert" — specificity drives quality.</a:t>
            </a:r>
            <a:endParaRPr lang="en-US" sz="1150" dirty="0"/>
          </a:p>
        </p:txBody>
      </p:sp>
      <p:sp>
        <p:nvSpPr>
          <p:cNvPr id="17" name="Shape 12"/>
          <p:cNvSpPr/>
          <p:nvPr/>
        </p:nvSpPr>
        <p:spPr>
          <a:xfrm>
            <a:off x="548640" y="4206240"/>
            <a:ext cx="5408676" cy="1965960"/>
          </a:xfrm>
          <a:prstGeom prst="roundRect">
            <a:avLst>
              <a:gd name="adj" fmla="val 3721"/>
            </a:avLst>
          </a:prstGeom>
          <a:solidFill>
            <a:srgbClr val="233A63"/>
          </a:solidFill>
          <a:ln/>
        </p:spPr>
      </p:sp>
      <p:sp>
        <p:nvSpPr>
          <p:cNvPr id="18" name="Shape 13"/>
          <p:cNvSpPr/>
          <p:nvPr/>
        </p:nvSpPr>
        <p:spPr>
          <a:xfrm>
            <a:off x="804672" y="4462272"/>
            <a:ext cx="457200" cy="457200"/>
          </a:xfrm>
          <a:prstGeom prst="ellipse">
            <a:avLst/>
          </a:prstGeom>
          <a:solidFill>
            <a:srgbClr val="1C7293"/>
          </a:solidFill>
          <a:ln/>
        </p:spPr>
      </p:sp>
      <p:pic>
        <p:nvPicPr>
          <p:cNvPr id="19" name="Image 3" descr="icons/chalkboard.png"/>
          <p:cNvPicPr>
            <a:picLocks noChangeAspect="1"/>
          </p:cNvPicPr>
          <p:nvPr/>
        </p:nvPicPr>
        <p:blipFill>
          <a:blip r:embed="rId5"/>
          <a:stretch>
            <a:fillRect/>
          </a:stretch>
        </p:blipFill>
        <p:spPr>
          <a:xfrm>
            <a:off x="896112" y="4553712"/>
            <a:ext cx="274320" cy="274320"/>
          </a:xfrm>
          <a:prstGeom prst="rect">
            <a:avLst/>
          </a:prstGeom>
        </p:spPr>
      </p:pic>
      <p:sp>
        <p:nvSpPr>
          <p:cNvPr id="20" name="Text 14"/>
          <p:cNvSpPr txBox="1"/>
          <p:nvPr/>
        </p:nvSpPr>
        <p:spPr>
          <a:xfrm>
            <a:off x="1417320" y="442569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Match the role to the audience</a:t>
            </a:r>
            <a:endParaRPr lang="en-US" sz="1450" dirty="0"/>
          </a:p>
        </p:txBody>
      </p:sp>
      <p:sp>
        <p:nvSpPr>
          <p:cNvPr id="21" name="Text 15"/>
          <p:cNvSpPr txBox="1"/>
          <p:nvPr/>
        </p:nvSpPr>
        <p:spPr>
          <a:xfrm>
            <a:off x="804672" y="502920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Choose reviewer, tutor, or expert based on who the output is really for.</a:t>
            </a:r>
            <a:endParaRPr lang="en-US" sz="1150" dirty="0"/>
          </a:p>
        </p:txBody>
      </p:sp>
      <p:sp>
        <p:nvSpPr>
          <p:cNvPr id="22" name="Shape 16"/>
          <p:cNvSpPr/>
          <p:nvPr/>
        </p:nvSpPr>
        <p:spPr>
          <a:xfrm>
            <a:off x="6231636" y="4206240"/>
            <a:ext cx="5408676" cy="1965960"/>
          </a:xfrm>
          <a:prstGeom prst="roundRect">
            <a:avLst>
              <a:gd name="adj" fmla="val 3721"/>
            </a:avLst>
          </a:prstGeom>
          <a:solidFill>
            <a:srgbClr val="233A63"/>
          </a:solidFill>
          <a:ln/>
        </p:spPr>
      </p:sp>
      <p:sp>
        <p:nvSpPr>
          <p:cNvPr id="23" name="Shape 17"/>
          <p:cNvSpPr/>
          <p:nvPr/>
        </p:nvSpPr>
        <p:spPr>
          <a:xfrm>
            <a:off x="6487668" y="4462272"/>
            <a:ext cx="457200" cy="457200"/>
          </a:xfrm>
          <a:prstGeom prst="ellipse">
            <a:avLst/>
          </a:prstGeom>
          <a:solidFill>
            <a:srgbClr val="1C7293"/>
          </a:solidFill>
          <a:ln/>
        </p:spPr>
      </p:sp>
      <p:pic>
        <p:nvPicPr>
          <p:cNvPr id="24" name="Image 4" descr="icons/shield.png"/>
          <p:cNvPicPr>
            <a:picLocks noChangeAspect="1"/>
          </p:cNvPicPr>
          <p:nvPr/>
        </p:nvPicPr>
        <p:blipFill>
          <a:blip r:embed="rId6"/>
          <a:stretch>
            <a:fillRect/>
          </a:stretch>
        </p:blipFill>
        <p:spPr>
          <a:xfrm>
            <a:off x="6579108" y="4553712"/>
            <a:ext cx="274320" cy="274320"/>
          </a:xfrm>
          <a:prstGeom prst="rect">
            <a:avLst/>
          </a:prstGeom>
        </p:spPr>
      </p:pic>
      <p:sp>
        <p:nvSpPr>
          <p:cNvPr id="25" name="Text 18"/>
          <p:cNvSpPr txBox="1"/>
          <p:nvPr/>
        </p:nvSpPr>
        <p:spPr>
          <a:xfrm>
            <a:off x="7100316" y="442569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Still verify the output</a:t>
            </a:r>
            <a:endParaRPr lang="en-US" sz="1450" dirty="0"/>
          </a:p>
        </p:txBody>
      </p:sp>
      <p:sp>
        <p:nvSpPr>
          <p:cNvPr id="26" name="Text 19"/>
          <p:cNvSpPr txBox="1"/>
          <p:nvPr/>
        </p:nvSpPr>
        <p:spPr>
          <a:xfrm>
            <a:off x="6487668" y="502920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A persona improves framing, not accuracy — human review still matters.</a:t>
            </a:r>
            <a:endParaRPr lang="en-US" sz="1150" dirty="0"/>
          </a:p>
        </p:txBody>
      </p:sp>
      <p:sp>
        <p:nvSpPr>
          <p:cNvPr id="27" name="Text 20"/>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9FD6E8"/>
                </a:solidFill>
                <a:latin typeface="Calibri" pitchFamily="34" charset="0"/>
                <a:ea typeface="Calibri" pitchFamily="34" charset="-122"/>
                <a:cs typeface="Calibri" pitchFamily="34" charset="-120"/>
              </a:rPr>
              <a:t>Personas &amp; Context-Setting</a:t>
            </a:r>
            <a:endParaRPr lang="en-US" sz="950" dirty="0"/>
          </a:p>
        </p:txBody>
      </p:sp>
      <p:sp>
        <p:nvSpPr>
          <p:cNvPr id="28" name="Text 21"/>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9FD6E8"/>
                </a:solidFill>
                <a:latin typeface="Calibri" pitchFamily="34" charset="0"/>
                <a:ea typeface="Calibri" pitchFamily="34" charset="-122"/>
                <a:cs typeface="Calibri" pitchFamily="34" charset="-120"/>
              </a:rPr>
              <a:t>37</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828800" y="-2011680"/>
            <a:ext cx="5486400" cy="5486400"/>
          </a:xfrm>
          <a:prstGeom prst="ellipse">
            <a:avLst/>
          </a:prstGeom>
          <a:solidFill>
            <a:srgbClr val="233A63"/>
          </a:solidFill>
          <a:ln/>
        </p:spPr>
      </p:sp>
      <p:sp>
        <p:nvSpPr>
          <p:cNvPr id="3" name="Shape 1"/>
          <p:cNvSpPr/>
          <p:nvPr/>
        </p:nvSpPr>
        <p:spPr>
          <a:xfrm>
            <a:off x="9875520" y="4206240"/>
            <a:ext cx="5029200" cy="5029200"/>
          </a:xfrm>
          <a:prstGeom prst="ellipse">
            <a:avLst/>
          </a:prstGeom>
          <a:solidFill>
            <a:srgbClr val="121C33"/>
          </a:solidFill>
          <a:ln/>
        </p:spPr>
      </p:sp>
      <p:sp>
        <p:nvSpPr>
          <p:cNvPr id="4" name="Text 2"/>
          <p:cNvSpPr txBox="1"/>
          <p:nvPr/>
        </p:nvSpPr>
        <p:spPr>
          <a:xfrm>
            <a:off x="822960" y="2286000"/>
            <a:ext cx="3657600" cy="457200"/>
          </a:xfrm>
          <a:prstGeom prst="rect">
            <a:avLst/>
          </a:prstGeom>
          <a:noFill/>
          <a:ln/>
        </p:spPr>
        <p:txBody>
          <a:bodyPr wrap="square" lIns="0" tIns="0" rIns="0" bIns="0"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PART 4</a:t>
            </a:r>
            <a:endParaRPr lang="en-US" sz="1600" dirty="0"/>
          </a:p>
        </p:txBody>
      </p:sp>
      <p:sp>
        <p:nvSpPr>
          <p:cNvPr id="5" name="Shape 3"/>
          <p:cNvSpPr/>
          <p:nvPr/>
        </p:nvSpPr>
        <p:spPr>
          <a:xfrm>
            <a:off x="868680" y="2788920"/>
            <a:ext cx="1280160" cy="0"/>
          </a:xfrm>
          <a:prstGeom prst="line">
            <a:avLst/>
          </a:prstGeom>
          <a:noFill/>
          <a:ln w="31750">
            <a:solidFill>
              <a:srgbClr val="1C7293"/>
            </a:solidFill>
            <a:prstDash val="solid"/>
          </a:ln>
        </p:spPr>
      </p:sp>
      <p:sp>
        <p:nvSpPr>
          <p:cNvPr id="6" name="Text 4"/>
          <p:cNvSpPr txBox="1"/>
          <p:nvPr/>
        </p:nvSpPr>
        <p:spPr>
          <a:xfrm>
            <a:off x="822960" y="2880360"/>
            <a:ext cx="9601200" cy="365760"/>
          </a:xfrm>
          <a:prstGeom prst="rect">
            <a:avLst/>
          </a:prstGeom>
          <a:noFill/>
          <a:ln/>
        </p:spPr>
        <p:txBody>
          <a:bodyPr wrap="square" lIns="0" tIns="0" rIns="0" bIns="0" rtlCol="0" anchor="ctr"/>
          <a:lstStyle/>
          <a:p>
            <a:pPr marL="0" indent="0">
              <a:buNone/>
            </a:pPr>
            <a:r>
              <a:rPr lang="en-US" sz="1300" b="1" kern="0" spc="180" dirty="0">
                <a:solidFill>
                  <a:srgbClr val="9FD6E8"/>
                </a:solidFill>
                <a:latin typeface="Calibri" pitchFamily="34" charset="0"/>
                <a:ea typeface="Calibri" pitchFamily="34" charset="-122"/>
                <a:cs typeface="Calibri" pitchFamily="34" charset="-120"/>
              </a:rPr>
              <a:t>REFINING YOUR PROMPTS</a:t>
            </a:r>
            <a:endParaRPr lang="en-US" sz="1300" dirty="0"/>
          </a:p>
        </p:txBody>
      </p:sp>
      <p:sp>
        <p:nvSpPr>
          <p:cNvPr id="7" name="Text 5"/>
          <p:cNvSpPr txBox="1"/>
          <p:nvPr/>
        </p:nvSpPr>
        <p:spPr>
          <a:xfrm>
            <a:off x="777240" y="3246120"/>
            <a:ext cx="9692640" cy="1463040"/>
          </a:xfrm>
          <a:prstGeom prst="rect">
            <a:avLst/>
          </a:prstGeom>
          <a:noFill/>
          <a:ln/>
        </p:spPr>
        <p:txBody>
          <a:bodyPr wrap="square" lIns="0" tIns="0" rIns="0" bIns="0" rtlCol="0" anchor="ctr"/>
          <a:lstStyle/>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Iterative Prompt</a:t>
            </a:r>
            <a:endParaRPr lang="en-US" sz="3600" dirty="0"/>
          </a:p>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Refinement</a:t>
            </a:r>
            <a:endParaRPr lang="en-US" sz="3600" dirty="0"/>
          </a:p>
        </p:txBody>
      </p:sp>
      <p:sp>
        <p:nvSpPr>
          <p:cNvPr id="8" name="Text 6"/>
          <p:cNvSpPr txBox="1"/>
          <p:nvPr/>
        </p:nvSpPr>
        <p:spPr>
          <a:xfrm>
            <a:off x="822960" y="4709160"/>
            <a:ext cx="8686800" cy="731520"/>
          </a:xfrm>
          <a:prstGeom prst="rect">
            <a:avLst/>
          </a:prstGeom>
          <a:noFill/>
          <a:ln/>
        </p:spPr>
        <p:txBody>
          <a:bodyPr wrap="square" lIns="0" tIns="0" rIns="0" bIns="0" rtlCol="0" anchor="ctr"/>
          <a:lstStyle/>
          <a:p>
            <a:pPr marL="0" indent="0">
              <a:lnSpc>
                <a:spcPct val="125000"/>
              </a:lnSpc>
              <a:buNone/>
            </a:pPr>
            <a:r>
              <a:rPr lang="en-US" sz="1500" i="1" dirty="0">
                <a:solidFill>
                  <a:srgbClr val="C9D6E3"/>
                </a:solidFill>
                <a:latin typeface="Calibri" pitchFamily="34" charset="0"/>
                <a:ea typeface="Calibri" pitchFamily="34" charset="-122"/>
                <a:cs typeface="Calibri" pitchFamily="34" charset="-120"/>
              </a:rPr>
              <a:t>How to diagnose a disappointing AI response and systematically rewrite the prompt that produced it.</a:t>
            </a:r>
            <a:endParaRPr lang="en-US" sz="1500" dirty="0"/>
          </a:p>
        </p:txBody>
      </p:sp>
      <p:sp>
        <p:nvSpPr>
          <p:cNvPr id="9" name="Shape 7"/>
          <p:cNvSpPr/>
          <p:nvPr/>
        </p:nvSpPr>
        <p:spPr>
          <a:xfrm>
            <a:off x="10195560" y="685800"/>
            <a:ext cx="1143000" cy="1143000"/>
          </a:xfrm>
          <a:prstGeom prst="ellipse">
            <a:avLst/>
          </a:prstGeom>
          <a:solidFill>
            <a:srgbClr val="1C7293"/>
          </a:solidFill>
          <a:ln/>
        </p:spPr>
      </p:sp>
      <p:pic>
        <p:nvPicPr>
          <p:cNvPr id="10" name="Image 0" descr="icons/sync.png"/>
          <p:cNvPicPr>
            <a:picLocks noChangeAspect="1"/>
          </p:cNvPicPr>
          <p:nvPr/>
        </p:nvPicPr>
        <p:blipFill>
          <a:blip r:embed="rId3"/>
          <a:stretch>
            <a:fillRect/>
          </a:stretch>
        </p:blipFill>
        <p:spPr>
          <a:xfrm>
            <a:off x="10492740" y="982980"/>
            <a:ext cx="548640" cy="548640"/>
          </a:xfrm>
          <a:prstGeom prst="rect">
            <a:avLst/>
          </a:prstGeom>
        </p:spPr>
      </p:pic>
      <p:sp>
        <p:nvSpPr>
          <p:cNvPr id="11" name="Text 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9FD6E8"/>
                </a:solidFill>
                <a:latin typeface="Calibri" pitchFamily="34" charset="0"/>
                <a:ea typeface="Calibri" pitchFamily="34" charset="-122"/>
                <a:cs typeface="Calibri" pitchFamily="34" charset="-120"/>
              </a:rPr>
              <a:t>Part 4 · Refining Your Prompts</a:t>
            </a:r>
            <a:endParaRPr lang="en-US" sz="950" dirty="0"/>
          </a:p>
        </p:txBody>
      </p:sp>
      <p:sp>
        <p:nvSpPr>
          <p:cNvPr id="12" name="Text 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9FD6E8"/>
                </a:solidFill>
                <a:latin typeface="Calibri" pitchFamily="34" charset="0"/>
                <a:ea typeface="Calibri" pitchFamily="34" charset="-122"/>
                <a:cs typeface="Calibri" pitchFamily="34" charset="-120"/>
              </a:rPr>
              <a:t>38</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4 · REFINING YOUR PROMPTS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The Refinement Loop</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00" i="1" dirty="0">
                <a:solidFill>
                  <a:srgbClr val="8A94A0"/>
                </a:solidFill>
                <a:latin typeface="Calibri" pitchFamily="34" charset="0"/>
                <a:ea typeface="Calibri" pitchFamily="34" charset="-122"/>
                <a:cs typeface="Calibri" pitchFamily="34" charset="-120"/>
              </a:rPr>
              <a:t>Treat your first prompt as a draft, not a final answer.</a:t>
            </a:r>
            <a:endParaRPr lang="en-US" sz="1400" dirty="0"/>
          </a:p>
        </p:txBody>
      </p:sp>
      <p:sp>
        <p:nvSpPr>
          <p:cNvPr id="5" name="Shape 3"/>
          <p:cNvSpPr/>
          <p:nvPr/>
        </p:nvSpPr>
        <p:spPr>
          <a:xfrm>
            <a:off x="548640" y="2286000"/>
            <a:ext cx="2148840" cy="265176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6" name="Shape 4"/>
          <p:cNvSpPr/>
          <p:nvPr/>
        </p:nvSpPr>
        <p:spPr>
          <a:xfrm>
            <a:off x="1165860" y="2560320"/>
            <a:ext cx="914400" cy="914400"/>
          </a:xfrm>
          <a:prstGeom prst="ellipse">
            <a:avLst/>
          </a:prstGeom>
          <a:solidFill>
            <a:srgbClr val="1C7293"/>
          </a:solidFill>
          <a:ln/>
        </p:spPr>
      </p:sp>
      <p:pic>
        <p:nvPicPr>
          <p:cNvPr id="7" name="Image 0" descr="icons/edit.png"/>
          <p:cNvPicPr>
            <a:picLocks noChangeAspect="1"/>
          </p:cNvPicPr>
          <p:nvPr/>
        </p:nvPicPr>
        <p:blipFill>
          <a:blip r:embed="rId3"/>
          <a:stretch>
            <a:fillRect/>
          </a:stretch>
        </p:blipFill>
        <p:spPr>
          <a:xfrm>
            <a:off x="1403604" y="2798064"/>
            <a:ext cx="438912" cy="438912"/>
          </a:xfrm>
          <a:prstGeom prst="rect">
            <a:avLst/>
          </a:prstGeom>
        </p:spPr>
      </p:pic>
      <p:sp>
        <p:nvSpPr>
          <p:cNvPr id="8" name="Text 5"/>
          <p:cNvSpPr txBox="1"/>
          <p:nvPr/>
        </p:nvSpPr>
        <p:spPr>
          <a:xfrm>
            <a:off x="685800" y="3584448"/>
            <a:ext cx="1874520" cy="228600"/>
          </a:xfrm>
          <a:prstGeom prst="rect">
            <a:avLst/>
          </a:prstGeom>
          <a:noFill/>
          <a:ln/>
        </p:spPr>
        <p:txBody>
          <a:bodyPr wrap="square" lIns="0" tIns="0" rIns="0" bIns="0" rtlCol="0" anchor="ctr"/>
          <a:lstStyle/>
          <a:p>
            <a:pPr marL="0" indent="0" algn="ctr">
              <a:buNone/>
            </a:pPr>
            <a:r>
              <a:rPr lang="en-US" sz="950" b="1" kern="0" spc="120" dirty="0">
                <a:solidFill>
                  <a:srgbClr val="8A94A0"/>
                </a:solidFill>
                <a:latin typeface="Calibri" pitchFamily="34" charset="0"/>
                <a:ea typeface="Calibri" pitchFamily="34" charset="-122"/>
                <a:cs typeface="Calibri" pitchFamily="34" charset="-120"/>
              </a:rPr>
              <a:t>STEP 1</a:t>
            </a:r>
            <a:endParaRPr lang="en-US" sz="950" dirty="0"/>
          </a:p>
        </p:txBody>
      </p:sp>
      <p:sp>
        <p:nvSpPr>
          <p:cNvPr id="9" name="Text 6"/>
          <p:cNvSpPr txBox="1"/>
          <p:nvPr/>
        </p:nvSpPr>
        <p:spPr>
          <a:xfrm>
            <a:off x="685800" y="3822192"/>
            <a:ext cx="1874520" cy="457200"/>
          </a:xfrm>
          <a:prstGeom prst="rect">
            <a:avLst/>
          </a:prstGeom>
          <a:noFill/>
          <a:ln/>
        </p:spPr>
        <p:txBody>
          <a:bodyPr wrap="square" lIns="0" tIns="0" rIns="0" bIns="0" rtlCol="0" anchor="ctr"/>
          <a:lstStyle/>
          <a:p>
            <a:pPr marL="0" indent="0" algn="ctr">
              <a:buNone/>
            </a:pPr>
            <a:r>
              <a:rPr lang="en-US" sz="1350" b="1" dirty="0">
                <a:solidFill>
                  <a:srgbClr val="1B2A4A"/>
                </a:solidFill>
                <a:latin typeface="Calibri" pitchFamily="34" charset="0"/>
                <a:ea typeface="Calibri" pitchFamily="34" charset="-122"/>
                <a:cs typeface="Calibri" pitchFamily="34" charset="-120"/>
              </a:rPr>
              <a:t>Draft a Prompt</a:t>
            </a:r>
            <a:endParaRPr lang="en-US" sz="1350" dirty="0"/>
          </a:p>
        </p:txBody>
      </p:sp>
      <p:sp>
        <p:nvSpPr>
          <p:cNvPr id="10" name="Text 7"/>
          <p:cNvSpPr txBox="1"/>
          <p:nvPr/>
        </p:nvSpPr>
        <p:spPr>
          <a:xfrm>
            <a:off x="685800" y="4279392"/>
            <a:ext cx="1874520" cy="594360"/>
          </a:xfrm>
          <a:prstGeom prst="rect">
            <a:avLst/>
          </a:prstGeom>
          <a:noFill/>
          <a:ln/>
        </p:spPr>
        <p:txBody>
          <a:bodyPr wrap="square" lIns="0" tIns="0" rIns="0" bIns="0" rtlCol="0" anchor="ctr"/>
          <a:lstStyle/>
          <a:p>
            <a:pPr marL="0" indent="0" algn="ctr">
              <a:lnSpc>
                <a:spcPct val="115000"/>
              </a:lnSpc>
              <a:buNone/>
            </a:pPr>
            <a:r>
              <a:rPr lang="en-US" sz="1000" dirty="0">
                <a:solidFill>
                  <a:srgbClr val="55606C"/>
                </a:solidFill>
                <a:latin typeface="Calibri" pitchFamily="34" charset="0"/>
                <a:ea typeface="Calibri" pitchFamily="34" charset="-122"/>
                <a:cs typeface="Calibri" pitchFamily="34" charset="-120"/>
              </a:rPr>
              <a:t>Write your best first attempt using the four building blocks</a:t>
            </a:r>
            <a:endParaRPr lang="en-US" sz="1000" dirty="0"/>
          </a:p>
        </p:txBody>
      </p:sp>
      <p:sp>
        <p:nvSpPr>
          <p:cNvPr id="11" name="Shape 8"/>
          <p:cNvSpPr/>
          <p:nvPr/>
        </p:nvSpPr>
        <p:spPr>
          <a:xfrm>
            <a:off x="2847259" y="3474720"/>
            <a:ext cx="532547" cy="274320"/>
          </a:xfrm>
          <a:prstGeom prst="rightArrow">
            <a:avLst/>
          </a:prstGeom>
          <a:solidFill>
            <a:srgbClr val="1C7293"/>
          </a:solidFill>
          <a:ln/>
        </p:spPr>
      </p:sp>
      <p:sp>
        <p:nvSpPr>
          <p:cNvPr id="12" name="Shape 9"/>
          <p:cNvSpPr/>
          <p:nvPr/>
        </p:nvSpPr>
        <p:spPr>
          <a:xfrm>
            <a:off x="3529584" y="2286000"/>
            <a:ext cx="2148840" cy="265176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3" name="Shape 10"/>
          <p:cNvSpPr/>
          <p:nvPr/>
        </p:nvSpPr>
        <p:spPr>
          <a:xfrm>
            <a:off x="4146804" y="2560320"/>
            <a:ext cx="914400" cy="914400"/>
          </a:xfrm>
          <a:prstGeom prst="ellipse">
            <a:avLst/>
          </a:prstGeom>
          <a:solidFill>
            <a:srgbClr val="1C7293"/>
          </a:solidFill>
          <a:ln/>
        </p:spPr>
      </p:sp>
      <p:pic>
        <p:nvPicPr>
          <p:cNvPr id="14" name="Image 1" descr="icons/search.png"/>
          <p:cNvPicPr>
            <a:picLocks noChangeAspect="1"/>
          </p:cNvPicPr>
          <p:nvPr/>
        </p:nvPicPr>
        <p:blipFill>
          <a:blip r:embed="rId4"/>
          <a:stretch>
            <a:fillRect/>
          </a:stretch>
        </p:blipFill>
        <p:spPr>
          <a:xfrm>
            <a:off x="4384548" y="2798064"/>
            <a:ext cx="438912" cy="438912"/>
          </a:xfrm>
          <a:prstGeom prst="rect">
            <a:avLst/>
          </a:prstGeom>
        </p:spPr>
      </p:pic>
      <p:sp>
        <p:nvSpPr>
          <p:cNvPr id="15" name="Text 11"/>
          <p:cNvSpPr txBox="1"/>
          <p:nvPr/>
        </p:nvSpPr>
        <p:spPr>
          <a:xfrm>
            <a:off x="3666744" y="3584448"/>
            <a:ext cx="1874520" cy="228600"/>
          </a:xfrm>
          <a:prstGeom prst="rect">
            <a:avLst/>
          </a:prstGeom>
          <a:noFill/>
          <a:ln/>
        </p:spPr>
        <p:txBody>
          <a:bodyPr wrap="square" lIns="0" tIns="0" rIns="0" bIns="0" rtlCol="0" anchor="ctr"/>
          <a:lstStyle/>
          <a:p>
            <a:pPr marL="0" indent="0" algn="ctr">
              <a:buNone/>
            </a:pPr>
            <a:r>
              <a:rPr lang="en-US" sz="950" b="1" kern="0" spc="120" dirty="0">
                <a:solidFill>
                  <a:srgbClr val="8A94A0"/>
                </a:solidFill>
                <a:latin typeface="Calibri" pitchFamily="34" charset="0"/>
                <a:ea typeface="Calibri" pitchFamily="34" charset="-122"/>
                <a:cs typeface="Calibri" pitchFamily="34" charset="-120"/>
              </a:rPr>
              <a:t>STEP 2</a:t>
            </a:r>
            <a:endParaRPr lang="en-US" sz="950" dirty="0"/>
          </a:p>
        </p:txBody>
      </p:sp>
      <p:sp>
        <p:nvSpPr>
          <p:cNvPr id="16" name="Text 12"/>
          <p:cNvSpPr txBox="1"/>
          <p:nvPr/>
        </p:nvSpPr>
        <p:spPr>
          <a:xfrm>
            <a:off x="3666744" y="3822192"/>
            <a:ext cx="1874520" cy="457200"/>
          </a:xfrm>
          <a:prstGeom prst="rect">
            <a:avLst/>
          </a:prstGeom>
          <a:noFill/>
          <a:ln/>
        </p:spPr>
        <p:txBody>
          <a:bodyPr wrap="square" lIns="0" tIns="0" rIns="0" bIns="0" rtlCol="0" anchor="ctr"/>
          <a:lstStyle/>
          <a:p>
            <a:pPr marL="0" indent="0" algn="ctr">
              <a:buNone/>
            </a:pPr>
            <a:r>
              <a:rPr lang="en-US" sz="1350" b="1" dirty="0">
                <a:solidFill>
                  <a:srgbClr val="1B2A4A"/>
                </a:solidFill>
                <a:latin typeface="Calibri" pitchFamily="34" charset="0"/>
                <a:ea typeface="Calibri" pitchFamily="34" charset="-122"/>
                <a:cs typeface="Calibri" pitchFamily="34" charset="-120"/>
              </a:rPr>
              <a:t>Diagnose the Response</a:t>
            </a:r>
            <a:endParaRPr lang="en-US" sz="1350" dirty="0"/>
          </a:p>
        </p:txBody>
      </p:sp>
      <p:sp>
        <p:nvSpPr>
          <p:cNvPr id="17" name="Text 13"/>
          <p:cNvSpPr txBox="1"/>
          <p:nvPr/>
        </p:nvSpPr>
        <p:spPr>
          <a:xfrm>
            <a:off x="3666744" y="4279392"/>
            <a:ext cx="1874520" cy="594360"/>
          </a:xfrm>
          <a:prstGeom prst="rect">
            <a:avLst/>
          </a:prstGeom>
          <a:noFill/>
          <a:ln/>
        </p:spPr>
        <p:txBody>
          <a:bodyPr wrap="square" lIns="0" tIns="0" rIns="0" bIns="0" rtlCol="0" anchor="ctr"/>
          <a:lstStyle/>
          <a:p>
            <a:pPr marL="0" indent="0" algn="ctr">
              <a:lnSpc>
                <a:spcPct val="115000"/>
              </a:lnSpc>
              <a:buNone/>
            </a:pPr>
            <a:r>
              <a:rPr lang="en-US" sz="1000" dirty="0">
                <a:solidFill>
                  <a:srgbClr val="55606C"/>
                </a:solidFill>
                <a:latin typeface="Calibri" pitchFamily="34" charset="0"/>
                <a:ea typeface="Calibri" pitchFamily="34" charset="-122"/>
                <a:cs typeface="Calibri" pitchFamily="34" charset="-120"/>
              </a:rPr>
              <a:t>Identify specifically what is wrong or missing</a:t>
            </a:r>
            <a:endParaRPr lang="en-US" sz="1000" dirty="0"/>
          </a:p>
        </p:txBody>
      </p:sp>
      <p:sp>
        <p:nvSpPr>
          <p:cNvPr id="18" name="Shape 14"/>
          <p:cNvSpPr/>
          <p:nvPr/>
        </p:nvSpPr>
        <p:spPr>
          <a:xfrm>
            <a:off x="5828203" y="3474720"/>
            <a:ext cx="532547" cy="274320"/>
          </a:xfrm>
          <a:prstGeom prst="rightArrow">
            <a:avLst/>
          </a:prstGeom>
          <a:solidFill>
            <a:srgbClr val="1C7293"/>
          </a:solidFill>
          <a:ln/>
        </p:spPr>
      </p:sp>
      <p:sp>
        <p:nvSpPr>
          <p:cNvPr id="19" name="Shape 15"/>
          <p:cNvSpPr/>
          <p:nvPr/>
        </p:nvSpPr>
        <p:spPr>
          <a:xfrm>
            <a:off x="6510528" y="2286000"/>
            <a:ext cx="2148840" cy="265176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0" name="Shape 16"/>
          <p:cNvSpPr/>
          <p:nvPr/>
        </p:nvSpPr>
        <p:spPr>
          <a:xfrm>
            <a:off x="7127748" y="2560320"/>
            <a:ext cx="914400" cy="914400"/>
          </a:xfrm>
          <a:prstGeom prst="ellipse">
            <a:avLst/>
          </a:prstGeom>
          <a:solidFill>
            <a:srgbClr val="1C7293"/>
          </a:solidFill>
          <a:ln/>
        </p:spPr>
      </p:sp>
      <p:pic>
        <p:nvPicPr>
          <p:cNvPr id="21" name="Image 2" descr="icons/wrench.png"/>
          <p:cNvPicPr>
            <a:picLocks noChangeAspect="1"/>
          </p:cNvPicPr>
          <p:nvPr/>
        </p:nvPicPr>
        <p:blipFill>
          <a:blip r:embed="rId5"/>
          <a:stretch>
            <a:fillRect/>
          </a:stretch>
        </p:blipFill>
        <p:spPr>
          <a:xfrm>
            <a:off x="7365492" y="2798064"/>
            <a:ext cx="438912" cy="438912"/>
          </a:xfrm>
          <a:prstGeom prst="rect">
            <a:avLst/>
          </a:prstGeom>
        </p:spPr>
      </p:pic>
      <p:sp>
        <p:nvSpPr>
          <p:cNvPr id="22" name="Text 17"/>
          <p:cNvSpPr txBox="1"/>
          <p:nvPr/>
        </p:nvSpPr>
        <p:spPr>
          <a:xfrm>
            <a:off x="6647688" y="3584448"/>
            <a:ext cx="1874520" cy="228600"/>
          </a:xfrm>
          <a:prstGeom prst="rect">
            <a:avLst/>
          </a:prstGeom>
          <a:noFill/>
          <a:ln/>
        </p:spPr>
        <p:txBody>
          <a:bodyPr wrap="square" lIns="0" tIns="0" rIns="0" bIns="0" rtlCol="0" anchor="ctr"/>
          <a:lstStyle/>
          <a:p>
            <a:pPr marL="0" indent="0" algn="ctr">
              <a:buNone/>
            </a:pPr>
            <a:r>
              <a:rPr lang="en-US" sz="950" b="1" kern="0" spc="120" dirty="0">
                <a:solidFill>
                  <a:srgbClr val="8A94A0"/>
                </a:solidFill>
                <a:latin typeface="Calibri" pitchFamily="34" charset="0"/>
                <a:ea typeface="Calibri" pitchFamily="34" charset="-122"/>
                <a:cs typeface="Calibri" pitchFamily="34" charset="-120"/>
              </a:rPr>
              <a:t>STEP 3</a:t>
            </a:r>
            <a:endParaRPr lang="en-US" sz="950" dirty="0"/>
          </a:p>
        </p:txBody>
      </p:sp>
      <p:sp>
        <p:nvSpPr>
          <p:cNvPr id="23" name="Text 18"/>
          <p:cNvSpPr txBox="1"/>
          <p:nvPr/>
        </p:nvSpPr>
        <p:spPr>
          <a:xfrm>
            <a:off x="6647688" y="3822192"/>
            <a:ext cx="1874520" cy="457200"/>
          </a:xfrm>
          <a:prstGeom prst="rect">
            <a:avLst/>
          </a:prstGeom>
          <a:noFill/>
          <a:ln/>
        </p:spPr>
        <p:txBody>
          <a:bodyPr wrap="square" lIns="0" tIns="0" rIns="0" bIns="0" rtlCol="0" anchor="ctr"/>
          <a:lstStyle/>
          <a:p>
            <a:pPr marL="0" indent="0" algn="ctr">
              <a:buNone/>
            </a:pPr>
            <a:r>
              <a:rPr lang="en-US" sz="1350" b="1" dirty="0">
                <a:solidFill>
                  <a:srgbClr val="1B2A4A"/>
                </a:solidFill>
                <a:latin typeface="Calibri" pitchFamily="34" charset="0"/>
                <a:ea typeface="Calibri" pitchFamily="34" charset="-122"/>
                <a:cs typeface="Calibri" pitchFamily="34" charset="-120"/>
              </a:rPr>
              <a:t>Rewrite the Prompt</a:t>
            </a:r>
            <a:endParaRPr lang="en-US" sz="1350" dirty="0"/>
          </a:p>
        </p:txBody>
      </p:sp>
      <p:sp>
        <p:nvSpPr>
          <p:cNvPr id="24" name="Text 19"/>
          <p:cNvSpPr txBox="1"/>
          <p:nvPr/>
        </p:nvSpPr>
        <p:spPr>
          <a:xfrm>
            <a:off x="6647688" y="4279392"/>
            <a:ext cx="1874520" cy="594360"/>
          </a:xfrm>
          <a:prstGeom prst="rect">
            <a:avLst/>
          </a:prstGeom>
          <a:noFill/>
          <a:ln/>
        </p:spPr>
        <p:txBody>
          <a:bodyPr wrap="square" lIns="0" tIns="0" rIns="0" bIns="0" rtlCol="0" anchor="ctr"/>
          <a:lstStyle/>
          <a:p>
            <a:pPr marL="0" indent="0" algn="ctr">
              <a:lnSpc>
                <a:spcPct val="115000"/>
              </a:lnSpc>
              <a:buNone/>
            </a:pPr>
            <a:r>
              <a:rPr lang="en-US" sz="1000" dirty="0">
                <a:solidFill>
                  <a:srgbClr val="55606C"/>
                </a:solidFill>
                <a:latin typeface="Calibri" pitchFamily="34" charset="0"/>
                <a:ea typeface="Calibri" pitchFamily="34" charset="-122"/>
                <a:cs typeface="Calibri" pitchFamily="34" charset="-120"/>
              </a:rPr>
              <a:t>Fix the specific gap you just identified</a:t>
            </a:r>
            <a:endParaRPr lang="en-US" sz="1000" dirty="0"/>
          </a:p>
        </p:txBody>
      </p:sp>
      <p:sp>
        <p:nvSpPr>
          <p:cNvPr id="25" name="Shape 20"/>
          <p:cNvSpPr/>
          <p:nvPr/>
        </p:nvSpPr>
        <p:spPr>
          <a:xfrm>
            <a:off x="8809147" y="3474720"/>
            <a:ext cx="532547" cy="274320"/>
          </a:xfrm>
          <a:prstGeom prst="rightArrow">
            <a:avLst/>
          </a:prstGeom>
          <a:solidFill>
            <a:srgbClr val="1C7293"/>
          </a:solidFill>
          <a:ln/>
        </p:spPr>
      </p:sp>
      <p:sp>
        <p:nvSpPr>
          <p:cNvPr id="26" name="Shape 21"/>
          <p:cNvSpPr/>
          <p:nvPr/>
        </p:nvSpPr>
        <p:spPr>
          <a:xfrm>
            <a:off x="9491472" y="2286000"/>
            <a:ext cx="2148840" cy="265176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7" name="Shape 22"/>
          <p:cNvSpPr/>
          <p:nvPr/>
        </p:nvSpPr>
        <p:spPr>
          <a:xfrm>
            <a:off x="10108692" y="2560320"/>
            <a:ext cx="914400" cy="914400"/>
          </a:xfrm>
          <a:prstGeom prst="ellipse">
            <a:avLst/>
          </a:prstGeom>
          <a:solidFill>
            <a:srgbClr val="1C7293"/>
          </a:solidFill>
          <a:ln/>
        </p:spPr>
      </p:sp>
      <p:pic>
        <p:nvPicPr>
          <p:cNvPr id="28" name="Image 3" descr="icons/check.png"/>
          <p:cNvPicPr>
            <a:picLocks noChangeAspect="1"/>
          </p:cNvPicPr>
          <p:nvPr/>
        </p:nvPicPr>
        <p:blipFill>
          <a:blip r:embed="rId6"/>
          <a:stretch>
            <a:fillRect/>
          </a:stretch>
        </p:blipFill>
        <p:spPr>
          <a:xfrm>
            <a:off x="10346436" y="2798064"/>
            <a:ext cx="438912" cy="438912"/>
          </a:xfrm>
          <a:prstGeom prst="rect">
            <a:avLst/>
          </a:prstGeom>
        </p:spPr>
      </p:pic>
      <p:sp>
        <p:nvSpPr>
          <p:cNvPr id="29" name="Text 23"/>
          <p:cNvSpPr txBox="1"/>
          <p:nvPr/>
        </p:nvSpPr>
        <p:spPr>
          <a:xfrm>
            <a:off x="9628632" y="3584448"/>
            <a:ext cx="1874520" cy="228600"/>
          </a:xfrm>
          <a:prstGeom prst="rect">
            <a:avLst/>
          </a:prstGeom>
          <a:noFill/>
          <a:ln/>
        </p:spPr>
        <p:txBody>
          <a:bodyPr wrap="square" lIns="0" tIns="0" rIns="0" bIns="0" rtlCol="0" anchor="ctr"/>
          <a:lstStyle/>
          <a:p>
            <a:pPr marL="0" indent="0" algn="ctr">
              <a:buNone/>
            </a:pPr>
            <a:r>
              <a:rPr lang="en-US" sz="950" b="1" kern="0" spc="120" dirty="0">
                <a:solidFill>
                  <a:srgbClr val="8A94A0"/>
                </a:solidFill>
                <a:latin typeface="Calibri" pitchFamily="34" charset="0"/>
                <a:ea typeface="Calibri" pitchFamily="34" charset="-122"/>
                <a:cs typeface="Calibri" pitchFamily="34" charset="-120"/>
              </a:rPr>
              <a:t>STEP 4</a:t>
            </a:r>
            <a:endParaRPr lang="en-US" sz="950" dirty="0"/>
          </a:p>
        </p:txBody>
      </p:sp>
      <p:sp>
        <p:nvSpPr>
          <p:cNvPr id="30" name="Text 24"/>
          <p:cNvSpPr txBox="1"/>
          <p:nvPr/>
        </p:nvSpPr>
        <p:spPr>
          <a:xfrm>
            <a:off x="9628632" y="3822192"/>
            <a:ext cx="1874520" cy="457200"/>
          </a:xfrm>
          <a:prstGeom prst="rect">
            <a:avLst/>
          </a:prstGeom>
          <a:noFill/>
          <a:ln/>
        </p:spPr>
        <p:txBody>
          <a:bodyPr wrap="square" lIns="0" tIns="0" rIns="0" bIns="0" rtlCol="0" anchor="ctr"/>
          <a:lstStyle/>
          <a:p>
            <a:pPr marL="0" indent="0" algn="ctr">
              <a:buNone/>
            </a:pPr>
            <a:r>
              <a:rPr lang="en-US" sz="1350" b="1" dirty="0">
                <a:solidFill>
                  <a:srgbClr val="1B2A4A"/>
                </a:solidFill>
                <a:latin typeface="Calibri" pitchFamily="34" charset="0"/>
                <a:ea typeface="Calibri" pitchFamily="34" charset="-122"/>
                <a:cs typeface="Calibri" pitchFamily="34" charset="-120"/>
              </a:rPr>
              <a:t>Retest &amp; Compare</a:t>
            </a:r>
            <a:endParaRPr lang="en-US" sz="1350" dirty="0"/>
          </a:p>
        </p:txBody>
      </p:sp>
      <p:sp>
        <p:nvSpPr>
          <p:cNvPr id="31" name="Text 25"/>
          <p:cNvSpPr txBox="1"/>
          <p:nvPr/>
        </p:nvSpPr>
        <p:spPr>
          <a:xfrm>
            <a:off x="9628632" y="4279392"/>
            <a:ext cx="1874520" cy="594360"/>
          </a:xfrm>
          <a:prstGeom prst="rect">
            <a:avLst/>
          </a:prstGeom>
          <a:noFill/>
          <a:ln/>
        </p:spPr>
        <p:txBody>
          <a:bodyPr wrap="square" lIns="0" tIns="0" rIns="0" bIns="0" rtlCol="0" anchor="ctr"/>
          <a:lstStyle/>
          <a:p>
            <a:pPr marL="0" indent="0" algn="ctr">
              <a:lnSpc>
                <a:spcPct val="115000"/>
              </a:lnSpc>
              <a:buNone/>
            </a:pPr>
            <a:r>
              <a:rPr lang="en-US" sz="1000" dirty="0">
                <a:solidFill>
                  <a:srgbClr val="55606C"/>
                </a:solidFill>
                <a:latin typeface="Calibri" pitchFamily="34" charset="0"/>
                <a:ea typeface="Calibri" pitchFamily="34" charset="-122"/>
                <a:cs typeface="Calibri" pitchFamily="34" charset="-120"/>
              </a:rPr>
              <a:t>Check whether the new response actually improved</a:t>
            </a:r>
            <a:endParaRPr lang="en-US" sz="1000" dirty="0"/>
          </a:p>
        </p:txBody>
      </p:sp>
      <p:sp>
        <p:nvSpPr>
          <p:cNvPr id="32" name="Text 26"/>
          <p:cNvSpPr txBox="1"/>
          <p:nvPr/>
        </p:nvSpPr>
        <p:spPr>
          <a:xfrm>
            <a:off x="548640" y="5166360"/>
            <a:ext cx="11091672" cy="365760"/>
          </a:xfrm>
          <a:prstGeom prst="rect">
            <a:avLst/>
          </a:prstGeom>
          <a:noFill/>
          <a:ln/>
        </p:spPr>
        <p:txBody>
          <a:bodyPr wrap="square" lIns="0" tIns="0" rIns="0" bIns="0" rtlCol="0" anchor="ctr"/>
          <a:lstStyle/>
          <a:p>
            <a:pPr marL="0" indent="0" algn="ctr">
              <a:buNone/>
            </a:pPr>
            <a:r>
              <a:rPr lang="en-US" sz="1250" b="1" i="1" dirty="0">
                <a:solidFill>
                  <a:srgbClr val="1C7293"/>
                </a:solidFill>
                <a:latin typeface="Calibri" pitchFamily="34" charset="0"/>
                <a:ea typeface="Calibri" pitchFamily="34" charset="-122"/>
                <a:cs typeface="Calibri" pitchFamily="34" charset="-120"/>
              </a:rPr>
              <a:t>↻  Repeat until the response reliably meets your needs</a:t>
            </a:r>
            <a:endParaRPr lang="en-US" sz="1250" dirty="0"/>
          </a:p>
        </p:txBody>
      </p:sp>
      <p:sp>
        <p:nvSpPr>
          <p:cNvPr id="33" name="Text 27"/>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Refining Your Prompts</a:t>
            </a:r>
            <a:endParaRPr lang="en-US" sz="950" dirty="0"/>
          </a:p>
        </p:txBody>
      </p:sp>
      <p:sp>
        <p:nvSpPr>
          <p:cNvPr id="34" name="Text 28"/>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39</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4 · REFINING YOUR PROMPTS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Diagnosing a Poor Response: Common Patterns</a:t>
            </a:r>
            <a:endParaRPr lang="en-US" sz="3200" dirty="0"/>
          </a:p>
        </p:txBody>
      </p:sp>
      <p:sp>
        <p:nvSpPr>
          <p:cNvPr id="4" name="Shape 2"/>
          <p:cNvSpPr/>
          <p:nvPr/>
        </p:nvSpPr>
        <p:spPr>
          <a:xfrm>
            <a:off x="548640"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41248" y="2212848"/>
            <a:ext cx="658368" cy="658368"/>
          </a:xfrm>
          <a:prstGeom prst="ellipse">
            <a:avLst/>
          </a:prstGeom>
          <a:solidFill>
            <a:srgbClr val="B08A2E"/>
          </a:solidFill>
          <a:ln/>
        </p:spPr>
      </p:sp>
      <p:pic>
        <p:nvPicPr>
          <p:cNvPr id="6" name="Image 0" descr="icons/exclaim.png"/>
          <p:cNvPicPr>
            <a:picLocks noChangeAspect="1"/>
          </p:cNvPicPr>
          <p:nvPr/>
        </p:nvPicPr>
        <p:blipFill>
          <a:blip r:embed="rId3"/>
          <a:stretch>
            <a:fillRect/>
          </a:stretch>
        </p:blipFill>
        <p:spPr>
          <a:xfrm>
            <a:off x="1012424" y="2384024"/>
            <a:ext cx="316017" cy="316017"/>
          </a:xfrm>
          <a:prstGeom prst="rect">
            <a:avLst/>
          </a:prstGeom>
        </p:spPr>
      </p:pic>
      <p:sp>
        <p:nvSpPr>
          <p:cNvPr id="7" name="Text 4"/>
          <p:cNvSpPr txBox="1"/>
          <p:nvPr/>
        </p:nvSpPr>
        <p:spPr>
          <a:xfrm>
            <a:off x="1645920"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Too Vague or Generic</a:t>
            </a:r>
            <a:endParaRPr lang="en-US" sz="1650" dirty="0"/>
          </a:p>
        </p:txBody>
      </p:sp>
      <p:sp>
        <p:nvSpPr>
          <p:cNvPr id="8" name="Text 5"/>
          <p:cNvSpPr txBox="1"/>
          <p:nvPr/>
        </p:nvSpPr>
        <p:spPr>
          <a:xfrm>
            <a:off x="841248"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Usually means context or audience was missing from the prompt.</a:t>
            </a:r>
            <a:endParaRPr lang="en-US" sz="1200" dirty="0"/>
          </a:p>
        </p:txBody>
      </p:sp>
      <p:sp>
        <p:nvSpPr>
          <p:cNvPr id="9" name="Shape 6"/>
          <p:cNvSpPr/>
          <p:nvPr/>
        </p:nvSpPr>
        <p:spPr>
          <a:xfrm>
            <a:off x="6254496"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Shape 7"/>
          <p:cNvSpPr/>
          <p:nvPr/>
        </p:nvSpPr>
        <p:spPr>
          <a:xfrm>
            <a:off x="6547104" y="2212848"/>
            <a:ext cx="658368" cy="658368"/>
          </a:xfrm>
          <a:prstGeom prst="ellipse">
            <a:avLst/>
          </a:prstGeom>
          <a:solidFill>
            <a:srgbClr val="B08A2E"/>
          </a:solidFill>
          <a:ln/>
        </p:spPr>
      </p:sp>
      <p:pic>
        <p:nvPicPr>
          <p:cNvPr id="11" name="Image 1" descr="icons/exclaim.png"/>
          <p:cNvPicPr>
            <a:picLocks noChangeAspect="1"/>
          </p:cNvPicPr>
          <p:nvPr/>
        </p:nvPicPr>
        <p:blipFill>
          <a:blip r:embed="rId3"/>
          <a:stretch>
            <a:fillRect/>
          </a:stretch>
        </p:blipFill>
        <p:spPr>
          <a:xfrm>
            <a:off x="6718280" y="2384024"/>
            <a:ext cx="316017" cy="316017"/>
          </a:xfrm>
          <a:prstGeom prst="rect">
            <a:avLst/>
          </a:prstGeom>
        </p:spPr>
      </p:pic>
      <p:sp>
        <p:nvSpPr>
          <p:cNvPr id="12" name="Text 8"/>
          <p:cNvSpPr txBox="1"/>
          <p:nvPr/>
        </p:nvSpPr>
        <p:spPr>
          <a:xfrm>
            <a:off x="7351776"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Wrong Format</a:t>
            </a:r>
            <a:endParaRPr lang="en-US" sz="1650" dirty="0"/>
          </a:p>
        </p:txBody>
      </p:sp>
      <p:sp>
        <p:nvSpPr>
          <p:cNvPr id="13" name="Text 9"/>
          <p:cNvSpPr txBox="1"/>
          <p:nvPr/>
        </p:nvSpPr>
        <p:spPr>
          <a:xfrm>
            <a:off x="6547104"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The AI was never told the structure, length, or tone you needed.</a:t>
            </a:r>
            <a:endParaRPr lang="en-US" sz="1200" dirty="0"/>
          </a:p>
        </p:txBody>
      </p:sp>
      <p:sp>
        <p:nvSpPr>
          <p:cNvPr id="14" name="Shape 10"/>
          <p:cNvSpPr/>
          <p:nvPr/>
        </p:nvSpPr>
        <p:spPr>
          <a:xfrm>
            <a:off x="548640"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Shape 11"/>
          <p:cNvSpPr/>
          <p:nvPr/>
        </p:nvSpPr>
        <p:spPr>
          <a:xfrm>
            <a:off x="841248" y="4681728"/>
            <a:ext cx="658368" cy="658368"/>
          </a:xfrm>
          <a:prstGeom prst="ellipse">
            <a:avLst/>
          </a:prstGeom>
          <a:solidFill>
            <a:srgbClr val="B08A2E"/>
          </a:solidFill>
          <a:ln/>
        </p:spPr>
      </p:sp>
      <p:pic>
        <p:nvPicPr>
          <p:cNvPr id="16" name="Image 2" descr="icons/exclaim.png"/>
          <p:cNvPicPr>
            <a:picLocks noChangeAspect="1"/>
          </p:cNvPicPr>
          <p:nvPr/>
        </p:nvPicPr>
        <p:blipFill>
          <a:blip r:embed="rId3"/>
          <a:stretch>
            <a:fillRect/>
          </a:stretch>
        </p:blipFill>
        <p:spPr>
          <a:xfrm>
            <a:off x="1012424" y="4852904"/>
            <a:ext cx="316017" cy="316017"/>
          </a:xfrm>
          <a:prstGeom prst="rect">
            <a:avLst/>
          </a:prstGeom>
        </p:spPr>
      </p:pic>
      <p:sp>
        <p:nvSpPr>
          <p:cNvPr id="17" name="Text 12"/>
          <p:cNvSpPr txBox="1"/>
          <p:nvPr/>
        </p:nvSpPr>
        <p:spPr>
          <a:xfrm>
            <a:off x="1645920"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Off-Topic or Rambling</a:t>
            </a:r>
            <a:endParaRPr lang="en-US" sz="1650" dirty="0"/>
          </a:p>
        </p:txBody>
      </p:sp>
      <p:sp>
        <p:nvSpPr>
          <p:cNvPr id="18" name="Text 13"/>
          <p:cNvSpPr txBox="1"/>
          <p:nvPr/>
        </p:nvSpPr>
        <p:spPr>
          <a:xfrm>
            <a:off x="841248"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The instruction likely bundled several tasks together at once.</a:t>
            </a:r>
            <a:endParaRPr lang="en-US" sz="1200" dirty="0"/>
          </a:p>
        </p:txBody>
      </p:sp>
      <p:sp>
        <p:nvSpPr>
          <p:cNvPr id="19" name="Shape 14"/>
          <p:cNvSpPr/>
          <p:nvPr/>
        </p:nvSpPr>
        <p:spPr>
          <a:xfrm>
            <a:off x="6254496"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0" name="Shape 15"/>
          <p:cNvSpPr/>
          <p:nvPr/>
        </p:nvSpPr>
        <p:spPr>
          <a:xfrm>
            <a:off x="6547104" y="4681728"/>
            <a:ext cx="658368" cy="658368"/>
          </a:xfrm>
          <a:prstGeom prst="ellipse">
            <a:avLst/>
          </a:prstGeom>
          <a:solidFill>
            <a:srgbClr val="B08A2E"/>
          </a:solidFill>
          <a:ln/>
        </p:spPr>
      </p:sp>
      <p:pic>
        <p:nvPicPr>
          <p:cNvPr id="21" name="Image 3" descr="icons/exclaim.png"/>
          <p:cNvPicPr>
            <a:picLocks noChangeAspect="1"/>
          </p:cNvPicPr>
          <p:nvPr/>
        </p:nvPicPr>
        <p:blipFill>
          <a:blip r:embed="rId3"/>
          <a:stretch>
            <a:fillRect/>
          </a:stretch>
        </p:blipFill>
        <p:spPr>
          <a:xfrm>
            <a:off x="6718280" y="4852904"/>
            <a:ext cx="316017" cy="316017"/>
          </a:xfrm>
          <a:prstGeom prst="rect">
            <a:avLst/>
          </a:prstGeom>
        </p:spPr>
      </p:pic>
      <p:sp>
        <p:nvSpPr>
          <p:cNvPr id="22" name="Text 16"/>
          <p:cNvSpPr txBox="1"/>
          <p:nvPr/>
        </p:nvSpPr>
        <p:spPr>
          <a:xfrm>
            <a:off x="7351776"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Confidently Incorrect</a:t>
            </a:r>
            <a:endParaRPr lang="en-US" sz="1650" dirty="0"/>
          </a:p>
        </p:txBody>
      </p:sp>
      <p:sp>
        <p:nvSpPr>
          <p:cNvPr id="23" name="Text 17"/>
          <p:cNvSpPr txBox="1"/>
          <p:nvPr/>
        </p:nvSpPr>
        <p:spPr>
          <a:xfrm>
            <a:off x="6547104"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May need structured reasoning, a narrower scope, or a fact-check step.</a:t>
            </a:r>
            <a:endParaRPr lang="en-US" sz="1200" dirty="0"/>
          </a:p>
        </p:txBody>
      </p:sp>
      <p:sp>
        <p:nvSpPr>
          <p:cNvPr id="24" name="Text 1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Part 4 · Refining Your Prompts</a:t>
            </a:r>
            <a:endParaRPr lang="en-US" sz="950" dirty="0"/>
          </a:p>
        </p:txBody>
      </p:sp>
      <p:sp>
        <p:nvSpPr>
          <p:cNvPr id="25" name="Text 1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40</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4 · REFINING YOUR PROMPTS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The Role of Follow-Up Questions</a:t>
            </a:r>
            <a:endParaRPr lang="en-US" sz="3200" dirty="0"/>
          </a:p>
        </p:txBody>
      </p:sp>
      <p:sp>
        <p:nvSpPr>
          <p:cNvPr id="4" name="Shape 2"/>
          <p:cNvSpPr/>
          <p:nvPr/>
        </p:nvSpPr>
        <p:spPr>
          <a:xfrm>
            <a:off x="9646920" y="777240"/>
            <a:ext cx="1737360" cy="1737360"/>
          </a:xfrm>
          <a:prstGeom prst="ellipse">
            <a:avLst/>
          </a:prstGeom>
          <a:solidFill>
            <a:srgbClr val="1C7293"/>
          </a:solidFill>
          <a:ln/>
        </p:spPr>
      </p:sp>
      <p:pic>
        <p:nvPicPr>
          <p:cNvPr id="5" name="Image 0" descr="icons/arrows.png"/>
          <p:cNvPicPr>
            <a:picLocks noChangeAspect="1"/>
          </p:cNvPicPr>
          <p:nvPr/>
        </p:nvPicPr>
        <p:blipFill>
          <a:blip r:embed="rId3"/>
          <a:stretch>
            <a:fillRect/>
          </a:stretch>
        </p:blipFill>
        <p:spPr>
          <a:xfrm>
            <a:off x="10098634" y="1228954"/>
            <a:ext cx="833933" cy="833933"/>
          </a:xfrm>
          <a:prstGeom prst="rect">
            <a:avLst/>
          </a:prstGeom>
        </p:spPr>
      </p:pic>
      <p:sp>
        <p:nvSpPr>
          <p:cNvPr id="6" name="Shape 3"/>
          <p:cNvSpPr/>
          <p:nvPr/>
        </p:nvSpPr>
        <p:spPr>
          <a:xfrm>
            <a:off x="548640" y="2057400"/>
            <a:ext cx="10195560" cy="868680"/>
          </a:xfrm>
          <a:prstGeom prst="roundRect">
            <a:avLst>
              <a:gd name="adj" fmla="val 9474"/>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7" name="Text 4"/>
          <p:cNvSpPr txBox="1"/>
          <p:nvPr/>
        </p:nvSpPr>
        <p:spPr>
          <a:xfrm>
            <a:off x="868680" y="2057400"/>
            <a:ext cx="9509760" cy="868680"/>
          </a:xfrm>
          <a:prstGeom prst="rect">
            <a:avLst/>
          </a:prstGeom>
          <a:noFill/>
          <a:ln/>
        </p:spPr>
        <p:txBody>
          <a:bodyPr wrap="square" lIns="0" tIns="0" rIns="0" bIns="0" rtlCol="0" anchor="ctr"/>
          <a:lstStyle/>
          <a:p>
            <a:pPr marL="0" indent="0">
              <a:buNone/>
            </a:pPr>
            <a:r>
              <a:rPr lang="en-US" sz="1550" b="1" i="1" dirty="0">
                <a:solidFill>
                  <a:srgbClr val="1C7293"/>
                </a:solidFill>
                <a:latin typeface="Calibri" pitchFamily="34" charset="0"/>
                <a:ea typeface="Calibri" pitchFamily="34" charset="-122"/>
                <a:cs typeface="Calibri" pitchFamily="34" charset="-120"/>
              </a:rPr>
              <a:t>Do you need a whole new prompt, or just a follow-up?</a:t>
            </a:r>
            <a:endParaRPr lang="en-US" sz="1550" dirty="0"/>
          </a:p>
        </p:txBody>
      </p:sp>
      <p:sp>
        <p:nvSpPr>
          <p:cNvPr id="8" name="Shape 5"/>
          <p:cNvSpPr/>
          <p:nvPr/>
        </p:nvSpPr>
        <p:spPr>
          <a:xfrm>
            <a:off x="548640" y="3154680"/>
            <a:ext cx="5074920" cy="2971800"/>
          </a:xfrm>
          <a:prstGeom prst="roundRect">
            <a:avLst>
              <a:gd name="adj" fmla="val 2769"/>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9" name="Text 6"/>
          <p:cNvSpPr txBox="1"/>
          <p:nvPr/>
        </p:nvSpPr>
        <p:spPr>
          <a:xfrm>
            <a:off x="841248" y="3364992"/>
            <a:ext cx="45720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IN PLAIN TERMS</a:t>
            </a:r>
            <a:endParaRPr lang="en-US" sz="1050" dirty="0"/>
          </a:p>
        </p:txBody>
      </p:sp>
      <p:sp>
        <p:nvSpPr>
          <p:cNvPr id="10" name="Text 7"/>
          <p:cNvSpPr txBox="1"/>
          <p:nvPr/>
        </p:nvSpPr>
        <p:spPr>
          <a:xfrm>
            <a:off x="841248" y="3694176"/>
            <a:ext cx="4526280" cy="2286000"/>
          </a:xfrm>
          <a:prstGeom prst="rect">
            <a:avLst/>
          </a:prstGeom>
          <a:noFill/>
          <a:ln/>
        </p:spPr>
        <p:txBody>
          <a:bodyPr wrap="square" lIns="0" tIns="0" rIns="0" bIns="0" rtlCol="0" anchor="t"/>
          <a:lstStyle/>
          <a:p>
            <a:pPr marL="0" indent="0">
              <a:lnSpc>
                <a:spcPct val="122000"/>
              </a:lnSpc>
              <a:buNone/>
            </a:pPr>
            <a:r>
              <a:rPr lang="en-US" sz="1300" dirty="0">
                <a:solidFill>
                  <a:srgbClr val="55606C"/>
                </a:solidFill>
                <a:latin typeface="Calibri" pitchFamily="34" charset="0"/>
                <a:ea typeface="Calibri" pitchFamily="34" charset="-122"/>
                <a:cs typeface="Calibri" pitchFamily="34" charset="-120"/>
              </a:rPr>
              <a:t>You rarely need to start over completely. Staying in the same conversation and asking a targeted follow-up — "make this shorter," "add a worked example," "remove the jargon in paragraph 2" — is often faster and keeps all the useful context the AI has already built up.</a:t>
            </a:r>
            <a:endParaRPr lang="en-US" sz="1300" dirty="0"/>
          </a:p>
        </p:txBody>
      </p:sp>
      <p:sp>
        <p:nvSpPr>
          <p:cNvPr id="11" name="Shape 8"/>
          <p:cNvSpPr/>
          <p:nvPr/>
        </p:nvSpPr>
        <p:spPr>
          <a:xfrm>
            <a:off x="5852160" y="3154680"/>
            <a:ext cx="4892040" cy="2971800"/>
          </a:xfrm>
          <a:prstGeom prst="roundRect">
            <a:avLst>
              <a:gd name="adj" fmla="val 2769"/>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2" name="Text 9"/>
          <p:cNvSpPr txBox="1"/>
          <p:nvPr/>
        </p:nvSpPr>
        <p:spPr>
          <a:xfrm>
            <a:off x="6126480" y="3364992"/>
            <a:ext cx="438912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EXAMPLE PROMPT</a:t>
            </a:r>
            <a:endParaRPr lang="en-US" sz="1050" dirty="0"/>
          </a:p>
        </p:txBody>
      </p:sp>
      <p:sp>
        <p:nvSpPr>
          <p:cNvPr id="13" name="Shape 10"/>
          <p:cNvSpPr/>
          <p:nvPr/>
        </p:nvSpPr>
        <p:spPr>
          <a:xfrm>
            <a:off x="6126480" y="3675888"/>
            <a:ext cx="4526280" cy="2304288"/>
          </a:xfrm>
          <a:prstGeom prst="roundRect">
            <a:avLst>
              <a:gd name="adj" fmla="val 2381"/>
            </a:avLst>
          </a:prstGeom>
          <a:solidFill>
            <a:srgbClr val="1B2A4A"/>
          </a:solidFill>
          <a:ln/>
        </p:spPr>
      </p:sp>
      <p:sp>
        <p:nvSpPr>
          <p:cNvPr id="14" name="Text 11"/>
          <p:cNvSpPr txBox="1"/>
          <p:nvPr/>
        </p:nvSpPr>
        <p:spPr>
          <a:xfrm>
            <a:off x="6309360" y="3803904"/>
            <a:ext cx="4160520" cy="2057400"/>
          </a:xfrm>
          <a:prstGeom prst="rect">
            <a:avLst/>
          </a:prstGeom>
          <a:noFill/>
          <a:ln/>
        </p:spPr>
        <p:txBody>
          <a:bodyPr wrap="square" lIns="0" tIns="0" rIns="0" bIns="0" rtlCol="0" anchor="t"/>
          <a:lstStyle/>
          <a:p>
            <a:pPr marL="0" indent="0">
              <a:lnSpc>
                <a:spcPct val="125000"/>
              </a:lnSpc>
              <a:buNone/>
            </a:pPr>
            <a:r>
              <a:rPr lang="en-US" sz="1100" dirty="0">
                <a:solidFill>
                  <a:srgbClr val="E7EEF3"/>
                </a:solidFill>
                <a:latin typeface="Courier New" pitchFamily="34" charset="0"/>
                <a:ea typeface="Courier New" pitchFamily="34" charset="-122"/>
                <a:cs typeface="Courier New" pitchFamily="34" charset="-120"/>
              </a:rPr>
              <a:t>Follow-up:</a:t>
            </a:r>
            <a:endParaRPr lang="en-US" sz="1100" dirty="0"/>
          </a:p>
          <a:p>
            <a:pPr marL="0" indent="0">
              <a:lnSpc>
                <a:spcPct val="125000"/>
              </a:lnSpc>
              <a:buNone/>
            </a:pPr>
            <a:r>
              <a:rPr lang="en-US" sz="1100" dirty="0">
                <a:solidFill>
                  <a:srgbClr val="E7EEF3"/>
                </a:solidFill>
                <a:latin typeface="Courier New" pitchFamily="34" charset="0"/>
                <a:ea typeface="Courier New" pitchFamily="34" charset="-122"/>
                <a:cs typeface="Courier New" pitchFamily="34" charset="-120"/>
              </a:rPr>
              <a:t>"This is good, but too long for a handout. Cut it to 100 words and remove the second example."</a:t>
            </a:r>
            <a:endParaRPr lang="en-US" sz="1100" dirty="0"/>
          </a:p>
          <a:p>
            <a:pPr marL="0" indent="0">
              <a:lnSpc>
                <a:spcPct val="125000"/>
              </a:lnSpc>
              <a:buNone/>
            </a:pPr>
            <a:endParaRPr lang="en-US" sz="1100" dirty="0"/>
          </a:p>
          <a:p>
            <a:pPr marL="0" indent="0">
              <a:lnSpc>
                <a:spcPct val="125000"/>
              </a:lnSpc>
              <a:buNone/>
            </a:pPr>
            <a:r>
              <a:rPr lang="en-US" sz="1100" dirty="0">
                <a:solidFill>
                  <a:srgbClr val="E7EEF3"/>
                </a:solidFill>
                <a:latin typeface="Courier New" pitchFamily="34" charset="0"/>
                <a:ea typeface="Courier New" pitchFamily="34" charset="-122"/>
                <a:cs typeface="Courier New" pitchFamily="34" charset="-120"/>
              </a:rPr>
              <a:t>Faster than rewriting the original prompt from scratch.</a:t>
            </a:r>
            <a:endParaRPr lang="en-US" sz="1100" dirty="0"/>
          </a:p>
        </p:txBody>
      </p:sp>
      <p:sp>
        <p:nvSpPr>
          <p:cNvPr id="15" name="Text 12"/>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Refining Your Prompts</a:t>
            </a:r>
            <a:endParaRPr lang="en-US" sz="950" dirty="0"/>
          </a:p>
        </p:txBody>
      </p:sp>
      <p:sp>
        <p:nvSpPr>
          <p:cNvPr id="16" name="Text 13"/>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41</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4 · REFINING YOUR PROMPTS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Case Study 1: Fixing a Vague Response</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350" i="1" dirty="0">
                <a:solidFill>
                  <a:srgbClr val="8A94A0"/>
                </a:solidFill>
                <a:latin typeface="Calibri" pitchFamily="34" charset="0"/>
                <a:ea typeface="Calibri" pitchFamily="34" charset="-122"/>
                <a:cs typeface="Calibri" pitchFamily="34" charset="-120"/>
              </a:rPr>
              <a:t>Diagnosis: the first prompt was missing context and a format.</a:t>
            </a:r>
            <a:endParaRPr lang="en-US" sz="1350" dirty="0"/>
          </a:p>
        </p:txBody>
      </p:sp>
      <p:sp>
        <p:nvSpPr>
          <p:cNvPr id="5" name="Shape 3"/>
          <p:cNvSpPr/>
          <p:nvPr/>
        </p:nvSpPr>
        <p:spPr>
          <a:xfrm>
            <a:off x="548640" y="1965960"/>
            <a:ext cx="5385816"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6" name="Shape 4"/>
          <p:cNvSpPr/>
          <p:nvPr/>
        </p:nvSpPr>
        <p:spPr>
          <a:xfrm>
            <a:off x="822960" y="2221992"/>
            <a:ext cx="4837176" cy="502920"/>
          </a:xfrm>
          <a:prstGeom prst="roundRect">
            <a:avLst>
              <a:gd name="adj" fmla="val 10909"/>
            </a:avLst>
          </a:prstGeom>
          <a:solidFill>
            <a:srgbClr val="FBEAE9"/>
          </a:solidFill>
          <a:ln/>
        </p:spPr>
      </p:sp>
      <p:pic>
        <p:nvPicPr>
          <p:cNvPr id="7" name="Image 0" descr="icons/times.png"/>
          <p:cNvPicPr>
            <a:picLocks noChangeAspect="1"/>
          </p:cNvPicPr>
          <p:nvPr/>
        </p:nvPicPr>
        <p:blipFill>
          <a:blip r:embed="rId3"/>
          <a:stretch>
            <a:fillRect/>
          </a:stretch>
        </p:blipFill>
        <p:spPr>
          <a:xfrm>
            <a:off x="960120" y="2350008"/>
            <a:ext cx="256032" cy="256032"/>
          </a:xfrm>
          <a:prstGeom prst="rect">
            <a:avLst/>
          </a:prstGeom>
        </p:spPr>
      </p:pic>
      <p:sp>
        <p:nvSpPr>
          <p:cNvPr id="8" name="Text 5"/>
          <p:cNvSpPr txBox="1"/>
          <p:nvPr/>
        </p:nvSpPr>
        <p:spPr>
          <a:xfrm>
            <a:off x="1325880" y="2221992"/>
            <a:ext cx="4288536" cy="502920"/>
          </a:xfrm>
          <a:prstGeom prst="rect">
            <a:avLst/>
          </a:prstGeom>
          <a:noFill/>
          <a:ln/>
        </p:spPr>
        <p:txBody>
          <a:bodyPr wrap="square" lIns="0" tIns="0" rIns="0" bIns="0" rtlCol="0" anchor="ctr"/>
          <a:lstStyle/>
          <a:p>
            <a:pPr marL="0" indent="0">
              <a:buNone/>
            </a:pPr>
            <a:r>
              <a:rPr lang="en-US" sz="1400" b="1" dirty="0">
                <a:solidFill>
                  <a:srgbClr val="B3261E"/>
                </a:solidFill>
                <a:latin typeface="Calibri" pitchFamily="34" charset="0"/>
                <a:ea typeface="Calibri" pitchFamily="34" charset="-122"/>
                <a:cs typeface="Calibri" pitchFamily="34" charset="-120"/>
              </a:rPr>
              <a:t>Original Prompt</a:t>
            </a:r>
            <a:endParaRPr lang="en-US" sz="1400" dirty="0"/>
          </a:p>
        </p:txBody>
      </p:sp>
      <p:sp>
        <p:nvSpPr>
          <p:cNvPr id="9" name="Shape 6"/>
          <p:cNvSpPr/>
          <p:nvPr/>
        </p:nvSpPr>
        <p:spPr>
          <a:xfrm>
            <a:off x="822960" y="2880360"/>
            <a:ext cx="4837176" cy="1143000"/>
          </a:xfrm>
          <a:prstGeom prst="roundRect">
            <a:avLst>
              <a:gd name="adj" fmla="val 4800"/>
            </a:avLst>
          </a:prstGeom>
          <a:solidFill>
            <a:srgbClr val="F7F8F9"/>
          </a:solidFill>
          <a:ln w="12700">
            <a:solidFill>
              <a:srgbClr val="E2E6EA"/>
            </a:solidFill>
            <a:prstDash val="solid"/>
          </a:ln>
        </p:spPr>
      </p:sp>
      <p:sp>
        <p:nvSpPr>
          <p:cNvPr id="10" name="Text 7"/>
          <p:cNvSpPr txBox="1"/>
          <p:nvPr/>
        </p:nvSpPr>
        <p:spPr>
          <a:xfrm>
            <a:off x="960120" y="2971800"/>
            <a:ext cx="4562856" cy="960120"/>
          </a:xfrm>
          <a:prstGeom prst="rect">
            <a:avLst/>
          </a:prstGeom>
          <a:noFill/>
          <a:ln/>
        </p:spPr>
        <p:txBody>
          <a:bodyPr wrap="square" lIns="0" tIns="0" rIns="0" bIns="0" rtlCol="0" anchor="t"/>
          <a:lstStyle/>
          <a:p>
            <a:pPr marL="0" indent="0">
              <a:lnSpc>
                <a:spcPct val="120000"/>
              </a:lnSpc>
              <a:buNone/>
            </a:pPr>
            <a:r>
              <a:rPr lang="en-US" sz="1150" dirty="0">
                <a:solidFill>
                  <a:srgbClr val="1B2A4A"/>
                </a:solidFill>
                <a:latin typeface="Courier New" pitchFamily="34" charset="0"/>
                <a:ea typeface="Courier New" pitchFamily="34" charset="-122"/>
                <a:cs typeface="Courier New" pitchFamily="34" charset="-120"/>
              </a:rPr>
              <a:t>"Explain machine learning."</a:t>
            </a:r>
            <a:endParaRPr lang="en-US" sz="1150" dirty="0"/>
          </a:p>
        </p:txBody>
      </p:sp>
      <p:sp>
        <p:nvSpPr>
          <p:cNvPr id="11" name="Text 8"/>
          <p:cNvSpPr txBox="1"/>
          <p:nvPr/>
        </p:nvSpPr>
        <p:spPr>
          <a:xfrm>
            <a:off x="822960" y="4206240"/>
            <a:ext cx="4837176" cy="256032"/>
          </a:xfrm>
          <a:prstGeom prst="rect">
            <a:avLst/>
          </a:prstGeom>
          <a:noFill/>
          <a:ln/>
        </p:spPr>
        <p:txBody>
          <a:bodyPr wrap="square" lIns="0" tIns="0" rIns="0" bIns="0" rtlCol="0" anchor="ctr"/>
          <a:lstStyle/>
          <a:p>
            <a:pPr marL="0" indent="0">
              <a:buNone/>
            </a:pPr>
            <a:r>
              <a:rPr lang="en-US" sz="1050" b="1" kern="0" spc="140" dirty="0">
                <a:solidFill>
                  <a:srgbClr val="B3261E"/>
                </a:solidFill>
                <a:latin typeface="Calibri" pitchFamily="34" charset="0"/>
                <a:ea typeface="Calibri" pitchFamily="34" charset="-122"/>
                <a:cs typeface="Calibri" pitchFamily="34" charset="-120"/>
              </a:rPr>
              <a:t>WHAT GOES WRONG</a:t>
            </a:r>
            <a:endParaRPr lang="en-US" sz="1050" dirty="0"/>
          </a:p>
        </p:txBody>
      </p:sp>
      <p:sp>
        <p:nvSpPr>
          <p:cNvPr id="12" name="Text 9"/>
          <p:cNvSpPr txBox="1"/>
          <p:nvPr/>
        </p:nvSpPr>
        <p:spPr>
          <a:xfrm>
            <a:off x="822960" y="4507992"/>
            <a:ext cx="4837176" cy="14630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Resulting answer was generic and far too long</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No audience specified — pitched at no one in particular</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No length or format given, so it rambled</a:t>
            </a:r>
            <a:endParaRPr lang="en-US" sz="1150" dirty="0"/>
          </a:p>
        </p:txBody>
      </p:sp>
      <p:sp>
        <p:nvSpPr>
          <p:cNvPr id="13" name="Shape 10"/>
          <p:cNvSpPr/>
          <p:nvPr/>
        </p:nvSpPr>
        <p:spPr>
          <a:xfrm>
            <a:off x="6254496" y="1965960"/>
            <a:ext cx="5385816"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4" name="Shape 11"/>
          <p:cNvSpPr/>
          <p:nvPr/>
        </p:nvSpPr>
        <p:spPr>
          <a:xfrm>
            <a:off x="6528816" y="2221992"/>
            <a:ext cx="4837176" cy="502920"/>
          </a:xfrm>
          <a:prstGeom prst="roundRect">
            <a:avLst>
              <a:gd name="adj" fmla="val 10909"/>
            </a:avLst>
          </a:prstGeom>
          <a:solidFill>
            <a:srgbClr val="E7F3E8"/>
          </a:solidFill>
          <a:ln/>
        </p:spPr>
      </p:sp>
      <p:pic>
        <p:nvPicPr>
          <p:cNvPr id="15" name="Image 1" descr="icons/check.png"/>
          <p:cNvPicPr>
            <a:picLocks noChangeAspect="1"/>
          </p:cNvPicPr>
          <p:nvPr/>
        </p:nvPicPr>
        <p:blipFill>
          <a:blip r:embed="rId4"/>
          <a:stretch>
            <a:fillRect/>
          </a:stretch>
        </p:blipFill>
        <p:spPr>
          <a:xfrm>
            <a:off x="6665976" y="2350008"/>
            <a:ext cx="256032" cy="256032"/>
          </a:xfrm>
          <a:prstGeom prst="rect">
            <a:avLst/>
          </a:prstGeom>
        </p:spPr>
      </p:pic>
      <p:sp>
        <p:nvSpPr>
          <p:cNvPr id="16" name="Text 12"/>
          <p:cNvSpPr txBox="1"/>
          <p:nvPr/>
        </p:nvSpPr>
        <p:spPr>
          <a:xfrm>
            <a:off x="7031736" y="2221992"/>
            <a:ext cx="4288536" cy="502920"/>
          </a:xfrm>
          <a:prstGeom prst="rect">
            <a:avLst/>
          </a:prstGeom>
          <a:noFill/>
          <a:ln/>
        </p:spPr>
        <p:txBody>
          <a:bodyPr wrap="square" lIns="0" tIns="0" rIns="0" bIns="0" rtlCol="0" anchor="ctr"/>
          <a:lstStyle/>
          <a:p>
            <a:pPr marL="0" indent="0">
              <a:buNone/>
            </a:pPr>
            <a:r>
              <a:rPr lang="en-US" sz="1400" b="1" dirty="0">
                <a:solidFill>
                  <a:srgbClr val="2E7D32"/>
                </a:solidFill>
                <a:latin typeface="Calibri" pitchFamily="34" charset="0"/>
                <a:ea typeface="Calibri" pitchFamily="34" charset="-122"/>
                <a:cs typeface="Calibri" pitchFamily="34" charset="-120"/>
              </a:rPr>
              <a:t>Refined Prompt</a:t>
            </a:r>
            <a:endParaRPr lang="en-US" sz="1400" dirty="0"/>
          </a:p>
        </p:txBody>
      </p:sp>
      <p:sp>
        <p:nvSpPr>
          <p:cNvPr id="17" name="Shape 13"/>
          <p:cNvSpPr/>
          <p:nvPr/>
        </p:nvSpPr>
        <p:spPr>
          <a:xfrm>
            <a:off x="6528816" y="2880360"/>
            <a:ext cx="4837176" cy="1417320"/>
          </a:xfrm>
          <a:prstGeom prst="roundRect">
            <a:avLst>
              <a:gd name="adj" fmla="val 3871"/>
            </a:avLst>
          </a:prstGeom>
          <a:solidFill>
            <a:srgbClr val="F7F8F9"/>
          </a:solidFill>
          <a:ln w="12700">
            <a:solidFill>
              <a:srgbClr val="E2E6EA"/>
            </a:solidFill>
            <a:prstDash val="solid"/>
          </a:ln>
        </p:spPr>
      </p:sp>
      <p:sp>
        <p:nvSpPr>
          <p:cNvPr id="18" name="Text 14"/>
          <p:cNvSpPr txBox="1"/>
          <p:nvPr/>
        </p:nvSpPr>
        <p:spPr>
          <a:xfrm>
            <a:off x="6665976" y="2971800"/>
            <a:ext cx="4562856" cy="1234440"/>
          </a:xfrm>
          <a:prstGeom prst="rect">
            <a:avLst/>
          </a:prstGeom>
          <a:noFill/>
          <a:ln/>
        </p:spPr>
        <p:txBody>
          <a:bodyPr wrap="square" lIns="0" tIns="0" rIns="0" bIns="0" rtlCol="0" anchor="t"/>
          <a:lstStyle/>
          <a:p>
            <a:pPr marL="0" indent="0">
              <a:lnSpc>
                <a:spcPct val="120000"/>
              </a:lnSpc>
              <a:buNone/>
            </a:pPr>
            <a:r>
              <a:rPr lang="en-US" sz="1100" dirty="0">
                <a:solidFill>
                  <a:srgbClr val="1B2A4A"/>
                </a:solidFill>
                <a:latin typeface="Courier New" pitchFamily="34" charset="0"/>
                <a:ea typeface="Courier New" pitchFamily="34" charset="-122"/>
                <a:cs typeface="Courier New" pitchFamily="34" charset="-120"/>
              </a:rPr>
              <a:t>"Explain machine learning to a first-year humanities student with no technical background, in exactly 3 sentences, using one everyday analogy."</a:t>
            </a:r>
            <a:endParaRPr lang="en-US" sz="1100" dirty="0"/>
          </a:p>
        </p:txBody>
      </p:sp>
      <p:sp>
        <p:nvSpPr>
          <p:cNvPr id="19" name="Text 15"/>
          <p:cNvSpPr txBox="1"/>
          <p:nvPr/>
        </p:nvSpPr>
        <p:spPr>
          <a:xfrm>
            <a:off x="6528816" y="4480560"/>
            <a:ext cx="4837176" cy="256032"/>
          </a:xfrm>
          <a:prstGeom prst="rect">
            <a:avLst/>
          </a:prstGeom>
          <a:noFill/>
          <a:ln/>
        </p:spPr>
        <p:txBody>
          <a:bodyPr wrap="square" lIns="0" tIns="0" rIns="0" bIns="0" rtlCol="0" anchor="ctr"/>
          <a:lstStyle/>
          <a:p>
            <a:pPr marL="0" indent="0">
              <a:buNone/>
            </a:pPr>
            <a:r>
              <a:rPr lang="en-US" sz="1050" b="1" kern="0" spc="140" dirty="0">
                <a:solidFill>
                  <a:srgbClr val="2E7D32"/>
                </a:solidFill>
                <a:latin typeface="Calibri" pitchFamily="34" charset="0"/>
                <a:ea typeface="Calibri" pitchFamily="34" charset="-122"/>
                <a:cs typeface="Calibri" pitchFamily="34" charset="-120"/>
              </a:rPr>
              <a:t>WHY IT WORKS BETTER</a:t>
            </a:r>
            <a:endParaRPr lang="en-US" sz="1050" dirty="0"/>
          </a:p>
        </p:txBody>
      </p:sp>
      <p:sp>
        <p:nvSpPr>
          <p:cNvPr id="20" name="Text 16"/>
          <p:cNvSpPr txBox="1"/>
          <p:nvPr/>
        </p:nvSpPr>
        <p:spPr>
          <a:xfrm>
            <a:off x="6528816" y="4782312"/>
            <a:ext cx="4837176" cy="1188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Audience and background level now specified</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Length constraint forces a tight, focused answer</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Requesting an analogy improves accessibility directly</a:t>
            </a:r>
            <a:endParaRPr lang="en-US" sz="1150" dirty="0"/>
          </a:p>
        </p:txBody>
      </p:sp>
      <p:sp>
        <p:nvSpPr>
          <p:cNvPr id="21" name="Text 17"/>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Refining Your Prompts</a:t>
            </a:r>
            <a:endParaRPr lang="en-US" sz="950" dirty="0"/>
          </a:p>
        </p:txBody>
      </p:sp>
      <p:sp>
        <p:nvSpPr>
          <p:cNvPr id="22" name="Text 18"/>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42</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4 · REFINING YOUR PROMPTS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Case Study 2: Fixing an Off-Topic Response</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350" i="1" dirty="0">
                <a:solidFill>
                  <a:srgbClr val="8A94A0"/>
                </a:solidFill>
                <a:latin typeface="Calibri" pitchFamily="34" charset="0"/>
                <a:ea typeface="Calibri" pitchFamily="34" charset="-122"/>
                <a:cs typeface="Calibri" pitchFamily="34" charset="-120"/>
              </a:rPr>
              <a:t>Diagnosis: the first prompt bundled too many instructions together.</a:t>
            </a:r>
            <a:endParaRPr lang="en-US" sz="1350" dirty="0"/>
          </a:p>
        </p:txBody>
      </p:sp>
      <p:sp>
        <p:nvSpPr>
          <p:cNvPr id="5" name="Shape 3"/>
          <p:cNvSpPr/>
          <p:nvPr/>
        </p:nvSpPr>
        <p:spPr>
          <a:xfrm>
            <a:off x="548640" y="1965960"/>
            <a:ext cx="5385816"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6" name="Shape 4"/>
          <p:cNvSpPr/>
          <p:nvPr/>
        </p:nvSpPr>
        <p:spPr>
          <a:xfrm>
            <a:off x="822960" y="2221992"/>
            <a:ext cx="4837176" cy="502920"/>
          </a:xfrm>
          <a:prstGeom prst="roundRect">
            <a:avLst>
              <a:gd name="adj" fmla="val 10909"/>
            </a:avLst>
          </a:prstGeom>
          <a:solidFill>
            <a:srgbClr val="FBEAE9"/>
          </a:solidFill>
          <a:ln/>
        </p:spPr>
      </p:sp>
      <p:pic>
        <p:nvPicPr>
          <p:cNvPr id="7" name="Image 0" descr="icons/times.png"/>
          <p:cNvPicPr>
            <a:picLocks noChangeAspect="1"/>
          </p:cNvPicPr>
          <p:nvPr/>
        </p:nvPicPr>
        <p:blipFill>
          <a:blip r:embed="rId3"/>
          <a:stretch>
            <a:fillRect/>
          </a:stretch>
        </p:blipFill>
        <p:spPr>
          <a:xfrm>
            <a:off x="960120" y="2350008"/>
            <a:ext cx="256032" cy="256032"/>
          </a:xfrm>
          <a:prstGeom prst="rect">
            <a:avLst/>
          </a:prstGeom>
        </p:spPr>
      </p:pic>
      <p:sp>
        <p:nvSpPr>
          <p:cNvPr id="8" name="Text 5"/>
          <p:cNvSpPr txBox="1"/>
          <p:nvPr/>
        </p:nvSpPr>
        <p:spPr>
          <a:xfrm>
            <a:off x="1325880" y="2221992"/>
            <a:ext cx="4288536" cy="502920"/>
          </a:xfrm>
          <a:prstGeom prst="rect">
            <a:avLst/>
          </a:prstGeom>
          <a:noFill/>
          <a:ln/>
        </p:spPr>
        <p:txBody>
          <a:bodyPr wrap="square" lIns="0" tIns="0" rIns="0" bIns="0" rtlCol="0" anchor="ctr"/>
          <a:lstStyle/>
          <a:p>
            <a:pPr marL="0" indent="0">
              <a:buNone/>
            </a:pPr>
            <a:r>
              <a:rPr lang="en-US" sz="1400" b="1" dirty="0">
                <a:solidFill>
                  <a:srgbClr val="B3261E"/>
                </a:solidFill>
                <a:latin typeface="Calibri" pitchFamily="34" charset="0"/>
                <a:ea typeface="Calibri" pitchFamily="34" charset="-122"/>
                <a:cs typeface="Calibri" pitchFamily="34" charset="-120"/>
              </a:rPr>
              <a:t>Original Prompt</a:t>
            </a:r>
            <a:endParaRPr lang="en-US" sz="1400" dirty="0"/>
          </a:p>
        </p:txBody>
      </p:sp>
      <p:sp>
        <p:nvSpPr>
          <p:cNvPr id="9" name="Shape 6"/>
          <p:cNvSpPr/>
          <p:nvPr/>
        </p:nvSpPr>
        <p:spPr>
          <a:xfrm>
            <a:off x="822960" y="2880360"/>
            <a:ext cx="4837176" cy="1143000"/>
          </a:xfrm>
          <a:prstGeom prst="roundRect">
            <a:avLst>
              <a:gd name="adj" fmla="val 4800"/>
            </a:avLst>
          </a:prstGeom>
          <a:solidFill>
            <a:srgbClr val="F7F8F9"/>
          </a:solidFill>
          <a:ln w="12700">
            <a:solidFill>
              <a:srgbClr val="E2E6EA"/>
            </a:solidFill>
            <a:prstDash val="solid"/>
          </a:ln>
        </p:spPr>
      </p:sp>
      <p:sp>
        <p:nvSpPr>
          <p:cNvPr id="10" name="Text 7"/>
          <p:cNvSpPr txBox="1"/>
          <p:nvPr/>
        </p:nvSpPr>
        <p:spPr>
          <a:xfrm>
            <a:off x="960120" y="2971800"/>
            <a:ext cx="4562856" cy="960120"/>
          </a:xfrm>
          <a:prstGeom prst="rect">
            <a:avLst/>
          </a:prstGeom>
          <a:noFill/>
          <a:ln/>
        </p:spPr>
        <p:txBody>
          <a:bodyPr wrap="square" lIns="0" tIns="0" rIns="0" bIns="0" rtlCol="0" anchor="t"/>
          <a:lstStyle/>
          <a:p>
            <a:pPr marL="0" indent="0">
              <a:lnSpc>
                <a:spcPct val="120000"/>
              </a:lnSpc>
              <a:buNone/>
            </a:pPr>
            <a:r>
              <a:rPr lang="en-US" sz="1150" dirty="0">
                <a:solidFill>
                  <a:srgbClr val="1B2A4A"/>
                </a:solidFill>
                <a:latin typeface="Courier New" pitchFamily="34" charset="0"/>
                <a:ea typeface="Courier New" pitchFamily="34" charset="-122"/>
                <a:cs typeface="Courier New" pitchFamily="34" charset="-120"/>
              </a:rPr>
              <a:t>"Help me with my research paper on urban heat islands — background, methodology ideas, and also suggest a title."</a:t>
            </a:r>
            <a:endParaRPr lang="en-US" sz="1150" dirty="0"/>
          </a:p>
        </p:txBody>
      </p:sp>
      <p:sp>
        <p:nvSpPr>
          <p:cNvPr id="11" name="Text 8"/>
          <p:cNvSpPr txBox="1"/>
          <p:nvPr/>
        </p:nvSpPr>
        <p:spPr>
          <a:xfrm>
            <a:off x="822960" y="4206240"/>
            <a:ext cx="4837176" cy="256032"/>
          </a:xfrm>
          <a:prstGeom prst="rect">
            <a:avLst/>
          </a:prstGeom>
          <a:noFill/>
          <a:ln/>
        </p:spPr>
        <p:txBody>
          <a:bodyPr wrap="square" lIns="0" tIns="0" rIns="0" bIns="0" rtlCol="0" anchor="ctr"/>
          <a:lstStyle/>
          <a:p>
            <a:pPr marL="0" indent="0">
              <a:buNone/>
            </a:pPr>
            <a:r>
              <a:rPr lang="en-US" sz="1050" b="1" kern="0" spc="140" dirty="0">
                <a:solidFill>
                  <a:srgbClr val="B3261E"/>
                </a:solidFill>
                <a:latin typeface="Calibri" pitchFamily="34" charset="0"/>
                <a:ea typeface="Calibri" pitchFamily="34" charset="-122"/>
                <a:cs typeface="Calibri" pitchFamily="34" charset="-120"/>
              </a:rPr>
              <a:t>WHAT GOES WRONG</a:t>
            </a:r>
            <a:endParaRPr lang="en-US" sz="1050" dirty="0"/>
          </a:p>
        </p:txBody>
      </p:sp>
      <p:sp>
        <p:nvSpPr>
          <p:cNvPr id="12" name="Text 9"/>
          <p:cNvSpPr txBox="1"/>
          <p:nvPr/>
        </p:nvSpPr>
        <p:spPr>
          <a:xfrm>
            <a:off x="822960" y="4507992"/>
            <a:ext cx="4837176" cy="14630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Three different tasks bundled into one request</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Response partially addressed each, fully answering none</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Hard to tell which part of the answer addressed what</a:t>
            </a:r>
            <a:endParaRPr lang="en-US" sz="1150" dirty="0"/>
          </a:p>
        </p:txBody>
      </p:sp>
      <p:sp>
        <p:nvSpPr>
          <p:cNvPr id="13" name="Shape 10"/>
          <p:cNvSpPr/>
          <p:nvPr/>
        </p:nvSpPr>
        <p:spPr>
          <a:xfrm>
            <a:off x="6254496" y="1965960"/>
            <a:ext cx="5385816"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4" name="Shape 11"/>
          <p:cNvSpPr/>
          <p:nvPr/>
        </p:nvSpPr>
        <p:spPr>
          <a:xfrm>
            <a:off x="6528816" y="2221992"/>
            <a:ext cx="4837176" cy="502920"/>
          </a:xfrm>
          <a:prstGeom prst="roundRect">
            <a:avLst>
              <a:gd name="adj" fmla="val 10909"/>
            </a:avLst>
          </a:prstGeom>
          <a:solidFill>
            <a:srgbClr val="E7F3E8"/>
          </a:solidFill>
          <a:ln/>
        </p:spPr>
      </p:sp>
      <p:pic>
        <p:nvPicPr>
          <p:cNvPr id="15" name="Image 1" descr="icons/check.png"/>
          <p:cNvPicPr>
            <a:picLocks noChangeAspect="1"/>
          </p:cNvPicPr>
          <p:nvPr/>
        </p:nvPicPr>
        <p:blipFill>
          <a:blip r:embed="rId4"/>
          <a:stretch>
            <a:fillRect/>
          </a:stretch>
        </p:blipFill>
        <p:spPr>
          <a:xfrm>
            <a:off x="6665976" y="2350008"/>
            <a:ext cx="256032" cy="256032"/>
          </a:xfrm>
          <a:prstGeom prst="rect">
            <a:avLst/>
          </a:prstGeom>
        </p:spPr>
      </p:pic>
      <p:sp>
        <p:nvSpPr>
          <p:cNvPr id="16" name="Text 12"/>
          <p:cNvSpPr txBox="1"/>
          <p:nvPr/>
        </p:nvSpPr>
        <p:spPr>
          <a:xfrm>
            <a:off x="7031736" y="2221992"/>
            <a:ext cx="4288536" cy="502920"/>
          </a:xfrm>
          <a:prstGeom prst="rect">
            <a:avLst/>
          </a:prstGeom>
          <a:noFill/>
          <a:ln/>
        </p:spPr>
        <p:txBody>
          <a:bodyPr wrap="square" lIns="0" tIns="0" rIns="0" bIns="0" rtlCol="0" anchor="ctr"/>
          <a:lstStyle/>
          <a:p>
            <a:pPr marL="0" indent="0">
              <a:buNone/>
            </a:pPr>
            <a:r>
              <a:rPr lang="en-US" sz="1400" b="1" dirty="0">
                <a:solidFill>
                  <a:srgbClr val="2E7D32"/>
                </a:solidFill>
                <a:latin typeface="Calibri" pitchFamily="34" charset="0"/>
                <a:ea typeface="Calibri" pitchFamily="34" charset="-122"/>
                <a:cs typeface="Calibri" pitchFamily="34" charset="-120"/>
              </a:rPr>
              <a:t>Refined Prompt (Decomposed)</a:t>
            </a:r>
            <a:endParaRPr lang="en-US" sz="1400" dirty="0"/>
          </a:p>
        </p:txBody>
      </p:sp>
      <p:sp>
        <p:nvSpPr>
          <p:cNvPr id="17" name="Shape 13"/>
          <p:cNvSpPr/>
          <p:nvPr/>
        </p:nvSpPr>
        <p:spPr>
          <a:xfrm>
            <a:off x="6528816" y="2880360"/>
            <a:ext cx="4837176" cy="1417320"/>
          </a:xfrm>
          <a:prstGeom prst="roundRect">
            <a:avLst>
              <a:gd name="adj" fmla="val 3871"/>
            </a:avLst>
          </a:prstGeom>
          <a:solidFill>
            <a:srgbClr val="F7F8F9"/>
          </a:solidFill>
          <a:ln w="12700">
            <a:solidFill>
              <a:srgbClr val="E2E6EA"/>
            </a:solidFill>
            <a:prstDash val="solid"/>
          </a:ln>
        </p:spPr>
      </p:sp>
      <p:sp>
        <p:nvSpPr>
          <p:cNvPr id="18" name="Text 14"/>
          <p:cNvSpPr txBox="1"/>
          <p:nvPr/>
        </p:nvSpPr>
        <p:spPr>
          <a:xfrm>
            <a:off x="6665976" y="2971800"/>
            <a:ext cx="4562856" cy="1234440"/>
          </a:xfrm>
          <a:prstGeom prst="rect">
            <a:avLst/>
          </a:prstGeom>
          <a:noFill/>
          <a:ln/>
        </p:spPr>
        <p:txBody>
          <a:bodyPr wrap="square" lIns="0" tIns="0" rIns="0" bIns="0" rtlCol="0" anchor="t"/>
          <a:lstStyle/>
          <a:p>
            <a:pPr marL="0" indent="0">
              <a:lnSpc>
                <a:spcPct val="120000"/>
              </a:lnSpc>
              <a:buNone/>
            </a:pPr>
            <a:r>
              <a:rPr lang="en-US" sz="1100" dirty="0">
                <a:solidFill>
                  <a:srgbClr val="1B2A4A"/>
                </a:solidFill>
                <a:latin typeface="Courier New" pitchFamily="34" charset="0"/>
                <a:ea typeface="Courier New" pitchFamily="34" charset="-122"/>
                <a:cs typeface="Courier New" pitchFamily="34" charset="-120"/>
              </a:rPr>
              <a:t>"First, just give me 3 possible working titles for a paper on urban heat islands in mid-sized cities. I will ask about methodology separately."</a:t>
            </a:r>
            <a:endParaRPr lang="en-US" sz="1100" dirty="0"/>
          </a:p>
        </p:txBody>
      </p:sp>
      <p:sp>
        <p:nvSpPr>
          <p:cNvPr id="19" name="Text 15"/>
          <p:cNvSpPr txBox="1"/>
          <p:nvPr/>
        </p:nvSpPr>
        <p:spPr>
          <a:xfrm>
            <a:off x="6528816" y="4480560"/>
            <a:ext cx="4837176" cy="256032"/>
          </a:xfrm>
          <a:prstGeom prst="rect">
            <a:avLst/>
          </a:prstGeom>
          <a:noFill/>
          <a:ln/>
        </p:spPr>
        <p:txBody>
          <a:bodyPr wrap="square" lIns="0" tIns="0" rIns="0" bIns="0" rtlCol="0" anchor="ctr"/>
          <a:lstStyle/>
          <a:p>
            <a:pPr marL="0" indent="0">
              <a:buNone/>
            </a:pPr>
            <a:r>
              <a:rPr lang="en-US" sz="1050" b="1" kern="0" spc="140" dirty="0">
                <a:solidFill>
                  <a:srgbClr val="2E7D32"/>
                </a:solidFill>
                <a:latin typeface="Calibri" pitchFamily="34" charset="0"/>
                <a:ea typeface="Calibri" pitchFamily="34" charset="-122"/>
                <a:cs typeface="Calibri" pitchFamily="34" charset="-120"/>
              </a:rPr>
              <a:t>WHY IT WORKS BETTER</a:t>
            </a:r>
            <a:endParaRPr lang="en-US" sz="1050" dirty="0"/>
          </a:p>
        </p:txBody>
      </p:sp>
      <p:sp>
        <p:nvSpPr>
          <p:cNvPr id="20" name="Text 16"/>
          <p:cNvSpPr txBox="1"/>
          <p:nvPr/>
        </p:nvSpPr>
        <p:spPr>
          <a:xfrm>
            <a:off x="6528816" y="4782312"/>
            <a:ext cx="4837176" cy="11887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One task per prompt — easier to evaluate and iterate on</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Follow-up prompts can tackle background and methods next</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Matches the problem-decomposition technique from Part 2</a:t>
            </a:r>
            <a:endParaRPr lang="en-US" sz="1150" dirty="0"/>
          </a:p>
        </p:txBody>
      </p:sp>
      <p:sp>
        <p:nvSpPr>
          <p:cNvPr id="21" name="Text 17"/>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Refining Your Prompts</a:t>
            </a:r>
            <a:endParaRPr lang="en-US" sz="950" dirty="0"/>
          </a:p>
        </p:txBody>
      </p:sp>
      <p:sp>
        <p:nvSpPr>
          <p:cNvPr id="22" name="Text 18"/>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43</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4 · REFINING YOUR PROMPTS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Refinement Checklist</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00" i="1" dirty="0">
                <a:solidFill>
                  <a:srgbClr val="8A94A0"/>
                </a:solidFill>
                <a:latin typeface="Calibri" pitchFamily="34" charset="0"/>
                <a:ea typeface="Calibri" pitchFamily="34" charset="-122"/>
                <a:cs typeface="Calibri" pitchFamily="34" charset="-120"/>
              </a:rPr>
              <a:t>Work through this when a response disappoints you.</a:t>
            </a:r>
            <a:endParaRPr lang="en-US" sz="1400" dirty="0"/>
          </a:p>
        </p:txBody>
      </p:sp>
      <p:sp>
        <p:nvSpPr>
          <p:cNvPr id="5" name="Shape 3"/>
          <p:cNvSpPr/>
          <p:nvPr/>
        </p:nvSpPr>
        <p:spPr>
          <a:xfrm>
            <a:off x="548640" y="2011680"/>
            <a:ext cx="10195560" cy="944118"/>
          </a:xfrm>
          <a:prstGeom prst="roundRect">
            <a:avLst>
              <a:gd name="adj" fmla="val 8717"/>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6" name="Shape 4"/>
          <p:cNvSpPr/>
          <p:nvPr/>
        </p:nvSpPr>
        <p:spPr>
          <a:xfrm>
            <a:off x="841248" y="2227707"/>
            <a:ext cx="512064" cy="512064"/>
          </a:xfrm>
          <a:prstGeom prst="ellipse">
            <a:avLst/>
          </a:prstGeom>
          <a:solidFill>
            <a:srgbClr val="1C7293"/>
          </a:solidFill>
          <a:ln/>
        </p:spPr>
      </p:sp>
      <p:sp>
        <p:nvSpPr>
          <p:cNvPr id="7" name="Text 5"/>
          <p:cNvSpPr txBox="1"/>
          <p:nvPr/>
        </p:nvSpPr>
        <p:spPr>
          <a:xfrm>
            <a:off x="841248" y="2227707"/>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txBox="1"/>
          <p:nvPr/>
        </p:nvSpPr>
        <p:spPr>
          <a:xfrm>
            <a:off x="1600200" y="2121408"/>
            <a:ext cx="4023360" cy="724662"/>
          </a:xfrm>
          <a:prstGeom prst="rect">
            <a:avLst/>
          </a:prstGeom>
          <a:noFill/>
          <a:ln/>
        </p:spPr>
        <p:txBody>
          <a:bodyPr wrap="square" lIns="0" tIns="0" rIns="0" bIns="0"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Name the specific problem</a:t>
            </a:r>
            <a:endParaRPr lang="en-US" sz="1450" dirty="0"/>
          </a:p>
        </p:txBody>
      </p:sp>
      <p:sp>
        <p:nvSpPr>
          <p:cNvPr id="9" name="Text 7"/>
          <p:cNvSpPr txBox="1"/>
          <p:nvPr/>
        </p:nvSpPr>
        <p:spPr>
          <a:xfrm>
            <a:off x="5715000" y="2103120"/>
            <a:ext cx="4892040" cy="761238"/>
          </a:xfrm>
          <a:prstGeom prst="rect">
            <a:avLst/>
          </a:prstGeom>
          <a:noFill/>
          <a:ln/>
        </p:spPr>
        <p:txBody>
          <a:bodyPr wrap="square" lIns="0" tIns="0" rIns="0" bIns="0" rtlCol="0" anchor="ctr"/>
          <a:lstStyle/>
          <a:p>
            <a:pPr marL="0" indent="0">
              <a:lnSpc>
                <a:spcPct val="115000"/>
              </a:lnSpc>
              <a:buNone/>
            </a:pPr>
            <a:r>
              <a:rPr lang="en-US" sz="1200" dirty="0">
                <a:solidFill>
                  <a:srgbClr val="55606C"/>
                </a:solidFill>
                <a:latin typeface="Calibri" pitchFamily="34" charset="0"/>
                <a:ea typeface="Calibri" pitchFamily="34" charset="-122"/>
                <a:cs typeface="Calibri" pitchFamily="34" charset="-120"/>
              </a:rPr>
              <a:t>Is it too vague, too long, wrong format, off-topic, or factually shaky?</a:t>
            </a:r>
            <a:endParaRPr lang="en-US" sz="1200" dirty="0"/>
          </a:p>
        </p:txBody>
      </p:sp>
      <p:sp>
        <p:nvSpPr>
          <p:cNvPr id="10" name="Shape 8"/>
          <p:cNvSpPr/>
          <p:nvPr/>
        </p:nvSpPr>
        <p:spPr>
          <a:xfrm>
            <a:off x="548640" y="3120390"/>
            <a:ext cx="10195560" cy="944118"/>
          </a:xfrm>
          <a:prstGeom prst="roundRect">
            <a:avLst>
              <a:gd name="adj" fmla="val 8717"/>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1" name="Shape 9"/>
          <p:cNvSpPr/>
          <p:nvPr/>
        </p:nvSpPr>
        <p:spPr>
          <a:xfrm>
            <a:off x="841248" y="3336417"/>
            <a:ext cx="512064" cy="512064"/>
          </a:xfrm>
          <a:prstGeom prst="ellipse">
            <a:avLst/>
          </a:prstGeom>
          <a:solidFill>
            <a:srgbClr val="1C7293"/>
          </a:solidFill>
          <a:ln/>
        </p:spPr>
      </p:sp>
      <p:sp>
        <p:nvSpPr>
          <p:cNvPr id="12" name="Text 10"/>
          <p:cNvSpPr txBox="1"/>
          <p:nvPr/>
        </p:nvSpPr>
        <p:spPr>
          <a:xfrm>
            <a:off x="841248" y="3336417"/>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1600200" y="3230118"/>
            <a:ext cx="4023360" cy="724662"/>
          </a:xfrm>
          <a:prstGeom prst="rect">
            <a:avLst/>
          </a:prstGeom>
          <a:noFill/>
          <a:ln/>
        </p:spPr>
        <p:txBody>
          <a:bodyPr wrap="square" lIns="0" tIns="0" rIns="0" bIns="0"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Trace it to a missing block</a:t>
            </a:r>
            <a:endParaRPr lang="en-US" sz="1450" dirty="0"/>
          </a:p>
        </p:txBody>
      </p:sp>
      <p:sp>
        <p:nvSpPr>
          <p:cNvPr id="14" name="Text 12"/>
          <p:cNvSpPr txBox="1"/>
          <p:nvPr/>
        </p:nvSpPr>
        <p:spPr>
          <a:xfrm>
            <a:off x="5715000" y="3211830"/>
            <a:ext cx="4892040" cy="761238"/>
          </a:xfrm>
          <a:prstGeom prst="rect">
            <a:avLst/>
          </a:prstGeom>
          <a:noFill/>
          <a:ln/>
        </p:spPr>
        <p:txBody>
          <a:bodyPr wrap="square" lIns="0" tIns="0" rIns="0" bIns="0" rtlCol="0" anchor="ctr"/>
          <a:lstStyle/>
          <a:p>
            <a:pPr marL="0" indent="0">
              <a:lnSpc>
                <a:spcPct val="115000"/>
              </a:lnSpc>
              <a:buNone/>
            </a:pPr>
            <a:r>
              <a:rPr lang="en-US" sz="1200" dirty="0">
                <a:solidFill>
                  <a:srgbClr val="55606C"/>
                </a:solidFill>
                <a:latin typeface="Calibri" pitchFamily="34" charset="0"/>
                <a:ea typeface="Calibri" pitchFamily="34" charset="-122"/>
                <a:cs typeface="Calibri" pitchFamily="34" charset="-120"/>
              </a:rPr>
              <a:t>Most problems trace back to a missing context, instruction, format, or constraint.</a:t>
            </a:r>
            <a:endParaRPr lang="en-US" sz="1200" dirty="0"/>
          </a:p>
        </p:txBody>
      </p:sp>
      <p:sp>
        <p:nvSpPr>
          <p:cNvPr id="15" name="Shape 13"/>
          <p:cNvSpPr/>
          <p:nvPr/>
        </p:nvSpPr>
        <p:spPr>
          <a:xfrm>
            <a:off x="548640" y="4229100"/>
            <a:ext cx="10195560" cy="944118"/>
          </a:xfrm>
          <a:prstGeom prst="roundRect">
            <a:avLst>
              <a:gd name="adj" fmla="val 8717"/>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6" name="Shape 14"/>
          <p:cNvSpPr/>
          <p:nvPr/>
        </p:nvSpPr>
        <p:spPr>
          <a:xfrm>
            <a:off x="841248" y="4445127"/>
            <a:ext cx="512064" cy="512064"/>
          </a:xfrm>
          <a:prstGeom prst="ellipse">
            <a:avLst/>
          </a:prstGeom>
          <a:solidFill>
            <a:srgbClr val="1C7293"/>
          </a:solidFill>
          <a:ln/>
        </p:spPr>
      </p:sp>
      <p:sp>
        <p:nvSpPr>
          <p:cNvPr id="17" name="Text 15"/>
          <p:cNvSpPr txBox="1"/>
          <p:nvPr/>
        </p:nvSpPr>
        <p:spPr>
          <a:xfrm>
            <a:off x="841248" y="4445127"/>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txBox="1"/>
          <p:nvPr/>
        </p:nvSpPr>
        <p:spPr>
          <a:xfrm>
            <a:off x="1600200" y="4338828"/>
            <a:ext cx="4023360" cy="724662"/>
          </a:xfrm>
          <a:prstGeom prst="rect">
            <a:avLst/>
          </a:prstGeom>
          <a:noFill/>
          <a:ln/>
        </p:spPr>
        <p:txBody>
          <a:bodyPr wrap="square" lIns="0" tIns="0" rIns="0" bIns="0"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Fix one thing at a time</a:t>
            </a:r>
            <a:endParaRPr lang="en-US" sz="1450" dirty="0"/>
          </a:p>
        </p:txBody>
      </p:sp>
      <p:sp>
        <p:nvSpPr>
          <p:cNvPr id="19" name="Text 17"/>
          <p:cNvSpPr txBox="1"/>
          <p:nvPr/>
        </p:nvSpPr>
        <p:spPr>
          <a:xfrm>
            <a:off x="5715000" y="4320540"/>
            <a:ext cx="4892040" cy="761238"/>
          </a:xfrm>
          <a:prstGeom prst="rect">
            <a:avLst/>
          </a:prstGeom>
          <a:noFill/>
          <a:ln/>
        </p:spPr>
        <p:txBody>
          <a:bodyPr wrap="square" lIns="0" tIns="0" rIns="0" bIns="0" rtlCol="0" anchor="ctr"/>
          <a:lstStyle/>
          <a:p>
            <a:pPr marL="0" indent="0">
              <a:lnSpc>
                <a:spcPct val="115000"/>
              </a:lnSpc>
              <a:buNone/>
            </a:pPr>
            <a:r>
              <a:rPr lang="en-US" sz="1200" dirty="0">
                <a:solidFill>
                  <a:srgbClr val="55606C"/>
                </a:solidFill>
                <a:latin typeface="Calibri" pitchFamily="34" charset="0"/>
                <a:ea typeface="Calibri" pitchFamily="34" charset="-122"/>
                <a:cs typeface="Calibri" pitchFamily="34" charset="-120"/>
              </a:rPr>
              <a:t>Change the specific gap you identified rather than rewriting everything at once.</a:t>
            </a:r>
            <a:endParaRPr lang="en-US" sz="1200" dirty="0"/>
          </a:p>
        </p:txBody>
      </p:sp>
      <p:sp>
        <p:nvSpPr>
          <p:cNvPr id="20" name="Shape 18"/>
          <p:cNvSpPr/>
          <p:nvPr/>
        </p:nvSpPr>
        <p:spPr>
          <a:xfrm>
            <a:off x="548640" y="5337810"/>
            <a:ext cx="10195560" cy="944118"/>
          </a:xfrm>
          <a:prstGeom prst="roundRect">
            <a:avLst>
              <a:gd name="adj" fmla="val 8717"/>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1" name="Shape 19"/>
          <p:cNvSpPr/>
          <p:nvPr/>
        </p:nvSpPr>
        <p:spPr>
          <a:xfrm>
            <a:off x="841248" y="5553837"/>
            <a:ext cx="512064" cy="512064"/>
          </a:xfrm>
          <a:prstGeom prst="ellipse">
            <a:avLst/>
          </a:prstGeom>
          <a:solidFill>
            <a:srgbClr val="1C7293"/>
          </a:solidFill>
          <a:ln/>
        </p:spPr>
      </p:sp>
      <p:sp>
        <p:nvSpPr>
          <p:cNvPr id="22" name="Text 20"/>
          <p:cNvSpPr txBox="1"/>
          <p:nvPr/>
        </p:nvSpPr>
        <p:spPr>
          <a:xfrm>
            <a:off x="841248" y="5553837"/>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3" name="Text 21"/>
          <p:cNvSpPr txBox="1"/>
          <p:nvPr/>
        </p:nvSpPr>
        <p:spPr>
          <a:xfrm>
            <a:off x="1600200" y="5447538"/>
            <a:ext cx="4023360" cy="724662"/>
          </a:xfrm>
          <a:prstGeom prst="rect">
            <a:avLst/>
          </a:prstGeom>
          <a:noFill/>
          <a:ln/>
        </p:spPr>
        <p:txBody>
          <a:bodyPr wrap="square" lIns="0" tIns="0" rIns="0" bIns="0"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Compare before and after</a:t>
            </a:r>
            <a:endParaRPr lang="en-US" sz="1450" dirty="0"/>
          </a:p>
        </p:txBody>
      </p:sp>
      <p:sp>
        <p:nvSpPr>
          <p:cNvPr id="24" name="Text 22"/>
          <p:cNvSpPr txBox="1"/>
          <p:nvPr/>
        </p:nvSpPr>
        <p:spPr>
          <a:xfrm>
            <a:off x="5715000" y="5429250"/>
            <a:ext cx="4892040" cy="761238"/>
          </a:xfrm>
          <a:prstGeom prst="rect">
            <a:avLst/>
          </a:prstGeom>
          <a:noFill/>
          <a:ln/>
        </p:spPr>
        <p:txBody>
          <a:bodyPr wrap="square" lIns="0" tIns="0" rIns="0" bIns="0" rtlCol="0" anchor="ctr"/>
          <a:lstStyle/>
          <a:p>
            <a:pPr marL="0" indent="0">
              <a:lnSpc>
                <a:spcPct val="115000"/>
              </a:lnSpc>
              <a:buNone/>
            </a:pPr>
            <a:r>
              <a:rPr lang="en-US" sz="1200" dirty="0">
                <a:solidFill>
                  <a:srgbClr val="55606C"/>
                </a:solidFill>
                <a:latin typeface="Calibri" pitchFamily="34" charset="0"/>
                <a:ea typeface="Calibri" pitchFamily="34" charset="-122"/>
                <a:cs typeface="Calibri" pitchFamily="34" charset="-120"/>
              </a:rPr>
              <a:t>Confirm the fix actually solved the problem before moving on.</a:t>
            </a:r>
            <a:endParaRPr lang="en-US" sz="1200" dirty="0"/>
          </a:p>
        </p:txBody>
      </p:sp>
      <p:sp>
        <p:nvSpPr>
          <p:cNvPr id="25" name="Text 2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Refining Your Prompts</a:t>
            </a:r>
            <a:endParaRPr lang="en-US" sz="950" dirty="0"/>
          </a:p>
        </p:txBody>
      </p:sp>
      <p:sp>
        <p:nvSpPr>
          <p:cNvPr id="26" name="Text 2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44</a:t>
            </a: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4 · QUICK CHECK</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Discussion Prompt</a:t>
            </a:r>
            <a:endParaRPr lang="en-US" sz="3200" dirty="0"/>
          </a:p>
        </p:txBody>
      </p:sp>
      <p:sp>
        <p:nvSpPr>
          <p:cNvPr id="4" name="Shape 2"/>
          <p:cNvSpPr/>
          <p:nvPr/>
        </p:nvSpPr>
        <p:spPr>
          <a:xfrm>
            <a:off x="548640" y="2103120"/>
            <a:ext cx="10195560" cy="3566160"/>
          </a:xfrm>
          <a:prstGeom prst="roundRect">
            <a:avLst>
              <a:gd name="adj" fmla="val 230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5193792" y="2514600"/>
            <a:ext cx="1097280" cy="1097280"/>
          </a:xfrm>
          <a:prstGeom prst="ellipse">
            <a:avLst/>
          </a:prstGeom>
          <a:solidFill>
            <a:srgbClr val="1C7293"/>
          </a:solidFill>
          <a:ln/>
        </p:spPr>
      </p:sp>
      <p:pic>
        <p:nvPicPr>
          <p:cNvPr id="6" name="Image 0" descr="icons/question.png"/>
          <p:cNvPicPr>
            <a:picLocks noChangeAspect="1"/>
          </p:cNvPicPr>
          <p:nvPr/>
        </p:nvPicPr>
        <p:blipFill>
          <a:blip r:embed="rId3"/>
          <a:stretch>
            <a:fillRect/>
          </a:stretch>
        </p:blipFill>
        <p:spPr>
          <a:xfrm>
            <a:off x="5479085" y="2799893"/>
            <a:ext cx="526694" cy="526694"/>
          </a:xfrm>
          <a:prstGeom prst="rect">
            <a:avLst/>
          </a:prstGeom>
        </p:spPr>
      </p:pic>
      <p:sp>
        <p:nvSpPr>
          <p:cNvPr id="7" name="Text 4"/>
          <p:cNvSpPr txBox="1"/>
          <p:nvPr/>
        </p:nvSpPr>
        <p:spPr>
          <a:xfrm>
            <a:off x="1188720" y="3794760"/>
            <a:ext cx="9829800" cy="1005840"/>
          </a:xfrm>
          <a:prstGeom prst="rect">
            <a:avLst/>
          </a:prstGeom>
          <a:noFill/>
          <a:ln/>
        </p:spPr>
        <p:txBody>
          <a:bodyPr wrap="square" lIns="0" tIns="0" rIns="0" bIns="0" rtlCol="0" anchor="ctr"/>
          <a:lstStyle/>
          <a:p>
            <a:pPr marL="0" indent="0" algn="ctr">
              <a:lnSpc>
                <a:spcPct val="120000"/>
              </a:lnSpc>
              <a:buNone/>
            </a:pPr>
            <a:r>
              <a:rPr lang="en-US" sz="1900" b="1" i="1" dirty="0">
                <a:solidFill>
                  <a:srgbClr val="1B2A4A"/>
                </a:solidFill>
                <a:latin typeface="Cambria" pitchFamily="34" charset="0"/>
                <a:ea typeface="Cambria" pitchFamily="34" charset="-122"/>
                <a:cs typeface="Cambria" pitchFamily="34" charset="-120"/>
              </a:rPr>
              <a:t>“An AI gives you a lesson summary that is accurate but reads like a dry textbook. What exactly would you diagnose — and how would you rewrite the prompt?”</a:t>
            </a:r>
            <a:endParaRPr lang="en-US" sz="1900" dirty="0"/>
          </a:p>
        </p:txBody>
      </p:sp>
      <p:sp>
        <p:nvSpPr>
          <p:cNvPr id="8" name="Text 5"/>
          <p:cNvSpPr txBox="1"/>
          <p:nvPr/>
        </p:nvSpPr>
        <p:spPr>
          <a:xfrm>
            <a:off x="1645920" y="4846320"/>
            <a:ext cx="8915400" cy="640080"/>
          </a:xfrm>
          <a:prstGeom prst="rect">
            <a:avLst/>
          </a:prstGeom>
          <a:noFill/>
          <a:ln/>
        </p:spPr>
        <p:txBody>
          <a:bodyPr wrap="square" lIns="0" tIns="0" rIns="0" bIns="0" rtlCol="0" anchor="ctr"/>
          <a:lstStyle/>
          <a:p>
            <a:pPr marL="0" indent="0" algn="ctr">
              <a:lnSpc>
                <a:spcPct val="120000"/>
              </a:lnSpc>
              <a:buNone/>
            </a:pPr>
            <a:r>
              <a:rPr lang="en-US" sz="1250" dirty="0">
                <a:solidFill>
                  <a:srgbClr val="8A94A0"/>
                </a:solidFill>
                <a:latin typeface="Calibri" pitchFamily="34" charset="0"/>
                <a:ea typeface="Calibri" pitchFamily="34" charset="-122"/>
                <a:cs typeface="Calibri" pitchFamily="34" charset="-120"/>
              </a:rPr>
              <a:t>Think about which of the four building blocks (context, instruction, format, constraints) is most likely missing here.</a:t>
            </a:r>
            <a:endParaRPr lang="en-US" sz="1250" dirty="0"/>
          </a:p>
        </p:txBody>
      </p:sp>
      <p:sp>
        <p:nvSpPr>
          <p:cNvPr id="9" name="Text 6"/>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Refining Your Prompts</a:t>
            </a:r>
            <a:endParaRPr lang="en-US" sz="950" dirty="0"/>
          </a:p>
        </p:txBody>
      </p:sp>
      <p:sp>
        <p:nvSpPr>
          <p:cNvPr id="10" name="Text 7"/>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45</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0058400" y="-1645920"/>
            <a:ext cx="4114800" cy="4114800"/>
          </a:xfrm>
          <a:prstGeom prst="ellipse">
            <a:avLst/>
          </a:prstGeom>
          <a:solidFill>
            <a:srgbClr val="233A63"/>
          </a:solidFill>
          <a:ln/>
        </p:spPr>
      </p:sp>
      <p:sp>
        <p:nvSpPr>
          <p:cNvPr id="3" name="Text 1"/>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9FD6E8"/>
                </a:solidFill>
                <a:latin typeface="Calibri" pitchFamily="34" charset="0"/>
                <a:ea typeface="Calibri" pitchFamily="34" charset="-122"/>
                <a:cs typeface="Calibri" pitchFamily="34" charset="-120"/>
              </a:rPr>
              <a:t>PART 4 RECAP</a:t>
            </a:r>
            <a:endParaRPr lang="en-US" sz="1250" dirty="0"/>
          </a:p>
        </p:txBody>
      </p:sp>
      <p:sp>
        <p:nvSpPr>
          <p:cNvPr id="4" name="Text 2"/>
          <p:cNvSpPr txBox="1"/>
          <p:nvPr/>
        </p:nvSpPr>
        <p:spPr>
          <a:xfrm>
            <a:off x="548640" y="731520"/>
            <a:ext cx="10607040"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Takeaways: Iterative Refinement</a:t>
            </a:r>
            <a:endParaRPr lang="en-US" sz="3000" dirty="0"/>
          </a:p>
        </p:txBody>
      </p:sp>
      <p:sp>
        <p:nvSpPr>
          <p:cNvPr id="5" name="Shape 3"/>
          <p:cNvSpPr/>
          <p:nvPr/>
        </p:nvSpPr>
        <p:spPr>
          <a:xfrm>
            <a:off x="10149840" y="502920"/>
            <a:ext cx="1051560" cy="1051560"/>
          </a:xfrm>
          <a:prstGeom prst="ellipse">
            <a:avLst/>
          </a:prstGeom>
          <a:solidFill>
            <a:srgbClr val="1C7293"/>
          </a:solidFill>
          <a:ln/>
        </p:spPr>
      </p:sp>
      <p:pic>
        <p:nvPicPr>
          <p:cNvPr id="6" name="Image 0" descr="icons/sync.png"/>
          <p:cNvPicPr>
            <a:picLocks noChangeAspect="1"/>
          </p:cNvPicPr>
          <p:nvPr/>
        </p:nvPicPr>
        <p:blipFill>
          <a:blip r:embed="rId3"/>
          <a:stretch>
            <a:fillRect/>
          </a:stretch>
        </p:blipFill>
        <p:spPr>
          <a:xfrm>
            <a:off x="10423246" y="776326"/>
            <a:ext cx="504749" cy="504749"/>
          </a:xfrm>
          <a:prstGeom prst="rect">
            <a:avLst/>
          </a:prstGeom>
        </p:spPr>
      </p:pic>
      <p:sp>
        <p:nvSpPr>
          <p:cNvPr id="7" name="Shape 4"/>
          <p:cNvSpPr/>
          <p:nvPr/>
        </p:nvSpPr>
        <p:spPr>
          <a:xfrm>
            <a:off x="548640" y="1965960"/>
            <a:ext cx="5408676" cy="1965960"/>
          </a:xfrm>
          <a:prstGeom prst="roundRect">
            <a:avLst>
              <a:gd name="adj" fmla="val 3721"/>
            </a:avLst>
          </a:prstGeom>
          <a:solidFill>
            <a:srgbClr val="233A63"/>
          </a:solidFill>
          <a:ln/>
        </p:spPr>
      </p:sp>
      <p:sp>
        <p:nvSpPr>
          <p:cNvPr id="8" name="Shape 5"/>
          <p:cNvSpPr/>
          <p:nvPr/>
        </p:nvSpPr>
        <p:spPr>
          <a:xfrm>
            <a:off x="804672" y="2221992"/>
            <a:ext cx="457200" cy="457200"/>
          </a:xfrm>
          <a:prstGeom prst="ellipse">
            <a:avLst/>
          </a:prstGeom>
          <a:solidFill>
            <a:srgbClr val="1C7293"/>
          </a:solidFill>
          <a:ln/>
        </p:spPr>
      </p:sp>
      <p:pic>
        <p:nvPicPr>
          <p:cNvPr id="9" name="Image 1" descr="icons/edit.png"/>
          <p:cNvPicPr>
            <a:picLocks noChangeAspect="1"/>
          </p:cNvPicPr>
          <p:nvPr/>
        </p:nvPicPr>
        <p:blipFill>
          <a:blip r:embed="rId4"/>
          <a:stretch>
            <a:fillRect/>
          </a:stretch>
        </p:blipFill>
        <p:spPr>
          <a:xfrm>
            <a:off x="896112" y="2313432"/>
            <a:ext cx="274320" cy="274320"/>
          </a:xfrm>
          <a:prstGeom prst="rect">
            <a:avLst/>
          </a:prstGeom>
        </p:spPr>
      </p:pic>
      <p:sp>
        <p:nvSpPr>
          <p:cNvPr id="10" name="Text 6"/>
          <p:cNvSpPr txBox="1"/>
          <p:nvPr/>
        </p:nvSpPr>
        <p:spPr>
          <a:xfrm>
            <a:off x="1417320" y="218541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Treat prompts as drafts</a:t>
            </a:r>
            <a:endParaRPr lang="en-US" sz="1450" dirty="0"/>
          </a:p>
        </p:txBody>
      </p:sp>
      <p:sp>
        <p:nvSpPr>
          <p:cNvPr id="11" name="Text 7"/>
          <p:cNvSpPr txBox="1"/>
          <p:nvPr/>
        </p:nvSpPr>
        <p:spPr>
          <a:xfrm>
            <a:off x="804672" y="278892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Your first attempt is a starting point, not a final answer.</a:t>
            </a:r>
            <a:endParaRPr lang="en-US" sz="1150" dirty="0"/>
          </a:p>
        </p:txBody>
      </p:sp>
      <p:sp>
        <p:nvSpPr>
          <p:cNvPr id="12" name="Shape 8"/>
          <p:cNvSpPr/>
          <p:nvPr/>
        </p:nvSpPr>
        <p:spPr>
          <a:xfrm>
            <a:off x="6231636" y="1965960"/>
            <a:ext cx="5408676" cy="1965960"/>
          </a:xfrm>
          <a:prstGeom prst="roundRect">
            <a:avLst>
              <a:gd name="adj" fmla="val 3721"/>
            </a:avLst>
          </a:prstGeom>
          <a:solidFill>
            <a:srgbClr val="233A63"/>
          </a:solidFill>
          <a:ln/>
        </p:spPr>
      </p:sp>
      <p:sp>
        <p:nvSpPr>
          <p:cNvPr id="13" name="Shape 9"/>
          <p:cNvSpPr/>
          <p:nvPr/>
        </p:nvSpPr>
        <p:spPr>
          <a:xfrm>
            <a:off x="6487668" y="2221992"/>
            <a:ext cx="457200" cy="457200"/>
          </a:xfrm>
          <a:prstGeom prst="ellipse">
            <a:avLst/>
          </a:prstGeom>
          <a:solidFill>
            <a:srgbClr val="1C7293"/>
          </a:solidFill>
          <a:ln/>
        </p:spPr>
      </p:sp>
      <p:pic>
        <p:nvPicPr>
          <p:cNvPr id="14" name="Image 2" descr="icons/search.png"/>
          <p:cNvPicPr>
            <a:picLocks noChangeAspect="1"/>
          </p:cNvPicPr>
          <p:nvPr/>
        </p:nvPicPr>
        <p:blipFill>
          <a:blip r:embed="rId5"/>
          <a:stretch>
            <a:fillRect/>
          </a:stretch>
        </p:blipFill>
        <p:spPr>
          <a:xfrm>
            <a:off x="6579108" y="2313432"/>
            <a:ext cx="274320" cy="274320"/>
          </a:xfrm>
          <a:prstGeom prst="rect">
            <a:avLst/>
          </a:prstGeom>
        </p:spPr>
      </p:pic>
      <p:sp>
        <p:nvSpPr>
          <p:cNvPr id="15" name="Text 10"/>
          <p:cNvSpPr txBox="1"/>
          <p:nvPr/>
        </p:nvSpPr>
        <p:spPr>
          <a:xfrm>
            <a:off x="7100316" y="218541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Diagnose before rewriting</a:t>
            </a:r>
            <a:endParaRPr lang="en-US" sz="1450" dirty="0"/>
          </a:p>
        </p:txBody>
      </p:sp>
      <p:sp>
        <p:nvSpPr>
          <p:cNvPr id="16" name="Text 11"/>
          <p:cNvSpPr txBox="1"/>
          <p:nvPr/>
        </p:nvSpPr>
        <p:spPr>
          <a:xfrm>
            <a:off x="6487668" y="278892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Name the specific problem before changing anything in the prompt.</a:t>
            </a:r>
            <a:endParaRPr lang="en-US" sz="1150" dirty="0"/>
          </a:p>
        </p:txBody>
      </p:sp>
      <p:sp>
        <p:nvSpPr>
          <p:cNvPr id="17" name="Shape 12"/>
          <p:cNvSpPr/>
          <p:nvPr/>
        </p:nvSpPr>
        <p:spPr>
          <a:xfrm>
            <a:off x="548640" y="4206240"/>
            <a:ext cx="5408676" cy="1965960"/>
          </a:xfrm>
          <a:prstGeom prst="roundRect">
            <a:avLst>
              <a:gd name="adj" fmla="val 3721"/>
            </a:avLst>
          </a:prstGeom>
          <a:solidFill>
            <a:srgbClr val="233A63"/>
          </a:solidFill>
          <a:ln/>
        </p:spPr>
      </p:sp>
      <p:sp>
        <p:nvSpPr>
          <p:cNvPr id="18" name="Shape 13"/>
          <p:cNvSpPr/>
          <p:nvPr/>
        </p:nvSpPr>
        <p:spPr>
          <a:xfrm>
            <a:off x="804672" y="4462272"/>
            <a:ext cx="457200" cy="457200"/>
          </a:xfrm>
          <a:prstGeom prst="ellipse">
            <a:avLst/>
          </a:prstGeom>
          <a:solidFill>
            <a:srgbClr val="1C7293"/>
          </a:solidFill>
          <a:ln/>
        </p:spPr>
      </p:sp>
      <p:pic>
        <p:nvPicPr>
          <p:cNvPr id="19" name="Image 3" descr="icons/wrench.png"/>
          <p:cNvPicPr>
            <a:picLocks noChangeAspect="1"/>
          </p:cNvPicPr>
          <p:nvPr/>
        </p:nvPicPr>
        <p:blipFill>
          <a:blip r:embed="rId6"/>
          <a:stretch>
            <a:fillRect/>
          </a:stretch>
        </p:blipFill>
        <p:spPr>
          <a:xfrm>
            <a:off x="896112" y="4553712"/>
            <a:ext cx="274320" cy="274320"/>
          </a:xfrm>
          <a:prstGeom prst="rect">
            <a:avLst/>
          </a:prstGeom>
        </p:spPr>
      </p:pic>
      <p:sp>
        <p:nvSpPr>
          <p:cNvPr id="20" name="Text 14"/>
          <p:cNvSpPr txBox="1"/>
          <p:nvPr/>
        </p:nvSpPr>
        <p:spPr>
          <a:xfrm>
            <a:off x="1417320" y="442569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Fix one gap at a time</a:t>
            </a:r>
            <a:endParaRPr lang="en-US" sz="1450" dirty="0"/>
          </a:p>
        </p:txBody>
      </p:sp>
      <p:sp>
        <p:nvSpPr>
          <p:cNvPr id="21" name="Text 15"/>
          <p:cNvSpPr txBox="1"/>
          <p:nvPr/>
        </p:nvSpPr>
        <p:spPr>
          <a:xfrm>
            <a:off x="804672" y="502920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Most failures trace back to one missing building block from Part 1.</a:t>
            </a:r>
            <a:endParaRPr lang="en-US" sz="1150" dirty="0"/>
          </a:p>
        </p:txBody>
      </p:sp>
      <p:sp>
        <p:nvSpPr>
          <p:cNvPr id="22" name="Shape 16"/>
          <p:cNvSpPr/>
          <p:nvPr/>
        </p:nvSpPr>
        <p:spPr>
          <a:xfrm>
            <a:off x="6231636" y="4206240"/>
            <a:ext cx="5408676" cy="1965960"/>
          </a:xfrm>
          <a:prstGeom prst="roundRect">
            <a:avLst>
              <a:gd name="adj" fmla="val 3721"/>
            </a:avLst>
          </a:prstGeom>
          <a:solidFill>
            <a:srgbClr val="233A63"/>
          </a:solidFill>
          <a:ln/>
        </p:spPr>
      </p:sp>
      <p:sp>
        <p:nvSpPr>
          <p:cNvPr id="23" name="Shape 17"/>
          <p:cNvSpPr/>
          <p:nvPr/>
        </p:nvSpPr>
        <p:spPr>
          <a:xfrm>
            <a:off x="6487668" y="4462272"/>
            <a:ext cx="457200" cy="457200"/>
          </a:xfrm>
          <a:prstGeom prst="ellipse">
            <a:avLst/>
          </a:prstGeom>
          <a:solidFill>
            <a:srgbClr val="1C7293"/>
          </a:solidFill>
          <a:ln/>
        </p:spPr>
      </p:sp>
      <p:pic>
        <p:nvPicPr>
          <p:cNvPr id="24" name="Image 4" descr="icons/arrows.png"/>
          <p:cNvPicPr>
            <a:picLocks noChangeAspect="1"/>
          </p:cNvPicPr>
          <p:nvPr/>
        </p:nvPicPr>
        <p:blipFill>
          <a:blip r:embed="rId7"/>
          <a:stretch>
            <a:fillRect/>
          </a:stretch>
        </p:blipFill>
        <p:spPr>
          <a:xfrm>
            <a:off x="6579108" y="4553712"/>
            <a:ext cx="274320" cy="274320"/>
          </a:xfrm>
          <a:prstGeom prst="rect">
            <a:avLst/>
          </a:prstGeom>
        </p:spPr>
      </p:pic>
      <p:sp>
        <p:nvSpPr>
          <p:cNvPr id="25" name="Text 18"/>
          <p:cNvSpPr txBox="1"/>
          <p:nvPr/>
        </p:nvSpPr>
        <p:spPr>
          <a:xfrm>
            <a:off x="7100316" y="442569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Use follow-ups, not restarts</a:t>
            </a:r>
            <a:endParaRPr lang="en-US" sz="1450" dirty="0"/>
          </a:p>
        </p:txBody>
      </p:sp>
      <p:sp>
        <p:nvSpPr>
          <p:cNvPr id="26" name="Text 19"/>
          <p:cNvSpPr txBox="1"/>
          <p:nvPr/>
        </p:nvSpPr>
        <p:spPr>
          <a:xfrm>
            <a:off x="6487668" y="502920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Staying in context is usually faster than writing a brand-new prompt.</a:t>
            </a:r>
            <a:endParaRPr lang="en-US" sz="1150" dirty="0"/>
          </a:p>
        </p:txBody>
      </p:sp>
      <p:sp>
        <p:nvSpPr>
          <p:cNvPr id="27" name="Text 20"/>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9FD6E8"/>
                </a:solidFill>
                <a:latin typeface="Calibri" pitchFamily="34" charset="0"/>
                <a:ea typeface="Calibri" pitchFamily="34" charset="-122"/>
                <a:cs typeface="Calibri" pitchFamily="34" charset="-120"/>
              </a:rPr>
              <a:t>Refining Your Prompts</a:t>
            </a:r>
            <a:endParaRPr lang="en-US" sz="950" dirty="0"/>
          </a:p>
        </p:txBody>
      </p:sp>
      <p:sp>
        <p:nvSpPr>
          <p:cNvPr id="28" name="Text 21"/>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9FD6E8"/>
                </a:solidFill>
                <a:latin typeface="Calibri" pitchFamily="34" charset="0"/>
                <a:ea typeface="Calibri" pitchFamily="34" charset="-122"/>
                <a:cs typeface="Calibri" pitchFamily="34" charset="-120"/>
              </a:rPr>
              <a:t>46</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828800" y="-2011680"/>
            <a:ext cx="5486400" cy="5486400"/>
          </a:xfrm>
          <a:prstGeom prst="ellipse">
            <a:avLst/>
          </a:prstGeom>
          <a:solidFill>
            <a:srgbClr val="233A63"/>
          </a:solidFill>
          <a:ln/>
        </p:spPr>
      </p:sp>
      <p:sp>
        <p:nvSpPr>
          <p:cNvPr id="3" name="Shape 1"/>
          <p:cNvSpPr/>
          <p:nvPr/>
        </p:nvSpPr>
        <p:spPr>
          <a:xfrm>
            <a:off x="9875520" y="4206240"/>
            <a:ext cx="5029200" cy="5029200"/>
          </a:xfrm>
          <a:prstGeom prst="ellipse">
            <a:avLst/>
          </a:prstGeom>
          <a:solidFill>
            <a:srgbClr val="121C33"/>
          </a:solidFill>
          <a:ln/>
        </p:spPr>
      </p:sp>
      <p:sp>
        <p:nvSpPr>
          <p:cNvPr id="4" name="Text 2"/>
          <p:cNvSpPr txBox="1"/>
          <p:nvPr/>
        </p:nvSpPr>
        <p:spPr>
          <a:xfrm>
            <a:off x="822960" y="2286000"/>
            <a:ext cx="3657600" cy="457200"/>
          </a:xfrm>
          <a:prstGeom prst="rect">
            <a:avLst/>
          </a:prstGeom>
          <a:noFill/>
          <a:ln/>
        </p:spPr>
        <p:txBody>
          <a:bodyPr wrap="square" lIns="0" tIns="0" rIns="0" bIns="0"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PART 5</a:t>
            </a:r>
            <a:endParaRPr lang="en-US" sz="1600" dirty="0"/>
          </a:p>
        </p:txBody>
      </p:sp>
      <p:sp>
        <p:nvSpPr>
          <p:cNvPr id="5" name="Shape 3"/>
          <p:cNvSpPr/>
          <p:nvPr/>
        </p:nvSpPr>
        <p:spPr>
          <a:xfrm>
            <a:off x="868680" y="2788920"/>
            <a:ext cx="1280160" cy="0"/>
          </a:xfrm>
          <a:prstGeom prst="line">
            <a:avLst/>
          </a:prstGeom>
          <a:noFill/>
          <a:ln w="31750">
            <a:solidFill>
              <a:srgbClr val="1C7293"/>
            </a:solidFill>
            <a:prstDash val="solid"/>
          </a:ln>
        </p:spPr>
      </p:sp>
      <p:sp>
        <p:nvSpPr>
          <p:cNvPr id="6" name="Text 4"/>
          <p:cNvSpPr txBox="1"/>
          <p:nvPr/>
        </p:nvSpPr>
        <p:spPr>
          <a:xfrm>
            <a:off x="822960" y="2880360"/>
            <a:ext cx="9601200" cy="365760"/>
          </a:xfrm>
          <a:prstGeom prst="rect">
            <a:avLst/>
          </a:prstGeom>
          <a:noFill/>
          <a:ln/>
        </p:spPr>
        <p:txBody>
          <a:bodyPr wrap="square" lIns="0" tIns="0" rIns="0" bIns="0" rtlCol="0" anchor="ctr"/>
          <a:lstStyle/>
          <a:p>
            <a:pPr marL="0" indent="0">
              <a:buNone/>
            </a:pPr>
            <a:r>
              <a:rPr lang="en-US" sz="1300" b="1" kern="0" spc="180" dirty="0">
                <a:solidFill>
                  <a:srgbClr val="9FD6E8"/>
                </a:solidFill>
                <a:latin typeface="Calibri" pitchFamily="34" charset="0"/>
                <a:ea typeface="Calibri" pitchFamily="34" charset="-122"/>
                <a:cs typeface="Calibri" pitchFamily="34" charset="-120"/>
              </a:rPr>
              <a:t>APPLYING THE SKILLS</a:t>
            </a:r>
            <a:endParaRPr lang="en-US" sz="1300" dirty="0"/>
          </a:p>
        </p:txBody>
      </p:sp>
      <p:sp>
        <p:nvSpPr>
          <p:cNvPr id="7" name="Text 5"/>
          <p:cNvSpPr txBox="1"/>
          <p:nvPr/>
        </p:nvSpPr>
        <p:spPr>
          <a:xfrm>
            <a:off x="777240" y="3246120"/>
            <a:ext cx="9692640" cy="1463040"/>
          </a:xfrm>
          <a:prstGeom prst="rect">
            <a:avLst/>
          </a:prstGeom>
          <a:noFill/>
          <a:ln/>
        </p:spPr>
        <p:txBody>
          <a:bodyPr wrap="square" lIns="0" tIns="0" rIns="0" bIns="0" rtlCol="0" anchor="ctr"/>
          <a:lstStyle/>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GenAI for Brainstorming,</a:t>
            </a:r>
            <a:endParaRPr lang="en-US" sz="3600" dirty="0"/>
          </a:p>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Summarising &amp; Drafting</a:t>
            </a:r>
            <a:endParaRPr lang="en-US" sz="3600" dirty="0"/>
          </a:p>
        </p:txBody>
      </p:sp>
      <p:sp>
        <p:nvSpPr>
          <p:cNvPr id="8" name="Text 6"/>
          <p:cNvSpPr txBox="1"/>
          <p:nvPr/>
        </p:nvSpPr>
        <p:spPr>
          <a:xfrm>
            <a:off x="822960" y="4709160"/>
            <a:ext cx="8686800" cy="731520"/>
          </a:xfrm>
          <a:prstGeom prst="rect">
            <a:avLst/>
          </a:prstGeom>
          <a:noFill/>
          <a:ln/>
        </p:spPr>
        <p:txBody>
          <a:bodyPr wrap="square" lIns="0" tIns="0" rIns="0" bIns="0" rtlCol="0" anchor="ctr"/>
          <a:lstStyle/>
          <a:p>
            <a:pPr marL="0" indent="0">
              <a:lnSpc>
                <a:spcPct val="125000"/>
              </a:lnSpc>
              <a:buNone/>
            </a:pPr>
            <a:r>
              <a:rPr lang="en-US" sz="1500" i="1" dirty="0">
                <a:solidFill>
                  <a:srgbClr val="C9D6E3"/>
                </a:solidFill>
                <a:latin typeface="Calibri" pitchFamily="34" charset="0"/>
                <a:ea typeface="Calibri" pitchFamily="34" charset="-122"/>
                <a:cs typeface="Calibri" pitchFamily="34" charset="-120"/>
              </a:rPr>
              <a:t>Putting everything together on three everyday academic writing tasks.</a:t>
            </a:r>
            <a:endParaRPr lang="en-US" sz="1500" dirty="0"/>
          </a:p>
        </p:txBody>
      </p:sp>
      <p:sp>
        <p:nvSpPr>
          <p:cNvPr id="9" name="Shape 7"/>
          <p:cNvSpPr/>
          <p:nvPr/>
        </p:nvSpPr>
        <p:spPr>
          <a:xfrm>
            <a:off x="10195560" y="685800"/>
            <a:ext cx="1143000" cy="1143000"/>
          </a:xfrm>
          <a:prstGeom prst="ellipse">
            <a:avLst/>
          </a:prstGeom>
          <a:solidFill>
            <a:srgbClr val="1C7293"/>
          </a:solidFill>
          <a:ln/>
        </p:spPr>
      </p:sp>
      <p:pic>
        <p:nvPicPr>
          <p:cNvPr id="10" name="Image 0" descr="icons/lightbulb.png"/>
          <p:cNvPicPr>
            <a:picLocks noChangeAspect="1"/>
          </p:cNvPicPr>
          <p:nvPr/>
        </p:nvPicPr>
        <p:blipFill>
          <a:blip r:embed="rId3"/>
          <a:stretch>
            <a:fillRect/>
          </a:stretch>
        </p:blipFill>
        <p:spPr>
          <a:xfrm>
            <a:off x="10492740" y="982980"/>
            <a:ext cx="548640" cy="548640"/>
          </a:xfrm>
          <a:prstGeom prst="rect">
            <a:avLst/>
          </a:prstGeom>
        </p:spPr>
      </p:pic>
      <p:sp>
        <p:nvSpPr>
          <p:cNvPr id="11" name="Text 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9FD6E8"/>
                </a:solidFill>
                <a:latin typeface="Calibri" pitchFamily="34" charset="0"/>
                <a:ea typeface="Calibri" pitchFamily="34" charset="-122"/>
                <a:cs typeface="Calibri" pitchFamily="34" charset="-120"/>
              </a:rPr>
              <a:t>Part 5 · Applying the Skills</a:t>
            </a:r>
            <a:endParaRPr lang="en-US" sz="950" dirty="0"/>
          </a:p>
        </p:txBody>
      </p:sp>
      <p:sp>
        <p:nvSpPr>
          <p:cNvPr id="12" name="Text 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9FD6E8"/>
                </a:solidFill>
                <a:latin typeface="Calibri" pitchFamily="34" charset="0"/>
                <a:ea typeface="Calibri" pitchFamily="34" charset="-122"/>
                <a:cs typeface="Calibri" pitchFamily="34" charset="-120"/>
              </a:rPr>
              <a:t>47</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5 · APPLYING THE SKILLS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Three High-Value Writing Tasks</a:t>
            </a:r>
            <a:endParaRPr lang="en-US" sz="3200" dirty="0"/>
          </a:p>
        </p:txBody>
      </p:sp>
      <p:sp>
        <p:nvSpPr>
          <p:cNvPr id="4" name="Shape 2"/>
          <p:cNvSpPr/>
          <p:nvPr/>
        </p:nvSpPr>
        <p:spPr>
          <a:xfrm>
            <a:off x="548640" y="1920240"/>
            <a:ext cx="3483864" cy="3566160"/>
          </a:xfrm>
          <a:prstGeom prst="roundRect">
            <a:avLst>
              <a:gd name="adj" fmla="val 2362"/>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41248" y="2212848"/>
            <a:ext cx="658368" cy="658368"/>
          </a:xfrm>
          <a:prstGeom prst="ellipse">
            <a:avLst/>
          </a:prstGeom>
          <a:solidFill>
            <a:srgbClr val="1C7293"/>
          </a:solidFill>
          <a:ln/>
        </p:spPr>
      </p:sp>
      <p:pic>
        <p:nvPicPr>
          <p:cNvPr id="6" name="Image 0" descr="icons/lightbulb.png"/>
          <p:cNvPicPr>
            <a:picLocks noChangeAspect="1"/>
          </p:cNvPicPr>
          <p:nvPr/>
        </p:nvPicPr>
        <p:blipFill>
          <a:blip r:embed="rId3"/>
          <a:stretch>
            <a:fillRect/>
          </a:stretch>
        </p:blipFill>
        <p:spPr>
          <a:xfrm>
            <a:off x="1012424" y="2384024"/>
            <a:ext cx="316017" cy="316017"/>
          </a:xfrm>
          <a:prstGeom prst="rect">
            <a:avLst/>
          </a:prstGeom>
        </p:spPr>
      </p:pic>
      <p:sp>
        <p:nvSpPr>
          <p:cNvPr id="7" name="Text 4"/>
          <p:cNvSpPr txBox="1"/>
          <p:nvPr/>
        </p:nvSpPr>
        <p:spPr>
          <a:xfrm>
            <a:off x="1645920" y="2231136"/>
            <a:ext cx="2112264"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Brainstorming</a:t>
            </a:r>
            <a:endParaRPr lang="en-US" sz="1650" dirty="0"/>
          </a:p>
        </p:txBody>
      </p:sp>
      <p:sp>
        <p:nvSpPr>
          <p:cNvPr id="8" name="Text 5"/>
          <p:cNvSpPr txBox="1"/>
          <p:nvPr/>
        </p:nvSpPr>
        <p:spPr>
          <a:xfrm>
            <a:off x="841248" y="2999232"/>
            <a:ext cx="2898648" cy="228600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Generate → Widen → Narrow down options</a:t>
            </a:r>
            <a:endParaRPr lang="en-US" sz="1200" dirty="0"/>
          </a:p>
        </p:txBody>
      </p:sp>
      <p:sp>
        <p:nvSpPr>
          <p:cNvPr id="9" name="Shape 6"/>
          <p:cNvSpPr/>
          <p:nvPr/>
        </p:nvSpPr>
        <p:spPr>
          <a:xfrm>
            <a:off x="4352544" y="1920240"/>
            <a:ext cx="3483864" cy="3566160"/>
          </a:xfrm>
          <a:prstGeom prst="roundRect">
            <a:avLst>
              <a:gd name="adj" fmla="val 2362"/>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Shape 7"/>
          <p:cNvSpPr/>
          <p:nvPr/>
        </p:nvSpPr>
        <p:spPr>
          <a:xfrm>
            <a:off x="4645152" y="2212848"/>
            <a:ext cx="658368" cy="658368"/>
          </a:xfrm>
          <a:prstGeom prst="ellipse">
            <a:avLst/>
          </a:prstGeom>
          <a:solidFill>
            <a:srgbClr val="1C7293"/>
          </a:solidFill>
          <a:ln/>
        </p:spPr>
      </p:sp>
      <p:pic>
        <p:nvPicPr>
          <p:cNvPr id="11" name="Image 1" descr="icons/filealt.png"/>
          <p:cNvPicPr>
            <a:picLocks noChangeAspect="1"/>
          </p:cNvPicPr>
          <p:nvPr/>
        </p:nvPicPr>
        <p:blipFill>
          <a:blip r:embed="rId4"/>
          <a:stretch>
            <a:fillRect/>
          </a:stretch>
        </p:blipFill>
        <p:spPr>
          <a:xfrm>
            <a:off x="4816328" y="2384024"/>
            <a:ext cx="316017" cy="316017"/>
          </a:xfrm>
          <a:prstGeom prst="rect">
            <a:avLst/>
          </a:prstGeom>
        </p:spPr>
      </p:pic>
      <p:sp>
        <p:nvSpPr>
          <p:cNvPr id="12" name="Text 8"/>
          <p:cNvSpPr txBox="1"/>
          <p:nvPr/>
        </p:nvSpPr>
        <p:spPr>
          <a:xfrm>
            <a:off x="5449824" y="2231136"/>
            <a:ext cx="2112264"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Summarising</a:t>
            </a:r>
            <a:endParaRPr lang="en-US" sz="1650" dirty="0"/>
          </a:p>
        </p:txBody>
      </p:sp>
      <p:sp>
        <p:nvSpPr>
          <p:cNvPr id="13" name="Text 9"/>
          <p:cNvSpPr txBox="1"/>
          <p:nvPr/>
        </p:nvSpPr>
        <p:spPr>
          <a:xfrm>
            <a:off x="4645152" y="2999232"/>
            <a:ext cx="2898648" cy="228600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Condense → Preserve key meaning → Shorten</a:t>
            </a:r>
            <a:endParaRPr lang="en-US" sz="1200" dirty="0"/>
          </a:p>
        </p:txBody>
      </p:sp>
      <p:sp>
        <p:nvSpPr>
          <p:cNvPr id="14" name="Shape 10"/>
          <p:cNvSpPr/>
          <p:nvPr/>
        </p:nvSpPr>
        <p:spPr>
          <a:xfrm>
            <a:off x="8156448" y="1920240"/>
            <a:ext cx="3483864" cy="3566160"/>
          </a:xfrm>
          <a:prstGeom prst="roundRect">
            <a:avLst>
              <a:gd name="adj" fmla="val 2362"/>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Shape 11"/>
          <p:cNvSpPr/>
          <p:nvPr/>
        </p:nvSpPr>
        <p:spPr>
          <a:xfrm>
            <a:off x="8449056" y="2212848"/>
            <a:ext cx="658368" cy="658368"/>
          </a:xfrm>
          <a:prstGeom prst="ellipse">
            <a:avLst/>
          </a:prstGeom>
          <a:solidFill>
            <a:srgbClr val="1C7293"/>
          </a:solidFill>
          <a:ln/>
        </p:spPr>
      </p:sp>
      <p:pic>
        <p:nvPicPr>
          <p:cNvPr id="16" name="Image 2" descr="icons/pen.png"/>
          <p:cNvPicPr>
            <a:picLocks noChangeAspect="1"/>
          </p:cNvPicPr>
          <p:nvPr/>
        </p:nvPicPr>
        <p:blipFill>
          <a:blip r:embed="rId5"/>
          <a:stretch>
            <a:fillRect/>
          </a:stretch>
        </p:blipFill>
        <p:spPr>
          <a:xfrm>
            <a:off x="8620232" y="2384024"/>
            <a:ext cx="316017" cy="316017"/>
          </a:xfrm>
          <a:prstGeom prst="rect">
            <a:avLst/>
          </a:prstGeom>
        </p:spPr>
      </p:pic>
      <p:sp>
        <p:nvSpPr>
          <p:cNvPr id="17" name="Text 12"/>
          <p:cNvSpPr txBox="1"/>
          <p:nvPr/>
        </p:nvSpPr>
        <p:spPr>
          <a:xfrm>
            <a:off x="9253728" y="2231136"/>
            <a:ext cx="2112264"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Drafting</a:t>
            </a:r>
            <a:endParaRPr lang="en-US" sz="1650" dirty="0"/>
          </a:p>
        </p:txBody>
      </p:sp>
      <p:sp>
        <p:nvSpPr>
          <p:cNvPr id="18" name="Text 13"/>
          <p:cNvSpPr txBox="1"/>
          <p:nvPr/>
        </p:nvSpPr>
        <p:spPr>
          <a:xfrm>
            <a:off x="8449056" y="2999232"/>
            <a:ext cx="2898648" cy="228600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Outline → Expand → Refine technical content</a:t>
            </a:r>
            <a:endParaRPr lang="en-US" sz="1200" dirty="0"/>
          </a:p>
        </p:txBody>
      </p:sp>
      <p:sp>
        <p:nvSpPr>
          <p:cNvPr id="19" name="Text 14"/>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Part 5 · Applying the Skills</a:t>
            </a:r>
            <a:endParaRPr lang="en-US" sz="950" dirty="0"/>
          </a:p>
        </p:txBody>
      </p:sp>
      <p:sp>
        <p:nvSpPr>
          <p:cNvPr id="20" name="Text 15"/>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48</a:t>
            </a:r>
            <a:endParaRPr lang="en-US" sz="9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5 · APPLYING THE SKILLS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Brainstorming: Generating Research Angles</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00" i="1" dirty="0">
                <a:solidFill>
                  <a:srgbClr val="8A94A0"/>
                </a:solidFill>
                <a:latin typeface="Calibri" pitchFamily="34" charset="0"/>
                <a:ea typeface="Calibri" pitchFamily="34" charset="-122"/>
                <a:cs typeface="Calibri" pitchFamily="34" charset="-120"/>
              </a:rPr>
              <a:t>Using GenAI to widen your options before you commit to a direction.</a:t>
            </a:r>
            <a:endParaRPr lang="en-US" sz="1400" dirty="0"/>
          </a:p>
        </p:txBody>
      </p:sp>
      <p:sp>
        <p:nvSpPr>
          <p:cNvPr id="5" name="Shape 3"/>
          <p:cNvSpPr/>
          <p:nvPr/>
        </p:nvSpPr>
        <p:spPr>
          <a:xfrm>
            <a:off x="548640" y="1965960"/>
            <a:ext cx="6720840" cy="2331720"/>
          </a:xfrm>
          <a:prstGeom prst="roundRect">
            <a:avLst>
              <a:gd name="adj" fmla="val 3529"/>
            </a:avLst>
          </a:prstGeom>
          <a:solidFill>
            <a:srgbClr val="1B2A4A"/>
          </a:solidFill>
          <a:ln/>
        </p:spPr>
      </p:sp>
      <p:pic>
        <p:nvPicPr>
          <p:cNvPr id="6" name="Image 0" descr="icons/quote.png"/>
          <p:cNvPicPr>
            <a:picLocks noChangeAspect="1"/>
          </p:cNvPicPr>
          <p:nvPr/>
        </p:nvPicPr>
        <p:blipFill>
          <a:blip r:embed="rId3"/>
          <a:stretch>
            <a:fillRect/>
          </a:stretch>
        </p:blipFill>
        <p:spPr>
          <a:xfrm>
            <a:off x="841248" y="2194560"/>
            <a:ext cx="274320" cy="274320"/>
          </a:xfrm>
          <a:prstGeom prst="rect">
            <a:avLst/>
          </a:prstGeom>
        </p:spPr>
      </p:pic>
      <p:sp>
        <p:nvSpPr>
          <p:cNvPr id="7" name="Text 4"/>
          <p:cNvSpPr txBox="1"/>
          <p:nvPr/>
        </p:nvSpPr>
        <p:spPr>
          <a:xfrm>
            <a:off x="1207008" y="2167128"/>
            <a:ext cx="3657600" cy="274320"/>
          </a:xfrm>
          <a:prstGeom prst="rect">
            <a:avLst/>
          </a:prstGeom>
          <a:noFill/>
          <a:ln/>
        </p:spPr>
        <p:txBody>
          <a:bodyPr wrap="square" lIns="0" tIns="0" rIns="0" bIns="0" rtlCol="0" anchor="ctr"/>
          <a:lstStyle/>
          <a:p>
            <a:pPr marL="0" indent="0">
              <a:buNone/>
            </a:pPr>
            <a:r>
              <a:rPr lang="en-US" sz="1050" b="1" kern="0" spc="140" dirty="0">
                <a:solidFill>
                  <a:srgbClr val="9FD6E8"/>
                </a:solidFill>
                <a:latin typeface="Calibri" pitchFamily="34" charset="0"/>
                <a:ea typeface="Calibri" pitchFamily="34" charset="-122"/>
                <a:cs typeface="Calibri" pitchFamily="34" charset="-120"/>
              </a:rPr>
              <a:t>PROMPT</a:t>
            </a:r>
            <a:endParaRPr lang="en-US" sz="1050" dirty="0"/>
          </a:p>
        </p:txBody>
      </p:sp>
      <p:sp>
        <p:nvSpPr>
          <p:cNvPr id="8" name="Text 5"/>
          <p:cNvSpPr txBox="1"/>
          <p:nvPr/>
        </p:nvSpPr>
        <p:spPr>
          <a:xfrm>
            <a:off x="868680" y="2542032"/>
            <a:ext cx="6172200" cy="1645920"/>
          </a:xfrm>
          <a:prstGeom prst="rect">
            <a:avLst/>
          </a:prstGeom>
          <a:noFill/>
          <a:ln/>
        </p:spPr>
        <p:txBody>
          <a:bodyPr wrap="square" lIns="0" tIns="0" rIns="0" bIns="0" rtlCol="0" anchor="t"/>
          <a:lstStyle/>
          <a:p>
            <a:pPr marL="0" indent="0">
              <a:lnSpc>
                <a:spcPct val="130000"/>
              </a:lnSpc>
              <a:buNone/>
            </a:pPr>
            <a:r>
              <a:rPr lang="en-US" sz="1250" dirty="0">
                <a:solidFill>
                  <a:srgbClr val="E7EEF3"/>
                </a:solidFill>
                <a:latin typeface="Courier New" pitchFamily="34" charset="0"/>
                <a:ea typeface="Courier New" pitchFamily="34" charset="-122"/>
                <a:cs typeface="Courier New" pitchFamily="34" charset="-120"/>
              </a:rPr>
              <a:t>"I am exploring research directions on food security in urban areas. Generate 8 distinct, specific research questions, spanning at least 3 different disciplinary angles (e.g. economics, policy, environmental science)."</a:t>
            </a:r>
            <a:endParaRPr lang="en-US" sz="1250" dirty="0"/>
          </a:p>
        </p:txBody>
      </p:sp>
      <p:sp>
        <p:nvSpPr>
          <p:cNvPr id="9" name="Shape 6"/>
          <p:cNvSpPr/>
          <p:nvPr/>
        </p:nvSpPr>
        <p:spPr>
          <a:xfrm>
            <a:off x="548640" y="4480560"/>
            <a:ext cx="6720840" cy="1645920"/>
          </a:xfrm>
          <a:prstGeom prst="roundRect">
            <a:avLst>
              <a:gd name="adj" fmla="val 500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Text 7"/>
          <p:cNvSpPr txBox="1"/>
          <p:nvPr/>
        </p:nvSpPr>
        <p:spPr>
          <a:xfrm>
            <a:off x="841248" y="4663440"/>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TYPICAL AI RESPONSE</a:t>
            </a:r>
            <a:endParaRPr lang="en-US" sz="1050" dirty="0"/>
          </a:p>
        </p:txBody>
      </p:sp>
      <p:sp>
        <p:nvSpPr>
          <p:cNvPr id="11" name="Text 8"/>
          <p:cNvSpPr txBox="1"/>
          <p:nvPr/>
        </p:nvSpPr>
        <p:spPr>
          <a:xfrm>
            <a:off x="841248" y="4974336"/>
            <a:ext cx="6172200" cy="1051560"/>
          </a:xfrm>
          <a:prstGeom prst="rect">
            <a:avLst/>
          </a:prstGeom>
          <a:noFill/>
          <a:ln/>
        </p:spPr>
        <p:txBody>
          <a:bodyPr wrap="square" lIns="0" tIns="0" rIns="0" bIns="0" rtlCol="0" anchor="t"/>
          <a:lstStyle/>
          <a:p>
            <a:pPr marL="0" indent="0">
              <a:lnSpc>
                <a:spcPct val="122000"/>
              </a:lnSpc>
              <a:buNone/>
            </a:pPr>
            <a:r>
              <a:rPr lang="en-US" sz="1200" i="1" dirty="0">
                <a:solidFill>
                  <a:srgbClr val="55606C"/>
                </a:solidFill>
                <a:latin typeface="Calibri" pitchFamily="34" charset="0"/>
                <a:ea typeface="Calibri" pitchFamily="34" charset="-122"/>
                <a:cs typeface="Calibri" pitchFamily="34" charset="-120"/>
              </a:rPr>
              <a:t>Eight concrete, specific research questions grouped loosely by disciplinary lens — a wide menu of starting points rather than one narrow suggestion.</a:t>
            </a:r>
            <a:endParaRPr lang="en-US" sz="1200" dirty="0"/>
          </a:p>
        </p:txBody>
      </p:sp>
      <p:sp>
        <p:nvSpPr>
          <p:cNvPr id="12" name="Shape 9"/>
          <p:cNvSpPr/>
          <p:nvPr/>
        </p:nvSpPr>
        <p:spPr>
          <a:xfrm>
            <a:off x="7635240" y="1965960"/>
            <a:ext cx="1143000" cy="1143000"/>
          </a:xfrm>
          <a:prstGeom prst="ellipse">
            <a:avLst/>
          </a:prstGeom>
          <a:solidFill>
            <a:srgbClr val="1C7293"/>
          </a:solidFill>
          <a:ln/>
        </p:spPr>
      </p:sp>
      <p:pic>
        <p:nvPicPr>
          <p:cNvPr id="13" name="Image 1" descr="icons/lightbulb.png"/>
          <p:cNvPicPr>
            <a:picLocks noChangeAspect="1"/>
          </p:cNvPicPr>
          <p:nvPr/>
        </p:nvPicPr>
        <p:blipFill>
          <a:blip r:embed="rId4"/>
          <a:stretch>
            <a:fillRect/>
          </a:stretch>
        </p:blipFill>
        <p:spPr>
          <a:xfrm>
            <a:off x="7932420" y="2263140"/>
            <a:ext cx="548640" cy="548640"/>
          </a:xfrm>
          <a:prstGeom prst="rect">
            <a:avLst/>
          </a:prstGeom>
        </p:spPr>
      </p:pic>
      <p:sp>
        <p:nvSpPr>
          <p:cNvPr id="14" name="Shape 10"/>
          <p:cNvSpPr/>
          <p:nvPr/>
        </p:nvSpPr>
        <p:spPr>
          <a:xfrm>
            <a:off x="7406640" y="3337560"/>
            <a:ext cx="420624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Text 11"/>
          <p:cNvSpPr txBox="1"/>
          <p:nvPr/>
        </p:nvSpPr>
        <p:spPr>
          <a:xfrm>
            <a:off x="7699248" y="3547872"/>
            <a:ext cx="36576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TIPS FOR BETTER BRAINSTORMING</a:t>
            </a:r>
            <a:endParaRPr lang="en-US" sz="1050" dirty="0"/>
          </a:p>
        </p:txBody>
      </p:sp>
      <p:sp>
        <p:nvSpPr>
          <p:cNvPr id="16" name="Text 12"/>
          <p:cNvSpPr txBox="1"/>
          <p:nvPr/>
        </p:nvSpPr>
        <p:spPr>
          <a:xfrm>
            <a:off x="7699248" y="3858768"/>
            <a:ext cx="374904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Ask explicitly for variety/breadth, not just quantity</a:t>
            </a:r>
            <a:endParaRPr lang="en-US" sz="120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Request specific angles or lenses to avoid repetitive ideas</a:t>
            </a:r>
            <a:endParaRPr lang="en-US" sz="120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Treat the list as raw material to filter, not a final answer</a:t>
            </a:r>
            <a:endParaRPr lang="en-US" sz="1200" dirty="0"/>
          </a:p>
        </p:txBody>
      </p:sp>
      <p:sp>
        <p:nvSpPr>
          <p:cNvPr id="17" name="Text 1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Applying the Skills</a:t>
            </a:r>
            <a:endParaRPr lang="en-US" sz="950" dirty="0"/>
          </a:p>
        </p:txBody>
      </p:sp>
      <p:sp>
        <p:nvSpPr>
          <p:cNvPr id="18" name="Text 1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49</a:t>
            </a:r>
            <a:endParaRPr lang="en-US" sz="9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5 · APPLYING THE SKILLS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Summarising: Condensing a Dense Paper</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00" i="1" dirty="0">
                <a:solidFill>
                  <a:srgbClr val="8A94A0"/>
                </a:solidFill>
                <a:latin typeface="Calibri" pitchFamily="34" charset="0"/>
                <a:ea typeface="Calibri" pitchFamily="34" charset="-122"/>
                <a:cs typeface="Calibri" pitchFamily="34" charset="-120"/>
              </a:rPr>
              <a:t>Using GenAI to extract the essentials from a long academic text.</a:t>
            </a:r>
            <a:endParaRPr lang="en-US" sz="1400" dirty="0"/>
          </a:p>
        </p:txBody>
      </p:sp>
      <p:sp>
        <p:nvSpPr>
          <p:cNvPr id="5" name="Shape 3"/>
          <p:cNvSpPr/>
          <p:nvPr/>
        </p:nvSpPr>
        <p:spPr>
          <a:xfrm>
            <a:off x="548640" y="1965960"/>
            <a:ext cx="6720840" cy="2331720"/>
          </a:xfrm>
          <a:prstGeom prst="roundRect">
            <a:avLst>
              <a:gd name="adj" fmla="val 3529"/>
            </a:avLst>
          </a:prstGeom>
          <a:solidFill>
            <a:srgbClr val="1B2A4A"/>
          </a:solidFill>
          <a:ln/>
        </p:spPr>
      </p:sp>
      <p:pic>
        <p:nvPicPr>
          <p:cNvPr id="6" name="Image 0" descr="icons/quote.png"/>
          <p:cNvPicPr>
            <a:picLocks noChangeAspect="1"/>
          </p:cNvPicPr>
          <p:nvPr/>
        </p:nvPicPr>
        <p:blipFill>
          <a:blip r:embed="rId3"/>
          <a:stretch>
            <a:fillRect/>
          </a:stretch>
        </p:blipFill>
        <p:spPr>
          <a:xfrm>
            <a:off x="841248" y="2194560"/>
            <a:ext cx="274320" cy="274320"/>
          </a:xfrm>
          <a:prstGeom prst="rect">
            <a:avLst/>
          </a:prstGeom>
        </p:spPr>
      </p:pic>
      <p:sp>
        <p:nvSpPr>
          <p:cNvPr id="7" name="Text 4"/>
          <p:cNvSpPr txBox="1"/>
          <p:nvPr/>
        </p:nvSpPr>
        <p:spPr>
          <a:xfrm>
            <a:off x="1207008" y="2167128"/>
            <a:ext cx="3657600" cy="274320"/>
          </a:xfrm>
          <a:prstGeom prst="rect">
            <a:avLst/>
          </a:prstGeom>
          <a:noFill/>
          <a:ln/>
        </p:spPr>
        <p:txBody>
          <a:bodyPr wrap="square" lIns="0" tIns="0" rIns="0" bIns="0" rtlCol="0" anchor="ctr"/>
          <a:lstStyle/>
          <a:p>
            <a:pPr marL="0" indent="0">
              <a:buNone/>
            </a:pPr>
            <a:r>
              <a:rPr lang="en-US" sz="1050" b="1" kern="0" spc="140" dirty="0">
                <a:solidFill>
                  <a:srgbClr val="9FD6E8"/>
                </a:solidFill>
                <a:latin typeface="Calibri" pitchFamily="34" charset="0"/>
                <a:ea typeface="Calibri" pitchFamily="34" charset="-122"/>
                <a:cs typeface="Calibri" pitchFamily="34" charset="-120"/>
              </a:rPr>
              <a:t>PROMPT</a:t>
            </a:r>
            <a:endParaRPr lang="en-US" sz="1050" dirty="0"/>
          </a:p>
        </p:txBody>
      </p:sp>
      <p:sp>
        <p:nvSpPr>
          <p:cNvPr id="8" name="Text 5"/>
          <p:cNvSpPr txBox="1"/>
          <p:nvPr/>
        </p:nvSpPr>
        <p:spPr>
          <a:xfrm>
            <a:off x="868680" y="2542032"/>
            <a:ext cx="6172200" cy="1645920"/>
          </a:xfrm>
          <a:prstGeom prst="rect">
            <a:avLst/>
          </a:prstGeom>
          <a:noFill/>
          <a:ln/>
        </p:spPr>
        <p:txBody>
          <a:bodyPr wrap="square" lIns="0" tIns="0" rIns="0" bIns="0" rtlCol="0" anchor="t"/>
          <a:lstStyle/>
          <a:p>
            <a:pPr marL="0" indent="0">
              <a:lnSpc>
                <a:spcPct val="130000"/>
              </a:lnSpc>
              <a:buNone/>
            </a:pPr>
            <a:r>
              <a:rPr lang="en-US" sz="1250" dirty="0">
                <a:solidFill>
                  <a:srgbClr val="E7EEF3"/>
                </a:solidFill>
                <a:latin typeface="Courier New" pitchFamily="34" charset="0"/>
                <a:ea typeface="Courier New" pitchFamily="34" charset="-122"/>
                <a:cs typeface="Courier New" pitchFamily="34" charset="-120"/>
              </a:rPr>
              <a:t>"Summarise the attached paper in 150 words, structured as: (1) research question, (2) method, (3) key finding, (4) one limitation the authors note. Do not include any direct quotations."</a:t>
            </a:r>
            <a:endParaRPr lang="en-US" sz="1250" dirty="0"/>
          </a:p>
        </p:txBody>
      </p:sp>
      <p:sp>
        <p:nvSpPr>
          <p:cNvPr id="9" name="Shape 6"/>
          <p:cNvSpPr/>
          <p:nvPr/>
        </p:nvSpPr>
        <p:spPr>
          <a:xfrm>
            <a:off x="548640" y="4480560"/>
            <a:ext cx="6720840" cy="1645920"/>
          </a:xfrm>
          <a:prstGeom prst="roundRect">
            <a:avLst>
              <a:gd name="adj" fmla="val 500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Text 7"/>
          <p:cNvSpPr txBox="1"/>
          <p:nvPr/>
        </p:nvSpPr>
        <p:spPr>
          <a:xfrm>
            <a:off x="841248" y="4663440"/>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TYPICAL AI RESPONSE</a:t>
            </a:r>
            <a:endParaRPr lang="en-US" sz="1050" dirty="0"/>
          </a:p>
        </p:txBody>
      </p:sp>
      <p:sp>
        <p:nvSpPr>
          <p:cNvPr id="11" name="Text 8"/>
          <p:cNvSpPr txBox="1"/>
          <p:nvPr/>
        </p:nvSpPr>
        <p:spPr>
          <a:xfrm>
            <a:off x="841248" y="4974336"/>
            <a:ext cx="6172200" cy="1051560"/>
          </a:xfrm>
          <a:prstGeom prst="rect">
            <a:avLst/>
          </a:prstGeom>
          <a:noFill/>
          <a:ln/>
        </p:spPr>
        <p:txBody>
          <a:bodyPr wrap="square" lIns="0" tIns="0" rIns="0" bIns="0" rtlCol="0" anchor="t"/>
          <a:lstStyle/>
          <a:p>
            <a:pPr marL="0" indent="0">
              <a:lnSpc>
                <a:spcPct val="122000"/>
              </a:lnSpc>
              <a:buNone/>
            </a:pPr>
            <a:r>
              <a:rPr lang="en-US" sz="1200" i="1" dirty="0">
                <a:solidFill>
                  <a:srgbClr val="55606C"/>
                </a:solidFill>
                <a:latin typeface="Calibri" pitchFamily="34" charset="0"/>
                <a:ea typeface="Calibri" pitchFamily="34" charset="-122"/>
                <a:cs typeface="Calibri" pitchFamily="34" charset="-120"/>
              </a:rPr>
              <a:t>A tight, four-part summary that hits exactly the structure requested — directly usable in a reading list annotation or literature review.</a:t>
            </a:r>
            <a:endParaRPr lang="en-US" sz="1200" dirty="0"/>
          </a:p>
        </p:txBody>
      </p:sp>
      <p:sp>
        <p:nvSpPr>
          <p:cNvPr id="12" name="Shape 9"/>
          <p:cNvSpPr/>
          <p:nvPr/>
        </p:nvSpPr>
        <p:spPr>
          <a:xfrm>
            <a:off x="7635240" y="1965960"/>
            <a:ext cx="1143000" cy="1143000"/>
          </a:xfrm>
          <a:prstGeom prst="ellipse">
            <a:avLst/>
          </a:prstGeom>
          <a:solidFill>
            <a:srgbClr val="1C7293"/>
          </a:solidFill>
          <a:ln/>
        </p:spPr>
      </p:sp>
      <p:pic>
        <p:nvPicPr>
          <p:cNvPr id="13" name="Image 1" descr="icons/filealt.png"/>
          <p:cNvPicPr>
            <a:picLocks noChangeAspect="1"/>
          </p:cNvPicPr>
          <p:nvPr/>
        </p:nvPicPr>
        <p:blipFill>
          <a:blip r:embed="rId4"/>
          <a:stretch>
            <a:fillRect/>
          </a:stretch>
        </p:blipFill>
        <p:spPr>
          <a:xfrm>
            <a:off x="7932420" y="2263140"/>
            <a:ext cx="548640" cy="548640"/>
          </a:xfrm>
          <a:prstGeom prst="rect">
            <a:avLst/>
          </a:prstGeom>
        </p:spPr>
      </p:pic>
      <p:sp>
        <p:nvSpPr>
          <p:cNvPr id="14" name="Shape 10"/>
          <p:cNvSpPr/>
          <p:nvPr/>
        </p:nvSpPr>
        <p:spPr>
          <a:xfrm>
            <a:off x="7406640" y="3337560"/>
            <a:ext cx="420624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Text 11"/>
          <p:cNvSpPr txBox="1"/>
          <p:nvPr/>
        </p:nvSpPr>
        <p:spPr>
          <a:xfrm>
            <a:off x="7699248" y="3547872"/>
            <a:ext cx="36576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TIPS FOR BETTER SUMMARISING</a:t>
            </a:r>
            <a:endParaRPr lang="en-US" sz="1050" dirty="0"/>
          </a:p>
        </p:txBody>
      </p:sp>
      <p:sp>
        <p:nvSpPr>
          <p:cNvPr id="16" name="Text 12"/>
          <p:cNvSpPr txBox="1"/>
          <p:nvPr/>
        </p:nvSpPr>
        <p:spPr>
          <a:xfrm>
            <a:off x="7699248" y="3858768"/>
            <a:ext cx="374904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Specify exactly which elements the summary must include</a:t>
            </a:r>
            <a:endParaRPr lang="en-US" sz="120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Set a word limit to force genuine condensation, not copying</a:t>
            </a:r>
            <a:endParaRPr lang="en-US" sz="120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Always verify technical details against the original source</a:t>
            </a:r>
            <a:endParaRPr lang="en-US" sz="1200" dirty="0"/>
          </a:p>
        </p:txBody>
      </p:sp>
      <p:sp>
        <p:nvSpPr>
          <p:cNvPr id="17" name="Text 1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Applying the Skills</a:t>
            </a:r>
            <a:endParaRPr lang="en-US" sz="950" dirty="0"/>
          </a:p>
        </p:txBody>
      </p:sp>
      <p:sp>
        <p:nvSpPr>
          <p:cNvPr id="18" name="Text 1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50</a:t>
            </a:r>
            <a:endParaRPr lang="en-US" sz="9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5 · APPLYING THE SKILLS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Drafting: Technical Content from an Outline</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00" i="1" dirty="0">
                <a:solidFill>
                  <a:srgbClr val="8A94A0"/>
                </a:solidFill>
                <a:latin typeface="Calibri" pitchFamily="34" charset="0"/>
                <a:ea typeface="Calibri" pitchFamily="34" charset="-122"/>
                <a:cs typeface="Calibri" pitchFamily="34" charset="-120"/>
              </a:rPr>
              <a:t>Using GenAI to turn a rough outline into expanded technical prose.</a:t>
            </a:r>
            <a:endParaRPr lang="en-US" sz="1400" dirty="0"/>
          </a:p>
        </p:txBody>
      </p:sp>
      <p:sp>
        <p:nvSpPr>
          <p:cNvPr id="5" name="Shape 3"/>
          <p:cNvSpPr/>
          <p:nvPr/>
        </p:nvSpPr>
        <p:spPr>
          <a:xfrm>
            <a:off x="548640" y="1965960"/>
            <a:ext cx="6720840" cy="2331720"/>
          </a:xfrm>
          <a:prstGeom prst="roundRect">
            <a:avLst>
              <a:gd name="adj" fmla="val 3529"/>
            </a:avLst>
          </a:prstGeom>
          <a:solidFill>
            <a:srgbClr val="1B2A4A"/>
          </a:solidFill>
          <a:ln/>
        </p:spPr>
      </p:sp>
      <p:pic>
        <p:nvPicPr>
          <p:cNvPr id="6" name="Image 0" descr="icons/quote.png"/>
          <p:cNvPicPr>
            <a:picLocks noChangeAspect="1"/>
          </p:cNvPicPr>
          <p:nvPr/>
        </p:nvPicPr>
        <p:blipFill>
          <a:blip r:embed="rId3"/>
          <a:stretch>
            <a:fillRect/>
          </a:stretch>
        </p:blipFill>
        <p:spPr>
          <a:xfrm>
            <a:off x="841248" y="2194560"/>
            <a:ext cx="274320" cy="274320"/>
          </a:xfrm>
          <a:prstGeom prst="rect">
            <a:avLst/>
          </a:prstGeom>
        </p:spPr>
      </p:pic>
      <p:sp>
        <p:nvSpPr>
          <p:cNvPr id="7" name="Text 4"/>
          <p:cNvSpPr txBox="1"/>
          <p:nvPr/>
        </p:nvSpPr>
        <p:spPr>
          <a:xfrm>
            <a:off x="1207008" y="2167128"/>
            <a:ext cx="3657600" cy="274320"/>
          </a:xfrm>
          <a:prstGeom prst="rect">
            <a:avLst/>
          </a:prstGeom>
          <a:noFill/>
          <a:ln/>
        </p:spPr>
        <p:txBody>
          <a:bodyPr wrap="square" lIns="0" tIns="0" rIns="0" bIns="0" rtlCol="0" anchor="ctr"/>
          <a:lstStyle/>
          <a:p>
            <a:pPr marL="0" indent="0">
              <a:buNone/>
            </a:pPr>
            <a:r>
              <a:rPr lang="en-US" sz="1050" b="1" kern="0" spc="140" dirty="0">
                <a:solidFill>
                  <a:srgbClr val="9FD6E8"/>
                </a:solidFill>
                <a:latin typeface="Calibri" pitchFamily="34" charset="0"/>
                <a:ea typeface="Calibri" pitchFamily="34" charset="-122"/>
                <a:cs typeface="Calibri" pitchFamily="34" charset="-120"/>
              </a:rPr>
              <a:t>PROMPT</a:t>
            </a:r>
            <a:endParaRPr lang="en-US" sz="1050" dirty="0"/>
          </a:p>
        </p:txBody>
      </p:sp>
      <p:sp>
        <p:nvSpPr>
          <p:cNvPr id="8" name="Text 5"/>
          <p:cNvSpPr txBox="1"/>
          <p:nvPr/>
        </p:nvSpPr>
        <p:spPr>
          <a:xfrm>
            <a:off x="868680" y="2542032"/>
            <a:ext cx="6172200" cy="1645920"/>
          </a:xfrm>
          <a:prstGeom prst="rect">
            <a:avLst/>
          </a:prstGeom>
          <a:noFill/>
          <a:ln/>
        </p:spPr>
        <p:txBody>
          <a:bodyPr wrap="square" lIns="0" tIns="0" rIns="0" bIns="0" rtlCol="0" anchor="t"/>
          <a:lstStyle/>
          <a:p>
            <a:pPr marL="0" indent="0">
              <a:lnSpc>
                <a:spcPct val="130000"/>
              </a:lnSpc>
              <a:buNone/>
            </a:pPr>
            <a:r>
              <a:rPr lang="en-US" sz="1250" dirty="0">
                <a:solidFill>
                  <a:srgbClr val="E7EEF3"/>
                </a:solidFill>
                <a:latin typeface="Courier New" pitchFamily="34" charset="0"/>
                <a:ea typeface="Courier New" pitchFamily="34" charset="-122"/>
                <a:cs typeface="Courier New" pitchFamily="34" charset="-120"/>
              </a:rPr>
              <a:t>"Using this outline — (1) definition of entropy, (2) second law of thermodynamics, (3) one worked example — draft a 300-word explanation for an undergraduate engineering audience. Use precise technical language and define any term on first use."</a:t>
            </a:r>
            <a:endParaRPr lang="en-US" sz="1250" dirty="0"/>
          </a:p>
        </p:txBody>
      </p:sp>
      <p:sp>
        <p:nvSpPr>
          <p:cNvPr id="9" name="Shape 6"/>
          <p:cNvSpPr/>
          <p:nvPr/>
        </p:nvSpPr>
        <p:spPr>
          <a:xfrm>
            <a:off x="548640" y="4480560"/>
            <a:ext cx="6720840" cy="1645920"/>
          </a:xfrm>
          <a:prstGeom prst="roundRect">
            <a:avLst>
              <a:gd name="adj" fmla="val 500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Text 7"/>
          <p:cNvSpPr txBox="1"/>
          <p:nvPr/>
        </p:nvSpPr>
        <p:spPr>
          <a:xfrm>
            <a:off x="841248" y="4663440"/>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TYPICAL AI RESPONSE</a:t>
            </a:r>
            <a:endParaRPr lang="en-US" sz="1050" dirty="0"/>
          </a:p>
        </p:txBody>
      </p:sp>
      <p:sp>
        <p:nvSpPr>
          <p:cNvPr id="11" name="Text 8"/>
          <p:cNvSpPr txBox="1"/>
          <p:nvPr/>
        </p:nvSpPr>
        <p:spPr>
          <a:xfrm>
            <a:off x="841248" y="4974336"/>
            <a:ext cx="6172200" cy="1051560"/>
          </a:xfrm>
          <a:prstGeom prst="rect">
            <a:avLst/>
          </a:prstGeom>
          <a:noFill/>
          <a:ln/>
        </p:spPr>
        <p:txBody>
          <a:bodyPr wrap="square" lIns="0" tIns="0" rIns="0" bIns="0" rtlCol="0" anchor="t"/>
          <a:lstStyle/>
          <a:p>
            <a:pPr marL="0" indent="0">
              <a:lnSpc>
                <a:spcPct val="122000"/>
              </a:lnSpc>
              <a:buNone/>
            </a:pPr>
            <a:r>
              <a:rPr lang="en-US" sz="1200" i="1" dirty="0">
                <a:solidFill>
                  <a:srgbClr val="55606C"/>
                </a:solidFill>
                <a:latin typeface="Calibri" pitchFamily="34" charset="0"/>
                <a:ea typeface="Calibri" pitchFamily="34" charset="-122"/>
                <a:cs typeface="Calibri" pitchFamily="34" charset="-120"/>
              </a:rPr>
              <a:t>A 300-word technical explanation that expands each outline point in order, defines terms on first use, and matches the specified engineering-undergraduate level.</a:t>
            </a:r>
            <a:endParaRPr lang="en-US" sz="1200" dirty="0"/>
          </a:p>
        </p:txBody>
      </p:sp>
      <p:sp>
        <p:nvSpPr>
          <p:cNvPr id="12" name="Shape 9"/>
          <p:cNvSpPr/>
          <p:nvPr/>
        </p:nvSpPr>
        <p:spPr>
          <a:xfrm>
            <a:off x="7635240" y="1965960"/>
            <a:ext cx="1143000" cy="1143000"/>
          </a:xfrm>
          <a:prstGeom prst="ellipse">
            <a:avLst/>
          </a:prstGeom>
          <a:solidFill>
            <a:srgbClr val="1C7293"/>
          </a:solidFill>
          <a:ln/>
        </p:spPr>
      </p:sp>
      <p:pic>
        <p:nvPicPr>
          <p:cNvPr id="13" name="Image 1" descr="icons/pen.png"/>
          <p:cNvPicPr>
            <a:picLocks noChangeAspect="1"/>
          </p:cNvPicPr>
          <p:nvPr/>
        </p:nvPicPr>
        <p:blipFill>
          <a:blip r:embed="rId4"/>
          <a:stretch>
            <a:fillRect/>
          </a:stretch>
        </p:blipFill>
        <p:spPr>
          <a:xfrm>
            <a:off x="7932420" y="2263140"/>
            <a:ext cx="548640" cy="548640"/>
          </a:xfrm>
          <a:prstGeom prst="rect">
            <a:avLst/>
          </a:prstGeom>
        </p:spPr>
      </p:pic>
      <p:sp>
        <p:nvSpPr>
          <p:cNvPr id="14" name="Shape 10"/>
          <p:cNvSpPr/>
          <p:nvPr/>
        </p:nvSpPr>
        <p:spPr>
          <a:xfrm>
            <a:off x="7406640" y="3337560"/>
            <a:ext cx="420624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Text 11"/>
          <p:cNvSpPr txBox="1"/>
          <p:nvPr/>
        </p:nvSpPr>
        <p:spPr>
          <a:xfrm>
            <a:off x="7699248" y="3547872"/>
            <a:ext cx="36576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TIPS FOR BETTER DRAFTING</a:t>
            </a:r>
            <a:endParaRPr lang="en-US" sz="1050" dirty="0"/>
          </a:p>
        </p:txBody>
      </p:sp>
      <p:sp>
        <p:nvSpPr>
          <p:cNvPr id="16" name="Text 12"/>
          <p:cNvSpPr txBox="1"/>
          <p:nvPr/>
        </p:nvSpPr>
        <p:spPr>
          <a:xfrm>
            <a:off x="7699248" y="3858768"/>
            <a:ext cx="374904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Provide the outline yourself — don’t let the AI choose structure</a:t>
            </a:r>
            <a:endParaRPr lang="en-US" sz="120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Specify the technical level precisely to control jargon use</a:t>
            </a:r>
            <a:endParaRPr lang="en-US" sz="120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Always treat the draft as a first pass requiring expert review</a:t>
            </a:r>
            <a:endParaRPr lang="en-US" sz="1200" dirty="0"/>
          </a:p>
        </p:txBody>
      </p:sp>
      <p:sp>
        <p:nvSpPr>
          <p:cNvPr id="17" name="Text 1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Applying the Skills</a:t>
            </a:r>
            <a:endParaRPr lang="en-US" sz="950" dirty="0"/>
          </a:p>
        </p:txBody>
      </p:sp>
      <p:sp>
        <p:nvSpPr>
          <p:cNvPr id="18" name="Text 1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51</a:t>
            </a:r>
            <a:endParaRPr lang="en-US" sz="9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5 · APPLYING THE SKILLS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Worked Example: Narrowing a Brainstorm</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00" i="1" dirty="0">
                <a:solidFill>
                  <a:srgbClr val="8A94A0"/>
                </a:solidFill>
                <a:latin typeface="Calibri" pitchFamily="34" charset="0"/>
                <a:ea typeface="Calibri" pitchFamily="34" charset="-122"/>
                <a:cs typeface="Calibri" pitchFamily="34" charset="-120"/>
              </a:rPr>
              <a:t>A natural follow-up once an initial list of ideas is on the table.</a:t>
            </a:r>
            <a:endParaRPr lang="en-US" sz="1400" dirty="0"/>
          </a:p>
        </p:txBody>
      </p:sp>
      <p:sp>
        <p:nvSpPr>
          <p:cNvPr id="5" name="Shape 3"/>
          <p:cNvSpPr/>
          <p:nvPr/>
        </p:nvSpPr>
        <p:spPr>
          <a:xfrm>
            <a:off x="548640" y="1965960"/>
            <a:ext cx="6720840" cy="2331720"/>
          </a:xfrm>
          <a:prstGeom prst="roundRect">
            <a:avLst>
              <a:gd name="adj" fmla="val 3529"/>
            </a:avLst>
          </a:prstGeom>
          <a:solidFill>
            <a:srgbClr val="1B2A4A"/>
          </a:solidFill>
          <a:ln/>
        </p:spPr>
      </p:sp>
      <p:pic>
        <p:nvPicPr>
          <p:cNvPr id="6" name="Image 0" descr="icons/quote.png"/>
          <p:cNvPicPr>
            <a:picLocks noChangeAspect="1"/>
          </p:cNvPicPr>
          <p:nvPr/>
        </p:nvPicPr>
        <p:blipFill>
          <a:blip r:embed="rId3"/>
          <a:stretch>
            <a:fillRect/>
          </a:stretch>
        </p:blipFill>
        <p:spPr>
          <a:xfrm>
            <a:off x="841248" y="2194560"/>
            <a:ext cx="274320" cy="274320"/>
          </a:xfrm>
          <a:prstGeom prst="rect">
            <a:avLst/>
          </a:prstGeom>
        </p:spPr>
      </p:pic>
      <p:sp>
        <p:nvSpPr>
          <p:cNvPr id="7" name="Text 4"/>
          <p:cNvSpPr txBox="1"/>
          <p:nvPr/>
        </p:nvSpPr>
        <p:spPr>
          <a:xfrm>
            <a:off x="1207008" y="2167128"/>
            <a:ext cx="3657600" cy="274320"/>
          </a:xfrm>
          <a:prstGeom prst="rect">
            <a:avLst/>
          </a:prstGeom>
          <a:noFill/>
          <a:ln/>
        </p:spPr>
        <p:txBody>
          <a:bodyPr wrap="square" lIns="0" tIns="0" rIns="0" bIns="0" rtlCol="0" anchor="ctr"/>
          <a:lstStyle/>
          <a:p>
            <a:pPr marL="0" indent="0">
              <a:buNone/>
            </a:pPr>
            <a:r>
              <a:rPr lang="en-US" sz="1050" b="1" kern="0" spc="140" dirty="0">
                <a:solidFill>
                  <a:srgbClr val="9FD6E8"/>
                </a:solidFill>
                <a:latin typeface="Calibri" pitchFamily="34" charset="0"/>
                <a:ea typeface="Calibri" pitchFamily="34" charset="-122"/>
                <a:cs typeface="Calibri" pitchFamily="34" charset="-120"/>
              </a:rPr>
              <a:t>FOLLOW-UP PROMPT</a:t>
            </a:r>
            <a:endParaRPr lang="en-US" sz="1050" dirty="0"/>
          </a:p>
        </p:txBody>
      </p:sp>
      <p:sp>
        <p:nvSpPr>
          <p:cNvPr id="8" name="Text 5"/>
          <p:cNvSpPr txBox="1"/>
          <p:nvPr/>
        </p:nvSpPr>
        <p:spPr>
          <a:xfrm>
            <a:off x="868680" y="2542032"/>
            <a:ext cx="6172200" cy="1645920"/>
          </a:xfrm>
          <a:prstGeom prst="rect">
            <a:avLst/>
          </a:prstGeom>
          <a:noFill/>
          <a:ln/>
        </p:spPr>
        <p:txBody>
          <a:bodyPr wrap="square" lIns="0" tIns="0" rIns="0" bIns="0" rtlCol="0" anchor="t"/>
          <a:lstStyle/>
          <a:p>
            <a:pPr marL="0" indent="0">
              <a:lnSpc>
                <a:spcPct val="130000"/>
              </a:lnSpc>
              <a:buNone/>
            </a:pPr>
            <a:r>
              <a:rPr lang="en-US" sz="1250" dirty="0">
                <a:solidFill>
                  <a:srgbClr val="E7EEF3"/>
                </a:solidFill>
                <a:latin typeface="Courier New" pitchFamily="34" charset="0"/>
                <a:ea typeface="Courier New" pitchFamily="34" charset="-122"/>
                <a:cs typeface="Courier New" pitchFamily="34" charset="-120"/>
              </a:rPr>
              <a:t>"From the 8 research questions above, identify the 3 that would be most feasible for a single-semester undergraduate research project, and briefly explain why for each."</a:t>
            </a:r>
            <a:endParaRPr lang="en-US" sz="1250" dirty="0"/>
          </a:p>
        </p:txBody>
      </p:sp>
      <p:sp>
        <p:nvSpPr>
          <p:cNvPr id="9" name="Shape 6"/>
          <p:cNvSpPr/>
          <p:nvPr/>
        </p:nvSpPr>
        <p:spPr>
          <a:xfrm>
            <a:off x="548640" y="4480560"/>
            <a:ext cx="6720840" cy="1645920"/>
          </a:xfrm>
          <a:prstGeom prst="roundRect">
            <a:avLst>
              <a:gd name="adj" fmla="val 500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Text 7"/>
          <p:cNvSpPr txBox="1"/>
          <p:nvPr/>
        </p:nvSpPr>
        <p:spPr>
          <a:xfrm>
            <a:off x="841248" y="4663440"/>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TYPICAL AI RESPONSE</a:t>
            </a:r>
            <a:endParaRPr lang="en-US" sz="1050" dirty="0"/>
          </a:p>
        </p:txBody>
      </p:sp>
      <p:sp>
        <p:nvSpPr>
          <p:cNvPr id="11" name="Text 8"/>
          <p:cNvSpPr txBox="1"/>
          <p:nvPr/>
        </p:nvSpPr>
        <p:spPr>
          <a:xfrm>
            <a:off x="841248" y="4974336"/>
            <a:ext cx="6172200" cy="1051560"/>
          </a:xfrm>
          <a:prstGeom prst="rect">
            <a:avLst/>
          </a:prstGeom>
          <a:noFill/>
          <a:ln/>
        </p:spPr>
        <p:txBody>
          <a:bodyPr wrap="square" lIns="0" tIns="0" rIns="0" bIns="0" rtlCol="0" anchor="t"/>
          <a:lstStyle/>
          <a:p>
            <a:pPr marL="0" indent="0">
              <a:lnSpc>
                <a:spcPct val="122000"/>
              </a:lnSpc>
              <a:buNone/>
            </a:pPr>
            <a:r>
              <a:rPr lang="en-US" sz="1200" i="1" dirty="0">
                <a:solidFill>
                  <a:srgbClr val="55606C"/>
                </a:solidFill>
                <a:latin typeface="Calibri" pitchFamily="34" charset="0"/>
                <a:ea typeface="Calibri" pitchFamily="34" charset="-122"/>
                <a:cs typeface="Calibri" pitchFamily="34" charset="-120"/>
              </a:rPr>
              <a:t>Three shortlisted questions, each with a one-line feasibility justification — turning a wide brainstorm into an actionable shortlist.</a:t>
            </a:r>
            <a:endParaRPr lang="en-US" sz="1200" dirty="0"/>
          </a:p>
        </p:txBody>
      </p:sp>
      <p:sp>
        <p:nvSpPr>
          <p:cNvPr id="12" name="Shape 9"/>
          <p:cNvSpPr/>
          <p:nvPr/>
        </p:nvSpPr>
        <p:spPr>
          <a:xfrm>
            <a:off x="7635240" y="1965960"/>
            <a:ext cx="1143000" cy="1143000"/>
          </a:xfrm>
          <a:prstGeom prst="ellipse">
            <a:avLst/>
          </a:prstGeom>
          <a:solidFill>
            <a:srgbClr val="1C7293"/>
          </a:solidFill>
          <a:ln/>
        </p:spPr>
      </p:sp>
      <p:pic>
        <p:nvPicPr>
          <p:cNvPr id="13" name="Image 1" descr="icons/filter.png"/>
          <p:cNvPicPr>
            <a:picLocks noChangeAspect="1"/>
          </p:cNvPicPr>
          <p:nvPr/>
        </p:nvPicPr>
        <p:blipFill>
          <a:blip r:embed="rId4"/>
          <a:stretch>
            <a:fillRect/>
          </a:stretch>
        </p:blipFill>
        <p:spPr>
          <a:xfrm>
            <a:off x="7932420" y="2263140"/>
            <a:ext cx="548640" cy="548640"/>
          </a:xfrm>
          <a:prstGeom prst="rect">
            <a:avLst/>
          </a:prstGeom>
        </p:spPr>
      </p:pic>
      <p:sp>
        <p:nvSpPr>
          <p:cNvPr id="14" name="Shape 10"/>
          <p:cNvSpPr/>
          <p:nvPr/>
        </p:nvSpPr>
        <p:spPr>
          <a:xfrm>
            <a:off x="7406640" y="3337560"/>
            <a:ext cx="420624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Text 11"/>
          <p:cNvSpPr txBox="1"/>
          <p:nvPr/>
        </p:nvSpPr>
        <p:spPr>
          <a:xfrm>
            <a:off x="7699248" y="3547872"/>
            <a:ext cx="36576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WHY THIS FOLLOW-UP HELPS</a:t>
            </a:r>
            <a:endParaRPr lang="en-US" sz="1050" dirty="0"/>
          </a:p>
        </p:txBody>
      </p:sp>
      <p:sp>
        <p:nvSpPr>
          <p:cNvPr id="16" name="Text 12"/>
          <p:cNvSpPr txBox="1"/>
          <p:nvPr/>
        </p:nvSpPr>
        <p:spPr>
          <a:xfrm>
            <a:off x="7699248" y="3858768"/>
            <a:ext cx="374904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Narrowing is a distinct second step — don’t skip straight to one idea</a:t>
            </a:r>
            <a:endParaRPr lang="en-US" sz="120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Asking "why" forces the AI to justify, which you can then evaluate</a:t>
            </a:r>
            <a:endParaRPr lang="en-US" sz="120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Mirrors the iterative refinement habit from Part 4</a:t>
            </a:r>
            <a:endParaRPr lang="en-US" sz="1200" dirty="0"/>
          </a:p>
        </p:txBody>
      </p:sp>
      <p:sp>
        <p:nvSpPr>
          <p:cNvPr id="17" name="Text 1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Applying the Skills</a:t>
            </a:r>
            <a:endParaRPr lang="en-US" sz="950" dirty="0"/>
          </a:p>
        </p:txBody>
      </p:sp>
      <p:sp>
        <p:nvSpPr>
          <p:cNvPr id="18" name="Text 1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52</a:t>
            </a:r>
            <a:endParaRPr lang="en-US" sz="9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5 · APPLYING THE SKILLS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Worked Example: Summarising for Two Audiences</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00" i="1" dirty="0">
                <a:solidFill>
                  <a:srgbClr val="8A94A0"/>
                </a:solidFill>
                <a:latin typeface="Calibri" pitchFamily="34" charset="0"/>
                <a:ea typeface="Calibri" pitchFamily="34" charset="-122"/>
                <a:cs typeface="Calibri" pitchFamily="34" charset="-120"/>
              </a:rPr>
              <a:t>The same finding, reframed with a role and audience change.</a:t>
            </a:r>
            <a:endParaRPr lang="en-US" sz="1400" dirty="0"/>
          </a:p>
        </p:txBody>
      </p:sp>
      <p:sp>
        <p:nvSpPr>
          <p:cNvPr id="5" name="Shape 3"/>
          <p:cNvSpPr/>
          <p:nvPr/>
        </p:nvSpPr>
        <p:spPr>
          <a:xfrm>
            <a:off x="548640" y="1965960"/>
            <a:ext cx="6720840" cy="2331720"/>
          </a:xfrm>
          <a:prstGeom prst="roundRect">
            <a:avLst>
              <a:gd name="adj" fmla="val 3529"/>
            </a:avLst>
          </a:prstGeom>
          <a:solidFill>
            <a:srgbClr val="1B2A4A"/>
          </a:solidFill>
          <a:ln/>
        </p:spPr>
      </p:sp>
      <p:pic>
        <p:nvPicPr>
          <p:cNvPr id="6" name="Image 0" descr="icons/quote.png"/>
          <p:cNvPicPr>
            <a:picLocks noChangeAspect="1"/>
          </p:cNvPicPr>
          <p:nvPr/>
        </p:nvPicPr>
        <p:blipFill>
          <a:blip r:embed="rId3"/>
          <a:stretch>
            <a:fillRect/>
          </a:stretch>
        </p:blipFill>
        <p:spPr>
          <a:xfrm>
            <a:off x="841248" y="2194560"/>
            <a:ext cx="274320" cy="274320"/>
          </a:xfrm>
          <a:prstGeom prst="rect">
            <a:avLst/>
          </a:prstGeom>
        </p:spPr>
      </p:pic>
      <p:sp>
        <p:nvSpPr>
          <p:cNvPr id="7" name="Text 4"/>
          <p:cNvSpPr txBox="1"/>
          <p:nvPr/>
        </p:nvSpPr>
        <p:spPr>
          <a:xfrm>
            <a:off x="1207008" y="2167128"/>
            <a:ext cx="3657600" cy="274320"/>
          </a:xfrm>
          <a:prstGeom prst="rect">
            <a:avLst/>
          </a:prstGeom>
          <a:noFill/>
          <a:ln/>
        </p:spPr>
        <p:txBody>
          <a:bodyPr wrap="square" lIns="0" tIns="0" rIns="0" bIns="0" rtlCol="0" anchor="ctr"/>
          <a:lstStyle/>
          <a:p>
            <a:pPr marL="0" indent="0">
              <a:buNone/>
            </a:pPr>
            <a:r>
              <a:rPr lang="en-US" sz="1050" b="1" kern="0" spc="140" dirty="0">
                <a:solidFill>
                  <a:srgbClr val="9FD6E8"/>
                </a:solidFill>
                <a:latin typeface="Calibri" pitchFamily="34" charset="0"/>
                <a:ea typeface="Calibri" pitchFamily="34" charset="-122"/>
                <a:cs typeface="Calibri" pitchFamily="34" charset="-120"/>
              </a:rPr>
              <a:t>PROMPT</a:t>
            </a:r>
            <a:endParaRPr lang="en-US" sz="1050" dirty="0"/>
          </a:p>
        </p:txBody>
      </p:sp>
      <p:sp>
        <p:nvSpPr>
          <p:cNvPr id="8" name="Text 5"/>
          <p:cNvSpPr txBox="1"/>
          <p:nvPr/>
        </p:nvSpPr>
        <p:spPr>
          <a:xfrm>
            <a:off x="868680" y="2542032"/>
            <a:ext cx="6172200" cy="1645920"/>
          </a:xfrm>
          <a:prstGeom prst="rect">
            <a:avLst/>
          </a:prstGeom>
          <a:noFill/>
          <a:ln/>
        </p:spPr>
        <p:txBody>
          <a:bodyPr wrap="square" lIns="0" tIns="0" rIns="0" bIns="0" rtlCol="0" anchor="t"/>
          <a:lstStyle/>
          <a:p>
            <a:pPr marL="0" indent="0">
              <a:lnSpc>
                <a:spcPct val="130000"/>
              </a:lnSpc>
              <a:buNone/>
            </a:pPr>
            <a:r>
              <a:rPr lang="en-US" sz="1250" dirty="0">
                <a:solidFill>
                  <a:srgbClr val="E7EEF3"/>
                </a:solidFill>
                <a:latin typeface="Courier New" pitchFamily="34" charset="0"/>
                <a:ea typeface="Courier New" pitchFamily="34" charset="-122"/>
                <a:cs typeface="Courier New" pitchFamily="34" charset="-120"/>
              </a:rPr>
              <a:t>"Summarise this finding twice: once as a 2-sentence version for a general newsletter audience, and once as a 2-sentence version for a specialist academic audience."</a:t>
            </a:r>
            <a:endParaRPr lang="en-US" sz="1250" dirty="0"/>
          </a:p>
        </p:txBody>
      </p:sp>
      <p:sp>
        <p:nvSpPr>
          <p:cNvPr id="9" name="Shape 6"/>
          <p:cNvSpPr/>
          <p:nvPr/>
        </p:nvSpPr>
        <p:spPr>
          <a:xfrm>
            <a:off x="548640" y="4480560"/>
            <a:ext cx="6720840" cy="1645920"/>
          </a:xfrm>
          <a:prstGeom prst="roundRect">
            <a:avLst>
              <a:gd name="adj" fmla="val 500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Text 7"/>
          <p:cNvSpPr txBox="1"/>
          <p:nvPr/>
        </p:nvSpPr>
        <p:spPr>
          <a:xfrm>
            <a:off x="841248" y="4663440"/>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TYPICAL AI RESPONSE</a:t>
            </a:r>
            <a:endParaRPr lang="en-US" sz="1050" dirty="0"/>
          </a:p>
        </p:txBody>
      </p:sp>
      <p:sp>
        <p:nvSpPr>
          <p:cNvPr id="11" name="Text 8"/>
          <p:cNvSpPr txBox="1"/>
          <p:nvPr/>
        </p:nvSpPr>
        <p:spPr>
          <a:xfrm>
            <a:off x="841248" y="4974336"/>
            <a:ext cx="6172200" cy="1051560"/>
          </a:xfrm>
          <a:prstGeom prst="rect">
            <a:avLst/>
          </a:prstGeom>
          <a:noFill/>
          <a:ln/>
        </p:spPr>
        <p:txBody>
          <a:bodyPr wrap="square" lIns="0" tIns="0" rIns="0" bIns="0" rtlCol="0" anchor="t"/>
          <a:lstStyle/>
          <a:p>
            <a:pPr marL="0" indent="0">
              <a:lnSpc>
                <a:spcPct val="122000"/>
              </a:lnSpc>
              <a:buNone/>
            </a:pPr>
            <a:r>
              <a:rPr lang="en-US" sz="1200" i="1" dirty="0">
                <a:solidFill>
                  <a:srgbClr val="55606C"/>
                </a:solidFill>
                <a:latin typeface="Calibri" pitchFamily="34" charset="0"/>
                <a:ea typeface="Calibri" pitchFamily="34" charset="-122"/>
                <a:cs typeface="Calibri" pitchFamily="34" charset="-120"/>
              </a:rPr>
              <a:t>Two short summaries of the same underlying finding — one in plain accessible language, one using precise discipline-specific terminology.</a:t>
            </a:r>
            <a:endParaRPr lang="en-US" sz="1200" dirty="0"/>
          </a:p>
        </p:txBody>
      </p:sp>
      <p:sp>
        <p:nvSpPr>
          <p:cNvPr id="12" name="Shape 9"/>
          <p:cNvSpPr/>
          <p:nvPr/>
        </p:nvSpPr>
        <p:spPr>
          <a:xfrm>
            <a:off x="7635240" y="1965960"/>
            <a:ext cx="1143000" cy="1143000"/>
          </a:xfrm>
          <a:prstGeom prst="ellipse">
            <a:avLst/>
          </a:prstGeom>
          <a:solidFill>
            <a:srgbClr val="1C7293"/>
          </a:solidFill>
          <a:ln/>
        </p:spPr>
      </p:sp>
      <p:pic>
        <p:nvPicPr>
          <p:cNvPr id="13" name="Image 1" descr="icons/users.png"/>
          <p:cNvPicPr>
            <a:picLocks noChangeAspect="1"/>
          </p:cNvPicPr>
          <p:nvPr/>
        </p:nvPicPr>
        <p:blipFill>
          <a:blip r:embed="rId4"/>
          <a:stretch>
            <a:fillRect/>
          </a:stretch>
        </p:blipFill>
        <p:spPr>
          <a:xfrm>
            <a:off x="7932420" y="2263140"/>
            <a:ext cx="548640" cy="548640"/>
          </a:xfrm>
          <a:prstGeom prst="rect">
            <a:avLst/>
          </a:prstGeom>
        </p:spPr>
      </p:pic>
      <p:sp>
        <p:nvSpPr>
          <p:cNvPr id="14" name="Shape 10"/>
          <p:cNvSpPr/>
          <p:nvPr/>
        </p:nvSpPr>
        <p:spPr>
          <a:xfrm>
            <a:off x="7406640" y="3337560"/>
            <a:ext cx="420624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Text 11"/>
          <p:cNvSpPr txBox="1"/>
          <p:nvPr/>
        </p:nvSpPr>
        <p:spPr>
          <a:xfrm>
            <a:off x="7699248" y="3547872"/>
            <a:ext cx="36576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WHY THIS HELPS</a:t>
            </a:r>
            <a:endParaRPr lang="en-US" sz="1050" dirty="0"/>
          </a:p>
        </p:txBody>
      </p:sp>
      <p:sp>
        <p:nvSpPr>
          <p:cNvPr id="16" name="Text 12"/>
          <p:cNvSpPr txBox="1"/>
          <p:nvPr/>
        </p:nvSpPr>
        <p:spPr>
          <a:xfrm>
            <a:off x="7699248" y="3858768"/>
            <a:ext cx="374904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One prompt can efficiently produce multiple audience versions</a:t>
            </a:r>
            <a:endParaRPr lang="en-US" sz="120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Highlights how much tone and vocabulary should shift by audience</a:t>
            </a:r>
            <a:endParaRPr lang="en-US" sz="120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Useful for outreach pieces drawn directly from research papers</a:t>
            </a:r>
            <a:endParaRPr lang="en-US" sz="1200" dirty="0"/>
          </a:p>
        </p:txBody>
      </p:sp>
      <p:sp>
        <p:nvSpPr>
          <p:cNvPr id="17" name="Text 1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Applying the Skills</a:t>
            </a:r>
            <a:endParaRPr lang="en-US" sz="950" dirty="0"/>
          </a:p>
        </p:txBody>
      </p:sp>
      <p:sp>
        <p:nvSpPr>
          <p:cNvPr id="18" name="Text 1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53</a:t>
            </a:r>
            <a:endParaRPr lang="en-US" sz="9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5 · APPLYING THE SKILLS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Best Practices &amp; Cautions</a:t>
            </a:r>
            <a:endParaRPr lang="en-US" sz="3200" dirty="0"/>
          </a:p>
        </p:txBody>
      </p:sp>
      <p:sp>
        <p:nvSpPr>
          <p:cNvPr id="4" name="Shape 2"/>
          <p:cNvSpPr/>
          <p:nvPr/>
        </p:nvSpPr>
        <p:spPr>
          <a:xfrm>
            <a:off x="548640"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41248" y="2212848"/>
            <a:ext cx="658368" cy="658368"/>
          </a:xfrm>
          <a:prstGeom prst="ellipse">
            <a:avLst/>
          </a:prstGeom>
          <a:solidFill>
            <a:srgbClr val="1C7293"/>
          </a:solidFill>
          <a:ln/>
        </p:spPr>
      </p:sp>
      <p:pic>
        <p:nvPicPr>
          <p:cNvPr id="6" name="Image 0" descr="icons/shield.png"/>
          <p:cNvPicPr>
            <a:picLocks noChangeAspect="1"/>
          </p:cNvPicPr>
          <p:nvPr/>
        </p:nvPicPr>
        <p:blipFill>
          <a:blip r:embed="rId3"/>
          <a:stretch>
            <a:fillRect/>
          </a:stretch>
        </p:blipFill>
        <p:spPr>
          <a:xfrm>
            <a:off x="1012424" y="2384024"/>
            <a:ext cx="316017" cy="316017"/>
          </a:xfrm>
          <a:prstGeom prst="rect">
            <a:avLst/>
          </a:prstGeom>
        </p:spPr>
      </p:pic>
      <p:sp>
        <p:nvSpPr>
          <p:cNvPr id="7" name="Text 4"/>
          <p:cNvSpPr txBox="1"/>
          <p:nvPr/>
        </p:nvSpPr>
        <p:spPr>
          <a:xfrm>
            <a:off x="1645920"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Always verify facts and figures</a:t>
            </a:r>
            <a:endParaRPr lang="en-US" sz="1650" dirty="0"/>
          </a:p>
        </p:txBody>
      </p:sp>
      <p:sp>
        <p:nvSpPr>
          <p:cNvPr id="8" name="Text 5"/>
          <p:cNvSpPr txBox="1"/>
          <p:nvPr/>
        </p:nvSpPr>
        <p:spPr>
          <a:xfrm>
            <a:off x="841248"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GenAI can produce confident, plausible-sounding errors in technical content.</a:t>
            </a:r>
            <a:endParaRPr lang="en-US" sz="1200" dirty="0"/>
          </a:p>
        </p:txBody>
      </p:sp>
      <p:sp>
        <p:nvSpPr>
          <p:cNvPr id="9" name="Shape 6"/>
          <p:cNvSpPr/>
          <p:nvPr/>
        </p:nvSpPr>
        <p:spPr>
          <a:xfrm>
            <a:off x="6254496"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Shape 7"/>
          <p:cNvSpPr/>
          <p:nvPr/>
        </p:nvSpPr>
        <p:spPr>
          <a:xfrm>
            <a:off x="6547104" y="2212848"/>
            <a:ext cx="658368" cy="658368"/>
          </a:xfrm>
          <a:prstGeom prst="ellipse">
            <a:avLst/>
          </a:prstGeom>
          <a:solidFill>
            <a:srgbClr val="1C7293"/>
          </a:solidFill>
          <a:ln/>
        </p:spPr>
      </p:sp>
      <p:pic>
        <p:nvPicPr>
          <p:cNvPr id="11" name="Image 1" descr="icons/balance.png"/>
          <p:cNvPicPr>
            <a:picLocks noChangeAspect="1"/>
          </p:cNvPicPr>
          <p:nvPr/>
        </p:nvPicPr>
        <p:blipFill>
          <a:blip r:embed="rId4"/>
          <a:stretch>
            <a:fillRect/>
          </a:stretch>
        </p:blipFill>
        <p:spPr>
          <a:xfrm>
            <a:off x="6718280" y="2384024"/>
            <a:ext cx="316017" cy="316017"/>
          </a:xfrm>
          <a:prstGeom prst="rect">
            <a:avLst/>
          </a:prstGeom>
        </p:spPr>
      </p:pic>
      <p:sp>
        <p:nvSpPr>
          <p:cNvPr id="12" name="Text 8"/>
          <p:cNvSpPr txBox="1"/>
          <p:nvPr/>
        </p:nvSpPr>
        <p:spPr>
          <a:xfrm>
            <a:off x="7351776"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Avoid plagiarism and over-reliance</a:t>
            </a:r>
            <a:endParaRPr lang="en-US" sz="1650" dirty="0"/>
          </a:p>
        </p:txBody>
      </p:sp>
      <p:sp>
        <p:nvSpPr>
          <p:cNvPr id="13" name="Text 9"/>
          <p:cNvSpPr txBox="1"/>
          <p:nvPr/>
        </p:nvSpPr>
        <p:spPr>
          <a:xfrm>
            <a:off x="6547104"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Use AI drafts as a starting point to rework in your own voice, not a final product.</a:t>
            </a:r>
            <a:endParaRPr lang="en-US" sz="1200" dirty="0"/>
          </a:p>
        </p:txBody>
      </p:sp>
      <p:sp>
        <p:nvSpPr>
          <p:cNvPr id="14" name="Shape 10"/>
          <p:cNvSpPr/>
          <p:nvPr/>
        </p:nvSpPr>
        <p:spPr>
          <a:xfrm>
            <a:off x="548640"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Shape 11"/>
          <p:cNvSpPr/>
          <p:nvPr/>
        </p:nvSpPr>
        <p:spPr>
          <a:xfrm>
            <a:off x="841248" y="4681728"/>
            <a:ext cx="658368" cy="658368"/>
          </a:xfrm>
          <a:prstGeom prst="ellipse">
            <a:avLst/>
          </a:prstGeom>
          <a:solidFill>
            <a:srgbClr val="1C7293"/>
          </a:solidFill>
          <a:ln/>
        </p:spPr>
      </p:sp>
      <p:pic>
        <p:nvPicPr>
          <p:cNvPr id="16" name="Image 2" descr="icons/lock.png"/>
          <p:cNvPicPr>
            <a:picLocks noChangeAspect="1"/>
          </p:cNvPicPr>
          <p:nvPr/>
        </p:nvPicPr>
        <p:blipFill>
          <a:blip r:embed="rId5"/>
          <a:stretch>
            <a:fillRect/>
          </a:stretch>
        </p:blipFill>
        <p:spPr>
          <a:xfrm>
            <a:off x="1012424" y="4852904"/>
            <a:ext cx="316017" cy="316017"/>
          </a:xfrm>
          <a:prstGeom prst="rect">
            <a:avLst/>
          </a:prstGeom>
        </p:spPr>
      </p:pic>
      <p:sp>
        <p:nvSpPr>
          <p:cNvPr id="17" name="Text 12"/>
          <p:cNvSpPr txBox="1"/>
          <p:nvPr/>
        </p:nvSpPr>
        <p:spPr>
          <a:xfrm>
            <a:off x="1645920"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Protect unpublished data</a:t>
            </a:r>
            <a:endParaRPr lang="en-US" sz="1650" dirty="0"/>
          </a:p>
        </p:txBody>
      </p:sp>
      <p:sp>
        <p:nvSpPr>
          <p:cNvPr id="18" name="Text 13"/>
          <p:cNvSpPr txBox="1"/>
          <p:nvPr/>
        </p:nvSpPr>
        <p:spPr>
          <a:xfrm>
            <a:off x="841248"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Do not paste confidential findings into tools without appropriate data agreements.</a:t>
            </a:r>
            <a:endParaRPr lang="en-US" sz="1200" dirty="0"/>
          </a:p>
        </p:txBody>
      </p:sp>
      <p:sp>
        <p:nvSpPr>
          <p:cNvPr id="19" name="Shape 14"/>
          <p:cNvSpPr/>
          <p:nvPr/>
        </p:nvSpPr>
        <p:spPr>
          <a:xfrm>
            <a:off x="6254496"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0" name="Shape 15"/>
          <p:cNvSpPr/>
          <p:nvPr/>
        </p:nvSpPr>
        <p:spPr>
          <a:xfrm>
            <a:off x="6547104" y="4681728"/>
            <a:ext cx="658368" cy="658368"/>
          </a:xfrm>
          <a:prstGeom prst="ellipse">
            <a:avLst/>
          </a:prstGeom>
          <a:solidFill>
            <a:srgbClr val="1C7293"/>
          </a:solidFill>
          <a:ln/>
        </p:spPr>
      </p:sp>
      <p:pic>
        <p:nvPicPr>
          <p:cNvPr id="21" name="Image 3" descr="icons/clipboard.png"/>
          <p:cNvPicPr>
            <a:picLocks noChangeAspect="1"/>
          </p:cNvPicPr>
          <p:nvPr/>
        </p:nvPicPr>
        <p:blipFill>
          <a:blip r:embed="rId6"/>
          <a:stretch>
            <a:fillRect/>
          </a:stretch>
        </p:blipFill>
        <p:spPr>
          <a:xfrm>
            <a:off x="6718280" y="4852904"/>
            <a:ext cx="316017" cy="316017"/>
          </a:xfrm>
          <a:prstGeom prst="rect">
            <a:avLst/>
          </a:prstGeom>
        </p:spPr>
      </p:pic>
      <p:sp>
        <p:nvSpPr>
          <p:cNvPr id="22" name="Text 16"/>
          <p:cNvSpPr txBox="1"/>
          <p:nvPr/>
        </p:nvSpPr>
        <p:spPr>
          <a:xfrm>
            <a:off x="7351776"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Disclose AI assistance appropriately</a:t>
            </a:r>
            <a:endParaRPr lang="en-US" sz="1650" dirty="0"/>
          </a:p>
        </p:txBody>
      </p:sp>
      <p:sp>
        <p:nvSpPr>
          <p:cNvPr id="23" name="Text 17"/>
          <p:cNvSpPr txBox="1"/>
          <p:nvPr/>
        </p:nvSpPr>
        <p:spPr>
          <a:xfrm>
            <a:off x="6547104"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Follow your institution’s and journal’s policies on acknowledging AI-assisted drafting.</a:t>
            </a:r>
            <a:endParaRPr lang="en-US" sz="1200" dirty="0"/>
          </a:p>
        </p:txBody>
      </p:sp>
      <p:sp>
        <p:nvSpPr>
          <p:cNvPr id="24" name="Text 1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Part 5 · Applying the Skills</a:t>
            </a:r>
            <a:endParaRPr lang="en-US" sz="950" dirty="0"/>
          </a:p>
        </p:txBody>
      </p:sp>
      <p:sp>
        <p:nvSpPr>
          <p:cNvPr id="25" name="Text 1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54</a:t>
            </a:r>
            <a:endParaRPr lang="en-US" sz="9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5 · APPLYING THE SKILLS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Reusable Prompt Templates</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00" i="1" dirty="0">
                <a:solidFill>
                  <a:srgbClr val="8A94A0"/>
                </a:solidFill>
                <a:latin typeface="Calibri" pitchFamily="34" charset="0"/>
                <a:ea typeface="Calibri" pitchFamily="34" charset="-122"/>
                <a:cs typeface="Calibri" pitchFamily="34" charset="-120"/>
              </a:rPr>
              <a:t>Fill-in-the-blank templates you can save and reuse across tasks.</a:t>
            </a:r>
            <a:endParaRPr lang="en-US" sz="14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914400"/>
        </p:xfrm>
        <a:graphic>
          <a:graphicData uri="http://schemas.openxmlformats.org/drawingml/2006/table">
            <a:tbl>
              <a:tblPr/>
              <a:tblGrid>
                <a:gridCol w="2560320"/>
                <a:gridCol w="8531352"/>
              </a:tblGrid>
              <a:tr h="50292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Task</a:t>
                      </a:r>
                      <a:endParaRPr lang="en-US" sz="11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B2A4A"/>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Template</a:t>
                      </a:r>
                      <a:endParaRPr lang="en-US" sz="11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B2A4A"/>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Brainstorm</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"Generate [N] distinct [ideas/questions] on [topic], spanning [angles/disciplines]."</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Summarise</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"Summarise [text] in [word limit], covering [elements]. Avoid direct quotations."</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Draft</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"Using this outline [outline], draft [length] of content for [audience], at [technical level]."</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Refine</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"This is good, but [specific issue]. Please [specific fix] while keeping [what to preserve]."</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r>
            </a:tbl>
          </a:graphicData>
        </a:graphic>
      </p:graphicFrame>
      <p:sp>
        <p:nvSpPr>
          <p:cNvPr id="6" name="Text 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Applying the Skills</a:t>
            </a:r>
            <a:endParaRPr lang="en-US" sz="950" dirty="0"/>
          </a:p>
        </p:txBody>
      </p:sp>
      <p:sp>
        <p:nvSpPr>
          <p:cNvPr id="7" name="Text 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55</a:t>
            </a:r>
            <a:endParaRPr lang="en-US" sz="9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5 · QUICK CHECK</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Discussion Prompt</a:t>
            </a:r>
            <a:endParaRPr lang="en-US" sz="3200" dirty="0"/>
          </a:p>
        </p:txBody>
      </p:sp>
      <p:sp>
        <p:nvSpPr>
          <p:cNvPr id="4" name="Shape 2"/>
          <p:cNvSpPr/>
          <p:nvPr/>
        </p:nvSpPr>
        <p:spPr>
          <a:xfrm>
            <a:off x="548640" y="2103120"/>
            <a:ext cx="10195560" cy="3566160"/>
          </a:xfrm>
          <a:prstGeom prst="roundRect">
            <a:avLst>
              <a:gd name="adj" fmla="val 230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5193792" y="2514600"/>
            <a:ext cx="1097280" cy="1097280"/>
          </a:xfrm>
          <a:prstGeom prst="ellipse">
            <a:avLst/>
          </a:prstGeom>
          <a:solidFill>
            <a:srgbClr val="1C7293"/>
          </a:solidFill>
          <a:ln/>
        </p:spPr>
      </p:sp>
      <p:pic>
        <p:nvPicPr>
          <p:cNvPr id="6" name="Image 0" descr="icons/question.png"/>
          <p:cNvPicPr>
            <a:picLocks noChangeAspect="1"/>
          </p:cNvPicPr>
          <p:nvPr/>
        </p:nvPicPr>
        <p:blipFill>
          <a:blip r:embed="rId3"/>
          <a:stretch>
            <a:fillRect/>
          </a:stretch>
        </p:blipFill>
        <p:spPr>
          <a:xfrm>
            <a:off x="5479085" y="2799893"/>
            <a:ext cx="526694" cy="526694"/>
          </a:xfrm>
          <a:prstGeom prst="rect">
            <a:avLst/>
          </a:prstGeom>
        </p:spPr>
      </p:pic>
      <p:sp>
        <p:nvSpPr>
          <p:cNvPr id="7" name="Text 4"/>
          <p:cNvSpPr txBox="1"/>
          <p:nvPr/>
        </p:nvSpPr>
        <p:spPr>
          <a:xfrm>
            <a:off x="1188720" y="3794760"/>
            <a:ext cx="9829800" cy="1005840"/>
          </a:xfrm>
          <a:prstGeom prst="rect">
            <a:avLst/>
          </a:prstGeom>
          <a:noFill/>
          <a:ln/>
        </p:spPr>
        <p:txBody>
          <a:bodyPr wrap="square" lIns="0" tIns="0" rIns="0" bIns="0" rtlCol="0" anchor="ctr"/>
          <a:lstStyle/>
          <a:p>
            <a:pPr marL="0" indent="0" algn="ctr">
              <a:lnSpc>
                <a:spcPct val="120000"/>
              </a:lnSpc>
              <a:buNone/>
            </a:pPr>
            <a:r>
              <a:rPr lang="en-US" sz="1900" b="1" i="1" dirty="0">
                <a:solidFill>
                  <a:srgbClr val="1B2A4A"/>
                </a:solidFill>
                <a:latin typeface="Cambria" pitchFamily="34" charset="0"/>
                <a:ea typeface="Cambria" pitchFamily="34" charset="-122"/>
                <a:cs typeface="Cambria" pitchFamily="34" charset="-120"/>
              </a:rPr>
              <a:t>“Pick one writing task on your desk this week. Which of brainstorm, summarise, or draft applies — and what would your first prompt say?”</a:t>
            </a:r>
            <a:endParaRPr lang="en-US" sz="1900" dirty="0"/>
          </a:p>
        </p:txBody>
      </p:sp>
      <p:sp>
        <p:nvSpPr>
          <p:cNvPr id="8" name="Text 5"/>
          <p:cNvSpPr txBox="1"/>
          <p:nvPr/>
        </p:nvSpPr>
        <p:spPr>
          <a:xfrm>
            <a:off x="1645920" y="4846320"/>
            <a:ext cx="8915400" cy="640080"/>
          </a:xfrm>
          <a:prstGeom prst="rect">
            <a:avLst/>
          </a:prstGeom>
          <a:noFill/>
          <a:ln/>
        </p:spPr>
        <p:txBody>
          <a:bodyPr wrap="square" lIns="0" tIns="0" rIns="0" bIns="0" rtlCol="0" anchor="ctr"/>
          <a:lstStyle/>
          <a:p>
            <a:pPr marL="0" indent="0" algn="ctr">
              <a:lnSpc>
                <a:spcPct val="120000"/>
              </a:lnSpc>
              <a:buNone/>
            </a:pPr>
            <a:r>
              <a:rPr lang="en-US" sz="1250" dirty="0">
                <a:solidFill>
                  <a:srgbClr val="8A94A0"/>
                </a:solidFill>
                <a:latin typeface="Calibri" pitchFamily="34" charset="0"/>
                <a:ea typeface="Calibri" pitchFamily="34" charset="-122"/>
                <a:cs typeface="Calibri" pitchFamily="34" charset="-120"/>
              </a:rPr>
              <a:t>Try to include all four building blocks from Part 1 in the prompt you sketch out.</a:t>
            </a:r>
            <a:endParaRPr lang="en-US" sz="1250" dirty="0"/>
          </a:p>
        </p:txBody>
      </p:sp>
      <p:sp>
        <p:nvSpPr>
          <p:cNvPr id="9" name="Text 6"/>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Applying the Skills</a:t>
            </a:r>
            <a:endParaRPr lang="en-US" sz="950" dirty="0"/>
          </a:p>
        </p:txBody>
      </p:sp>
      <p:sp>
        <p:nvSpPr>
          <p:cNvPr id="10" name="Text 7"/>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56</a:t>
            </a:r>
            <a:endParaRPr lang="en-US" sz="9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0058400" y="-1645920"/>
            <a:ext cx="4114800" cy="4114800"/>
          </a:xfrm>
          <a:prstGeom prst="ellipse">
            <a:avLst/>
          </a:prstGeom>
          <a:solidFill>
            <a:srgbClr val="233A63"/>
          </a:solidFill>
          <a:ln/>
        </p:spPr>
      </p:sp>
      <p:sp>
        <p:nvSpPr>
          <p:cNvPr id="3" name="Text 1"/>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9FD6E8"/>
                </a:solidFill>
                <a:latin typeface="Calibri" pitchFamily="34" charset="0"/>
                <a:ea typeface="Calibri" pitchFamily="34" charset="-122"/>
                <a:cs typeface="Calibri" pitchFamily="34" charset="-120"/>
              </a:rPr>
              <a:t>PART 5 RECAP</a:t>
            </a:r>
            <a:endParaRPr lang="en-US" sz="1250" dirty="0"/>
          </a:p>
        </p:txBody>
      </p:sp>
      <p:sp>
        <p:nvSpPr>
          <p:cNvPr id="4" name="Text 2"/>
          <p:cNvSpPr txBox="1"/>
          <p:nvPr/>
        </p:nvSpPr>
        <p:spPr>
          <a:xfrm>
            <a:off x="548640" y="731520"/>
            <a:ext cx="10607040"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Takeaways: Brainstorm, Summarise, Draft</a:t>
            </a:r>
            <a:endParaRPr lang="en-US" sz="3000" dirty="0"/>
          </a:p>
        </p:txBody>
      </p:sp>
      <p:sp>
        <p:nvSpPr>
          <p:cNvPr id="5" name="Shape 3"/>
          <p:cNvSpPr/>
          <p:nvPr/>
        </p:nvSpPr>
        <p:spPr>
          <a:xfrm>
            <a:off x="10149840" y="502920"/>
            <a:ext cx="1051560" cy="1051560"/>
          </a:xfrm>
          <a:prstGeom prst="ellipse">
            <a:avLst/>
          </a:prstGeom>
          <a:solidFill>
            <a:srgbClr val="1C7293"/>
          </a:solidFill>
          <a:ln/>
        </p:spPr>
      </p:sp>
      <p:pic>
        <p:nvPicPr>
          <p:cNvPr id="6" name="Image 0" descr="icons/lightbulb.png"/>
          <p:cNvPicPr>
            <a:picLocks noChangeAspect="1"/>
          </p:cNvPicPr>
          <p:nvPr/>
        </p:nvPicPr>
        <p:blipFill>
          <a:blip r:embed="rId3"/>
          <a:stretch>
            <a:fillRect/>
          </a:stretch>
        </p:blipFill>
        <p:spPr>
          <a:xfrm>
            <a:off x="10423246" y="776326"/>
            <a:ext cx="504749" cy="504749"/>
          </a:xfrm>
          <a:prstGeom prst="rect">
            <a:avLst/>
          </a:prstGeom>
        </p:spPr>
      </p:pic>
      <p:sp>
        <p:nvSpPr>
          <p:cNvPr id="7" name="Shape 4"/>
          <p:cNvSpPr/>
          <p:nvPr/>
        </p:nvSpPr>
        <p:spPr>
          <a:xfrm>
            <a:off x="548640" y="1965960"/>
            <a:ext cx="5408676" cy="1965960"/>
          </a:xfrm>
          <a:prstGeom prst="roundRect">
            <a:avLst>
              <a:gd name="adj" fmla="val 3721"/>
            </a:avLst>
          </a:prstGeom>
          <a:solidFill>
            <a:srgbClr val="233A63"/>
          </a:solidFill>
          <a:ln/>
        </p:spPr>
      </p:sp>
      <p:sp>
        <p:nvSpPr>
          <p:cNvPr id="8" name="Shape 5"/>
          <p:cNvSpPr/>
          <p:nvPr/>
        </p:nvSpPr>
        <p:spPr>
          <a:xfrm>
            <a:off x="804672" y="2221992"/>
            <a:ext cx="457200" cy="457200"/>
          </a:xfrm>
          <a:prstGeom prst="ellipse">
            <a:avLst/>
          </a:prstGeom>
          <a:solidFill>
            <a:srgbClr val="1C7293"/>
          </a:solidFill>
          <a:ln/>
        </p:spPr>
      </p:sp>
      <p:pic>
        <p:nvPicPr>
          <p:cNvPr id="9" name="Image 1" descr="icons/lightbulb.png"/>
          <p:cNvPicPr>
            <a:picLocks noChangeAspect="1"/>
          </p:cNvPicPr>
          <p:nvPr/>
        </p:nvPicPr>
        <p:blipFill>
          <a:blip r:embed="rId3"/>
          <a:stretch>
            <a:fillRect/>
          </a:stretch>
        </p:blipFill>
        <p:spPr>
          <a:xfrm>
            <a:off x="896112" y="2313432"/>
            <a:ext cx="274320" cy="274320"/>
          </a:xfrm>
          <a:prstGeom prst="rect">
            <a:avLst/>
          </a:prstGeom>
        </p:spPr>
      </p:pic>
      <p:sp>
        <p:nvSpPr>
          <p:cNvPr id="10" name="Text 6"/>
          <p:cNvSpPr txBox="1"/>
          <p:nvPr/>
        </p:nvSpPr>
        <p:spPr>
          <a:xfrm>
            <a:off x="1417320" y="218541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Brainstorm wide, then narrow</a:t>
            </a:r>
            <a:endParaRPr lang="en-US" sz="1450" dirty="0"/>
          </a:p>
        </p:txBody>
      </p:sp>
      <p:sp>
        <p:nvSpPr>
          <p:cNvPr id="11" name="Text 7"/>
          <p:cNvSpPr txBox="1"/>
          <p:nvPr/>
        </p:nvSpPr>
        <p:spPr>
          <a:xfrm>
            <a:off x="804672" y="278892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Generate many options first, then use a follow-up prompt to filter them down.</a:t>
            </a:r>
            <a:endParaRPr lang="en-US" sz="1150" dirty="0"/>
          </a:p>
        </p:txBody>
      </p:sp>
      <p:sp>
        <p:nvSpPr>
          <p:cNvPr id="12" name="Shape 8"/>
          <p:cNvSpPr/>
          <p:nvPr/>
        </p:nvSpPr>
        <p:spPr>
          <a:xfrm>
            <a:off x="6231636" y="1965960"/>
            <a:ext cx="5408676" cy="1965960"/>
          </a:xfrm>
          <a:prstGeom prst="roundRect">
            <a:avLst>
              <a:gd name="adj" fmla="val 3721"/>
            </a:avLst>
          </a:prstGeom>
          <a:solidFill>
            <a:srgbClr val="233A63"/>
          </a:solidFill>
          <a:ln/>
        </p:spPr>
      </p:sp>
      <p:sp>
        <p:nvSpPr>
          <p:cNvPr id="13" name="Shape 9"/>
          <p:cNvSpPr/>
          <p:nvPr/>
        </p:nvSpPr>
        <p:spPr>
          <a:xfrm>
            <a:off x="6487668" y="2221992"/>
            <a:ext cx="457200" cy="457200"/>
          </a:xfrm>
          <a:prstGeom prst="ellipse">
            <a:avLst/>
          </a:prstGeom>
          <a:solidFill>
            <a:srgbClr val="1C7293"/>
          </a:solidFill>
          <a:ln/>
        </p:spPr>
      </p:sp>
      <p:pic>
        <p:nvPicPr>
          <p:cNvPr id="14" name="Image 2" descr="icons/filealt.png"/>
          <p:cNvPicPr>
            <a:picLocks noChangeAspect="1"/>
          </p:cNvPicPr>
          <p:nvPr/>
        </p:nvPicPr>
        <p:blipFill>
          <a:blip r:embed="rId4"/>
          <a:stretch>
            <a:fillRect/>
          </a:stretch>
        </p:blipFill>
        <p:spPr>
          <a:xfrm>
            <a:off x="6579108" y="2313432"/>
            <a:ext cx="274320" cy="274320"/>
          </a:xfrm>
          <a:prstGeom prst="rect">
            <a:avLst/>
          </a:prstGeom>
        </p:spPr>
      </p:pic>
      <p:sp>
        <p:nvSpPr>
          <p:cNvPr id="15" name="Text 10"/>
          <p:cNvSpPr txBox="1"/>
          <p:nvPr/>
        </p:nvSpPr>
        <p:spPr>
          <a:xfrm>
            <a:off x="7100316" y="218541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Summarise with a fixed structure</a:t>
            </a:r>
            <a:endParaRPr lang="en-US" sz="1450" dirty="0"/>
          </a:p>
        </p:txBody>
      </p:sp>
      <p:sp>
        <p:nvSpPr>
          <p:cNvPr id="16" name="Text 11"/>
          <p:cNvSpPr txBox="1"/>
          <p:nvPr/>
        </p:nvSpPr>
        <p:spPr>
          <a:xfrm>
            <a:off x="6487668" y="278892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Name the exact elements and length you need for a usable summary.</a:t>
            </a:r>
            <a:endParaRPr lang="en-US" sz="1150" dirty="0"/>
          </a:p>
        </p:txBody>
      </p:sp>
      <p:sp>
        <p:nvSpPr>
          <p:cNvPr id="17" name="Shape 12"/>
          <p:cNvSpPr/>
          <p:nvPr/>
        </p:nvSpPr>
        <p:spPr>
          <a:xfrm>
            <a:off x="548640" y="4206240"/>
            <a:ext cx="5408676" cy="1965960"/>
          </a:xfrm>
          <a:prstGeom prst="roundRect">
            <a:avLst>
              <a:gd name="adj" fmla="val 3721"/>
            </a:avLst>
          </a:prstGeom>
          <a:solidFill>
            <a:srgbClr val="233A63"/>
          </a:solidFill>
          <a:ln/>
        </p:spPr>
      </p:sp>
      <p:sp>
        <p:nvSpPr>
          <p:cNvPr id="18" name="Shape 13"/>
          <p:cNvSpPr/>
          <p:nvPr/>
        </p:nvSpPr>
        <p:spPr>
          <a:xfrm>
            <a:off x="804672" y="4462272"/>
            <a:ext cx="457200" cy="457200"/>
          </a:xfrm>
          <a:prstGeom prst="ellipse">
            <a:avLst/>
          </a:prstGeom>
          <a:solidFill>
            <a:srgbClr val="1C7293"/>
          </a:solidFill>
          <a:ln/>
        </p:spPr>
      </p:sp>
      <p:pic>
        <p:nvPicPr>
          <p:cNvPr id="19" name="Image 3" descr="icons/pen.png"/>
          <p:cNvPicPr>
            <a:picLocks noChangeAspect="1"/>
          </p:cNvPicPr>
          <p:nvPr/>
        </p:nvPicPr>
        <p:blipFill>
          <a:blip r:embed="rId5"/>
          <a:stretch>
            <a:fillRect/>
          </a:stretch>
        </p:blipFill>
        <p:spPr>
          <a:xfrm>
            <a:off x="896112" y="4553712"/>
            <a:ext cx="274320" cy="274320"/>
          </a:xfrm>
          <a:prstGeom prst="rect">
            <a:avLst/>
          </a:prstGeom>
        </p:spPr>
      </p:pic>
      <p:sp>
        <p:nvSpPr>
          <p:cNvPr id="20" name="Text 14"/>
          <p:cNvSpPr txBox="1"/>
          <p:nvPr/>
        </p:nvSpPr>
        <p:spPr>
          <a:xfrm>
            <a:off x="1417320" y="442569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Draft from your own outline</a:t>
            </a:r>
            <a:endParaRPr lang="en-US" sz="1450" dirty="0"/>
          </a:p>
        </p:txBody>
      </p:sp>
      <p:sp>
        <p:nvSpPr>
          <p:cNvPr id="21" name="Text 15"/>
          <p:cNvSpPr txBox="1"/>
          <p:nvPr/>
        </p:nvSpPr>
        <p:spPr>
          <a:xfrm>
            <a:off x="804672" y="502920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Provide the structure yourself; let the AI expand it, not invent it.</a:t>
            </a:r>
            <a:endParaRPr lang="en-US" sz="1150" dirty="0"/>
          </a:p>
        </p:txBody>
      </p:sp>
      <p:sp>
        <p:nvSpPr>
          <p:cNvPr id="22" name="Shape 16"/>
          <p:cNvSpPr/>
          <p:nvPr/>
        </p:nvSpPr>
        <p:spPr>
          <a:xfrm>
            <a:off x="6231636" y="4206240"/>
            <a:ext cx="5408676" cy="1965960"/>
          </a:xfrm>
          <a:prstGeom prst="roundRect">
            <a:avLst>
              <a:gd name="adj" fmla="val 3721"/>
            </a:avLst>
          </a:prstGeom>
          <a:solidFill>
            <a:srgbClr val="233A63"/>
          </a:solidFill>
          <a:ln/>
        </p:spPr>
      </p:sp>
      <p:sp>
        <p:nvSpPr>
          <p:cNvPr id="23" name="Shape 17"/>
          <p:cNvSpPr/>
          <p:nvPr/>
        </p:nvSpPr>
        <p:spPr>
          <a:xfrm>
            <a:off x="6487668" y="4462272"/>
            <a:ext cx="457200" cy="457200"/>
          </a:xfrm>
          <a:prstGeom prst="ellipse">
            <a:avLst/>
          </a:prstGeom>
          <a:solidFill>
            <a:srgbClr val="1C7293"/>
          </a:solidFill>
          <a:ln/>
        </p:spPr>
      </p:sp>
      <p:pic>
        <p:nvPicPr>
          <p:cNvPr id="24" name="Image 4" descr="icons/shield.png"/>
          <p:cNvPicPr>
            <a:picLocks noChangeAspect="1"/>
          </p:cNvPicPr>
          <p:nvPr/>
        </p:nvPicPr>
        <p:blipFill>
          <a:blip r:embed="rId6"/>
          <a:stretch>
            <a:fillRect/>
          </a:stretch>
        </p:blipFill>
        <p:spPr>
          <a:xfrm>
            <a:off x="6579108" y="4553712"/>
            <a:ext cx="274320" cy="274320"/>
          </a:xfrm>
          <a:prstGeom prst="rect">
            <a:avLst/>
          </a:prstGeom>
        </p:spPr>
      </p:pic>
      <p:sp>
        <p:nvSpPr>
          <p:cNvPr id="25" name="Text 18"/>
          <p:cNvSpPr txBox="1"/>
          <p:nvPr/>
        </p:nvSpPr>
        <p:spPr>
          <a:xfrm>
            <a:off x="7100316" y="442569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Always verify and disclose</a:t>
            </a:r>
            <a:endParaRPr lang="en-US" sz="1450" dirty="0"/>
          </a:p>
        </p:txBody>
      </p:sp>
      <p:sp>
        <p:nvSpPr>
          <p:cNvPr id="26" name="Text 19"/>
          <p:cNvSpPr txBox="1"/>
          <p:nvPr/>
        </p:nvSpPr>
        <p:spPr>
          <a:xfrm>
            <a:off x="6487668" y="502920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Treat GenAI output as a draft requiring review, fact-checking, and proper disclosure.</a:t>
            </a:r>
            <a:endParaRPr lang="en-US" sz="1150" dirty="0"/>
          </a:p>
        </p:txBody>
      </p:sp>
      <p:sp>
        <p:nvSpPr>
          <p:cNvPr id="27" name="Text 20"/>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9FD6E8"/>
                </a:solidFill>
                <a:latin typeface="Calibri" pitchFamily="34" charset="0"/>
                <a:ea typeface="Calibri" pitchFamily="34" charset="-122"/>
                <a:cs typeface="Calibri" pitchFamily="34" charset="-120"/>
              </a:rPr>
              <a:t>Applying the Skills</a:t>
            </a:r>
            <a:endParaRPr lang="en-US" sz="950" dirty="0"/>
          </a:p>
        </p:txBody>
      </p:sp>
      <p:sp>
        <p:nvSpPr>
          <p:cNvPr id="28" name="Text 21"/>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9FD6E8"/>
                </a:solidFill>
                <a:latin typeface="Calibri" pitchFamily="34" charset="0"/>
                <a:ea typeface="Calibri" pitchFamily="34" charset="-122"/>
                <a:cs typeface="Calibri" pitchFamily="34" charset="-120"/>
              </a:rPr>
              <a:t>57</a:t>
            </a:r>
            <a:endParaRPr lang="en-US" sz="9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UNIT SUMMARY</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Everything We Covered in Unit II</a:t>
            </a:r>
            <a:endParaRPr lang="en-US" sz="3200" dirty="0"/>
          </a:p>
        </p:txBody>
      </p:sp>
      <p:sp>
        <p:nvSpPr>
          <p:cNvPr id="4" name="Shape 2"/>
          <p:cNvSpPr/>
          <p:nvPr/>
        </p:nvSpPr>
        <p:spPr>
          <a:xfrm>
            <a:off x="548640" y="1920240"/>
            <a:ext cx="3483864"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41248" y="2212848"/>
            <a:ext cx="658368" cy="658368"/>
          </a:xfrm>
          <a:prstGeom prst="ellipse">
            <a:avLst/>
          </a:prstGeom>
          <a:solidFill>
            <a:srgbClr val="1C7293"/>
          </a:solidFill>
          <a:ln/>
        </p:spPr>
      </p:sp>
      <p:pic>
        <p:nvPicPr>
          <p:cNvPr id="6" name="Image 0" descr="icons/puzzle.png"/>
          <p:cNvPicPr>
            <a:picLocks noChangeAspect="1"/>
          </p:cNvPicPr>
          <p:nvPr/>
        </p:nvPicPr>
        <p:blipFill>
          <a:blip r:embed="rId3"/>
          <a:stretch>
            <a:fillRect/>
          </a:stretch>
        </p:blipFill>
        <p:spPr>
          <a:xfrm>
            <a:off x="1012424" y="2384024"/>
            <a:ext cx="316017" cy="316017"/>
          </a:xfrm>
          <a:prstGeom prst="rect">
            <a:avLst/>
          </a:prstGeom>
        </p:spPr>
      </p:pic>
      <p:sp>
        <p:nvSpPr>
          <p:cNvPr id="7" name="Text 4"/>
          <p:cNvSpPr txBox="1"/>
          <p:nvPr/>
        </p:nvSpPr>
        <p:spPr>
          <a:xfrm>
            <a:off x="1645920" y="2231136"/>
            <a:ext cx="2112264"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Anatomy of a Prompt</a:t>
            </a:r>
            <a:endParaRPr lang="en-US" sz="1650" dirty="0"/>
          </a:p>
        </p:txBody>
      </p:sp>
      <p:sp>
        <p:nvSpPr>
          <p:cNvPr id="8" name="Text 5"/>
          <p:cNvSpPr txBox="1"/>
          <p:nvPr/>
        </p:nvSpPr>
        <p:spPr>
          <a:xfrm>
            <a:off x="841248" y="2999232"/>
            <a:ext cx="2898648"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Context, instruction, format and constraints, combined</a:t>
            </a:r>
            <a:endParaRPr lang="en-US" sz="1200" dirty="0"/>
          </a:p>
        </p:txBody>
      </p:sp>
      <p:sp>
        <p:nvSpPr>
          <p:cNvPr id="9" name="Shape 6"/>
          <p:cNvSpPr/>
          <p:nvPr/>
        </p:nvSpPr>
        <p:spPr>
          <a:xfrm>
            <a:off x="4352544" y="1920240"/>
            <a:ext cx="3483864"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Shape 7"/>
          <p:cNvSpPr/>
          <p:nvPr/>
        </p:nvSpPr>
        <p:spPr>
          <a:xfrm>
            <a:off x="4645152" y="2212848"/>
            <a:ext cx="658368" cy="658368"/>
          </a:xfrm>
          <a:prstGeom prst="ellipse">
            <a:avLst/>
          </a:prstGeom>
          <a:solidFill>
            <a:srgbClr val="1C7293"/>
          </a:solidFill>
          <a:ln/>
        </p:spPr>
      </p:sp>
      <p:pic>
        <p:nvPicPr>
          <p:cNvPr id="11" name="Image 1" descr="icons/listol.png"/>
          <p:cNvPicPr>
            <a:picLocks noChangeAspect="1"/>
          </p:cNvPicPr>
          <p:nvPr/>
        </p:nvPicPr>
        <p:blipFill>
          <a:blip r:embed="rId4"/>
          <a:stretch>
            <a:fillRect/>
          </a:stretch>
        </p:blipFill>
        <p:spPr>
          <a:xfrm>
            <a:off x="4816328" y="2384024"/>
            <a:ext cx="316017" cy="316017"/>
          </a:xfrm>
          <a:prstGeom prst="rect">
            <a:avLst/>
          </a:prstGeom>
        </p:spPr>
      </p:pic>
      <p:sp>
        <p:nvSpPr>
          <p:cNvPr id="12" name="Text 8"/>
          <p:cNvSpPr txBox="1"/>
          <p:nvPr/>
        </p:nvSpPr>
        <p:spPr>
          <a:xfrm>
            <a:off x="5449824" y="2231136"/>
            <a:ext cx="2112264"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Prompting Techniques</a:t>
            </a:r>
            <a:endParaRPr lang="en-US" sz="1650" dirty="0"/>
          </a:p>
        </p:txBody>
      </p:sp>
      <p:sp>
        <p:nvSpPr>
          <p:cNvPr id="13" name="Text 9"/>
          <p:cNvSpPr txBox="1"/>
          <p:nvPr/>
        </p:nvSpPr>
        <p:spPr>
          <a:xfrm>
            <a:off x="4645152" y="2999232"/>
            <a:ext cx="2898648"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Zero-shot, few-shot, reasoning and decomposition</a:t>
            </a:r>
            <a:endParaRPr lang="en-US" sz="1200" dirty="0"/>
          </a:p>
        </p:txBody>
      </p:sp>
      <p:sp>
        <p:nvSpPr>
          <p:cNvPr id="14" name="Shape 10"/>
          <p:cNvSpPr/>
          <p:nvPr/>
        </p:nvSpPr>
        <p:spPr>
          <a:xfrm>
            <a:off x="8156448" y="1920240"/>
            <a:ext cx="3483864"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Shape 11"/>
          <p:cNvSpPr/>
          <p:nvPr/>
        </p:nvSpPr>
        <p:spPr>
          <a:xfrm>
            <a:off x="8449056" y="2212848"/>
            <a:ext cx="658368" cy="658368"/>
          </a:xfrm>
          <a:prstGeom prst="ellipse">
            <a:avLst/>
          </a:prstGeom>
          <a:solidFill>
            <a:srgbClr val="1C7293"/>
          </a:solidFill>
          <a:ln/>
        </p:spPr>
      </p:sp>
      <p:pic>
        <p:nvPicPr>
          <p:cNvPr id="16" name="Image 2" descr="icons/usertie.png"/>
          <p:cNvPicPr>
            <a:picLocks noChangeAspect="1"/>
          </p:cNvPicPr>
          <p:nvPr/>
        </p:nvPicPr>
        <p:blipFill>
          <a:blip r:embed="rId5"/>
          <a:stretch>
            <a:fillRect/>
          </a:stretch>
        </p:blipFill>
        <p:spPr>
          <a:xfrm>
            <a:off x="8620232" y="2384024"/>
            <a:ext cx="316017" cy="316017"/>
          </a:xfrm>
          <a:prstGeom prst="rect">
            <a:avLst/>
          </a:prstGeom>
        </p:spPr>
      </p:pic>
      <p:sp>
        <p:nvSpPr>
          <p:cNvPr id="17" name="Text 12"/>
          <p:cNvSpPr txBox="1"/>
          <p:nvPr/>
        </p:nvSpPr>
        <p:spPr>
          <a:xfrm>
            <a:off x="9253728" y="2231136"/>
            <a:ext cx="2112264"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Role-Based Prompts</a:t>
            </a:r>
            <a:endParaRPr lang="en-US" sz="1650" dirty="0"/>
          </a:p>
        </p:txBody>
      </p:sp>
      <p:sp>
        <p:nvSpPr>
          <p:cNvPr id="18" name="Text 13"/>
          <p:cNvSpPr txBox="1"/>
          <p:nvPr/>
        </p:nvSpPr>
        <p:spPr>
          <a:xfrm>
            <a:off x="8449056" y="2999232"/>
            <a:ext cx="2898648"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Reviewer, tutor and domain-expert personas</a:t>
            </a:r>
            <a:endParaRPr lang="en-US" sz="1200" dirty="0"/>
          </a:p>
        </p:txBody>
      </p:sp>
      <p:sp>
        <p:nvSpPr>
          <p:cNvPr id="19" name="Shape 14"/>
          <p:cNvSpPr/>
          <p:nvPr/>
        </p:nvSpPr>
        <p:spPr>
          <a:xfrm>
            <a:off x="2450592" y="4389120"/>
            <a:ext cx="3483864"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0" name="Shape 15"/>
          <p:cNvSpPr/>
          <p:nvPr/>
        </p:nvSpPr>
        <p:spPr>
          <a:xfrm>
            <a:off x="2743200" y="4681728"/>
            <a:ext cx="658368" cy="658368"/>
          </a:xfrm>
          <a:prstGeom prst="ellipse">
            <a:avLst/>
          </a:prstGeom>
          <a:solidFill>
            <a:srgbClr val="1C7293"/>
          </a:solidFill>
          <a:ln/>
        </p:spPr>
      </p:sp>
      <p:pic>
        <p:nvPicPr>
          <p:cNvPr id="21" name="Image 3" descr="icons/sync.png"/>
          <p:cNvPicPr>
            <a:picLocks noChangeAspect="1"/>
          </p:cNvPicPr>
          <p:nvPr/>
        </p:nvPicPr>
        <p:blipFill>
          <a:blip r:embed="rId6"/>
          <a:stretch>
            <a:fillRect/>
          </a:stretch>
        </p:blipFill>
        <p:spPr>
          <a:xfrm>
            <a:off x="2914376" y="4852904"/>
            <a:ext cx="316017" cy="316017"/>
          </a:xfrm>
          <a:prstGeom prst="rect">
            <a:avLst/>
          </a:prstGeom>
        </p:spPr>
      </p:pic>
      <p:sp>
        <p:nvSpPr>
          <p:cNvPr id="22" name="Text 16"/>
          <p:cNvSpPr txBox="1"/>
          <p:nvPr/>
        </p:nvSpPr>
        <p:spPr>
          <a:xfrm>
            <a:off x="3547872" y="4700016"/>
            <a:ext cx="2112264"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Iterative Refinement</a:t>
            </a:r>
            <a:endParaRPr lang="en-US" sz="1650" dirty="0"/>
          </a:p>
        </p:txBody>
      </p:sp>
      <p:sp>
        <p:nvSpPr>
          <p:cNvPr id="23" name="Text 17"/>
          <p:cNvSpPr txBox="1"/>
          <p:nvPr/>
        </p:nvSpPr>
        <p:spPr>
          <a:xfrm>
            <a:off x="2743200" y="5468112"/>
            <a:ext cx="2898648"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Diagnosing and rewriting a disappointing response</a:t>
            </a:r>
            <a:endParaRPr lang="en-US" sz="1200" dirty="0"/>
          </a:p>
        </p:txBody>
      </p:sp>
      <p:sp>
        <p:nvSpPr>
          <p:cNvPr id="24" name="Shape 18"/>
          <p:cNvSpPr/>
          <p:nvPr/>
        </p:nvSpPr>
        <p:spPr>
          <a:xfrm>
            <a:off x="6254496" y="4389120"/>
            <a:ext cx="3483864"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5" name="Shape 19"/>
          <p:cNvSpPr/>
          <p:nvPr/>
        </p:nvSpPr>
        <p:spPr>
          <a:xfrm>
            <a:off x="6547104" y="4681728"/>
            <a:ext cx="658368" cy="658368"/>
          </a:xfrm>
          <a:prstGeom prst="ellipse">
            <a:avLst/>
          </a:prstGeom>
          <a:solidFill>
            <a:srgbClr val="1C7293"/>
          </a:solidFill>
          <a:ln/>
        </p:spPr>
      </p:sp>
      <p:pic>
        <p:nvPicPr>
          <p:cNvPr id="26" name="Image 4" descr="icons/lightbulb.png"/>
          <p:cNvPicPr>
            <a:picLocks noChangeAspect="1"/>
          </p:cNvPicPr>
          <p:nvPr/>
        </p:nvPicPr>
        <p:blipFill>
          <a:blip r:embed="rId7"/>
          <a:stretch>
            <a:fillRect/>
          </a:stretch>
        </p:blipFill>
        <p:spPr>
          <a:xfrm>
            <a:off x="6718280" y="4852904"/>
            <a:ext cx="316017" cy="316017"/>
          </a:xfrm>
          <a:prstGeom prst="rect">
            <a:avLst/>
          </a:prstGeom>
        </p:spPr>
      </p:pic>
      <p:sp>
        <p:nvSpPr>
          <p:cNvPr id="27" name="Text 20"/>
          <p:cNvSpPr txBox="1"/>
          <p:nvPr/>
        </p:nvSpPr>
        <p:spPr>
          <a:xfrm>
            <a:off x="7351776" y="4700016"/>
            <a:ext cx="2112264"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Brainstorm, Summarise, Draft</a:t>
            </a:r>
            <a:endParaRPr lang="en-US" sz="1650" dirty="0"/>
          </a:p>
        </p:txBody>
      </p:sp>
      <p:sp>
        <p:nvSpPr>
          <p:cNvPr id="28" name="Text 21"/>
          <p:cNvSpPr txBox="1"/>
          <p:nvPr/>
        </p:nvSpPr>
        <p:spPr>
          <a:xfrm>
            <a:off x="6547104" y="5468112"/>
            <a:ext cx="2898648"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Applying every technique to real writing tasks</a:t>
            </a:r>
            <a:endParaRPr lang="en-US" sz="1200" dirty="0"/>
          </a:p>
        </p:txBody>
      </p:sp>
      <p:sp>
        <p:nvSpPr>
          <p:cNvPr id="29" name="Text 22"/>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Unit Summary</a:t>
            </a:r>
            <a:endParaRPr lang="en-US" sz="950" dirty="0"/>
          </a:p>
        </p:txBody>
      </p:sp>
      <p:sp>
        <p:nvSpPr>
          <p:cNvPr id="30" name="Text 23"/>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58</a:t>
            </a:r>
            <a:endParaRPr lang="en-US" sz="9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BEFORE YOU GO</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This Week’s Practice Exercise</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00" i="1" dirty="0">
                <a:solidFill>
                  <a:srgbClr val="8A94A0"/>
                </a:solidFill>
                <a:latin typeface="Calibri" pitchFamily="34" charset="0"/>
                <a:ea typeface="Calibri" pitchFamily="34" charset="-122"/>
                <a:cs typeface="Calibri" pitchFamily="34" charset="-120"/>
              </a:rPr>
              <a:t>A short, hands-on way to put Unit II into practice.</a:t>
            </a:r>
            <a:endParaRPr lang="en-US" sz="1400" dirty="0"/>
          </a:p>
        </p:txBody>
      </p:sp>
      <p:sp>
        <p:nvSpPr>
          <p:cNvPr id="5" name="Shape 3"/>
          <p:cNvSpPr/>
          <p:nvPr/>
        </p:nvSpPr>
        <p:spPr>
          <a:xfrm>
            <a:off x="548640" y="2011680"/>
            <a:ext cx="10195560" cy="944118"/>
          </a:xfrm>
          <a:prstGeom prst="roundRect">
            <a:avLst>
              <a:gd name="adj" fmla="val 8717"/>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6" name="Shape 4"/>
          <p:cNvSpPr/>
          <p:nvPr/>
        </p:nvSpPr>
        <p:spPr>
          <a:xfrm>
            <a:off x="841248" y="2227707"/>
            <a:ext cx="512064" cy="512064"/>
          </a:xfrm>
          <a:prstGeom prst="ellipse">
            <a:avLst/>
          </a:prstGeom>
          <a:solidFill>
            <a:srgbClr val="1C7293"/>
          </a:solidFill>
          <a:ln/>
        </p:spPr>
      </p:sp>
      <p:sp>
        <p:nvSpPr>
          <p:cNvPr id="7" name="Text 5"/>
          <p:cNvSpPr txBox="1"/>
          <p:nvPr/>
        </p:nvSpPr>
        <p:spPr>
          <a:xfrm>
            <a:off x="841248" y="2227707"/>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txBox="1"/>
          <p:nvPr/>
        </p:nvSpPr>
        <p:spPr>
          <a:xfrm>
            <a:off x="1600200" y="2121408"/>
            <a:ext cx="4023360" cy="724662"/>
          </a:xfrm>
          <a:prstGeom prst="rect">
            <a:avLst/>
          </a:prstGeom>
          <a:noFill/>
          <a:ln/>
        </p:spPr>
        <p:txBody>
          <a:bodyPr wrap="square" lIns="0" tIns="0" rIns="0" bIns="0"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Pick one real task</a:t>
            </a:r>
            <a:endParaRPr lang="en-US" sz="1450" dirty="0"/>
          </a:p>
        </p:txBody>
      </p:sp>
      <p:sp>
        <p:nvSpPr>
          <p:cNvPr id="9" name="Text 7"/>
          <p:cNvSpPr txBox="1"/>
          <p:nvPr/>
        </p:nvSpPr>
        <p:spPr>
          <a:xfrm>
            <a:off x="5715000" y="2103120"/>
            <a:ext cx="4892040" cy="761238"/>
          </a:xfrm>
          <a:prstGeom prst="rect">
            <a:avLst/>
          </a:prstGeom>
          <a:noFill/>
          <a:ln/>
        </p:spPr>
        <p:txBody>
          <a:bodyPr wrap="square" lIns="0" tIns="0" rIns="0" bIns="0" rtlCol="0" anchor="ctr"/>
          <a:lstStyle/>
          <a:p>
            <a:pPr marL="0" indent="0">
              <a:lnSpc>
                <a:spcPct val="115000"/>
              </a:lnSpc>
              <a:buNone/>
            </a:pPr>
            <a:r>
              <a:rPr lang="en-US" sz="1200" dirty="0">
                <a:solidFill>
                  <a:srgbClr val="55606C"/>
                </a:solidFill>
                <a:latin typeface="Calibri" pitchFamily="34" charset="0"/>
                <a:ea typeface="Calibri" pitchFamily="34" charset="-122"/>
                <a:cs typeface="Calibri" pitchFamily="34" charset="-120"/>
              </a:rPr>
              <a:t>Choose one genuine piece of writing or prep work you need to do this week.</a:t>
            </a:r>
            <a:endParaRPr lang="en-US" sz="1200" dirty="0"/>
          </a:p>
        </p:txBody>
      </p:sp>
      <p:sp>
        <p:nvSpPr>
          <p:cNvPr id="10" name="Shape 8"/>
          <p:cNvSpPr/>
          <p:nvPr/>
        </p:nvSpPr>
        <p:spPr>
          <a:xfrm>
            <a:off x="548640" y="3120390"/>
            <a:ext cx="10195560" cy="944118"/>
          </a:xfrm>
          <a:prstGeom prst="roundRect">
            <a:avLst>
              <a:gd name="adj" fmla="val 8717"/>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1" name="Shape 9"/>
          <p:cNvSpPr/>
          <p:nvPr/>
        </p:nvSpPr>
        <p:spPr>
          <a:xfrm>
            <a:off x="841248" y="3336417"/>
            <a:ext cx="512064" cy="512064"/>
          </a:xfrm>
          <a:prstGeom prst="ellipse">
            <a:avLst/>
          </a:prstGeom>
          <a:solidFill>
            <a:srgbClr val="1C7293"/>
          </a:solidFill>
          <a:ln/>
        </p:spPr>
      </p:sp>
      <p:sp>
        <p:nvSpPr>
          <p:cNvPr id="12" name="Text 10"/>
          <p:cNvSpPr txBox="1"/>
          <p:nvPr/>
        </p:nvSpPr>
        <p:spPr>
          <a:xfrm>
            <a:off x="841248" y="3336417"/>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1600200" y="3230118"/>
            <a:ext cx="4023360" cy="724662"/>
          </a:xfrm>
          <a:prstGeom prst="rect">
            <a:avLst/>
          </a:prstGeom>
          <a:noFill/>
          <a:ln/>
        </p:spPr>
        <p:txBody>
          <a:bodyPr wrap="square" lIns="0" tIns="0" rIns="0" bIns="0"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Write a four-block prompt</a:t>
            </a:r>
            <a:endParaRPr lang="en-US" sz="1450" dirty="0"/>
          </a:p>
        </p:txBody>
      </p:sp>
      <p:sp>
        <p:nvSpPr>
          <p:cNvPr id="14" name="Text 12"/>
          <p:cNvSpPr txBox="1"/>
          <p:nvPr/>
        </p:nvSpPr>
        <p:spPr>
          <a:xfrm>
            <a:off x="5715000" y="3211830"/>
            <a:ext cx="4892040" cy="761238"/>
          </a:xfrm>
          <a:prstGeom prst="rect">
            <a:avLst/>
          </a:prstGeom>
          <a:noFill/>
          <a:ln/>
        </p:spPr>
        <p:txBody>
          <a:bodyPr wrap="square" lIns="0" tIns="0" rIns="0" bIns="0" rtlCol="0" anchor="ctr"/>
          <a:lstStyle/>
          <a:p>
            <a:pPr marL="0" indent="0">
              <a:lnSpc>
                <a:spcPct val="115000"/>
              </a:lnSpc>
              <a:buNone/>
            </a:pPr>
            <a:r>
              <a:rPr lang="en-US" sz="1200" dirty="0">
                <a:solidFill>
                  <a:srgbClr val="55606C"/>
                </a:solidFill>
                <a:latin typeface="Calibri" pitchFamily="34" charset="0"/>
                <a:ea typeface="Calibri" pitchFamily="34" charset="-122"/>
                <a:cs typeface="Calibri" pitchFamily="34" charset="-120"/>
              </a:rPr>
              <a:t>Include context, a clear instruction, desired format, and at least one constraint.</a:t>
            </a:r>
            <a:endParaRPr lang="en-US" sz="1200" dirty="0"/>
          </a:p>
        </p:txBody>
      </p:sp>
      <p:sp>
        <p:nvSpPr>
          <p:cNvPr id="15" name="Shape 13"/>
          <p:cNvSpPr/>
          <p:nvPr/>
        </p:nvSpPr>
        <p:spPr>
          <a:xfrm>
            <a:off x="548640" y="4229100"/>
            <a:ext cx="10195560" cy="944118"/>
          </a:xfrm>
          <a:prstGeom prst="roundRect">
            <a:avLst>
              <a:gd name="adj" fmla="val 8717"/>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6" name="Shape 14"/>
          <p:cNvSpPr/>
          <p:nvPr/>
        </p:nvSpPr>
        <p:spPr>
          <a:xfrm>
            <a:off x="841248" y="4445127"/>
            <a:ext cx="512064" cy="512064"/>
          </a:xfrm>
          <a:prstGeom prst="ellipse">
            <a:avLst/>
          </a:prstGeom>
          <a:solidFill>
            <a:srgbClr val="1C7293"/>
          </a:solidFill>
          <a:ln/>
        </p:spPr>
      </p:sp>
      <p:sp>
        <p:nvSpPr>
          <p:cNvPr id="17" name="Text 15"/>
          <p:cNvSpPr txBox="1"/>
          <p:nvPr/>
        </p:nvSpPr>
        <p:spPr>
          <a:xfrm>
            <a:off x="841248" y="4445127"/>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txBox="1"/>
          <p:nvPr/>
        </p:nvSpPr>
        <p:spPr>
          <a:xfrm>
            <a:off x="1600200" y="4338828"/>
            <a:ext cx="4023360" cy="724662"/>
          </a:xfrm>
          <a:prstGeom prst="rect">
            <a:avLst/>
          </a:prstGeom>
          <a:noFill/>
          <a:ln/>
        </p:spPr>
        <p:txBody>
          <a:bodyPr wrap="square" lIns="0" tIns="0" rIns="0" bIns="0"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Diagnose and refine once</a:t>
            </a:r>
            <a:endParaRPr lang="en-US" sz="1450" dirty="0"/>
          </a:p>
        </p:txBody>
      </p:sp>
      <p:sp>
        <p:nvSpPr>
          <p:cNvPr id="19" name="Text 17"/>
          <p:cNvSpPr txBox="1"/>
          <p:nvPr/>
        </p:nvSpPr>
        <p:spPr>
          <a:xfrm>
            <a:off x="5715000" y="4320540"/>
            <a:ext cx="4892040" cy="761238"/>
          </a:xfrm>
          <a:prstGeom prst="rect">
            <a:avLst/>
          </a:prstGeom>
          <a:noFill/>
          <a:ln/>
        </p:spPr>
        <p:txBody>
          <a:bodyPr wrap="square" lIns="0" tIns="0" rIns="0" bIns="0" rtlCol="0" anchor="ctr"/>
          <a:lstStyle/>
          <a:p>
            <a:pPr marL="0" indent="0">
              <a:lnSpc>
                <a:spcPct val="115000"/>
              </a:lnSpc>
              <a:buNone/>
            </a:pPr>
            <a:r>
              <a:rPr lang="en-US" sz="1200" dirty="0">
                <a:solidFill>
                  <a:srgbClr val="55606C"/>
                </a:solidFill>
                <a:latin typeface="Calibri" pitchFamily="34" charset="0"/>
                <a:ea typeface="Calibri" pitchFamily="34" charset="-122"/>
                <a:cs typeface="Calibri" pitchFamily="34" charset="-120"/>
              </a:rPr>
              <a:t>If the first response falls short, name the gap and rewrite that one part.</a:t>
            </a:r>
            <a:endParaRPr lang="en-US" sz="1200" dirty="0"/>
          </a:p>
        </p:txBody>
      </p:sp>
      <p:sp>
        <p:nvSpPr>
          <p:cNvPr id="20" name="Shape 18"/>
          <p:cNvSpPr/>
          <p:nvPr/>
        </p:nvSpPr>
        <p:spPr>
          <a:xfrm>
            <a:off x="548640" y="5337810"/>
            <a:ext cx="10195560" cy="944118"/>
          </a:xfrm>
          <a:prstGeom prst="roundRect">
            <a:avLst>
              <a:gd name="adj" fmla="val 8717"/>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1" name="Shape 19"/>
          <p:cNvSpPr/>
          <p:nvPr/>
        </p:nvSpPr>
        <p:spPr>
          <a:xfrm>
            <a:off x="841248" y="5553837"/>
            <a:ext cx="512064" cy="512064"/>
          </a:xfrm>
          <a:prstGeom prst="ellipse">
            <a:avLst/>
          </a:prstGeom>
          <a:solidFill>
            <a:srgbClr val="1C7293"/>
          </a:solidFill>
          <a:ln/>
        </p:spPr>
      </p:sp>
      <p:sp>
        <p:nvSpPr>
          <p:cNvPr id="22" name="Text 20"/>
          <p:cNvSpPr txBox="1"/>
          <p:nvPr/>
        </p:nvSpPr>
        <p:spPr>
          <a:xfrm>
            <a:off x="841248" y="5553837"/>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3" name="Text 21"/>
          <p:cNvSpPr txBox="1"/>
          <p:nvPr/>
        </p:nvSpPr>
        <p:spPr>
          <a:xfrm>
            <a:off x="1600200" y="5447538"/>
            <a:ext cx="4023360" cy="724662"/>
          </a:xfrm>
          <a:prstGeom prst="rect">
            <a:avLst/>
          </a:prstGeom>
          <a:noFill/>
          <a:ln/>
        </p:spPr>
        <p:txBody>
          <a:bodyPr wrap="square" lIns="0" tIns="0" rIns="0" bIns="0"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Share one example</a:t>
            </a:r>
            <a:endParaRPr lang="en-US" sz="1450" dirty="0"/>
          </a:p>
        </p:txBody>
      </p:sp>
      <p:sp>
        <p:nvSpPr>
          <p:cNvPr id="24" name="Text 22"/>
          <p:cNvSpPr txBox="1"/>
          <p:nvPr/>
        </p:nvSpPr>
        <p:spPr>
          <a:xfrm>
            <a:off x="5715000" y="5429250"/>
            <a:ext cx="4892040" cy="761238"/>
          </a:xfrm>
          <a:prstGeom prst="rect">
            <a:avLst/>
          </a:prstGeom>
          <a:noFill/>
          <a:ln/>
        </p:spPr>
        <p:txBody>
          <a:bodyPr wrap="square" lIns="0" tIns="0" rIns="0" bIns="0" rtlCol="0" anchor="ctr"/>
          <a:lstStyle/>
          <a:p>
            <a:pPr marL="0" indent="0">
              <a:lnSpc>
                <a:spcPct val="115000"/>
              </a:lnSpc>
              <a:buNone/>
            </a:pPr>
            <a:r>
              <a:rPr lang="en-US" sz="1200" dirty="0">
                <a:solidFill>
                  <a:srgbClr val="55606C"/>
                </a:solidFill>
                <a:latin typeface="Calibri" pitchFamily="34" charset="0"/>
                <a:ea typeface="Calibri" pitchFamily="34" charset="-122"/>
                <a:cs typeface="Calibri" pitchFamily="34" charset="-120"/>
              </a:rPr>
              <a:t>Bring your before-and-after prompt to our next session for discussion.</a:t>
            </a:r>
            <a:endParaRPr lang="en-US" sz="1200" dirty="0"/>
          </a:p>
        </p:txBody>
      </p:sp>
      <p:sp>
        <p:nvSpPr>
          <p:cNvPr id="25" name="Text 2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Unit Summary</a:t>
            </a:r>
            <a:endParaRPr lang="en-US" sz="950" dirty="0"/>
          </a:p>
        </p:txBody>
      </p:sp>
      <p:sp>
        <p:nvSpPr>
          <p:cNvPr id="26" name="Text 2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59</a:t>
            </a:r>
            <a:endParaRPr lang="en-US" sz="9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828800" y="-2103120"/>
            <a:ext cx="5486400" cy="5486400"/>
          </a:xfrm>
          <a:prstGeom prst="ellipse">
            <a:avLst/>
          </a:prstGeom>
          <a:solidFill>
            <a:srgbClr val="233A63"/>
          </a:solidFill>
          <a:ln/>
        </p:spPr>
      </p:sp>
      <p:sp>
        <p:nvSpPr>
          <p:cNvPr id="3" name="Shape 1"/>
          <p:cNvSpPr/>
          <p:nvPr/>
        </p:nvSpPr>
        <p:spPr>
          <a:xfrm>
            <a:off x="8961120" y="3840480"/>
            <a:ext cx="5486400" cy="5486400"/>
          </a:xfrm>
          <a:prstGeom prst="ellipse">
            <a:avLst/>
          </a:prstGeom>
          <a:solidFill>
            <a:srgbClr val="121C33"/>
          </a:solidFill>
          <a:ln/>
        </p:spPr>
      </p:sp>
      <p:sp>
        <p:nvSpPr>
          <p:cNvPr id="4" name="Shape 2"/>
          <p:cNvSpPr/>
          <p:nvPr/>
        </p:nvSpPr>
        <p:spPr>
          <a:xfrm>
            <a:off x="5394960" y="1828800"/>
            <a:ext cx="1417320" cy="1417320"/>
          </a:xfrm>
          <a:prstGeom prst="ellipse">
            <a:avLst/>
          </a:prstGeom>
          <a:solidFill>
            <a:srgbClr val="1C7293"/>
          </a:solidFill>
          <a:ln/>
        </p:spPr>
      </p:sp>
      <p:pic>
        <p:nvPicPr>
          <p:cNvPr id="5" name="Image 0" descr="icons/graduation.png"/>
          <p:cNvPicPr>
            <a:picLocks noChangeAspect="1"/>
          </p:cNvPicPr>
          <p:nvPr/>
        </p:nvPicPr>
        <p:blipFill>
          <a:blip r:embed="rId3"/>
          <a:stretch>
            <a:fillRect/>
          </a:stretch>
        </p:blipFill>
        <p:spPr>
          <a:xfrm>
            <a:off x="5763463" y="2197303"/>
            <a:ext cx="680314" cy="680314"/>
          </a:xfrm>
          <a:prstGeom prst="rect">
            <a:avLst/>
          </a:prstGeom>
        </p:spPr>
      </p:pic>
      <p:sp>
        <p:nvSpPr>
          <p:cNvPr id="6" name="Text 3"/>
          <p:cNvSpPr txBox="1"/>
          <p:nvPr/>
        </p:nvSpPr>
        <p:spPr>
          <a:xfrm>
            <a:off x="731520" y="3429000"/>
            <a:ext cx="10698480" cy="100584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Thank You</a:t>
            </a:r>
            <a:endParaRPr lang="en-US" sz="3800" dirty="0"/>
          </a:p>
        </p:txBody>
      </p:sp>
      <p:sp>
        <p:nvSpPr>
          <p:cNvPr id="7" name="Text 4"/>
          <p:cNvSpPr txBox="1"/>
          <p:nvPr/>
        </p:nvSpPr>
        <p:spPr>
          <a:xfrm>
            <a:off x="1463040" y="4434840"/>
            <a:ext cx="9235440" cy="731520"/>
          </a:xfrm>
          <a:prstGeom prst="rect">
            <a:avLst/>
          </a:prstGeom>
          <a:noFill/>
          <a:ln/>
        </p:spPr>
        <p:txBody>
          <a:bodyPr wrap="square" lIns="0" tIns="0" rIns="0" bIns="0" rtlCol="0" anchor="ctr"/>
          <a:lstStyle/>
          <a:p>
            <a:pPr marL="0" indent="0" algn="ctr">
              <a:buNone/>
            </a:pPr>
            <a:r>
              <a:rPr lang="en-US" sz="1600" i="1" dirty="0">
                <a:solidFill>
                  <a:srgbClr val="C9D6E3"/>
                </a:solidFill>
                <a:latin typeface="Calibri" pitchFamily="34" charset="0"/>
                <a:ea typeface="Calibri" pitchFamily="34" charset="-122"/>
                <a:cs typeface="Calibri" pitchFamily="34" charset="-120"/>
              </a:rPr>
              <a:t>Questions &amp; Discussion</a:t>
            </a:r>
            <a:endParaRPr lang="en-US" sz="1600" dirty="0"/>
          </a:p>
        </p:txBody>
      </p:sp>
      <p:sp>
        <p:nvSpPr>
          <p:cNvPr id="8" name="Text 5"/>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9FD6E8"/>
                </a:solidFill>
                <a:latin typeface="Calibri" pitchFamily="34" charset="0"/>
                <a:ea typeface="Calibri" pitchFamily="34" charset="-122"/>
                <a:cs typeface="Calibri" pitchFamily="34" charset="-120"/>
              </a:rPr>
              <a:t>Unit II · Prompt Engineering</a:t>
            </a:r>
            <a:endParaRPr lang="en-US" sz="950" dirty="0"/>
          </a:p>
        </p:txBody>
      </p:sp>
      <p:sp>
        <p:nvSpPr>
          <p:cNvPr id="9" name="Text 6"/>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9FD6E8"/>
                </a:solidFill>
                <a:latin typeface="Calibri" pitchFamily="34" charset="0"/>
                <a:ea typeface="Calibri" pitchFamily="34" charset="-122"/>
                <a:cs typeface="Calibri" pitchFamily="34" charset="-120"/>
              </a:rPr>
              <a:t>60</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5862</Words>
  <Application>Microsoft Office PowerPoint</Application>
  <PresentationFormat>Custom</PresentationFormat>
  <Paragraphs>805</Paragraphs>
  <Slides>60</Slides>
  <Notes>60</Notes>
  <HiddenSlides>0</HiddenSlides>
  <MMClips>0</MMClips>
  <ScaleCrop>false</ScaleCrop>
  <HeadingPairs>
    <vt:vector size="4" baseType="variant">
      <vt:variant>
        <vt:lpstr>Theme</vt:lpstr>
      </vt:variant>
      <vt:variant>
        <vt:i4>1</vt:i4>
      </vt:variant>
      <vt:variant>
        <vt:lpstr>Slide Titles</vt:lpstr>
      </vt:variant>
      <vt:variant>
        <vt:i4>60</vt:i4>
      </vt:variant>
    </vt:vector>
  </HeadingPairs>
  <TitlesOfParts>
    <vt:vector size="6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Windows User</cp:lastModifiedBy>
  <cp:revision>2</cp:revision>
  <dcterms:created xsi:type="dcterms:W3CDTF">2026-10-02T01:47:54Z</dcterms:created>
  <dcterms:modified xsi:type="dcterms:W3CDTF">2026-10-02T01:54:10Z</dcterms:modified>
</cp:coreProperties>
</file>