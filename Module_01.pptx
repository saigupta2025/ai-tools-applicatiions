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93" d="100"/>
          <a:sy n="93" d="100"/>
        </p:scale>
        <p:origin x="-72" y="-8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096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09600"/>
          </a:xfrm>
          <a:prstGeom prst="rect">
            <a:avLst/>
          </a:prstGeom>
        </p:spPr>
        <p:txBody>
          <a:bodyPr vert="horz" lIns="91440" tIns="45720" rIns="91440" bIns="45720" rtlCol="0"/>
          <a:lstStyle>
            <a:lvl1pPr algn="r">
              <a:defRPr sz="1200"/>
            </a:lvl1pPr>
          </a:lstStyle>
          <a:p>
            <a:fld id="{EBBFDC34-E1B5-47D9-AEA3-B48E05DEBEA9}" type="datetimeFigureOut">
              <a:rPr lang="en-US" smtClean="0"/>
              <a:t>9/14/2026</a:t>
            </a:fld>
            <a:endParaRPr lang="en-US"/>
          </a:p>
        </p:txBody>
      </p:sp>
      <p:sp>
        <p:nvSpPr>
          <p:cNvPr id="4" name="Slide Image Placeholder 3"/>
          <p:cNvSpPr>
            <a:spLocks noGrp="1" noRot="1" noChangeAspect="1"/>
          </p:cNvSpPr>
          <p:nvPr>
            <p:ph type="sldImg" idx="2"/>
          </p:nvPr>
        </p:nvSpPr>
        <p:spPr>
          <a:xfrm>
            <a:off x="-635000" y="914400"/>
            <a:ext cx="8128000" cy="4572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791200"/>
            <a:ext cx="5486400" cy="54864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11580813"/>
            <a:ext cx="2971800" cy="6096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09600"/>
          </a:xfrm>
          <a:prstGeom prst="rect">
            <a:avLst/>
          </a:prstGeom>
        </p:spPr>
        <p:txBody>
          <a:bodyPr vert="horz" lIns="91440" tIns="45720" rIns="91440" bIns="45720" rtlCol="0" anchor="b"/>
          <a:lstStyle>
            <a:lvl1pPr algn="r">
              <a:defRPr sz="1200"/>
            </a:lvl1pPr>
          </a:lstStyle>
          <a:p>
            <a:fld id="{6EDA075C-8557-4727-9320-D5FD3240F9FC}" type="slidenum">
              <a:rPr lang="en-US" smtClean="0"/>
              <a:t>‹#›</a:t>
            </a:fld>
            <a:endParaRPr lang="en-US"/>
          </a:p>
        </p:txBody>
      </p:sp>
    </p:spTree>
    <p:extLst>
      <p:ext uri="{BB962C8B-B14F-4D97-AF65-F5344CB8AC3E}">
        <p14:creationId xmlns:p14="http://schemas.microsoft.com/office/powerpoint/2010/main" val="85531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3.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4.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8.png"/><Relationship Id="rId4" Type="http://schemas.openxmlformats.org/officeDocument/2006/relationships/image" Target="../media/image20.png"/></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8.png"/><Relationship Id="rId4" Type="http://schemas.openxmlformats.org/officeDocument/2006/relationships/image" Target="../media/image26.png"/></Relationships>
</file>

<file path=ppt/slides/_rels/slide4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31.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5.png"/><Relationship Id="rId4" Type="http://schemas.openxmlformats.org/officeDocument/2006/relationships/image" Target="../media/image33.png"/></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34.png"/><Relationship Id="rId2" Type="http://schemas.openxmlformats.org/officeDocument/2006/relationships/notesSlide" Target="../notesSlides/notesSlide5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33.png"/><Relationship Id="rId4" Type="http://schemas.openxmlformats.org/officeDocument/2006/relationships/image" Target="../media/image32.png"/></Relationships>
</file>

<file path=ppt/slides/_rels/slide5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7.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37.png"/><Relationship Id="rId4" Type="http://schemas.openxmlformats.org/officeDocument/2006/relationships/image" Target="../media/image36.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9.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22.png"/><Relationship Id="rId4" Type="http://schemas.openxmlformats.org/officeDocument/2006/relationships/image" Target="../media/image38.png"/></Relationships>
</file>

<file path=ppt/slides/_rels/slide6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1.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7.png"/><Relationship Id="rId4" Type="http://schemas.openxmlformats.org/officeDocument/2006/relationships/image" Target="../media/image16.png"/></Relationships>
</file>

<file path=ppt/slides/_rels/slide6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7.png"/><Relationship Id="rId2" Type="http://schemas.openxmlformats.org/officeDocument/2006/relationships/notesSlide" Target="../notesSlides/notesSlide63.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40.png"/><Relationship Id="rId4" Type="http://schemas.openxmlformats.org/officeDocument/2006/relationships/image" Target="../media/image41.png"/></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6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9418320" y="-1463040"/>
            <a:ext cx="4754880" cy="4754880"/>
          </a:xfrm>
          <a:prstGeom prst="ellipse">
            <a:avLst/>
          </a:prstGeom>
          <a:solidFill>
            <a:srgbClr val="233A63"/>
          </a:solidFill>
          <a:ln/>
        </p:spPr>
      </p:sp>
      <p:sp>
        <p:nvSpPr>
          <p:cNvPr id="3" name="Shape 1"/>
          <p:cNvSpPr/>
          <p:nvPr/>
        </p:nvSpPr>
        <p:spPr>
          <a:xfrm>
            <a:off x="-1645920" y="4846320"/>
            <a:ext cx="4023360" cy="4023360"/>
          </a:xfrm>
          <a:prstGeom prst="ellipse">
            <a:avLst/>
          </a:prstGeom>
          <a:solidFill>
            <a:srgbClr val="121C33"/>
          </a:solidFill>
          <a:ln/>
        </p:spPr>
      </p:sp>
      <p:sp>
        <p:nvSpPr>
          <p:cNvPr id="4" name="Text 2"/>
          <p:cNvSpPr txBox="1"/>
          <p:nvPr/>
        </p:nvSpPr>
        <p:spPr>
          <a:xfrm>
            <a:off x="822960" y="1417320"/>
            <a:ext cx="9601200" cy="365760"/>
          </a:xfrm>
          <a:prstGeom prst="rect">
            <a:avLst/>
          </a:prstGeom>
          <a:noFill/>
          <a:ln/>
        </p:spPr>
        <p:txBody>
          <a:bodyPr wrap="square" lIns="0" tIns="0" rIns="0" bIns="0" rtlCol="0" anchor="ctr"/>
          <a:lstStyle/>
          <a:p>
            <a:pPr marL="0" indent="0">
              <a:buNone/>
            </a:pPr>
            <a:r>
              <a:rPr lang="en-US" sz="1200" b="1" kern="0" spc="250" dirty="0" smtClean="0">
                <a:solidFill>
                  <a:schemeClr val="bg1"/>
                </a:solidFill>
                <a:latin typeface="Times New Roman" pitchFamily="18" charset="0"/>
                <a:ea typeface="Calibri" pitchFamily="34" charset="-122"/>
                <a:cs typeface="Times New Roman" pitchFamily="18" charset="0"/>
              </a:rPr>
              <a:t>Sri Vasavi Engineering College(A)- CSE </a:t>
            </a:r>
            <a:endParaRPr lang="en-US" sz="1200" dirty="0">
              <a:solidFill>
                <a:schemeClr val="bg1"/>
              </a:solidFill>
              <a:latin typeface="Times New Roman" pitchFamily="18" charset="0"/>
              <a:cs typeface="Times New Roman" pitchFamily="18" charset="0"/>
            </a:endParaRPr>
          </a:p>
        </p:txBody>
      </p:sp>
      <p:sp>
        <p:nvSpPr>
          <p:cNvPr id="5" name="Text 3"/>
          <p:cNvSpPr txBox="1"/>
          <p:nvPr/>
        </p:nvSpPr>
        <p:spPr>
          <a:xfrm>
            <a:off x="777240" y="1874520"/>
            <a:ext cx="9875520" cy="1828800"/>
          </a:xfrm>
          <a:prstGeom prst="rect">
            <a:avLst/>
          </a:prstGeom>
          <a:noFill/>
          <a:ln/>
        </p:spPr>
        <p:txBody>
          <a:bodyPr wrap="square" lIns="0" tIns="0" rIns="0" bIns="0" rtlCol="0" anchor="ctr"/>
          <a:lstStyle/>
          <a:p>
            <a:pPr marL="0" indent="0">
              <a:lnSpc>
                <a:spcPct val="105000"/>
              </a:lnSpc>
              <a:buNone/>
            </a:pPr>
            <a:r>
              <a:rPr lang="en-US" sz="4600" b="1" dirty="0" smtClean="0">
                <a:solidFill>
                  <a:srgbClr val="FFFFFF"/>
                </a:solidFill>
                <a:latin typeface="Cambria" pitchFamily="34" charset="0"/>
                <a:ea typeface="Cambria" pitchFamily="34" charset="-122"/>
                <a:cs typeface="Cambria" pitchFamily="34" charset="-120"/>
              </a:rPr>
              <a:t>AI tools &amp; Applications</a:t>
            </a:r>
            <a:endParaRPr lang="en-US" sz="4600" dirty="0"/>
          </a:p>
        </p:txBody>
      </p:sp>
      <p:sp>
        <p:nvSpPr>
          <p:cNvPr id="6" name="Text 4"/>
          <p:cNvSpPr txBox="1"/>
          <p:nvPr/>
        </p:nvSpPr>
        <p:spPr>
          <a:xfrm>
            <a:off x="822960" y="3703320"/>
            <a:ext cx="8778240" cy="822960"/>
          </a:xfrm>
          <a:prstGeom prst="rect">
            <a:avLst/>
          </a:prstGeom>
          <a:noFill/>
          <a:ln/>
        </p:spPr>
        <p:txBody>
          <a:bodyPr wrap="square" lIns="0" tIns="0" rIns="0" bIns="0" rtlCol="0" anchor="ctr"/>
          <a:lstStyle/>
          <a:p>
            <a:pPr marL="0" indent="0">
              <a:lnSpc>
                <a:spcPct val="125000"/>
              </a:lnSpc>
              <a:buNone/>
            </a:pPr>
            <a:r>
              <a:rPr lang="en-US" sz="2000" i="1" dirty="0" smtClean="0">
                <a:solidFill>
                  <a:schemeClr val="bg1"/>
                </a:solidFill>
                <a:latin typeface="Calibri" pitchFamily="34" charset="0"/>
                <a:ea typeface="Calibri" pitchFamily="34" charset="-122"/>
                <a:cs typeface="Calibri" pitchFamily="34" charset="-120"/>
              </a:rPr>
              <a:t>Course Instructor: Sai Gupta</a:t>
            </a:r>
            <a:endParaRPr lang="en-US" sz="2000" dirty="0">
              <a:solidFill>
                <a:schemeClr val="bg1"/>
              </a:solidFill>
            </a:endParaRPr>
          </a:p>
        </p:txBody>
      </p:sp>
      <p:sp>
        <p:nvSpPr>
          <p:cNvPr id="7" name="Shape 5"/>
          <p:cNvSpPr/>
          <p:nvPr/>
        </p:nvSpPr>
        <p:spPr>
          <a:xfrm>
            <a:off x="9966960" y="5074920"/>
            <a:ext cx="1371600" cy="1371600"/>
          </a:xfrm>
          <a:prstGeom prst="ellipse">
            <a:avLst/>
          </a:prstGeom>
          <a:solidFill>
            <a:srgbClr val="1C7293"/>
          </a:solidFill>
          <a:ln/>
        </p:spPr>
      </p:sp>
      <p:pic>
        <p:nvPicPr>
          <p:cNvPr id="8" name="Image 0" descr="icons/brain.png"/>
          <p:cNvPicPr>
            <a:picLocks noChangeAspect="1"/>
          </p:cNvPicPr>
          <p:nvPr/>
        </p:nvPicPr>
        <p:blipFill>
          <a:blip r:embed="rId3"/>
          <a:stretch>
            <a:fillRect/>
          </a:stretch>
        </p:blipFill>
        <p:spPr>
          <a:xfrm>
            <a:off x="10323576" y="5431536"/>
            <a:ext cx="658368" cy="658368"/>
          </a:xfrm>
          <a:prstGeom prst="rect">
            <a:avLst/>
          </a:prstGeom>
        </p:spPr>
      </p:pic>
      <p:sp>
        <p:nvSpPr>
          <p:cNvPr id="9" name="Shape 6"/>
          <p:cNvSpPr/>
          <p:nvPr/>
        </p:nvSpPr>
        <p:spPr>
          <a:xfrm>
            <a:off x="822960" y="4892040"/>
            <a:ext cx="2743200" cy="0"/>
          </a:xfrm>
          <a:prstGeom prst="line">
            <a:avLst/>
          </a:prstGeom>
          <a:noFill/>
          <a:ln w="31750">
            <a:solidFill>
              <a:srgbClr val="1C7293"/>
            </a:solidFill>
            <a:prstDash val="solid"/>
          </a:ln>
        </p:spPr>
      </p:sp>
      <p:sp>
        <p:nvSpPr>
          <p:cNvPr id="10" name="Text 7"/>
          <p:cNvSpPr txBox="1"/>
          <p:nvPr/>
        </p:nvSpPr>
        <p:spPr>
          <a:xfrm>
            <a:off x="548640" y="6528816"/>
            <a:ext cx="7315200" cy="274320"/>
          </a:xfrm>
          <a:prstGeom prst="rect">
            <a:avLst/>
          </a:prstGeom>
          <a:noFill/>
          <a:ln/>
        </p:spPr>
        <p:txBody>
          <a:bodyPr wrap="square" lIns="0" tIns="0" rIns="0" bIns="0" rtlCol="0" anchor="ctr"/>
          <a:lstStyle/>
          <a:p>
            <a:pPr>
              <a:lnSpc>
                <a:spcPct val="105000"/>
              </a:lnSpc>
            </a:pPr>
            <a:r>
              <a:rPr lang="en-US" sz="1000" b="1" dirty="0">
                <a:solidFill>
                  <a:srgbClr val="FFFFFF"/>
                </a:solidFill>
                <a:latin typeface="Cambria" pitchFamily="34" charset="0"/>
                <a:ea typeface="Cambria" pitchFamily="34" charset="-122"/>
                <a:cs typeface="Cambria" pitchFamily="34" charset="-120"/>
              </a:rPr>
              <a:t>AI tools &amp; Applications</a:t>
            </a:r>
            <a:endParaRPr lang="en-US" sz="1000" dirty="0"/>
          </a:p>
        </p:txBody>
      </p:sp>
      <p:sp>
        <p:nvSpPr>
          <p:cNvPr id="11" name="Text 8"/>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9FD6E8"/>
                </a:solidFill>
                <a:latin typeface="Calibri" pitchFamily="34" charset="0"/>
                <a:ea typeface="Calibri" pitchFamily="34" charset="-122"/>
                <a:cs typeface="Calibri" pitchFamily="34" charset="-120"/>
              </a:rPr>
              <a:t>1</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WHY THIS MATTERS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Why AI Literacy </a:t>
            </a:r>
            <a:r>
              <a:rPr lang="en-US" sz="3200" b="1" dirty="0" smtClean="0">
                <a:solidFill>
                  <a:srgbClr val="1B2A4A"/>
                </a:solidFill>
                <a:latin typeface="Cambria" pitchFamily="34" charset="0"/>
                <a:ea typeface="Cambria" pitchFamily="34" charset="-122"/>
                <a:cs typeface="Cambria" pitchFamily="34" charset="-120"/>
              </a:rPr>
              <a:t>Matters</a:t>
            </a:r>
            <a:endParaRPr lang="en-US" sz="3200" dirty="0"/>
          </a:p>
        </p:txBody>
      </p:sp>
      <p:sp>
        <p:nvSpPr>
          <p:cNvPr id="4" name="Shape 2"/>
          <p:cNvSpPr/>
          <p:nvPr/>
        </p:nvSpPr>
        <p:spPr>
          <a:xfrm>
            <a:off x="548640" y="192024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5" name="Shape 3"/>
          <p:cNvSpPr/>
          <p:nvPr/>
        </p:nvSpPr>
        <p:spPr>
          <a:xfrm>
            <a:off x="841248" y="2212848"/>
            <a:ext cx="658368" cy="658368"/>
          </a:xfrm>
          <a:prstGeom prst="ellipse">
            <a:avLst/>
          </a:prstGeom>
          <a:solidFill>
            <a:srgbClr val="1C7293"/>
          </a:solidFill>
          <a:ln/>
        </p:spPr>
      </p:sp>
      <p:pic>
        <p:nvPicPr>
          <p:cNvPr id="6" name="Image 0" descr="icons/graduation.png"/>
          <p:cNvPicPr>
            <a:picLocks noChangeAspect="1"/>
          </p:cNvPicPr>
          <p:nvPr/>
        </p:nvPicPr>
        <p:blipFill>
          <a:blip r:embed="rId3"/>
          <a:stretch>
            <a:fillRect/>
          </a:stretch>
        </p:blipFill>
        <p:spPr>
          <a:xfrm>
            <a:off x="1012424" y="2384024"/>
            <a:ext cx="316017" cy="316017"/>
          </a:xfrm>
          <a:prstGeom prst="rect">
            <a:avLst/>
          </a:prstGeom>
        </p:spPr>
      </p:pic>
      <p:sp>
        <p:nvSpPr>
          <p:cNvPr id="7" name="Text 4"/>
          <p:cNvSpPr txBox="1"/>
          <p:nvPr/>
        </p:nvSpPr>
        <p:spPr>
          <a:xfrm>
            <a:off x="1645920" y="223113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Your Students Already Use It</a:t>
            </a:r>
            <a:endParaRPr lang="en-US" sz="1650" dirty="0"/>
          </a:p>
        </p:txBody>
      </p:sp>
      <p:sp>
        <p:nvSpPr>
          <p:cNvPr id="8" name="Text 5"/>
          <p:cNvSpPr txBox="1"/>
          <p:nvPr/>
        </p:nvSpPr>
        <p:spPr>
          <a:xfrm>
            <a:off x="841248" y="299923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Most students already use AI tools for study and assignments — informed guidance beats an uninformed ban.</a:t>
            </a:r>
            <a:endParaRPr lang="en-US" sz="1200" dirty="0"/>
          </a:p>
        </p:txBody>
      </p:sp>
      <p:sp>
        <p:nvSpPr>
          <p:cNvPr id="9" name="Shape 6"/>
          <p:cNvSpPr/>
          <p:nvPr/>
        </p:nvSpPr>
        <p:spPr>
          <a:xfrm>
            <a:off x="6254496" y="192024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Shape 7"/>
          <p:cNvSpPr/>
          <p:nvPr/>
        </p:nvSpPr>
        <p:spPr>
          <a:xfrm>
            <a:off x="6547104" y="2212848"/>
            <a:ext cx="658368" cy="658368"/>
          </a:xfrm>
          <a:prstGeom prst="ellipse">
            <a:avLst/>
          </a:prstGeom>
          <a:solidFill>
            <a:srgbClr val="1C7293"/>
          </a:solidFill>
          <a:ln/>
        </p:spPr>
      </p:sp>
      <p:pic>
        <p:nvPicPr>
          <p:cNvPr id="11" name="Image 1" descr="icons/flask.png"/>
          <p:cNvPicPr>
            <a:picLocks noChangeAspect="1"/>
          </p:cNvPicPr>
          <p:nvPr/>
        </p:nvPicPr>
        <p:blipFill>
          <a:blip r:embed="rId4"/>
          <a:stretch>
            <a:fillRect/>
          </a:stretch>
        </p:blipFill>
        <p:spPr>
          <a:xfrm>
            <a:off x="6718280" y="2384024"/>
            <a:ext cx="316017" cy="316017"/>
          </a:xfrm>
          <a:prstGeom prst="rect">
            <a:avLst/>
          </a:prstGeom>
        </p:spPr>
      </p:pic>
      <p:sp>
        <p:nvSpPr>
          <p:cNvPr id="12" name="Text 8"/>
          <p:cNvSpPr txBox="1"/>
          <p:nvPr/>
        </p:nvSpPr>
        <p:spPr>
          <a:xfrm>
            <a:off x="7351776" y="223113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Research Is Accelerating</a:t>
            </a:r>
            <a:endParaRPr lang="en-US" sz="1650" dirty="0"/>
          </a:p>
        </p:txBody>
      </p:sp>
      <p:sp>
        <p:nvSpPr>
          <p:cNvPr id="13" name="Text 9"/>
          <p:cNvSpPr txBox="1"/>
          <p:nvPr/>
        </p:nvSpPr>
        <p:spPr>
          <a:xfrm>
            <a:off x="6547104" y="299923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From literature screening to data cleaning, AI is reshaping how research gets done across every discipline.</a:t>
            </a:r>
            <a:endParaRPr lang="en-US" sz="1200" dirty="0"/>
          </a:p>
        </p:txBody>
      </p:sp>
      <p:sp>
        <p:nvSpPr>
          <p:cNvPr id="14" name="Shape 10"/>
          <p:cNvSpPr/>
          <p:nvPr/>
        </p:nvSpPr>
        <p:spPr>
          <a:xfrm>
            <a:off x="548640" y="438912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5" name="Shape 11"/>
          <p:cNvSpPr/>
          <p:nvPr/>
        </p:nvSpPr>
        <p:spPr>
          <a:xfrm>
            <a:off x="841248" y="4681728"/>
            <a:ext cx="658368" cy="658368"/>
          </a:xfrm>
          <a:prstGeom prst="ellipse">
            <a:avLst/>
          </a:prstGeom>
          <a:solidFill>
            <a:srgbClr val="1C7293"/>
          </a:solidFill>
          <a:ln/>
        </p:spPr>
      </p:sp>
      <p:pic>
        <p:nvPicPr>
          <p:cNvPr id="16" name="Image 2" descr="icons/chartline.png"/>
          <p:cNvPicPr>
            <a:picLocks noChangeAspect="1"/>
          </p:cNvPicPr>
          <p:nvPr/>
        </p:nvPicPr>
        <p:blipFill>
          <a:blip r:embed="rId5"/>
          <a:stretch>
            <a:fillRect/>
          </a:stretch>
        </p:blipFill>
        <p:spPr>
          <a:xfrm>
            <a:off x="1012424" y="4852904"/>
            <a:ext cx="316017" cy="316017"/>
          </a:xfrm>
          <a:prstGeom prst="rect">
            <a:avLst/>
          </a:prstGeom>
        </p:spPr>
      </p:pic>
      <p:sp>
        <p:nvSpPr>
          <p:cNvPr id="17" name="Text 12"/>
          <p:cNvSpPr txBox="1"/>
          <p:nvPr/>
        </p:nvSpPr>
        <p:spPr>
          <a:xfrm>
            <a:off x="1645920" y="470001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Time Is Your Scarcest Resource</a:t>
            </a:r>
            <a:endParaRPr lang="en-US" sz="1650" dirty="0"/>
          </a:p>
        </p:txBody>
      </p:sp>
      <p:sp>
        <p:nvSpPr>
          <p:cNvPr id="18" name="Text 13"/>
          <p:cNvSpPr txBox="1"/>
          <p:nvPr/>
        </p:nvSpPr>
        <p:spPr>
          <a:xfrm>
            <a:off x="841248" y="546811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The right tool, used well, can return hours each week for teaching, mentoring, and research that truly needs you.</a:t>
            </a:r>
            <a:endParaRPr lang="en-US" sz="1200" dirty="0"/>
          </a:p>
        </p:txBody>
      </p:sp>
      <p:sp>
        <p:nvSpPr>
          <p:cNvPr id="19" name="Shape 14"/>
          <p:cNvSpPr/>
          <p:nvPr/>
        </p:nvSpPr>
        <p:spPr>
          <a:xfrm>
            <a:off x="6254496" y="438912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20" name="Shape 15"/>
          <p:cNvSpPr/>
          <p:nvPr/>
        </p:nvSpPr>
        <p:spPr>
          <a:xfrm>
            <a:off x="6547104" y="4681728"/>
            <a:ext cx="658368" cy="658368"/>
          </a:xfrm>
          <a:prstGeom prst="ellipse">
            <a:avLst/>
          </a:prstGeom>
          <a:solidFill>
            <a:srgbClr val="1C7293"/>
          </a:solidFill>
          <a:ln/>
        </p:spPr>
      </p:sp>
      <p:pic>
        <p:nvPicPr>
          <p:cNvPr id="21" name="Image 3" descr="icons/shield.png"/>
          <p:cNvPicPr>
            <a:picLocks noChangeAspect="1"/>
          </p:cNvPicPr>
          <p:nvPr/>
        </p:nvPicPr>
        <p:blipFill>
          <a:blip r:embed="rId6"/>
          <a:stretch>
            <a:fillRect/>
          </a:stretch>
        </p:blipFill>
        <p:spPr>
          <a:xfrm>
            <a:off x="6718280" y="4852904"/>
            <a:ext cx="316017" cy="316017"/>
          </a:xfrm>
          <a:prstGeom prst="rect">
            <a:avLst/>
          </a:prstGeom>
        </p:spPr>
      </p:pic>
      <p:sp>
        <p:nvSpPr>
          <p:cNvPr id="22" name="Text 16"/>
          <p:cNvSpPr txBox="1"/>
          <p:nvPr/>
        </p:nvSpPr>
        <p:spPr>
          <a:xfrm>
            <a:off x="7351776" y="470001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Responsible Use Starts With Understanding</a:t>
            </a:r>
            <a:endParaRPr lang="en-US" sz="1650" dirty="0"/>
          </a:p>
        </p:txBody>
      </p:sp>
      <p:sp>
        <p:nvSpPr>
          <p:cNvPr id="23" name="Text 17"/>
          <p:cNvSpPr txBox="1"/>
          <p:nvPr/>
        </p:nvSpPr>
        <p:spPr>
          <a:xfrm>
            <a:off x="6547104" y="546811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You cannot set sensible policy or guide students without first understanding how these tools actually work.</a:t>
            </a:r>
            <a:endParaRPr lang="en-US" sz="1200" dirty="0"/>
          </a:p>
        </p:txBody>
      </p:sp>
      <p:sp>
        <p:nvSpPr>
          <p:cNvPr id="24" name="Text 18"/>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Why This Matters</a:t>
            </a:r>
            <a:endParaRPr lang="en-US" sz="950" dirty="0"/>
          </a:p>
        </p:txBody>
      </p:sp>
      <p:sp>
        <p:nvSpPr>
          <p:cNvPr id="25" name="Text 19"/>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COURSE ROADMAP</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What We Will </a:t>
            </a:r>
            <a:r>
              <a:rPr lang="en-US" sz="3200" b="1" dirty="0" smtClean="0">
                <a:solidFill>
                  <a:srgbClr val="1B2A4A"/>
                </a:solidFill>
                <a:latin typeface="Cambria" pitchFamily="34" charset="0"/>
                <a:ea typeface="Cambria" pitchFamily="34" charset="-122"/>
                <a:cs typeface="Cambria" pitchFamily="34" charset="-120"/>
              </a:rPr>
              <a:t>Cover</a:t>
            </a:r>
            <a:endParaRPr lang="en-US" sz="3200" dirty="0"/>
          </a:p>
        </p:txBody>
      </p:sp>
      <p:sp>
        <p:nvSpPr>
          <p:cNvPr id="4" name="Shape 2"/>
          <p:cNvSpPr/>
          <p:nvPr/>
        </p:nvSpPr>
        <p:spPr>
          <a:xfrm>
            <a:off x="548640" y="1920240"/>
            <a:ext cx="3483864"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5" name="Shape 3"/>
          <p:cNvSpPr/>
          <p:nvPr/>
        </p:nvSpPr>
        <p:spPr>
          <a:xfrm>
            <a:off x="841248" y="2212848"/>
            <a:ext cx="658368" cy="658368"/>
          </a:xfrm>
          <a:prstGeom prst="ellipse">
            <a:avLst/>
          </a:prstGeom>
          <a:solidFill>
            <a:srgbClr val="1C7293"/>
          </a:solidFill>
          <a:ln/>
        </p:spPr>
      </p:sp>
      <p:pic>
        <p:nvPicPr>
          <p:cNvPr id="6" name="Image 0" descr="icons/brain.png"/>
          <p:cNvPicPr>
            <a:picLocks noChangeAspect="1"/>
          </p:cNvPicPr>
          <p:nvPr/>
        </p:nvPicPr>
        <p:blipFill>
          <a:blip r:embed="rId3"/>
          <a:stretch>
            <a:fillRect/>
          </a:stretch>
        </p:blipFill>
        <p:spPr>
          <a:xfrm>
            <a:off x="1012424" y="2384024"/>
            <a:ext cx="316017" cy="316017"/>
          </a:xfrm>
          <a:prstGeom prst="rect">
            <a:avLst/>
          </a:prstGeom>
        </p:spPr>
      </p:pic>
      <p:sp>
        <p:nvSpPr>
          <p:cNvPr id="7" name="Text 4"/>
          <p:cNvSpPr txBox="1"/>
          <p:nvPr/>
        </p:nvSpPr>
        <p:spPr>
          <a:xfrm>
            <a:off x="1645920" y="2231136"/>
            <a:ext cx="2112264"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1. AI Fundamentals</a:t>
            </a:r>
            <a:endParaRPr lang="en-US" sz="1650" dirty="0"/>
          </a:p>
        </p:txBody>
      </p:sp>
      <p:sp>
        <p:nvSpPr>
          <p:cNvPr id="8" name="Text 5"/>
          <p:cNvSpPr txBox="1"/>
          <p:nvPr/>
        </p:nvSpPr>
        <p:spPr>
          <a:xfrm>
            <a:off x="841248" y="2999232"/>
            <a:ext cx="2898648"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AI → ML → DL → NLP → GenAI, explained simply</a:t>
            </a:r>
            <a:endParaRPr lang="en-US" sz="1200" dirty="0"/>
          </a:p>
        </p:txBody>
      </p:sp>
      <p:sp>
        <p:nvSpPr>
          <p:cNvPr id="9" name="Shape 6"/>
          <p:cNvSpPr/>
          <p:nvPr/>
        </p:nvSpPr>
        <p:spPr>
          <a:xfrm>
            <a:off x="4352544" y="1920240"/>
            <a:ext cx="3483864"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Shape 7"/>
          <p:cNvSpPr/>
          <p:nvPr/>
        </p:nvSpPr>
        <p:spPr>
          <a:xfrm>
            <a:off x="4645152" y="2212848"/>
            <a:ext cx="658368" cy="658368"/>
          </a:xfrm>
          <a:prstGeom prst="ellipse">
            <a:avLst/>
          </a:prstGeom>
          <a:solidFill>
            <a:srgbClr val="1C7293"/>
          </a:solidFill>
          <a:ln/>
        </p:spPr>
      </p:sp>
      <p:pic>
        <p:nvPicPr>
          <p:cNvPr id="11" name="Image 1" descr="icons/toolbox.png"/>
          <p:cNvPicPr>
            <a:picLocks noChangeAspect="1"/>
          </p:cNvPicPr>
          <p:nvPr/>
        </p:nvPicPr>
        <p:blipFill>
          <a:blip r:embed="rId4"/>
          <a:stretch>
            <a:fillRect/>
          </a:stretch>
        </p:blipFill>
        <p:spPr>
          <a:xfrm>
            <a:off x="4816328" y="2384024"/>
            <a:ext cx="316017" cy="316017"/>
          </a:xfrm>
          <a:prstGeom prst="rect">
            <a:avLst/>
          </a:prstGeom>
        </p:spPr>
      </p:pic>
      <p:sp>
        <p:nvSpPr>
          <p:cNvPr id="12" name="Text 8"/>
          <p:cNvSpPr txBox="1"/>
          <p:nvPr/>
        </p:nvSpPr>
        <p:spPr>
          <a:xfrm>
            <a:off x="5449824" y="2231136"/>
            <a:ext cx="2112264"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2. Categories of AI Tools</a:t>
            </a:r>
            <a:endParaRPr lang="en-US" sz="1650" dirty="0"/>
          </a:p>
        </p:txBody>
      </p:sp>
      <p:sp>
        <p:nvSpPr>
          <p:cNvPr id="13" name="Text 9"/>
          <p:cNvSpPr txBox="1"/>
          <p:nvPr/>
        </p:nvSpPr>
        <p:spPr>
          <a:xfrm>
            <a:off x="4645152" y="2999232"/>
            <a:ext cx="2898648"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Chat → Code → Data → Image → Writing tools</a:t>
            </a:r>
            <a:endParaRPr lang="en-US" sz="1200" dirty="0"/>
          </a:p>
        </p:txBody>
      </p:sp>
      <p:sp>
        <p:nvSpPr>
          <p:cNvPr id="14" name="Shape 10"/>
          <p:cNvSpPr/>
          <p:nvPr/>
        </p:nvSpPr>
        <p:spPr>
          <a:xfrm>
            <a:off x="8156448" y="1920240"/>
            <a:ext cx="3483864"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5" name="Shape 11"/>
          <p:cNvSpPr/>
          <p:nvPr/>
        </p:nvSpPr>
        <p:spPr>
          <a:xfrm>
            <a:off x="8449056" y="2212848"/>
            <a:ext cx="658368" cy="658368"/>
          </a:xfrm>
          <a:prstGeom prst="ellipse">
            <a:avLst/>
          </a:prstGeom>
          <a:solidFill>
            <a:srgbClr val="1C7293"/>
          </a:solidFill>
          <a:ln/>
        </p:spPr>
      </p:sp>
      <p:pic>
        <p:nvPicPr>
          <p:cNvPr id="16" name="Image 2" descr="icons/microchip.png"/>
          <p:cNvPicPr>
            <a:picLocks noChangeAspect="1"/>
          </p:cNvPicPr>
          <p:nvPr/>
        </p:nvPicPr>
        <p:blipFill>
          <a:blip r:embed="rId5"/>
          <a:stretch>
            <a:fillRect/>
          </a:stretch>
        </p:blipFill>
        <p:spPr>
          <a:xfrm>
            <a:off x="8620232" y="2384024"/>
            <a:ext cx="316017" cy="316017"/>
          </a:xfrm>
          <a:prstGeom prst="rect">
            <a:avLst/>
          </a:prstGeom>
        </p:spPr>
      </p:pic>
      <p:sp>
        <p:nvSpPr>
          <p:cNvPr id="17" name="Text 12"/>
          <p:cNvSpPr txBox="1"/>
          <p:nvPr/>
        </p:nvSpPr>
        <p:spPr>
          <a:xfrm>
            <a:off x="9253728" y="2231136"/>
            <a:ext cx="2112264"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3. How LLMs Work</a:t>
            </a:r>
            <a:endParaRPr lang="en-US" sz="1650" dirty="0"/>
          </a:p>
        </p:txBody>
      </p:sp>
      <p:sp>
        <p:nvSpPr>
          <p:cNvPr id="18" name="Text 13"/>
          <p:cNvSpPr txBox="1"/>
          <p:nvPr/>
        </p:nvSpPr>
        <p:spPr>
          <a:xfrm>
            <a:off x="8449056" y="2999232"/>
            <a:ext cx="2898648"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Tokens → Embeddings → Attention → Output</a:t>
            </a:r>
            <a:endParaRPr lang="en-US" sz="1200" dirty="0"/>
          </a:p>
        </p:txBody>
      </p:sp>
      <p:sp>
        <p:nvSpPr>
          <p:cNvPr id="19" name="Shape 14"/>
          <p:cNvSpPr/>
          <p:nvPr/>
        </p:nvSpPr>
        <p:spPr>
          <a:xfrm>
            <a:off x="2450592" y="4389120"/>
            <a:ext cx="3483864"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20" name="Shape 15"/>
          <p:cNvSpPr/>
          <p:nvPr/>
        </p:nvSpPr>
        <p:spPr>
          <a:xfrm>
            <a:off x="2743200" y="4681728"/>
            <a:ext cx="658368" cy="658368"/>
          </a:xfrm>
          <a:prstGeom prst="ellipse">
            <a:avLst/>
          </a:prstGeom>
          <a:solidFill>
            <a:srgbClr val="1C7293"/>
          </a:solidFill>
          <a:ln/>
        </p:spPr>
      </p:sp>
      <p:pic>
        <p:nvPicPr>
          <p:cNvPr id="21" name="Image 3" descr="icons/balance.png"/>
          <p:cNvPicPr>
            <a:picLocks noChangeAspect="1"/>
          </p:cNvPicPr>
          <p:nvPr/>
        </p:nvPicPr>
        <p:blipFill>
          <a:blip r:embed="rId6"/>
          <a:stretch>
            <a:fillRect/>
          </a:stretch>
        </p:blipFill>
        <p:spPr>
          <a:xfrm>
            <a:off x="2914376" y="4852904"/>
            <a:ext cx="316017" cy="316017"/>
          </a:xfrm>
          <a:prstGeom prst="rect">
            <a:avLst/>
          </a:prstGeom>
        </p:spPr>
      </p:pic>
      <p:sp>
        <p:nvSpPr>
          <p:cNvPr id="22" name="Text 16"/>
          <p:cNvSpPr txBox="1"/>
          <p:nvPr/>
        </p:nvSpPr>
        <p:spPr>
          <a:xfrm>
            <a:off x="3547872" y="4700016"/>
            <a:ext cx="2112264"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4. Choosing the Right Tool</a:t>
            </a:r>
            <a:endParaRPr lang="en-US" sz="1650" dirty="0"/>
          </a:p>
        </p:txBody>
      </p:sp>
      <p:sp>
        <p:nvSpPr>
          <p:cNvPr id="23" name="Text 17"/>
          <p:cNvSpPr txBox="1"/>
          <p:nvPr/>
        </p:nvSpPr>
        <p:spPr>
          <a:xfrm>
            <a:off x="2743200" y="5468112"/>
            <a:ext cx="2898648"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Accuracy → Cost → Privacy → Format</a:t>
            </a:r>
            <a:endParaRPr lang="en-US" sz="1200" dirty="0"/>
          </a:p>
        </p:txBody>
      </p:sp>
      <p:sp>
        <p:nvSpPr>
          <p:cNvPr id="24" name="Shape 18"/>
          <p:cNvSpPr/>
          <p:nvPr/>
        </p:nvSpPr>
        <p:spPr>
          <a:xfrm>
            <a:off x="6254496" y="4389120"/>
            <a:ext cx="3483864"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25" name="Shape 19"/>
          <p:cNvSpPr/>
          <p:nvPr/>
        </p:nvSpPr>
        <p:spPr>
          <a:xfrm>
            <a:off x="6547104" y="4681728"/>
            <a:ext cx="658368" cy="658368"/>
          </a:xfrm>
          <a:prstGeom prst="ellipse">
            <a:avLst/>
          </a:prstGeom>
          <a:solidFill>
            <a:srgbClr val="1C7293"/>
          </a:solidFill>
          <a:ln/>
        </p:spPr>
      </p:sp>
      <p:pic>
        <p:nvPicPr>
          <p:cNvPr id="26" name="Image 4" descr="icons/rocket.png"/>
          <p:cNvPicPr>
            <a:picLocks noChangeAspect="1"/>
          </p:cNvPicPr>
          <p:nvPr/>
        </p:nvPicPr>
        <p:blipFill>
          <a:blip r:embed="rId7"/>
          <a:stretch>
            <a:fillRect/>
          </a:stretch>
        </p:blipFill>
        <p:spPr>
          <a:xfrm>
            <a:off x="6718280" y="4852904"/>
            <a:ext cx="316017" cy="316017"/>
          </a:xfrm>
          <a:prstGeom prst="rect">
            <a:avLst/>
          </a:prstGeom>
        </p:spPr>
      </p:pic>
      <p:sp>
        <p:nvSpPr>
          <p:cNvPr id="27" name="Text 20"/>
          <p:cNvSpPr txBox="1"/>
          <p:nvPr/>
        </p:nvSpPr>
        <p:spPr>
          <a:xfrm>
            <a:off x="7351776" y="4700016"/>
            <a:ext cx="2112264"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5. Getting Started</a:t>
            </a:r>
            <a:endParaRPr lang="en-US" sz="1650" dirty="0"/>
          </a:p>
        </p:txBody>
      </p:sp>
      <p:sp>
        <p:nvSpPr>
          <p:cNvPr id="28" name="Text 21"/>
          <p:cNvSpPr txBox="1"/>
          <p:nvPr/>
        </p:nvSpPr>
        <p:spPr>
          <a:xfrm>
            <a:off x="6547104" y="5468112"/>
            <a:ext cx="2898648"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Accounts → Workspaces → Free vs Paid</a:t>
            </a:r>
            <a:endParaRPr lang="en-US" sz="1200" dirty="0"/>
          </a:p>
        </p:txBody>
      </p:sp>
      <p:sp>
        <p:nvSpPr>
          <p:cNvPr id="29" name="Text 22"/>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Course Roadmap</a:t>
            </a:r>
            <a:endParaRPr lang="en-US" sz="950" dirty="0"/>
          </a:p>
        </p:txBody>
      </p:sp>
      <p:sp>
        <p:nvSpPr>
          <p:cNvPr id="30" name="Text 23"/>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828800" y="-2011680"/>
            <a:ext cx="5486400" cy="5486400"/>
          </a:xfrm>
          <a:prstGeom prst="ellipse">
            <a:avLst/>
          </a:prstGeom>
          <a:solidFill>
            <a:srgbClr val="233A63"/>
          </a:solidFill>
          <a:ln/>
        </p:spPr>
      </p:sp>
      <p:sp>
        <p:nvSpPr>
          <p:cNvPr id="3" name="Shape 1"/>
          <p:cNvSpPr/>
          <p:nvPr/>
        </p:nvSpPr>
        <p:spPr>
          <a:xfrm>
            <a:off x="9875520" y="4206240"/>
            <a:ext cx="5029200" cy="5029200"/>
          </a:xfrm>
          <a:prstGeom prst="ellipse">
            <a:avLst/>
          </a:prstGeom>
          <a:solidFill>
            <a:srgbClr val="121C33"/>
          </a:solidFill>
          <a:ln/>
        </p:spPr>
      </p:sp>
      <p:sp>
        <p:nvSpPr>
          <p:cNvPr id="4" name="Text 2"/>
          <p:cNvSpPr txBox="1"/>
          <p:nvPr/>
        </p:nvSpPr>
        <p:spPr>
          <a:xfrm>
            <a:off x="822960" y="2286000"/>
            <a:ext cx="3657600" cy="457200"/>
          </a:xfrm>
          <a:prstGeom prst="rect">
            <a:avLst/>
          </a:prstGeom>
          <a:noFill/>
          <a:ln/>
        </p:spPr>
        <p:txBody>
          <a:bodyPr wrap="square" lIns="0" tIns="0" rIns="0" bIns="0" rtlCol="0" anchor="ctr"/>
          <a:lstStyle/>
          <a:p>
            <a:pPr marL="0" indent="0">
              <a:buNone/>
            </a:pPr>
            <a:r>
              <a:rPr lang="en-US" sz="1600" b="1" kern="0" spc="200" dirty="0">
                <a:solidFill>
                  <a:srgbClr val="1C7293"/>
                </a:solidFill>
                <a:latin typeface="Calibri" pitchFamily="34" charset="0"/>
                <a:ea typeface="Calibri" pitchFamily="34" charset="-122"/>
                <a:cs typeface="Calibri" pitchFamily="34" charset="-120"/>
              </a:rPr>
              <a:t>PART 1</a:t>
            </a:r>
            <a:endParaRPr lang="en-US" sz="1600" dirty="0"/>
          </a:p>
        </p:txBody>
      </p:sp>
      <p:sp>
        <p:nvSpPr>
          <p:cNvPr id="5" name="Shape 3"/>
          <p:cNvSpPr/>
          <p:nvPr/>
        </p:nvSpPr>
        <p:spPr>
          <a:xfrm>
            <a:off x="868680" y="2788920"/>
            <a:ext cx="1280160" cy="0"/>
          </a:xfrm>
          <a:prstGeom prst="line">
            <a:avLst/>
          </a:prstGeom>
          <a:noFill/>
          <a:ln w="31750">
            <a:solidFill>
              <a:srgbClr val="1C7293"/>
            </a:solidFill>
            <a:prstDash val="solid"/>
          </a:ln>
        </p:spPr>
      </p:sp>
      <p:sp>
        <p:nvSpPr>
          <p:cNvPr id="6" name="Text 4"/>
          <p:cNvSpPr txBox="1"/>
          <p:nvPr/>
        </p:nvSpPr>
        <p:spPr>
          <a:xfrm>
            <a:off x="822960" y="2880360"/>
            <a:ext cx="9601200" cy="365760"/>
          </a:xfrm>
          <a:prstGeom prst="rect">
            <a:avLst/>
          </a:prstGeom>
          <a:noFill/>
          <a:ln/>
        </p:spPr>
        <p:txBody>
          <a:bodyPr wrap="square" lIns="0" tIns="0" rIns="0" bIns="0" rtlCol="0" anchor="ctr"/>
          <a:lstStyle/>
          <a:p>
            <a:pPr marL="0" indent="0">
              <a:buNone/>
            </a:pPr>
            <a:r>
              <a:rPr lang="en-US" sz="1300" b="1" kern="0" spc="180" dirty="0">
                <a:solidFill>
                  <a:srgbClr val="9FD6E8"/>
                </a:solidFill>
                <a:latin typeface="Calibri" pitchFamily="34" charset="0"/>
                <a:ea typeface="Calibri" pitchFamily="34" charset="-122"/>
                <a:cs typeface="Calibri" pitchFamily="34" charset="-120"/>
              </a:rPr>
              <a:t>AI FUNDAMENTALS</a:t>
            </a:r>
            <a:endParaRPr lang="en-US" sz="1300" dirty="0"/>
          </a:p>
        </p:txBody>
      </p:sp>
      <p:sp>
        <p:nvSpPr>
          <p:cNvPr id="7" name="Text 5"/>
          <p:cNvSpPr txBox="1"/>
          <p:nvPr/>
        </p:nvSpPr>
        <p:spPr>
          <a:xfrm>
            <a:off x="777240" y="3246120"/>
            <a:ext cx="9692640" cy="1463040"/>
          </a:xfrm>
          <a:prstGeom prst="rect">
            <a:avLst/>
          </a:prstGeom>
          <a:noFill/>
          <a:ln/>
        </p:spPr>
        <p:txBody>
          <a:bodyPr wrap="square" lIns="0" tIns="0" rIns="0" bIns="0" rtlCol="0" anchor="ctr"/>
          <a:lstStyle/>
          <a:p>
            <a:pPr marL="0" indent="0">
              <a:lnSpc>
                <a:spcPct val="105000"/>
              </a:lnSpc>
              <a:buNone/>
            </a:pPr>
            <a:r>
              <a:rPr lang="en-US" sz="3800" b="1" dirty="0">
                <a:solidFill>
                  <a:srgbClr val="FFFFFF"/>
                </a:solidFill>
                <a:latin typeface="Cambria" pitchFamily="34" charset="0"/>
                <a:ea typeface="Cambria" pitchFamily="34" charset="-122"/>
                <a:cs typeface="Cambria" pitchFamily="34" charset="-120"/>
              </a:rPr>
              <a:t>What is AI, ML, DL,</a:t>
            </a:r>
            <a:endParaRPr lang="en-US" sz="3800" dirty="0"/>
          </a:p>
          <a:p>
            <a:pPr marL="0" indent="0">
              <a:lnSpc>
                <a:spcPct val="105000"/>
              </a:lnSpc>
              <a:buNone/>
            </a:pPr>
            <a:r>
              <a:rPr lang="en-US" sz="3800" b="1" dirty="0">
                <a:solidFill>
                  <a:srgbClr val="FFFFFF"/>
                </a:solidFill>
                <a:latin typeface="Cambria" pitchFamily="34" charset="0"/>
                <a:ea typeface="Cambria" pitchFamily="34" charset="-122"/>
                <a:cs typeface="Cambria" pitchFamily="34" charset="-120"/>
              </a:rPr>
              <a:t>NLP and Generative AI?</a:t>
            </a:r>
            <a:endParaRPr lang="en-US" sz="3800" dirty="0"/>
          </a:p>
        </p:txBody>
      </p:sp>
      <p:sp>
        <p:nvSpPr>
          <p:cNvPr id="8" name="Text 6"/>
          <p:cNvSpPr txBox="1"/>
          <p:nvPr/>
        </p:nvSpPr>
        <p:spPr>
          <a:xfrm>
            <a:off x="822960" y="4709160"/>
            <a:ext cx="8686800" cy="731520"/>
          </a:xfrm>
          <a:prstGeom prst="rect">
            <a:avLst/>
          </a:prstGeom>
          <a:noFill/>
          <a:ln/>
        </p:spPr>
        <p:txBody>
          <a:bodyPr wrap="square" lIns="0" tIns="0" rIns="0" bIns="0" rtlCol="0" anchor="ctr"/>
          <a:lstStyle/>
          <a:p>
            <a:pPr marL="0" indent="0">
              <a:lnSpc>
                <a:spcPct val="125000"/>
              </a:lnSpc>
              <a:buNone/>
            </a:pPr>
            <a:r>
              <a:rPr lang="en-US" sz="1500" i="1" dirty="0">
                <a:solidFill>
                  <a:srgbClr val="C9D6E3"/>
                </a:solidFill>
                <a:latin typeface="Calibri" pitchFamily="34" charset="0"/>
                <a:ea typeface="Calibri" pitchFamily="34" charset="-122"/>
                <a:cs typeface="Calibri" pitchFamily="34" charset="-120"/>
              </a:rPr>
              <a:t>Five terms academics hear constantly — defined simply, with everyday teaching and research examples.</a:t>
            </a:r>
            <a:endParaRPr lang="en-US" sz="1500" dirty="0"/>
          </a:p>
        </p:txBody>
      </p:sp>
      <p:sp>
        <p:nvSpPr>
          <p:cNvPr id="9" name="Shape 7"/>
          <p:cNvSpPr/>
          <p:nvPr/>
        </p:nvSpPr>
        <p:spPr>
          <a:xfrm>
            <a:off x="10195560" y="685800"/>
            <a:ext cx="1143000" cy="1143000"/>
          </a:xfrm>
          <a:prstGeom prst="ellipse">
            <a:avLst/>
          </a:prstGeom>
          <a:solidFill>
            <a:srgbClr val="1C7293"/>
          </a:solidFill>
          <a:ln/>
        </p:spPr>
      </p:sp>
      <p:pic>
        <p:nvPicPr>
          <p:cNvPr id="10" name="Image 0" descr="icons/brain.png"/>
          <p:cNvPicPr>
            <a:picLocks noChangeAspect="1"/>
          </p:cNvPicPr>
          <p:nvPr/>
        </p:nvPicPr>
        <p:blipFill>
          <a:blip r:embed="rId3"/>
          <a:stretch>
            <a:fillRect/>
          </a:stretch>
        </p:blipFill>
        <p:spPr>
          <a:xfrm>
            <a:off x="10492740" y="982980"/>
            <a:ext cx="548640" cy="548640"/>
          </a:xfrm>
          <a:prstGeom prst="rect">
            <a:avLst/>
          </a:prstGeom>
        </p:spPr>
      </p:pic>
      <p:sp>
        <p:nvSpPr>
          <p:cNvPr id="11" name="Text 8"/>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9FD6E8"/>
                </a:solidFill>
                <a:latin typeface="Calibri" pitchFamily="34" charset="0"/>
                <a:ea typeface="Calibri" pitchFamily="34" charset="-122"/>
                <a:cs typeface="Calibri" pitchFamily="34" charset="-120"/>
              </a:rPr>
              <a:t>Part 1 · AI Fundamentals</a:t>
            </a:r>
            <a:endParaRPr lang="en-US" sz="950" dirty="0"/>
          </a:p>
        </p:txBody>
      </p:sp>
      <p:sp>
        <p:nvSpPr>
          <p:cNvPr id="12" name="Text 9"/>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9FD6E8"/>
                </a:solidFill>
                <a:latin typeface="Calibri" pitchFamily="34" charset="0"/>
                <a:ea typeface="Calibri" pitchFamily="34" charset="-122"/>
                <a:cs typeface="Calibri" pitchFamily="34" charset="-120"/>
              </a:rPr>
              <a:t>4</a:t>
            </a:r>
            <a:endParaRPr lang="en-US" sz="95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1 · AI FUNDAMENTALS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Artificial Intelligence (AI)</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450" i="1" dirty="0">
                <a:solidFill>
                  <a:srgbClr val="8A94A0"/>
                </a:solidFill>
                <a:latin typeface="Calibri" pitchFamily="34" charset="0"/>
                <a:ea typeface="Calibri" pitchFamily="34" charset="-122"/>
                <a:cs typeface="Calibri" pitchFamily="34" charset="-120"/>
              </a:rPr>
              <a:t>The broad science of making machines act intelligently</a:t>
            </a:r>
            <a:endParaRPr lang="en-US" sz="1450" dirty="0"/>
          </a:p>
        </p:txBody>
      </p:sp>
      <p:sp>
        <p:nvSpPr>
          <p:cNvPr id="5" name="Shape 3"/>
          <p:cNvSpPr/>
          <p:nvPr/>
        </p:nvSpPr>
        <p:spPr>
          <a:xfrm>
            <a:off x="548640" y="1965960"/>
            <a:ext cx="6720840" cy="4160520"/>
          </a:xfrm>
          <a:prstGeom prst="roundRect">
            <a:avLst>
              <a:gd name="adj" fmla="val 197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6" name="Text 4"/>
          <p:cNvSpPr txBox="1"/>
          <p:nvPr/>
        </p:nvSpPr>
        <p:spPr>
          <a:xfrm>
            <a:off x="868680" y="2212848"/>
            <a:ext cx="54864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SIMPLE DEFINITION</a:t>
            </a:r>
            <a:endParaRPr lang="en-US" sz="1050" dirty="0"/>
          </a:p>
        </p:txBody>
      </p:sp>
      <p:sp>
        <p:nvSpPr>
          <p:cNvPr id="7" name="Text 5"/>
          <p:cNvSpPr txBox="1"/>
          <p:nvPr/>
        </p:nvSpPr>
        <p:spPr>
          <a:xfrm>
            <a:off x="868680" y="2542032"/>
            <a:ext cx="6080760" cy="1417320"/>
          </a:xfrm>
          <a:prstGeom prst="rect">
            <a:avLst/>
          </a:prstGeom>
          <a:noFill/>
          <a:ln/>
        </p:spPr>
        <p:txBody>
          <a:bodyPr wrap="square" lIns="0" tIns="0" rIns="0" bIns="0" rtlCol="0" anchor="t"/>
          <a:lstStyle/>
          <a:p>
            <a:pPr marL="0" indent="0">
              <a:lnSpc>
                <a:spcPct val="122000"/>
              </a:lnSpc>
              <a:buNone/>
            </a:pPr>
            <a:r>
              <a:rPr lang="en-US" sz="1550" dirty="0">
                <a:solidFill>
                  <a:srgbClr val="1B2A4A"/>
                </a:solidFill>
                <a:latin typeface="Calibri" pitchFamily="34" charset="0"/>
                <a:ea typeface="Calibri" pitchFamily="34" charset="-122"/>
                <a:cs typeface="Calibri" pitchFamily="34" charset="-120"/>
              </a:rPr>
              <a:t>Artificial Intelligence is the umbrella field of computer science focused on building machines and software that can perform tasks which normally require </a:t>
            </a:r>
            <a:r>
              <a:rPr lang="en-US" sz="1550" b="1" dirty="0">
                <a:solidFill>
                  <a:srgbClr val="1B2A4A"/>
                </a:solidFill>
                <a:latin typeface="Calibri" pitchFamily="34" charset="0"/>
                <a:ea typeface="Calibri" pitchFamily="34" charset="-122"/>
                <a:cs typeface="Calibri" pitchFamily="34" charset="-120"/>
              </a:rPr>
              <a:t>human intelligence </a:t>
            </a:r>
            <a:r>
              <a:rPr lang="en-US" sz="1550" dirty="0">
                <a:solidFill>
                  <a:srgbClr val="1B2A4A"/>
                </a:solidFill>
                <a:latin typeface="Calibri" pitchFamily="34" charset="0"/>
                <a:ea typeface="Calibri" pitchFamily="34" charset="-122"/>
                <a:cs typeface="Calibri" pitchFamily="34" charset="-120"/>
              </a:rPr>
              <a:t>— such as understanding language, recognising patterns, solving problems, and making decisions.</a:t>
            </a:r>
            <a:endParaRPr lang="en-US" sz="1550" dirty="0"/>
          </a:p>
        </p:txBody>
      </p:sp>
      <p:sp>
        <p:nvSpPr>
          <p:cNvPr id="8" name="Shape 6"/>
          <p:cNvSpPr/>
          <p:nvPr/>
        </p:nvSpPr>
        <p:spPr>
          <a:xfrm>
            <a:off x="868680" y="4041648"/>
            <a:ext cx="6080760" cy="0"/>
          </a:xfrm>
          <a:prstGeom prst="line">
            <a:avLst/>
          </a:prstGeom>
          <a:noFill/>
          <a:ln w="12700">
            <a:solidFill>
              <a:srgbClr val="E2E6EA"/>
            </a:solidFill>
            <a:prstDash val="solid"/>
          </a:ln>
        </p:spPr>
      </p:sp>
      <p:sp>
        <p:nvSpPr>
          <p:cNvPr id="9" name="Text 7"/>
          <p:cNvSpPr txBox="1"/>
          <p:nvPr/>
        </p:nvSpPr>
        <p:spPr>
          <a:xfrm>
            <a:off x="868680" y="4187952"/>
            <a:ext cx="54864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IN THE CLASSROOM</a:t>
            </a:r>
            <a:endParaRPr lang="en-US" sz="1050" dirty="0"/>
          </a:p>
        </p:txBody>
      </p:sp>
      <p:sp>
        <p:nvSpPr>
          <p:cNvPr id="10" name="Text 8"/>
          <p:cNvSpPr txBox="1"/>
          <p:nvPr/>
        </p:nvSpPr>
        <p:spPr>
          <a:xfrm>
            <a:off x="868680" y="4517136"/>
            <a:ext cx="6080760" cy="1463040"/>
          </a:xfrm>
          <a:prstGeom prst="rect">
            <a:avLst/>
          </a:prstGeom>
          <a:noFill/>
          <a:ln/>
        </p:spPr>
        <p:txBody>
          <a:bodyPr wrap="square" lIns="0" tIns="0" rIns="0" bIns="0" rtlCol="0" anchor="t"/>
          <a:lstStyle/>
          <a:p>
            <a:pPr marL="0" indent="0">
              <a:lnSpc>
                <a:spcPct val="122000"/>
              </a:lnSpc>
              <a:buNone/>
            </a:pPr>
            <a:r>
              <a:rPr lang="en-US" sz="1350" dirty="0">
                <a:solidFill>
                  <a:srgbClr val="55606C"/>
                </a:solidFill>
                <a:latin typeface="Calibri" pitchFamily="34" charset="0"/>
                <a:ea typeface="Calibri" pitchFamily="34" charset="-122"/>
                <a:cs typeface="Calibri" pitchFamily="34" charset="-120"/>
              </a:rPr>
              <a:t>When a plagiarism checker flags suspicious text, or a scheduling assistant suggests the best meeting time, that is AI at work in your everyday academic life.</a:t>
            </a:r>
            <a:endParaRPr lang="en-US" sz="1350" dirty="0"/>
          </a:p>
        </p:txBody>
      </p:sp>
      <p:sp>
        <p:nvSpPr>
          <p:cNvPr id="11" name="Shape 9"/>
          <p:cNvSpPr/>
          <p:nvPr/>
        </p:nvSpPr>
        <p:spPr>
          <a:xfrm>
            <a:off x="7635240" y="1965960"/>
            <a:ext cx="1143000" cy="1143000"/>
          </a:xfrm>
          <a:prstGeom prst="ellipse">
            <a:avLst/>
          </a:prstGeom>
          <a:solidFill>
            <a:srgbClr val="1C7293"/>
          </a:solidFill>
          <a:ln/>
        </p:spPr>
      </p:sp>
      <p:pic>
        <p:nvPicPr>
          <p:cNvPr id="12" name="Image 0" descr="icons/brain.png"/>
          <p:cNvPicPr>
            <a:picLocks noChangeAspect="1"/>
          </p:cNvPicPr>
          <p:nvPr/>
        </p:nvPicPr>
        <p:blipFill>
          <a:blip r:embed="rId3"/>
          <a:stretch>
            <a:fillRect/>
          </a:stretch>
        </p:blipFill>
        <p:spPr>
          <a:xfrm>
            <a:off x="7932420" y="2263140"/>
            <a:ext cx="548640" cy="548640"/>
          </a:xfrm>
          <a:prstGeom prst="rect">
            <a:avLst/>
          </a:prstGeom>
        </p:spPr>
      </p:pic>
      <p:sp>
        <p:nvSpPr>
          <p:cNvPr id="13" name="Shape 10"/>
          <p:cNvSpPr/>
          <p:nvPr/>
        </p:nvSpPr>
        <p:spPr>
          <a:xfrm>
            <a:off x="7406640" y="3337560"/>
            <a:ext cx="4206240" cy="2788920"/>
          </a:xfrm>
          <a:prstGeom prst="roundRect">
            <a:avLst>
              <a:gd name="adj" fmla="val 2951"/>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4" name="Text 11"/>
          <p:cNvSpPr txBox="1"/>
          <p:nvPr/>
        </p:nvSpPr>
        <p:spPr>
          <a:xfrm>
            <a:off x="7699248" y="3547872"/>
            <a:ext cx="36576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KEY TRAITS</a:t>
            </a:r>
            <a:endParaRPr lang="en-US" sz="1050" dirty="0"/>
          </a:p>
        </p:txBody>
      </p:sp>
      <p:sp>
        <p:nvSpPr>
          <p:cNvPr id="15" name="Text 12"/>
          <p:cNvSpPr txBox="1"/>
          <p:nvPr/>
        </p:nvSpPr>
        <p:spPr>
          <a:xfrm>
            <a:off x="7699248" y="3858768"/>
            <a:ext cx="3749040" cy="21488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The broadest of all these terms — every other concept here is a type of AI</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Can be rule-based (older systems) or learning-based (modern systems)</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Goal: mimic reasoning, perception, or language understanding</a:t>
            </a:r>
            <a:endParaRPr lang="en-US" sz="1250" dirty="0"/>
          </a:p>
        </p:txBody>
      </p:sp>
      <p:sp>
        <p:nvSpPr>
          <p:cNvPr id="16" name="Text 13"/>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AI Fundamentals</a:t>
            </a:r>
            <a:endParaRPr lang="en-US" sz="950" dirty="0"/>
          </a:p>
        </p:txBody>
      </p:sp>
      <p:sp>
        <p:nvSpPr>
          <p:cNvPr id="17" name="Text 14"/>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5</a:t>
            </a:r>
            <a:endParaRPr lang="en-US" sz="950" dirty="0"/>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93508" y="3858768"/>
            <a:ext cx="4069080" cy="21451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1 · AI FUNDAMENTALS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Machine Learning (ML)</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450" i="1" dirty="0">
                <a:solidFill>
                  <a:srgbClr val="8A94A0"/>
                </a:solidFill>
                <a:latin typeface="Calibri" pitchFamily="34" charset="0"/>
                <a:ea typeface="Calibri" pitchFamily="34" charset="-122"/>
                <a:cs typeface="Calibri" pitchFamily="34" charset="-120"/>
              </a:rPr>
              <a:t>AI that improves itself by learning from data</a:t>
            </a:r>
            <a:endParaRPr lang="en-US" sz="1450" dirty="0"/>
          </a:p>
        </p:txBody>
      </p:sp>
      <p:sp>
        <p:nvSpPr>
          <p:cNvPr id="5" name="Shape 3"/>
          <p:cNvSpPr/>
          <p:nvPr/>
        </p:nvSpPr>
        <p:spPr>
          <a:xfrm>
            <a:off x="548640" y="1965960"/>
            <a:ext cx="6720840" cy="4160520"/>
          </a:xfrm>
          <a:prstGeom prst="roundRect">
            <a:avLst>
              <a:gd name="adj" fmla="val 197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6" name="Text 4"/>
          <p:cNvSpPr txBox="1"/>
          <p:nvPr/>
        </p:nvSpPr>
        <p:spPr>
          <a:xfrm>
            <a:off x="868680" y="2212848"/>
            <a:ext cx="54864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SIMPLE DEFINITION</a:t>
            </a:r>
            <a:endParaRPr lang="en-US" sz="1050" dirty="0"/>
          </a:p>
        </p:txBody>
      </p:sp>
      <p:sp>
        <p:nvSpPr>
          <p:cNvPr id="7" name="Text 5"/>
          <p:cNvSpPr txBox="1"/>
          <p:nvPr/>
        </p:nvSpPr>
        <p:spPr>
          <a:xfrm>
            <a:off x="868680" y="2542032"/>
            <a:ext cx="6080760" cy="1417320"/>
          </a:xfrm>
          <a:prstGeom prst="rect">
            <a:avLst/>
          </a:prstGeom>
          <a:noFill/>
          <a:ln/>
        </p:spPr>
        <p:txBody>
          <a:bodyPr wrap="square" lIns="0" tIns="0" rIns="0" bIns="0" rtlCol="0" anchor="t"/>
          <a:lstStyle/>
          <a:p>
            <a:pPr marL="0" indent="0">
              <a:lnSpc>
                <a:spcPct val="122000"/>
              </a:lnSpc>
              <a:buNone/>
            </a:pPr>
            <a:r>
              <a:rPr lang="en-US" sz="1550" dirty="0">
                <a:solidFill>
                  <a:srgbClr val="1B2A4A"/>
                </a:solidFill>
                <a:latin typeface="Calibri" pitchFamily="34" charset="0"/>
                <a:ea typeface="Calibri" pitchFamily="34" charset="-122"/>
                <a:cs typeface="Calibri" pitchFamily="34" charset="-120"/>
              </a:rPr>
              <a:t>Machine Learning is a subset of AI where a system is not explicitly programmed with fixed rules but instead learns patterns automatically from examples (data), and improves its performance as it sees more data.</a:t>
            </a:r>
            <a:endParaRPr lang="en-US" sz="1550" dirty="0"/>
          </a:p>
        </p:txBody>
      </p:sp>
      <p:sp>
        <p:nvSpPr>
          <p:cNvPr id="8" name="Shape 6"/>
          <p:cNvSpPr/>
          <p:nvPr/>
        </p:nvSpPr>
        <p:spPr>
          <a:xfrm>
            <a:off x="868680" y="4041648"/>
            <a:ext cx="6080760" cy="0"/>
          </a:xfrm>
          <a:prstGeom prst="line">
            <a:avLst/>
          </a:prstGeom>
          <a:noFill/>
          <a:ln w="12700">
            <a:solidFill>
              <a:srgbClr val="E2E6EA"/>
            </a:solidFill>
            <a:prstDash val="solid"/>
          </a:ln>
        </p:spPr>
      </p:sp>
      <p:sp>
        <p:nvSpPr>
          <p:cNvPr id="9" name="Text 7"/>
          <p:cNvSpPr txBox="1"/>
          <p:nvPr/>
        </p:nvSpPr>
        <p:spPr>
          <a:xfrm>
            <a:off x="868680" y="4187952"/>
            <a:ext cx="54864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IN THE CLASSROOM</a:t>
            </a:r>
            <a:endParaRPr lang="en-US" sz="1050" dirty="0"/>
          </a:p>
        </p:txBody>
      </p:sp>
      <p:sp>
        <p:nvSpPr>
          <p:cNvPr id="10" name="Text 8"/>
          <p:cNvSpPr txBox="1"/>
          <p:nvPr/>
        </p:nvSpPr>
        <p:spPr>
          <a:xfrm>
            <a:off x="868680" y="4517136"/>
            <a:ext cx="6080760" cy="1463040"/>
          </a:xfrm>
          <a:prstGeom prst="rect">
            <a:avLst/>
          </a:prstGeom>
          <a:noFill/>
          <a:ln/>
        </p:spPr>
        <p:txBody>
          <a:bodyPr wrap="square" lIns="0" tIns="0" rIns="0" bIns="0" rtlCol="0" anchor="t"/>
          <a:lstStyle/>
          <a:p>
            <a:pPr marL="0" indent="0">
              <a:lnSpc>
                <a:spcPct val="122000"/>
              </a:lnSpc>
              <a:buNone/>
            </a:pPr>
            <a:r>
              <a:rPr lang="en-US" sz="1350" dirty="0">
                <a:solidFill>
                  <a:srgbClr val="55606C"/>
                </a:solidFill>
                <a:latin typeface="Calibri" pitchFamily="34" charset="0"/>
                <a:ea typeface="Calibri" pitchFamily="34" charset="-122"/>
                <a:cs typeface="Calibri" pitchFamily="34" charset="-120"/>
              </a:rPr>
              <a:t>A system that learns to predict which students are at risk of dropping out, by studying attendance and grade patterns from past cohorts, is a classic ML application.</a:t>
            </a:r>
            <a:endParaRPr lang="en-US" sz="1350" dirty="0"/>
          </a:p>
        </p:txBody>
      </p:sp>
      <p:sp>
        <p:nvSpPr>
          <p:cNvPr id="11" name="Shape 9"/>
          <p:cNvSpPr/>
          <p:nvPr/>
        </p:nvSpPr>
        <p:spPr>
          <a:xfrm>
            <a:off x="7635240" y="1965960"/>
            <a:ext cx="1143000" cy="1143000"/>
          </a:xfrm>
          <a:prstGeom prst="ellipse">
            <a:avLst/>
          </a:prstGeom>
          <a:solidFill>
            <a:srgbClr val="1C7293"/>
          </a:solidFill>
          <a:ln/>
        </p:spPr>
      </p:sp>
      <p:pic>
        <p:nvPicPr>
          <p:cNvPr id="12" name="Image 0" descr="icons/chartline.png"/>
          <p:cNvPicPr>
            <a:picLocks noChangeAspect="1"/>
          </p:cNvPicPr>
          <p:nvPr/>
        </p:nvPicPr>
        <p:blipFill>
          <a:blip r:embed="rId3"/>
          <a:stretch>
            <a:fillRect/>
          </a:stretch>
        </p:blipFill>
        <p:spPr>
          <a:xfrm>
            <a:off x="7932420" y="2263140"/>
            <a:ext cx="548640" cy="548640"/>
          </a:xfrm>
          <a:prstGeom prst="rect">
            <a:avLst/>
          </a:prstGeom>
        </p:spPr>
      </p:pic>
      <p:sp>
        <p:nvSpPr>
          <p:cNvPr id="13" name="Shape 10"/>
          <p:cNvSpPr/>
          <p:nvPr/>
        </p:nvSpPr>
        <p:spPr>
          <a:xfrm>
            <a:off x="7406640" y="3337560"/>
            <a:ext cx="4206240" cy="2788920"/>
          </a:xfrm>
          <a:prstGeom prst="roundRect">
            <a:avLst>
              <a:gd name="adj" fmla="val 2951"/>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4" name="Text 11"/>
          <p:cNvSpPr txBox="1"/>
          <p:nvPr/>
        </p:nvSpPr>
        <p:spPr>
          <a:xfrm>
            <a:off x="7699248" y="3547872"/>
            <a:ext cx="36576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KEY TRAITS</a:t>
            </a:r>
            <a:endParaRPr lang="en-US" sz="1050" dirty="0"/>
          </a:p>
        </p:txBody>
      </p:sp>
      <p:sp>
        <p:nvSpPr>
          <p:cNvPr id="15" name="Text 12"/>
          <p:cNvSpPr txBox="1"/>
          <p:nvPr/>
        </p:nvSpPr>
        <p:spPr>
          <a:xfrm>
            <a:off x="7699248" y="3858768"/>
            <a:ext cx="3749040" cy="21488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Learns patterns from data instead of following fixed rules</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Performance improves with more/better training data</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Includes methods like regression, decision trees, and clustering</a:t>
            </a:r>
            <a:endParaRPr lang="en-US" sz="1250" dirty="0"/>
          </a:p>
        </p:txBody>
      </p:sp>
      <p:sp>
        <p:nvSpPr>
          <p:cNvPr id="16" name="Text 13"/>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AI Fundamentals</a:t>
            </a:r>
            <a:endParaRPr lang="en-US" sz="950" dirty="0"/>
          </a:p>
        </p:txBody>
      </p:sp>
      <p:sp>
        <p:nvSpPr>
          <p:cNvPr id="17" name="Text 14"/>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6</a:t>
            </a:r>
            <a:endParaRPr lang="en-US" sz="95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1 · AI FUNDAMENTALS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Deep Learning (DL)</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450" i="1" dirty="0">
                <a:solidFill>
                  <a:srgbClr val="8A94A0"/>
                </a:solidFill>
                <a:latin typeface="Calibri" pitchFamily="34" charset="0"/>
                <a:ea typeface="Calibri" pitchFamily="34" charset="-122"/>
                <a:cs typeface="Calibri" pitchFamily="34" charset="-120"/>
              </a:rPr>
              <a:t>Machine learning using brain-inspired neural networks</a:t>
            </a:r>
            <a:endParaRPr lang="en-US" sz="1450" dirty="0"/>
          </a:p>
        </p:txBody>
      </p:sp>
      <p:sp>
        <p:nvSpPr>
          <p:cNvPr id="5" name="Shape 3"/>
          <p:cNvSpPr/>
          <p:nvPr/>
        </p:nvSpPr>
        <p:spPr>
          <a:xfrm>
            <a:off x="548640" y="1965960"/>
            <a:ext cx="6720840" cy="4160520"/>
          </a:xfrm>
          <a:prstGeom prst="roundRect">
            <a:avLst>
              <a:gd name="adj" fmla="val 197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6" name="Text 4"/>
          <p:cNvSpPr txBox="1"/>
          <p:nvPr/>
        </p:nvSpPr>
        <p:spPr>
          <a:xfrm>
            <a:off x="868680" y="2212848"/>
            <a:ext cx="54864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SIMPLE DEFINITION</a:t>
            </a:r>
            <a:endParaRPr lang="en-US" sz="1050" dirty="0"/>
          </a:p>
        </p:txBody>
      </p:sp>
      <p:sp>
        <p:nvSpPr>
          <p:cNvPr id="7" name="Text 5"/>
          <p:cNvSpPr txBox="1"/>
          <p:nvPr/>
        </p:nvSpPr>
        <p:spPr>
          <a:xfrm>
            <a:off x="868680" y="2542032"/>
            <a:ext cx="6080760" cy="1417320"/>
          </a:xfrm>
          <a:prstGeom prst="rect">
            <a:avLst/>
          </a:prstGeom>
          <a:noFill/>
          <a:ln/>
        </p:spPr>
        <p:txBody>
          <a:bodyPr wrap="square" lIns="0" tIns="0" rIns="0" bIns="0" rtlCol="0" anchor="t"/>
          <a:lstStyle/>
          <a:p>
            <a:pPr marL="0" indent="0">
              <a:lnSpc>
                <a:spcPct val="122000"/>
              </a:lnSpc>
              <a:buNone/>
            </a:pPr>
            <a:r>
              <a:rPr lang="en-US" sz="1550" dirty="0">
                <a:solidFill>
                  <a:srgbClr val="1B2A4A"/>
                </a:solidFill>
                <a:latin typeface="Calibri" pitchFamily="34" charset="0"/>
                <a:ea typeface="Calibri" pitchFamily="34" charset="-122"/>
                <a:cs typeface="Calibri" pitchFamily="34" charset="-120"/>
              </a:rPr>
              <a:t>Deep Learning is a specialised subset of Machine Learning that uses multi-layered "neural networks" — loosely modelled on the </a:t>
            </a:r>
            <a:r>
              <a:rPr lang="en-US" sz="1550" b="1" dirty="0">
                <a:solidFill>
                  <a:srgbClr val="1B2A4A"/>
                </a:solidFill>
                <a:latin typeface="Calibri" pitchFamily="34" charset="0"/>
                <a:ea typeface="Calibri" pitchFamily="34" charset="-122"/>
                <a:cs typeface="Calibri" pitchFamily="34" charset="-120"/>
              </a:rPr>
              <a:t>human</a:t>
            </a:r>
            <a:r>
              <a:rPr lang="en-US" sz="1550" dirty="0">
                <a:solidFill>
                  <a:srgbClr val="1B2A4A"/>
                </a:solidFill>
                <a:latin typeface="Calibri" pitchFamily="34" charset="0"/>
                <a:ea typeface="Calibri" pitchFamily="34" charset="-122"/>
                <a:cs typeface="Calibri" pitchFamily="34" charset="-120"/>
              </a:rPr>
              <a:t> </a:t>
            </a:r>
            <a:r>
              <a:rPr lang="en-US" sz="1550" b="1" dirty="0">
                <a:solidFill>
                  <a:srgbClr val="1B2A4A"/>
                </a:solidFill>
                <a:latin typeface="Calibri" pitchFamily="34" charset="0"/>
                <a:ea typeface="Calibri" pitchFamily="34" charset="-122"/>
                <a:cs typeface="Calibri" pitchFamily="34" charset="-120"/>
              </a:rPr>
              <a:t>brain</a:t>
            </a:r>
            <a:r>
              <a:rPr lang="en-US" sz="1550" dirty="0">
                <a:solidFill>
                  <a:srgbClr val="1B2A4A"/>
                </a:solidFill>
                <a:latin typeface="Calibri" pitchFamily="34" charset="0"/>
                <a:ea typeface="Calibri" pitchFamily="34" charset="-122"/>
                <a:cs typeface="Calibri" pitchFamily="34" charset="-120"/>
              </a:rPr>
              <a:t> — to automatically discover complex patterns in large volumes of data, such as images, speech, or text.</a:t>
            </a:r>
            <a:endParaRPr lang="en-US" sz="1550" dirty="0"/>
          </a:p>
        </p:txBody>
      </p:sp>
      <p:sp>
        <p:nvSpPr>
          <p:cNvPr id="8" name="Shape 6"/>
          <p:cNvSpPr/>
          <p:nvPr/>
        </p:nvSpPr>
        <p:spPr>
          <a:xfrm>
            <a:off x="868680" y="4041648"/>
            <a:ext cx="6080760" cy="0"/>
          </a:xfrm>
          <a:prstGeom prst="line">
            <a:avLst/>
          </a:prstGeom>
          <a:noFill/>
          <a:ln w="12700">
            <a:solidFill>
              <a:srgbClr val="E2E6EA"/>
            </a:solidFill>
            <a:prstDash val="solid"/>
          </a:ln>
        </p:spPr>
      </p:sp>
      <p:sp>
        <p:nvSpPr>
          <p:cNvPr id="9" name="Text 7"/>
          <p:cNvSpPr txBox="1"/>
          <p:nvPr/>
        </p:nvSpPr>
        <p:spPr>
          <a:xfrm>
            <a:off x="868680" y="4187952"/>
            <a:ext cx="54864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IN THE CLASSROOM</a:t>
            </a:r>
            <a:endParaRPr lang="en-US" sz="1050" dirty="0"/>
          </a:p>
        </p:txBody>
      </p:sp>
      <p:sp>
        <p:nvSpPr>
          <p:cNvPr id="10" name="Text 8"/>
          <p:cNvSpPr txBox="1"/>
          <p:nvPr/>
        </p:nvSpPr>
        <p:spPr>
          <a:xfrm>
            <a:off x="868680" y="4517136"/>
            <a:ext cx="6080760" cy="1463040"/>
          </a:xfrm>
          <a:prstGeom prst="rect">
            <a:avLst/>
          </a:prstGeom>
          <a:noFill/>
          <a:ln/>
        </p:spPr>
        <p:txBody>
          <a:bodyPr wrap="square" lIns="0" tIns="0" rIns="0" bIns="0" rtlCol="0" anchor="t"/>
          <a:lstStyle/>
          <a:p>
            <a:pPr marL="0" indent="0">
              <a:lnSpc>
                <a:spcPct val="122000"/>
              </a:lnSpc>
              <a:buNone/>
            </a:pPr>
            <a:r>
              <a:rPr lang="en-US" sz="1350" dirty="0">
                <a:solidFill>
                  <a:srgbClr val="55606C"/>
                </a:solidFill>
                <a:latin typeface="Calibri" pitchFamily="34" charset="0"/>
                <a:ea typeface="Calibri" pitchFamily="34" charset="-122"/>
                <a:cs typeface="Calibri" pitchFamily="34" charset="-120"/>
              </a:rPr>
              <a:t>Automatic handwriting recognition software that digitises handwritten exam scripts, or facial-recognition attendance systems, both rely on deep neural networks.</a:t>
            </a:r>
            <a:endParaRPr lang="en-US" sz="1350" dirty="0"/>
          </a:p>
        </p:txBody>
      </p:sp>
      <p:sp>
        <p:nvSpPr>
          <p:cNvPr id="11" name="Shape 9"/>
          <p:cNvSpPr/>
          <p:nvPr/>
        </p:nvSpPr>
        <p:spPr>
          <a:xfrm>
            <a:off x="7635240" y="1965960"/>
            <a:ext cx="1143000" cy="1143000"/>
          </a:xfrm>
          <a:prstGeom prst="ellipse">
            <a:avLst/>
          </a:prstGeom>
          <a:solidFill>
            <a:srgbClr val="1C7293"/>
          </a:solidFill>
          <a:ln/>
        </p:spPr>
      </p:sp>
      <p:pic>
        <p:nvPicPr>
          <p:cNvPr id="12" name="Image 0" descr="icons/layers.png"/>
          <p:cNvPicPr>
            <a:picLocks noChangeAspect="1"/>
          </p:cNvPicPr>
          <p:nvPr/>
        </p:nvPicPr>
        <p:blipFill>
          <a:blip r:embed="rId3"/>
          <a:stretch>
            <a:fillRect/>
          </a:stretch>
        </p:blipFill>
        <p:spPr>
          <a:xfrm>
            <a:off x="7932420" y="2263140"/>
            <a:ext cx="548640" cy="548640"/>
          </a:xfrm>
          <a:prstGeom prst="rect">
            <a:avLst/>
          </a:prstGeom>
        </p:spPr>
      </p:pic>
      <p:sp>
        <p:nvSpPr>
          <p:cNvPr id="13" name="Shape 10"/>
          <p:cNvSpPr/>
          <p:nvPr/>
        </p:nvSpPr>
        <p:spPr>
          <a:xfrm>
            <a:off x="7406640" y="3337560"/>
            <a:ext cx="4206240" cy="2788920"/>
          </a:xfrm>
          <a:prstGeom prst="roundRect">
            <a:avLst>
              <a:gd name="adj" fmla="val 2951"/>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4" name="Text 11"/>
          <p:cNvSpPr txBox="1"/>
          <p:nvPr/>
        </p:nvSpPr>
        <p:spPr>
          <a:xfrm>
            <a:off x="7699248" y="3547872"/>
            <a:ext cx="36576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KEY TRAITS</a:t>
            </a:r>
            <a:endParaRPr lang="en-US" sz="1050" dirty="0"/>
          </a:p>
        </p:txBody>
      </p:sp>
      <p:sp>
        <p:nvSpPr>
          <p:cNvPr id="15" name="Text 12"/>
          <p:cNvSpPr txBox="1"/>
          <p:nvPr/>
        </p:nvSpPr>
        <p:spPr>
          <a:xfrm>
            <a:off x="7699248" y="3858768"/>
            <a:ext cx="3749040" cy="21488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Uses many stacked layers of artificial "neurons"</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Excels with large, unstructured data — images, audio, text</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Needs more data and computing power than traditional ML</a:t>
            </a:r>
            <a:endParaRPr lang="en-US" sz="1250" dirty="0"/>
          </a:p>
        </p:txBody>
      </p:sp>
      <p:sp>
        <p:nvSpPr>
          <p:cNvPr id="16" name="Text 13"/>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AI Fundamentals</a:t>
            </a:r>
            <a:endParaRPr lang="en-US" sz="950" dirty="0"/>
          </a:p>
        </p:txBody>
      </p:sp>
      <p:sp>
        <p:nvSpPr>
          <p:cNvPr id="17" name="Text 14"/>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7</a:t>
            </a:r>
            <a:endParaRPr lang="en-US" sz="95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1 · AI FUNDAMENTALS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Natural Language Processing (NLP)</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450" i="1" dirty="0">
                <a:solidFill>
                  <a:srgbClr val="8A94A0"/>
                </a:solidFill>
                <a:latin typeface="Calibri" pitchFamily="34" charset="0"/>
                <a:ea typeface="Calibri" pitchFamily="34" charset="-122"/>
                <a:cs typeface="Calibri" pitchFamily="34" charset="-120"/>
              </a:rPr>
              <a:t>Teaching machines to understand and use human language</a:t>
            </a:r>
            <a:endParaRPr lang="en-US" sz="1450" dirty="0"/>
          </a:p>
        </p:txBody>
      </p:sp>
      <p:sp>
        <p:nvSpPr>
          <p:cNvPr id="5" name="Shape 3"/>
          <p:cNvSpPr/>
          <p:nvPr/>
        </p:nvSpPr>
        <p:spPr>
          <a:xfrm>
            <a:off x="548640" y="1965960"/>
            <a:ext cx="6720840" cy="4160520"/>
          </a:xfrm>
          <a:prstGeom prst="roundRect">
            <a:avLst>
              <a:gd name="adj" fmla="val 197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6" name="Text 4"/>
          <p:cNvSpPr txBox="1"/>
          <p:nvPr/>
        </p:nvSpPr>
        <p:spPr>
          <a:xfrm>
            <a:off x="868680" y="2212848"/>
            <a:ext cx="54864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SIMPLE DEFINITION</a:t>
            </a:r>
            <a:endParaRPr lang="en-US" sz="1050" dirty="0"/>
          </a:p>
        </p:txBody>
      </p:sp>
      <p:sp>
        <p:nvSpPr>
          <p:cNvPr id="7" name="Text 5"/>
          <p:cNvSpPr txBox="1"/>
          <p:nvPr/>
        </p:nvSpPr>
        <p:spPr>
          <a:xfrm>
            <a:off x="868680" y="2542032"/>
            <a:ext cx="6080760" cy="1417320"/>
          </a:xfrm>
          <a:prstGeom prst="rect">
            <a:avLst/>
          </a:prstGeom>
          <a:noFill/>
          <a:ln/>
        </p:spPr>
        <p:txBody>
          <a:bodyPr wrap="square" lIns="0" tIns="0" rIns="0" bIns="0" rtlCol="0" anchor="t"/>
          <a:lstStyle/>
          <a:p>
            <a:pPr marL="0" indent="0">
              <a:lnSpc>
                <a:spcPct val="122000"/>
              </a:lnSpc>
              <a:buNone/>
            </a:pPr>
            <a:r>
              <a:rPr lang="en-US" sz="1550" dirty="0">
                <a:solidFill>
                  <a:srgbClr val="1B2A4A"/>
                </a:solidFill>
                <a:latin typeface="Calibri" pitchFamily="34" charset="0"/>
                <a:ea typeface="Calibri" pitchFamily="34" charset="-122"/>
                <a:cs typeface="Calibri" pitchFamily="34" charset="-120"/>
              </a:rPr>
              <a:t>Natural Language Processing is the branch of AI dedicated to enabling computers to read, understand, interpret, and generate human language — whether typed, spoken, or handwritten.</a:t>
            </a:r>
            <a:endParaRPr lang="en-US" sz="1550" dirty="0"/>
          </a:p>
        </p:txBody>
      </p:sp>
      <p:sp>
        <p:nvSpPr>
          <p:cNvPr id="8" name="Shape 6"/>
          <p:cNvSpPr/>
          <p:nvPr/>
        </p:nvSpPr>
        <p:spPr>
          <a:xfrm>
            <a:off x="868680" y="4041648"/>
            <a:ext cx="6080760" cy="0"/>
          </a:xfrm>
          <a:prstGeom prst="line">
            <a:avLst/>
          </a:prstGeom>
          <a:noFill/>
          <a:ln w="12700">
            <a:solidFill>
              <a:srgbClr val="E2E6EA"/>
            </a:solidFill>
            <a:prstDash val="solid"/>
          </a:ln>
        </p:spPr>
      </p:sp>
      <p:sp>
        <p:nvSpPr>
          <p:cNvPr id="9" name="Text 7"/>
          <p:cNvSpPr txBox="1"/>
          <p:nvPr/>
        </p:nvSpPr>
        <p:spPr>
          <a:xfrm>
            <a:off x="868680" y="4187952"/>
            <a:ext cx="54864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IN THE CLASSROOM</a:t>
            </a:r>
            <a:endParaRPr lang="en-US" sz="1050" dirty="0"/>
          </a:p>
        </p:txBody>
      </p:sp>
      <p:sp>
        <p:nvSpPr>
          <p:cNvPr id="10" name="Text 8"/>
          <p:cNvSpPr txBox="1"/>
          <p:nvPr/>
        </p:nvSpPr>
        <p:spPr>
          <a:xfrm>
            <a:off x="868680" y="4517136"/>
            <a:ext cx="6080760" cy="1463040"/>
          </a:xfrm>
          <a:prstGeom prst="rect">
            <a:avLst/>
          </a:prstGeom>
          <a:noFill/>
          <a:ln/>
        </p:spPr>
        <p:txBody>
          <a:bodyPr wrap="square" lIns="0" tIns="0" rIns="0" bIns="0" rtlCol="0" anchor="t"/>
          <a:lstStyle/>
          <a:p>
            <a:pPr marL="0" indent="0">
              <a:lnSpc>
                <a:spcPct val="122000"/>
              </a:lnSpc>
              <a:buNone/>
            </a:pPr>
            <a:r>
              <a:rPr lang="en-US" sz="1350" dirty="0">
                <a:solidFill>
                  <a:srgbClr val="55606C"/>
                </a:solidFill>
                <a:latin typeface="Calibri" pitchFamily="34" charset="0"/>
                <a:ea typeface="Calibri" pitchFamily="34" charset="-122"/>
                <a:cs typeface="Calibri" pitchFamily="34" charset="-120"/>
              </a:rPr>
              <a:t>Grammar and tone checkers, automatic translation of a research abstract, and text-summarisation tools that condense a long paper into a short overview are all NLP in action.</a:t>
            </a:r>
            <a:endParaRPr lang="en-US" sz="1350" dirty="0"/>
          </a:p>
        </p:txBody>
      </p:sp>
      <p:sp>
        <p:nvSpPr>
          <p:cNvPr id="11" name="Shape 9"/>
          <p:cNvSpPr/>
          <p:nvPr/>
        </p:nvSpPr>
        <p:spPr>
          <a:xfrm>
            <a:off x="7635240" y="1965960"/>
            <a:ext cx="1143000" cy="1143000"/>
          </a:xfrm>
          <a:prstGeom prst="ellipse">
            <a:avLst/>
          </a:prstGeom>
          <a:solidFill>
            <a:srgbClr val="1C7293"/>
          </a:solidFill>
          <a:ln/>
        </p:spPr>
      </p:sp>
      <p:pic>
        <p:nvPicPr>
          <p:cNvPr id="12" name="Image 0" descr="icons/language.png"/>
          <p:cNvPicPr>
            <a:picLocks noChangeAspect="1"/>
          </p:cNvPicPr>
          <p:nvPr/>
        </p:nvPicPr>
        <p:blipFill>
          <a:blip r:embed="rId3"/>
          <a:stretch>
            <a:fillRect/>
          </a:stretch>
        </p:blipFill>
        <p:spPr>
          <a:xfrm>
            <a:off x="7932420" y="2263140"/>
            <a:ext cx="548640" cy="548640"/>
          </a:xfrm>
          <a:prstGeom prst="rect">
            <a:avLst/>
          </a:prstGeom>
        </p:spPr>
      </p:pic>
      <p:sp>
        <p:nvSpPr>
          <p:cNvPr id="13" name="Shape 10"/>
          <p:cNvSpPr/>
          <p:nvPr/>
        </p:nvSpPr>
        <p:spPr>
          <a:xfrm>
            <a:off x="7406640" y="3337560"/>
            <a:ext cx="4206240" cy="2788920"/>
          </a:xfrm>
          <a:prstGeom prst="roundRect">
            <a:avLst>
              <a:gd name="adj" fmla="val 2951"/>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4" name="Text 11"/>
          <p:cNvSpPr txBox="1"/>
          <p:nvPr/>
        </p:nvSpPr>
        <p:spPr>
          <a:xfrm>
            <a:off x="7699248" y="3547872"/>
            <a:ext cx="36576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KEY TRAITS</a:t>
            </a:r>
            <a:endParaRPr lang="en-US" sz="1050" dirty="0"/>
          </a:p>
        </p:txBody>
      </p:sp>
      <p:sp>
        <p:nvSpPr>
          <p:cNvPr id="15" name="Text 12"/>
          <p:cNvSpPr txBox="1"/>
          <p:nvPr/>
        </p:nvSpPr>
        <p:spPr>
          <a:xfrm>
            <a:off x="7699248" y="3858768"/>
            <a:ext cx="3749040" cy="21488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Combines linguistics with machine learning and deep learning</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Powers translation, summarisation, sentiment analysis, chatbots</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Modern NLP is largely powered by deep learning models</a:t>
            </a:r>
            <a:endParaRPr lang="en-US" sz="1250" dirty="0"/>
          </a:p>
        </p:txBody>
      </p:sp>
      <p:sp>
        <p:nvSpPr>
          <p:cNvPr id="16" name="Text 13"/>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AI Fundamentals</a:t>
            </a:r>
            <a:endParaRPr lang="en-US" sz="950" dirty="0"/>
          </a:p>
        </p:txBody>
      </p:sp>
      <p:sp>
        <p:nvSpPr>
          <p:cNvPr id="17" name="Text 14"/>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8</a:t>
            </a:r>
            <a:endParaRPr lang="en-US" sz="95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1 · AI FUNDAMENTALS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Generative AI (GenAI)</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450" i="1" dirty="0">
                <a:solidFill>
                  <a:srgbClr val="8A94A0"/>
                </a:solidFill>
                <a:latin typeface="Calibri" pitchFamily="34" charset="0"/>
                <a:ea typeface="Calibri" pitchFamily="34" charset="-122"/>
                <a:cs typeface="Calibri" pitchFamily="34" charset="-120"/>
              </a:rPr>
              <a:t>AI that creates brand-new content, not just analysis</a:t>
            </a:r>
            <a:endParaRPr lang="en-US" sz="1450" dirty="0"/>
          </a:p>
        </p:txBody>
      </p:sp>
      <p:sp>
        <p:nvSpPr>
          <p:cNvPr id="5" name="Shape 3"/>
          <p:cNvSpPr/>
          <p:nvPr/>
        </p:nvSpPr>
        <p:spPr>
          <a:xfrm>
            <a:off x="548640" y="1965960"/>
            <a:ext cx="6720840" cy="4160520"/>
          </a:xfrm>
          <a:prstGeom prst="roundRect">
            <a:avLst>
              <a:gd name="adj" fmla="val 197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6" name="Text 4"/>
          <p:cNvSpPr txBox="1"/>
          <p:nvPr/>
        </p:nvSpPr>
        <p:spPr>
          <a:xfrm>
            <a:off x="868680" y="2212848"/>
            <a:ext cx="54864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SIMPLE DEFINITION</a:t>
            </a:r>
            <a:endParaRPr lang="en-US" sz="1050" dirty="0"/>
          </a:p>
        </p:txBody>
      </p:sp>
      <p:sp>
        <p:nvSpPr>
          <p:cNvPr id="7" name="Text 5"/>
          <p:cNvSpPr txBox="1"/>
          <p:nvPr/>
        </p:nvSpPr>
        <p:spPr>
          <a:xfrm>
            <a:off x="868680" y="2542032"/>
            <a:ext cx="6080760" cy="1417320"/>
          </a:xfrm>
          <a:prstGeom prst="rect">
            <a:avLst/>
          </a:prstGeom>
          <a:noFill/>
          <a:ln/>
        </p:spPr>
        <p:txBody>
          <a:bodyPr wrap="square" lIns="0" tIns="0" rIns="0" bIns="0" rtlCol="0" anchor="t"/>
          <a:lstStyle/>
          <a:p>
            <a:pPr marL="0" indent="0">
              <a:lnSpc>
                <a:spcPct val="122000"/>
              </a:lnSpc>
              <a:buNone/>
            </a:pPr>
            <a:r>
              <a:rPr lang="en-US" sz="1550" dirty="0">
                <a:solidFill>
                  <a:srgbClr val="1B2A4A"/>
                </a:solidFill>
                <a:latin typeface="Calibri" pitchFamily="34" charset="0"/>
                <a:ea typeface="Calibri" pitchFamily="34" charset="-122"/>
                <a:cs typeface="Calibri" pitchFamily="34" charset="-120"/>
              </a:rPr>
              <a:t>Generative AI refers to deep-learning systems that can create new, original content — text, images, audio, code, or video — rather than simply classifying or analysing existing data. It generates output by predicting the most plausible next piece of content.</a:t>
            </a:r>
            <a:endParaRPr lang="en-US" sz="1550" dirty="0"/>
          </a:p>
        </p:txBody>
      </p:sp>
      <p:sp>
        <p:nvSpPr>
          <p:cNvPr id="8" name="Shape 6"/>
          <p:cNvSpPr/>
          <p:nvPr/>
        </p:nvSpPr>
        <p:spPr>
          <a:xfrm>
            <a:off x="868680" y="4041648"/>
            <a:ext cx="6080760" cy="0"/>
          </a:xfrm>
          <a:prstGeom prst="line">
            <a:avLst/>
          </a:prstGeom>
          <a:noFill/>
          <a:ln w="12700">
            <a:solidFill>
              <a:srgbClr val="E2E6EA"/>
            </a:solidFill>
            <a:prstDash val="solid"/>
          </a:ln>
        </p:spPr>
      </p:sp>
      <p:sp>
        <p:nvSpPr>
          <p:cNvPr id="9" name="Text 7"/>
          <p:cNvSpPr txBox="1"/>
          <p:nvPr/>
        </p:nvSpPr>
        <p:spPr>
          <a:xfrm>
            <a:off x="868680" y="4187952"/>
            <a:ext cx="54864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IN THE CLASSROOM</a:t>
            </a:r>
            <a:endParaRPr lang="en-US" sz="1050" dirty="0"/>
          </a:p>
        </p:txBody>
      </p:sp>
      <p:sp>
        <p:nvSpPr>
          <p:cNvPr id="10" name="Text 8"/>
          <p:cNvSpPr txBox="1"/>
          <p:nvPr/>
        </p:nvSpPr>
        <p:spPr>
          <a:xfrm>
            <a:off x="868680" y="4517136"/>
            <a:ext cx="6080760" cy="1463040"/>
          </a:xfrm>
          <a:prstGeom prst="rect">
            <a:avLst/>
          </a:prstGeom>
          <a:noFill/>
          <a:ln/>
        </p:spPr>
        <p:txBody>
          <a:bodyPr wrap="square" lIns="0" tIns="0" rIns="0" bIns="0" rtlCol="0" anchor="t"/>
          <a:lstStyle/>
          <a:p>
            <a:pPr marL="0" indent="0">
              <a:lnSpc>
                <a:spcPct val="122000"/>
              </a:lnSpc>
              <a:buNone/>
            </a:pPr>
            <a:r>
              <a:rPr lang="en-US" sz="1350" dirty="0">
                <a:solidFill>
                  <a:srgbClr val="55606C"/>
                </a:solidFill>
                <a:latin typeface="Calibri" pitchFamily="34" charset="0"/>
                <a:ea typeface="Calibri" pitchFamily="34" charset="-122"/>
                <a:cs typeface="Calibri" pitchFamily="34" charset="-120"/>
              </a:rPr>
              <a:t>Drafting a first version of a lecture outline, generating practice MCQs for a chapter, or creating an illustrative diagram for a lecture slide — all are GenAI use cases.</a:t>
            </a:r>
            <a:endParaRPr lang="en-US" sz="1350" dirty="0"/>
          </a:p>
        </p:txBody>
      </p:sp>
      <p:sp>
        <p:nvSpPr>
          <p:cNvPr id="11" name="Shape 9"/>
          <p:cNvSpPr/>
          <p:nvPr/>
        </p:nvSpPr>
        <p:spPr>
          <a:xfrm>
            <a:off x="7635240" y="1965960"/>
            <a:ext cx="1143000" cy="1143000"/>
          </a:xfrm>
          <a:prstGeom prst="ellipse">
            <a:avLst/>
          </a:prstGeom>
          <a:solidFill>
            <a:srgbClr val="1C7293"/>
          </a:solidFill>
          <a:ln/>
        </p:spPr>
      </p:sp>
      <p:pic>
        <p:nvPicPr>
          <p:cNvPr id="12" name="Image 0" descr="icons/magic.png"/>
          <p:cNvPicPr>
            <a:picLocks noChangeAspect="1"/>
          </p:cNvPicPr>
          <p:nvPr/>
        </p:nvPicPr>
        <p:blipFill>
          <a:blip r:embed="rId3"/>
          <a:stretch>
            <a:fillRect/>
          </a:stretch>
        </p:blipFill>
        <p:spPr>
          <a:xfrm>
            <a:off x="7932420" y="2263140"/>
            <a:ext cx="548640" cy="548640"/>
          </a:xfrm>
          <a:prstGeom prst="rect">
            <a:avLst/>
          </a:prstGeom>
        </p:spPr>
      </p:pic>
      <p:sp>
        <p:nvSpPr>
          <p:cNvPr id="13" name="Shape 10"/>
          <p:cNvSpPr/>
          <p:nvPr/>
        </p:nvSpPr>
        <p:spPr>
          <a:xfrm>
            <a:off x="7406640" y="3337560"/>
            <a:ext cx="4206240" cy="2788920"/>
          </a:xfrm>
          <a:prstGeom prst="roundRect">
            <a:avLst>
              <a:gd name="adj" fmla="val 2951"/>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4" name="Text 11"/>
          <p:cNvSpPr txBox="1"/>
          <p:nvPr/>
        </p:nvSpPr>
        <p:spPr>
          <a:xfrm>
            <a:off x="7699248" y="3547872"/>
            <a:ext cx="36576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KEY TRAITS</a:t>
            </a:r>
            <a:endParaRPr lang="en-US" sz="1050" dirty="0"/>
          </a:p>
        </p:txBody>
      </p:sp>
      <p:sp>
        <p:nvSpPr>
          <p:cNvPr id="15" name="Text 12"/>
          <p:cNvSpPr txBox="1"/>
          <p:nvPr/>
        </p:nvSpPr>
        <p:spPr>
          <a:xfrm>
            <a:off x="7699248" y="3858768"/>
            <a:ext cx="3749040" cy="21488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Produces new content: text, images, audio, code, video</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Built on deep learning, especially large language models</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Tools include ChatGPT, Claude, Gemini, Midjourney, and more</a:t>
            </a:r>
            <a:endParaRPr lang="en-US" sz="1250" dirty="0"/>
          </a:p>
        </p:txBody>
      </p:sp>
      <p:sp>
        <p:nvSpPr>
          <p:cNvPr id="16" name="Text 13"/>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AI Fundamentals</a:t>
            </a:r>
            <a:endParaRPr lang="en-US" sz="950" dirty="0"/>
          </a:p>
        </p:txBody>
      </p:sp>
      <p:sp>
        <p:nvSpPr>
          <p:cNvPr id="17" name="Text 14"/>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9</a:t>
            </a:r>
            <a:endParaRPr lang="en-US" sz="95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1 · AI FUNDAMENTALS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How These Concepts Relate</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400" i="1" dirty="0">
                <a:solidFill>
                  <a:srgbClr val="8A94A0"/>
                </a:solidFill>
                <a:latin typeface="Calibri" pitchFamily="34" charset="0"/>
                <a:ea typeface="Calibri" pitchFamily="34" charset="-122"/>
                <a:cs typeface="Calibri" pitchFamily="34" charset="-120"/>
              </a:rPr>
              <a:t>Each concept is nested inside the one before it — think of Russian dolls, not separate boxes.</a:t>
            </a:r>
            <a:endParaRPr lang="en-US" sz="1400" dirty="0"/>
          </a:p>
        </p:txBody>
      </p:sp>
      <p:sp>
        <p:nvSpPr>
          <p:cNvPr id="5" name="Shape 3"/>
          <p:cNvSpPr/>
          <p:nvPr/>
        </p:nvSpPr>
        <p:spPr>
          <a:xfrm>
            <a:off x="1828800" y="2148840"/>
            <a:ext cx="4206240" cy="4206240"/>
          </a:xfrm>
          <a:prstGeom prst="ellipse">
            <a:avLst/>
          </a:prstGeom>
          <a:solidFill>
            <a:srgbClr val="EFF6F7"/>
          </a:solidFill>
          <a:ln w="25400">
            <a:solidFill>
              <a:srgbClr val="FFFFFF"/>
            </a:solidFill>
            <a:prstDash val="solid"/>
          </a:ln>
        </p:spPr>
      </p:sp>
      <p:sp>
        <p:nvSpPr>
          <p:cNvPr id="6" name="Shape 4"/>
          <p:cNvSpPr/>
          <p:nvPr/>
        </p:nvSpPr>
        <p:spPr>
          <a:xfrm>
            <a:off x="2400300" y="2720340"/>
            <a:ext cx="3063240" cy="3063240"/>
          </a:xfrm>
          <a:prstGeom prst="ellipse">
            <a:avLst/>
          </a:prstGeom>
          <a:solidFill>
            <a:srgbClr val="CFE6EA"/>
          </a:solidFill>
          <a:ln w="25400">
            <a:solidFill>
              <a:srgbClr val="FFFFFF"/>
            </a:solidFill>
            <a:prstDash val="solid"/>
          </a:ln>
        </p:spPr>
      </p:sp>
      <p:sp>
        <p:nvSpPr>
          <p:cNvPr id="7" name="Shape 5"/>
          <p:cNvSpPr/>
          <p:nvPr/>
        </p:nvSpPr>
        <p:spPr>
          <a:xfrm>
            <a:off x="2971800" y="3291840"/>
            <a:ext cx="1920240" cy="1920240"/>
          </a:xfrm>
          <a:prstGeom prst="ellipse">
            <a:avLst/>
          </a:prstGeom>
          <a:solidFill>
            <a:srgbClr val="9FCDD6"/>
          </a:solidFill>
          <a:ln w="25400">
            <a:solidFill>
              <a:srgbClr val="FFFFFF"/>
            </a:solidFill>
            <a:prstDash val="solid"/>
          </a:ln>
        </p:spPr>
      </p:sp>
      <p:sp>
        <p:nvSpPr>
          <p:cNvPr id="8" name="Shape 6"/>
          <p:cNvSpPr/>
          <p:nvPr/>
        </p:nvSpPr>
        <p:spPr>
          <a:xfrm>
            <a:off x="3497580" y="3817620"/>
            <a:ext cx="868680" cy="868680"/>
          </a:xfrm>
          <a:prstGeom prst="ellipse">
            <a:avLst/>
          </a:prstGeom>
          <a:solidFill>
            <a:srgbClr val="1C7293"/>
          </a:solidFill>
          <a:ln w="25400">
            <a:solidFill>
              <a:srgbClr val="FFFFFF"/>
            </a:solidFill>
            <a:prstDash val="solid"/>
          </a:ln>
        </p:spPr>
      </p:sp>
      <p:sp>
        <p:nvSpPr>
          <p:cNvPr id="9" name="Text 7"/>
          <p:cNvSpPr txBox="1"/>
          <p:nvPr/>
        </p:nvSpPr>
        <p:spPr>
          <a:xfrm>
            <a:off x="3383280" y="4114800"/>
            <a:ext cx="109728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GenAI</a:t>
            </a:r>
            <a:endParaRPr lang="en-US" sz="1050" dirty="0"/>
          </a:p>
        </p:txBody>
      </p:sp>
      <p:sp>
        <p:nvSpPr>
          <p:cNvPr id="10" name="Text 8"/>
          <p:cNvSpPr txBox="1"/>
          <p:nvPr/>
        </p:nvSpPr>
        <p:spPr>
          <a:xfrm>
            <a:off x="2560320" y="2276856"/>
            <a:ext cx="2743200" cy="292608"/>
          </a:xfrm>
          <a:prstGeom prst="rect">
            <a:avLst/>
          </a:prstGeom>
          <a:noFill/>
          <a:ln/>
        </p:spPr>
        <p:txBody>
          <a:bodyPr wrap="square" lIns="0" tIns="0" rIns="0" bIns="0" rtlCol="0" anchor="ctr"/>
          <a:lstStyle/>
          <a:p>
            <a:pPr marL="0" indent="0" algn="ctr">
              <a:buNone/>
            </a:pPr>
            <a:r>
              <a:rPr lang="en-US" sz="1150" b="1" dirty="0">
                <a:solidFill>
                  <a:srgbClr val="1B2A4A"/>
                </a:solidFill>
                <a:latin typeface="Calibri" pitchFamily="34" charset="0"/>
                <a:ea typeface="Calibri" pitchFamily="34" charset="-122"/>
                <a:cs typeface="Calibri" pitchFamily="34" charset="-120"/>
              </a:rPr>
              <a:t>Artificial Intelligence</a:t>
            </a:r>
            <a:endParaRPr lang="en-US" sz="1150" dirty="0"/>
          </a:p>
        </p:txBody>
      </p:sp>
      <p:sp>
        <p:nvSpPr>
          <p:cNvPr id="11" name="Text 9"/>
          <p:cNvSpPr txBox="1"/>
          <p:nvPr/>
        </p:nvSpPr>
        <p:spPr>
          <a:xfrm>
            <a:off x="2834640" y="2830068"/>
            <a:ext cx="2194560" cy="292608"/>
          </a:xfrm>
          <a:prstGeom prst="rect">
            <a:avLst/>
          </a:prstGeom>
          <a:noFill/>
          <a:ln/>
        </p:spPr>
        <p:txBody>
          <a:bodyPr wrap="square" lIns="0" tIns="0" rIns="0" bIns="0" rtlCol="0" anchor="ctr"/>
          <a:lstStyle/>
          <a:p>
            <a:pPr marL="0" indent="0" algn="ctr">
              <a:buNone/>
            </a:pPr>
            <a:r>
              <a:rPr lang="en-US" sz="1050" b="1" dirty="0">
                <a:solidFill>
                  <a:srgbClr val="1B2A4A"/>
                </a:solidFill>
                <a:latin typeface="Calibri" pitchFamily="34" charset="0"/>
                <a:ea typeface="Calibri" pitchFamily="34" charset="-122"/>
                <a:cs typeface="Calibri" pitchFamily="34" charset="-120"/>
              </a:rPr>
              <a:t>Machine Learning</a:t>
            </a:r>
            <a:endParaRPr lang="en-US" sz="1050" dirty="0"/>
          </a:p>
        </p:txBody>
      </p:sp>
      <p:sp>
        <p:nvSpPr>
          <p:cNvPr id="12" name="Text 10"/>
          <p:cNvSpPr txBox="1"/>
          <p:nvPr/>
        </p:nvSpPr>
        <p:spPr>
          <a:xfrm>
            <a:off x="3108960" y="3383280"/>
            <a:ext cx="1645920" cy="292608"/>
          </a:xfrm>
          <a:prstGeom prst="rect">
            <a:avLst/>
          </a:prstGeom>
          <a:noFill/>
          <a:ln/>
        </p:spPr>
        <p:txBody>
          <a:bodyPr wrap="square" lIns="0" tIns="0" rIns="0" bIns="0" rtlCol="0" anchor="ctr"/>
          <a:lstStyle/>
          <a:p>
            <a:pPr marL="0" indent="0" algn="ctr">
              <a:buNone/>
            </a:pPr>
            <a:r>
              <a:rPr lang="en-US" sz="950" b="1" dirty="0">
                <a:solidFill>
                  <a:srgbClr val="1B2A4A"/>
                </a:solidFill>
                <a:latin typeface="Calibri" pitchFamily="34" charset="0"/>
                <a:ea typeface="Calibri" pitchFamily="34" charset="-122"/>
                <a:cs typeface="Calibri" pitchFamily="34" charset="-120"/>
              </a:rPr>
              <a:t>Deep Learning</a:t>
            </a:r>
            <a:endParaRPr lang="en-US" sz="950" dirty="0"/>
          </a:p>
        </p:txBody>
      </p:sp>
      <p:sp>
        <p:nvSpPr>
          <p:cNvPr id="13" name="Shape 11"/>
          <p:cNvSpPr/>
          <p:nvPr/>
        </p:nvSpPr>
        <p:spPr>
          <a:xfrm>
            <a:off x="7635240" y="1965960"/>
            <a:ext cx="3977640" cy="4206240"/>
          </a:xfrm>
          <a:prstGeom prst="roundRect">
            <a:avLst>
              <a:gd name="adj" fmla="val 2069"/>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4" name="Text 12"/>
          <p:cNvSpPr txBox="1"/>
          <p:nvPr/>
        </p:nvSpPr>
        <p:spPr>
          <a:xfrm>
            <a:off x="7909560" y="2194560"/>
            <a:ext cx="347472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WHERE DOES NLP FIT?</a:t>
            </a:r>
            <a:endParaRPr lang="en-US" sz="1050" dirty="0"/>
          </a:p>
        </p:txBody>
      </p:sp>
      <p:sp>
        <p:nvSpPr>
          <p:cNvPr id="15" name="Text 13"/>
          <p:cNvSpPr txBox="1"/>
          <p:nvPr/>
        </p:nvSpPr>
        <p:spPr>
          <a:xfrm>
            <a:off x="7909560" y="2542032"/>
            <a:ext cx="3474720" cy="1280160"/>
          </a:xfrm>
          <a:prstGeom prst="rect">
            <a:avLst/>
          </a:prstGeom>
          <a:noFill/>
          <a:ln/>
        </p:spPr>
        <p:txBody>
          <a:bodyPr wrap="square" lIns="0" tIns="0" rIns="0" bIns="0" rtlCol="0" anchor="t"/>
          <a:lstStyle/>
          <a:p>
            <a:pPr marL="0" indent="0">
              <a:lnSpc>
                <a:spcPct val="122000"/>
              </a:lnSpc>
              <a:buNone/>
            </a:pPr>
            <a:r>
              <a:rPr lang="en-US" sz="1250" dirty="0">
                <a:solidFill>
                  <a:srgbClr val="55606C"/>
                </a:solidFill>
                <a:latin typeface="Calibri" pitchFamily="34" charset="0"/>
                <a:ea typeface="Calibri" pitchFamily="34" charset="-122"/>
                <a:cs typeface="Calibri" pitchFamily="34" charset="-120"/>
              </a:rPr>
              <a:t>Natural Language Processing (NLP) is a specialised field that overlaps ML and Deep Learning, focused only on understanding and generating human language.</a:t>
            </a:r>
            <a:endParaRPr lang="en-US" sz="1250" dirty="0"/>
          </a:p>
        </p:txBody>
      </p:sp>
      <p:sp>
        <p:nvSpPr>
          <p:cNvPr id="16" name="Shape 14"/>
          <p:cNvSpPr/>
          <p:nvPr/>
        </p:nvSpPr>
        <p:spPr>
          <a:xfrm>
            <a:off x="7909560" y="3767328"/>
            <a:ext cx="3474720" cy="0"/>
          </a:xfrm>
          <a:prstGeom prst="line">
            <a:avLst/>
          </a:prstGeom>
          <a:noFill/>
          <a:ln w="12700">
            <a:solidFill>
              <a:srgbClr val="E2E6EA"/>
            </a:solidFill>
            <a:prstDash val="solid"/>
          </a:ln>
        </p:spPr>
      </p:sp>
      <p:sp>
        <p:nvSpPr>
          <p:cNvPr id="17" name="Text 15"/>
          <p:cNvSpPr txBox="1"/>
          <p:nvPr/>
        </p:nvSpPr>
        <p:spPr>
          <a:xfrm>
            <a:off x="7909560" y="3913632"/>
            <a:ext cx="347472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READING THE DIAGRAM</a:t>
            </a:r>
            <a:endParaRPr lang="en-US" sz="1050" dirty="0"/>
          </a:p>
        </p:txBody>
      </p:sp>
      <p:sp>
        <p:nvSpPr>
          <p:cNvPr id="18" name="Text 16"/>
          <p:cNvSpPr txBox="1"/>
          <p:nvPr/>
        </p:nvSpPr>
        <p:spPr>
          <a:xfrm>
            <a:off x="7909560" y="4224528"/>
            <a:ext cx="3520440" cy="18288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Each ring sits fully inside the one before it</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Every inner technique is also an example of the outer one</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Generative AI is today’s most advanced application, built on Deep Learning</a:t>
            </a:r>
            <a:endParaRPr lang="en-US" sz="1150" dirty="0"/>
          </a:p>
        </p:txBody>
      </p:sp>
      <p:sp>
        <p:nvSpPr>
          <p:cNvPr id="19" name="Text 17"/>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AI Fundamentals</a:t>
            </a:r>
            <a:endParaRPr lang="en-US" sz="950" dirty="0"/>
          </a:p>
        </p:txBody>
      </p:sp>
      <p:sp>
        <p:nvSpPr>
          <p:cNvPr id="20" name="Text 18"/>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10</a:t>
            </a:r>
            <a:endParaRPr lang="en-US" sz="95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1 · AI FUNDAMENTALS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Quick Reference: Five Terms at a Glance</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400" i="1" dirty="0">
                <a:solidFill>
                  <a:srgbClr val="8A94A0"/>
                </a:solidFill>
                <a:latin typeface="Calibri" pitchFamily="34" charset="0"/>
                <a:ea typeface="Calibri" pitchFamily="34" charset="-122"/>
                <a:cs typeface="Calibri" pitchFamily="34" charset="-120"/>
              </a:rPr>
              <a:t>Use this table as a cheat-sheet when you hear these words in meetings or papers.</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91672" cy="3017520"/>
        </p:xfrm>
        <a:graphic>
          <a:graphicData uri="http://schemas.openxmlformats.org/drawingml/2006/table">
            <a:tbl>
              <a:tblPr/>
              <a:tblGrid>
                <a:gridCol w="2377440"/>
                <a:gridCol w="4572000"/>
                <a:gridCol w="4142232"/>
              </a:tblGrid>
              <a:tr h="502920">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Term</a:t>
                      </a:r>
                      <a:endParaRPr lang="en-US" sz="115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1B2A4A"/>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One-line definition</a:t>
                      </a:r>
                      <a:endParaRPr lang="en-US" sz="115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1B2A4A"/>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Example in academia</a:t>
                      </a:r>
                      <a:endParaRPr lang="en-US" sz="115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1B2A4A"/>
                    </a:solidFill>
                  </a:tcPr>
                </a:tc>
              </a:tr>
              <a:tr h="502920">
                <a:tc>
                  <a:txBody>
                    <a:bodyPr/>
                    <a:lstStyle/>
                    <a:p>
                      <a:pPr marL="0" indent="0" algn="l">
                        <a:buNone/>
                      </a:pPr>
                      <a:r>
                        <a:rPr lang="en-US" sz="1100" b="1" dirty="0">
                          <a:solidFill>
                            <a:srgbClr val="1B2A4A"/>
                          </a:solidFill>
                          <a:latin typeface="Calibri" pitchFamily="34" charset="0"/>
                          <a:ea typeface="Calibri" pitchFamily="34" charset="-122"/>
                          <a:cs typeface="Calibri" pitchFamily="34" charset="-120"/>
                        </a:rPr>
                        <a:t>AI</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Machines performing tasks that need human-like intelligence</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Plagiarism detection software</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r>
              <a:tr h="502920">
                <a:tc>
                  <a:txBody>
                    <a:bodyPr/>
                    <a:lstStyle/>
                    <a:p>
                      <a:pPr marL="0" indent="0" algn="l">
                        <a:buNone/>
                      </a:pPr>
                      <a:r>
                        <a:rPr lang="en-US" sz="1100" b="1" dirty="0">
                          <a:solidFill>
                            <a:srgbClr val="1B2A4A"/>
                          </a:solidFill>
                          <a:latin typeface="Calibri" pitchFamily="34" charset="0"/>
                          <a:ea typeface="Calibri" pitchFamily="34" charset="-122"/>
                          <a:cs typeface="Calibri" pitchFamily="34" charset="-120"/>
                        </a:rPr>
                        <a:t>ML</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EFF6F7"/>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Systems that learn patterns from data automatically</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EFF6F7"/>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Predicting at-risk students from attendance data</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EFF6F7"/>
                    </a:solidFill>
                  </a:tcPr>
                </a:tc>
              </a:tr>
              <a:tr h="502920">
                <a:tc>
                  <a:txBody>
                    <a:bodyPr/>
                    <a:lstStyle/>
                    <a:p>
                      <a:pPr marL="0" indent="0" algn="l">
                        <a:buNone/>
                      </a:pPr>
                      <a:r>
                        <a:rPr lang="en-US" sz="1100" b="1" dirty="0">
                          <a:solidFill>
                            <a:srgbClr val="1B2A4A"/>
                          </a:solidFill>
                          <a:latin typeface="Calibri" pitchFamily="34" charset="0"/>
                          <a:ea typeface="Calibri" pitchFamily="34" charset="-122"/>
                          <a:cs typeface="Calibri" pitchFamily="34" charset="-120"/>
                        </a:rPr>
                        <a:t>DL</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ML using layered neural networks for complex patterns</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Handwriting recognition for scanned answer sheets</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r>
              <a:tr h="502920">
                <a:tc>
                  <a:txBody>
                    <a:bodyPr/>
                    <a:lstStyle/>
                    <a:p>
                      <a:pPr marL="0" indent="0" algn="l">
                        <a:buNone/>
                      </a:pPr>
                      <a:r>
                        <a:rPr lang="en-US" sz="1100" b="1" dirty="0">
                          <a:solidFill>
                            <a:srgbClr val="1B2A4A"/>
                          </a:solidFill>
                          <a:latin typeface="Calibri" pitchFamily="34" charset="0"/>
                          <a:ea typeface="Calibri" pitchFamily="34" charset="-122"/>
                          <a:cs typeface="Calibri" pitchFamily="34" charset="-120"/>
                        </a:rPr>
                        <a:t>NLP</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EFF6F7"/>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AI that understands and generates human language</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EFF6F7"/>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Auto-summarising a long research paper</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EFF6F7"/>
                    </a:solidFill>
                  </a:tcPr>
                </a:tc>
              </a:tr>
              <a:tr h="502920">
                <a:tc>
                  <a:txBody>
                    <a:bodyPr/>
                    <a:lstStyle/>
                    <a:p>
                      <a:pPr marL="0" indent="0" algn="l">
                        <a:buNone/>
                      </a:pPr>
                      <a:r>
                        <a:rPr lang="en-US" sz="1100" b="1" dirty="0">
                          <a:solidFill>
                            <a:srgbClr val="1B2A4A"/>
                          </a:solidFill>
                          <a:latin typeface="Calibri" pitchFamily="34" charset="0"/>
                          <a:ea typeface="Calibri" pitchFamily="34" charset="-122"/>
                          <a:cs typeface="Calibri" pitchFamily="34" charset="-120"/>
                        </a:rPr>
                        <a:t>GenAI</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AI that creates brand-new text, images, audio or code</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Drafting a first lecture outline in seconds</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AI Fundamentals</a:t>
            </a:r>
            <a:endParaRPr lang="en-US" sz="950" dirty="0"/>
          </a:p>
        </p:txBody>
      </p:sp>
      <p:sp>
        <p:nvSpPr>
          <p:cNvPr id="7" name="Text 4"/>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11</a:t>
            </a:r>
            <a:endParaRPr lang="en-US" sz="95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1 · QUICK CHECK</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Discussion Prompt</a:t>
            </a:r>
            <a:endParaRPr lang="en-US" sz="3200" dirty="0"/>
          </a:p>
        </p:txBody>
      </p:sp>
      <p:sp>
        <p:nvSpPr>
          <p:cNvPr id="4" name="Shape 2"/>
          <p:cNvSpPr/>
          <p:nvPr/>
        </p:nvSpPr>
        <p:spPr>
          <a:xfrm>
            <a:off x="548640" y="2103120"/>
            <a:ext cx="10195560" cy="3566160"/>
          </a:xfrm>
          <a:prstGeom prst="roundRect">
            <a:avLst>
              <a:gd name="adj" fmla="val 230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5" name="Shape 3"/>
          <p:cNvSpPr/>
          <p:nvPr/>
        </p:nvSpPr>
        <p:spPr>
          <a:xfrm>
            <a:off x="5193792" y="2514600"/>
            <a:ext cx="1097280" cy="1097280"/>
          </a:xfrm>
          <a:prstGeom prst="ellipse">
            <a:avLst/>
          </a:prstGeom>
          <a:solidFill>
            <a:srgbClr val="1C7293"/>
          </a:solidFill>
          <a:ln/>
        </p:spPr>
      </p:sp>
      <p:pic>
        <p:nvPicPr>
          <p:cNvPr id="6" name="Image 0" descr="icons/question.png"/>
          <p:cNvPicPr>
            <a:picLocks noChangeAspect="1"/>
          </p:cNvPicPr>
          <p:nvPr/>
        </p:nvPicPr>
        <p:blipFill>
          <a:blip r:embed="rId3"/>
          <a:stretch>
            <a:fillRect/>
          </a:stretch>
        </p:blipFill>
        <p:spPr>
          <a:xfrm>
            <a:off x="5479085" y="2799893"/>
            <a:ext cx="526694" cy="526694"/>
          </a:xfrm>
          <a:prstGeom prst="rect">
            <a:avLst/>
          </a:prstGeom>
        </p:spPr>
      </p:pic>
      <p:sp>
        <p:nvSpPr>
          <p:cNvPr id="7" name="Text 4"/>
          <p:cNvSpPr txBox="1"/>
          <p:nvPr/>
        </p:nvSpPr>
        <p:spPr>
          <a:xfrm>
            <a:off x="1188720" y="3794760"/>
            <a:ext cx="9829800" cy="1005840"/>
          </a:xfrm>
          <a:prstGeom prst="rect">
            <a:avLst/>
          </a:prstGeom>
          <a:noFill/>
          <a:ln/>
        </p:spPr>
        <p:txBody>
          <a:bodyPr wrap="square" lIns="0" tIns="0" rIns="0" bIns="0" rtlCol="0" anchor="ctr"/>
          <a:lstStyle/>
          <a:p>
            <a:pPr marL="0" indent="0" algn="ctr">
              <a:lnSpc>
                <a:spcPct val="120000"/>
              </a:lnSpc>
              <a:buNone/>
            </a:pPr>
            <a:r>
              <a:rPr lang="en-US" sz="1900" b="1" i="1" dirty="0">
                <a:solidFill>
                  <a:srgbClr val="1B2A4A"/>
                </a:solidFill>
                <a:latin typeface="Cambria" pitchFamily="34" charset="0"/>
                <a:ea typeface="Cambria" pitchFamily="34" charset="-122"/>
                <a:cs typeface="Cambria" pitchFamily="34" charset="-120"/>
              </a:rPr>
              <a:t>“If a tool only classifies student essays as pass/fail, is that Generative AI?”</a:t>
            </a:r>
            <a:endParaRPr lang="en-US" sz="1900" dirty="0"/>
          </a:p>
        </p:txBody>
      </p:sp>
      <p:sp>
        <p:nvSpPr>
          <p:cNvPr id="8" name="Text 5"/>
          <p:cNvSpPr txBox="1"/>
          <p:nvPr/>
        </p:nvSpPr>
        <p:spPr>
          <a:xfrm>
            <a:off x="1645920" y="4846320"/>
            <a:ext cx="8915400" cy="640080"/>
          </a:xfrm>
          <a:prstGeom prst="rect">
            <a:avLst/>
          </a:prstGeom>
          <a:noFill/>
          <a:ln/>
        </p:spPr>
        <p:txBody>
          <a:bodyPr wrap="square" lIns="0" tIns="0" rIns="0" bIns="0" rtlCol="0" anchor="ctr"/>
          <a:lstStyle/>
          <a:p>
            <a:pPr marL="0" indent="0" algn="ctr">
              <a:lnSpc>
                <a:spcPct val="120000"/>
              </a:lnSpc>
              <a:buNone/>
            </a:pPr>
            <a:r>
              <a:rPr lang="en-US" sz="1250" dirty="0">
                <a:solidFill>
                  <a:srgbClr val="8A94A0"/>
                </a:solidFill>
                <a:latin typeface="Calibri" pitchFamily="34" charset="0"/>
                <a:ea typeface="Calibri" pitchFamily="34" charset="-122"/>
                <a:cs typeface="Calibri" pitchFamily="34" charset="-120"/>
              </a:rPr>
              <a:t>Think about the difference between analysing existing content and creating new content — discuss with a neighbour for 60 seconds.</a:t>
            </a:r>
            <a:endParaRPr lang="en-US" sz="1250" dirty="0"/>
          </a:p>
        </p:txBody>
      </p:sp>
      <p:sp>
        <p:nvSpPr>
          <p:cNvPr id="9" name="Text 6"/>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AI Fundamentals</a:t>
            </a:r>
            <a:endParaRPr lang="en-US" sz="950" dirty="0"/>
          </a:p>
        </p:txBody>
      </p:sp>
      <p:sp>
        <p:nvSpPr>
          <p:cNvPr id="10" name="Text 7"/>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12</a:t>
            </a:r>
            <a:endParaRPr lang="en-US" sz="95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1 · AI FUNDAMENTALS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Common Myths vs Reality</a:t>
            </a:r>
            <a:endParaRPr lang="en-US" sz="3200" dirty="0"/>
          </a:p>
        </p:txBody>
      </p:sp>
      <p:sp>
        <p:nvSpPr>
          <p:cNvPr id="4" name="Shape 2"/>
          <p:cNvSpPr/>
          <p:nvPr/>
        </p:nvSpPr>
        <p:spPr>
          <a:xfrm>
            <a:off x="548640" y="192024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5" name="Shape 3"/>
          <p:cNvSpPr/>
          <p:nvPr/>
        </p:nvSpPr>
        <p:spPr>
          <a:xfrm>
            <a:off x="841248" y="2212848"/>
            <a:ext cx="658368" cy="658368"/>
          </a:xfrm>
          <a:prstGeom prst="ellipse">
            <a:avLst/>
          </a:prstGeom>
          <a:solidFill>
            <a:srgbClr val="B3261E"/>
          </a:solidFill>
          <a:ln/>
        </p:spPr>
      </p:sp>
      <p:pic>
        <p:nvPicPr>
          <p:cNvPr id="6" name="Image 0" descr="icons/times.png"/>
          <p:cNvPicPr>
            <a:picLocks noChangeAspect="1"/>
          </p:cNvPicPr>
          <p:nvPr/>
        </p:nvPicPr>
        <p:blipFill>
          <a:blip r:embed="rId3"/>
          <a:stretch>
            <a:fillRect/>
          </a:stretch>
        </p:blipFill>
        <p:spPr>
          <a:xfrm>
            <a:off x="1012424" y="2384024"/>
            <a:ext cx="316017" cy="316017"/>
          </a:xfrm>
          <a:prstGeom prst="rect">
            <a:avLst/>
          </a:prstGeom>
        </p:spPr>
      </p:pic>
      <p:sp>
        <p:nvSpPr>
          <p:cNvPr id="7" name="Text 4"/>
          <p:cNvSpPr txBox="1"/>
          <p:nvPr/>
        </p:nvSpPr>
        <p:spPr>
          <a:xfrm>
            <a:off x="1645920" y="223113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Myth: AI "thinks" like a person</a:t>
            </a:r>
            <a:endParaRPr lang="en-US" sz="1650" dirty="0"/>
          </a:p>
        </p:txBody>
      </p:sp>
      <p:sp>
        <p:nvSpPr>
          <p:cNvPr id="8" name="Text 5"/>
          <p:cNvSpPr txBox="1"/>
          <p:nvPr/>
        </p:nvSpPr>
        <p:spPr>
          <a:xfrm>
            <a:off x="841248" y="299923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Reality: AI finds statistical patterns in data — it has no understanding, beliefs, or awareness.</a:t>
            </a:r>
            <a:endParaRPr lang="en-US" sz="1200" dirty="0"/>
          </a:p>
        </p:txBody>
      </p:sp>
      <p:sp>
        <p:nvSpPr>
          <p:cNvPr id="9" name="Shape 6"/>
          <p:cNvSpPr/>
          <p:nvPr/>
        </p:nvSpPr>
        <p:spPr>
          <a:xfrm>
            <a:off x="6254496" y="192024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Shape 7"/>
          <p:cNvSpPr/>
          <p:nvPr/>
        </p:nvSpPr>
        <p:spPr>
          <a:xfrm>
            <a:off x="6547104" y="2212848"/>
            <a:ext cx="658368" cy="658368"/>
          </a:xfrm>
          <a:prstGeom prst="ellipse">
            <a:avLst/>
          </a:prstGeom>
          <a:solidFill>
            <a:srgbClr val="B3261E"/>
          </a:solidFill>
          <a:ln/>
        </p:spPr>
      </p:sp>
      <p:pic>
        <p:nvPicPr>
          <p:cNvPr id="11" name="Image 1" descr="icons/times.png"/>
          <p:cNvPicPr>
            <a:picLocks noChangeAspect="1"/>
          </p:cNvPicPr>
          <p:nvPr/>
        </p:nvPicPr>
        <p:blipFill>
          <a:blip r:embed="rId3"/>
          <a:stretch>
            <a:fillRect/>
          </a:stretch>
        </p:blipFill>
        <p:spPr>
          <a:xfrm>
            <a:off x="6718280" y="2384024"/>
            <a:ext cx="316017" cy="316017"/>
          </a:xfrm>
          <a:prstGeom prst="rect">
            <a:avLst/>
          </a:prstGeom>
        </p:spPr>
      </p:pic>
      <p:sp>
        <p:nvSpPr>
          <p:cNvPr id="12" name="Text 8"/>
          <p:cNvSpPr txBox="1"/>
          <p:nvPr/>
        </p:nvSpPr>
        <p:spPr>
          <a:xfrm>
            <a:off x="7351776" y="223113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Myth: AI is always accurate</a:t>
            </a:r>
            <a:endParaRPr lang="en-US" sz="1650" dirty="0"/>
          </a:p>
        </p:txBody>
      </p:sp>
      <p:sp>
        <p:nvSpPr>
          <p:cNvPr id="13" name="Text 9"/>
          <p:cNvSpPr txBox="1"/>
          <p:nvPr/>
        </p:nvSpPr>
        <p:spPr>
          <a:xfrm>
            <a:off x="6547104" y="299923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Reality: AI can be confidently wrong ("hallucinate") and needs human verification.</a:t>
            </a:r>
            <a:endParaRPr lang="en-US" sz="1200" dirty="0"/>
          </a:p>
        </p:txBody>
      </p:sp>
      <p:sp>
        <p:nvSpPr>
          <p:cNvPr id="14" name="Shape 10"/>
          <p:cNvSpPr/>
          <p:nvPr/>
        </p:nvSpPr>
        <p:spPr>
          <a:xfrm>
            <a:off x="548640" y="438912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5" name="Shape 11"/>
          <p:cNvSpPr/>
          <p:nvPr/>
        </p:nvSpPr>
        <p:spPr>
          <a:xfrm>
            <a:off x="841248" y="4681728"/>
            <a:ext cx="658368" cy="658368"/>
          </a:xfrm>
          <a:prstGeom prst="ellipse">
            <a:avLst/>
          </a:prstGeom>
          <a:solidFill>
            <a:srgbClr val="2E7D32"/>
          </a:solidFill>
          <a:ln/>
        </p:spPr>
      </p:sp>
      <p:pic>
        <p:nvPicPr>
          <p:cNvPr id="16" name="Image 2" descr="icons/check.png"/>
          <p:cNvPicPr>
            <a:picLocks noChangeAspect="1"/>
          </p:cNvPicPr>
          <p:nvPr/>
        </p:nvPicPr>
        <p:blipFill>
          <a:blip r:embed="rId4"/>
          <a:stretch>
            <a:fillRect/>
          </a:stretch>
        </p:blipFill>
        <p:spPr>
          <a:xfrm>
            <a:off x="1012424" y="4852904"/>
            <a:ext cx="316017" cy="316017"/>
          </a:xfrm>
          <a:prstGeom prst="rect">
            <a:avLst/>
          </a:prstGeom>
        </p:spPr>
      </p:pic>
      <p:sp>
        <p:nvSpPr>
          <p:cNvPr id="17" name="Text 12"/>
          <p:cNvSpPr txBox="1"/>
          <p:nvPr/>
        </p:nvSpPr>
        <p:spPr>
          <a:xfrm>
            <a:off x="1645920" y="470001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Fact: AI needs good data</a:t>
            </a:r>
            <a:endParaRPr lang="en-US" sz="1650" dirty="0"/>
          </a:p>
        </p:txBody>
      </p:sp>
      <p:sp>
        <p:nvSpPr>
          <p:cNvPr id="18" name="Text 13"/>
          <p:cNvSpPr txBox="1"/>
          <p:nvPr/>
        </p:nvSpPr>
        <p:spPr>
          <a:xfrm>
            <a:off x="841248" y="546811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Its usefulness depends entirely on the quality and relevance of the data it learned from.</a:t>
            </a:r>
            <a:endParaRPr lang="en-US" sz="1200" dirty="0"/>
          </a:p>
        </p:txBody>
      </p:sp>
      <p:sp>
        <p:nvSpPr>
          <p:cNvPr id="19" name="Shape 14"/>
          <p:cNvSpPr/>
          <p:nvPr/>
        </p:nvSpPr>
        <p:spPr>
          <a:xfrm>
            <a:off x="6254496" y="438912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20" name="Shape 15"/>
          <p:cNvSpPr/>
          <p:nvPr/>
        </p:nvSpPr>
        <p:spPr>
          <a:xfrm>
            <a:off x="6547104" y="4681728"/>
            <a:ext cx="658368" cy="658368"/>
          </a:xfrm>
          <a:prstGeom prst="ellipse">
            <a:avLst/>
          </a:prstGeom>
          <a:solidFill>
            <a:srgbClr val="2E7D32"/>
          </a:solidFill>
          <a:ln/>
        </p:spPr>
      </p:sp>
      <p:pic>
        <p:nvPicPr>
          <p:cNvPr id="21" name="Image 3" descr="icons/check.png"/>
          <p:cNvPicPr>
            <a:picLocks noChangeAspect="1"/>
          </p:cNvPicPr>
          <p:nvPr/>
        </p:nvPicPr>
        <p:blipFill>
          <a:blip r:embed="rId4"/>
          <a:stretch>
            <a:fillRect/>
          </a:stretch>
        </p:blipFill>
        <p:spPr>
          <a:xfrm>
            <a:off x="6718280" y="4852904"/>
            <a:ext cx="316017" cy="316017"/>
          </a:xfrm>
          <a:prstGeom prst="rect">
            <a:avLst/>
          </a:prstGeom>
        </p:spPr>
      </p:pic>
      <p:sp>
        <p:nvSpPr>
          <p:cNvPr id="22" name="Text 16"/>
          <p:cNvSpPr txBox="1"/>
          <p:nvPr/>
        </p:nvSpPr>
        <p:spPr>
          <a:xfrm>
            <a:off x="7351776" y="470001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Fact: AI is a tool, not a replacement</a:t>
            </a:r>
            <a:endParaRPr lang="en-US" sz="1650" dirty="0"/>
          </a:p>
        </p:txBody>
      </p:sp>
      <p:sp>
        <p:nvSpPr>
          <p:cNvPr id="23" name="Text 17"/>
          <p:cNvSpPr txBox="1"/>
          <p:nvPr/>
        </p:nvSpPr>
        <p:spPr>
          <a:xfrm>
            <a:off x="6547104" y="546811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It augments academic judgement — it does not replace expertise, ethics, or oversight.</a:t>
            </a:r>
            <a:endParaRPr lang="en-US" sz="1200" dirty="0"/>
          </a:p>
        </p:txBody>
      </p:sp>
      <p:sp>
        <p:nvSpPr>
          <p:cNvPr id="24" name="Text 18"/>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Part 1 · AI Fundamentals</a:t>
            </a:r>
            <a:endParaRPr lang="en-US" sz="950" dirty="0"/>
          </a:p>
        </p:txBody>
      </p:sp>
      <p:sp>
        <p:nvSpPr>
          <p:cNvPr id="25" name="Text 19"/>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13</a:t>
            </a:r>
            <a:endParaRPr lang="en-US" sz="95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1 · AI FUNDAMENTALS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AI Across the Academic Workflow</a:t>
            </a:r>
            <a:endParaRPr lang="en-US" sz="3200" dirty="0"/>
          </a:p>
        </p:txBody>
      </p:sp>
      <p:sp>
        <p:nvSpPr>
          <p:cNvPr id="4" name="Shape 2"/>
          <p:cNvSpPr/>
          <p:nvPr/>
        </p:nvSpPr>
        <p:spPr>
          <a:xfrm>
            <a:off x="548640" y="192024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5" name="Shape 3"/>
          <p:cNvSpPr/>
          <p:nvPr/>
        </p:nvSpPr>
        <p:spPr>
          <a:xfrm>
            <a:off x="841248" y="2212848"/>
            <a:ext cx="658368" cy="658368"/>
          </a:xfrm>
          <a:prstGeom prst="ellipse">
            <a:avLst/>
          </a:prstGeom>
          <a:solidFill>
            <a:srgbClr val="1C7293"/>
          </a:solidFill>
          <a:ln/>
        </p:spPr>
      </p:sp>
      <p:pic>
        <p:nvPicPr>
          <p:cNvPr id="6" name="Image 0" descr="icons/graduation.png"/>
          <p:cNvPicPr>
            <a:picLocks noChangeAspect="1"/>
          </p:cNvPicPr>
          <p:nvPr/>
        </p:nvPicPr>
        <p:blipFill>
          <a:blip r:embed="rId3"/>
          <a:stretch>
            <a:fillRect/>
          </a:stretch>
        </p:blipFill>
        <p:spPr>
          <a:xfrm>
            <a:off x="1012424" y="2384024"/>
            <a:ext cx="316017" cy="316017"/>
          </a:xfrm>
          <a:prstGeom prst="rect">
            <a:avLst/>
          </a:prstGeom>
        </p:spPr>
      </p:pic>
      <p:sp>
        <p:nvSpPr>
          <p:cNvPr id="7" name="Text 4"/>
          <p:cNvSpPr txBox="1"/>
          <p:nvPr/>
        </p:nvSpPr>
        <p:spPr>
          <a:xfrm>
            <a:off x="1645920" y="223113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Teaching</a:t>
            </a:r>
            <a:endParaRPr lang="en-US" sz="1650" dirty="0"/>
          </a:p>
        </p:txBody>
      </p:sp>
      <p:sp>
        <p:nvSpPr>
          <p:cNvPr id="8" name="Text 5"/>
          <p:cNvSpPr txBox="1"/>
          <p:nvPr/>
        </p:nvSpPr>
        <p:spPr>
          <a:xfrm>
            <a:off x="841248" y="299923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Lesson Plans → Explanations → Activities</a:t>
            </a:r>
            <a:endParaRPr lang="en-US" sz="1200" dirty="0"/>
          </a:p>
        </p:txBody>
      </p:sp>
      <p:sp>
        <p:nvSpPr>
          <p:cNvPr id="9" name="Shape 6"/>
          <p:cNvSpPr/>
          <p:nvPr/>
        </p:nvSpPr>
        <p:spPr>
          <a:xfrm>
            <a:off x="6254496" y="192024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Shape 7"/>
          <p:cNvSpPr/>
          <p:nvPr/>
        </p:nvSpPr>
        <p:spPr>
          <a:xfrm>
            <a:off x="6547104" y="2212848"/>
            <a:ext cx="658368" cy="658368"/>
          </a:xfrm>
          <a:prstGeom prst="ellipse">
            <a:avLst/>
          </a:prstGeom>
          <a:solidFill>
            <a:srgbClr val="1C7293"/>
          </a:solidFill>
          <a:ln/>
        </p:spPr>
      </p:sp>
      <p:pic>
        <p:nvPicPr>
          <p:cNvPr id="11" name="Image 1" descr="icons/clipboard.png"/>
          <p:cNvPicPr>
            <a:picLocks noChangeAspect="1"/>
          </p:cNvPicPr>
          <p:nvPr/>
        </p:nvPicPr>
        <p:blipFill>
          <a:blip r:embed="rId4"/>
          <a:stretch>
            <a:fillRect/>
          </a:stretch>
        </p:blipFill>
        <p:spPr>
          <a:xfrm>
            <a:off x="6718280" y="2384024"/>
            <a:ext cx="316017" cy="316017"/>
          </a:xfrm>
          <a:prstGeom prst="rect">
            <a:avLst/>
          </a:prstGeom>
        </p:spPr>
      </p:pic>
      <p:sp>
        <p:nvSpPr>
          <p:cNvPr id="12" name="Text 8"/>
          <p:cNvSpPr txBox="1"/>
          <p:nvPr/>
        </p:nvSpPr>
        <p:spPr>
          <a:xfrm>
            <a:off x="7351776" y="223113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Assessment</a:t>
            </a:r>
            <a:endParaRPr lang="en-US" sz="1650" dirty="0"/>
          </a:p>
        </p:txBody>
      </p:sp>
      <p:sp>
        <p:nvSpPr>
          <p:cNvPr id="13" name="Text 9"/>
          <p:cNvSpPr txBox="1"/>
          <p:nvPr/>
        </p:nvSpPr>
        <p:spPr>
          <a:xfrm>
            <a:off x="6547104" y="299923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MCQs → Rubrics → Feedback</a:t>
            </a:r>
            <a:endParaRPr lang="en-US" sz="1200" dirty="0"/>
          </a:p>
        </p:txBody>
      </p:sp>
      <p:sp>
        <p:nvSpPr>
          <p:cNvPr id="14" name="Shape 10"/>
          <p:cNvSpPr/>
          <p:nvPr/>
        </p:nvSpPr>
        <p:spPr>
          <a:xfrm>
            <a:off x="548640" y="438912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5" name="Shape 11"/>
          <p:cNvSpPr/>
          <p:nvPr/>
        </p:nvSpPr>
        <p:spPr>
          <a:xfrm>
            <a:off x="841248" y="4681728"/>
            <a:ext cx="658368" cy="658368"/>
          </a:xfrm>
          <a:prstGeom prst="ellipse">
            <a:avLst/>
          </a:prstGeom>
          <a:solidFill>
            <a:srgbClr val="1C7293"/>
          </a:solidFill>
          <a:ln/>
        </p:spPr>
      </p:sp>
      <p:pic>
        <p:nvPicPr>
          <p:cNvPr id="16" name="Image 2" descr="icons/flask.png"/>
          <p:cNvPicPr>
            <a:picLocks noChangeAspect="1"/>
          </p:cNvPicPr>
          <p:nvPr/>
        </p:nvPicPr>
        <p:blipFill>
          <a:blip r:embed="rId5"/>
          <a:stretch>
            <a:fillRect/>
          </a:stretch>
        </p:blipFill>
        <p:spPr>
          <a:xfrm>
            <a:off x="1012424" y="4852904"/>
            <a:ext cx="316017" cy="316017"/>
          </a:xfrm>
          <a:prstGeom prst="rect">
            <a:avLst/>
          </a:prstGeom>
        </p:spPr>
      </p:pic>
      <p:sp>
        <p:nvSpPr>
          <p:cNvPr id="17" name="Text 12"/>
          <p:cNvSpPr txBox="1"/>
          <p:nvPr/>
        </p:nvSpPr>
        <p:spPr>
          <a:xfrm>
            <a:off x="1645920" y="470001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Research</a:t>
            </a:r>
            <a:endParaRPr lang="en-US" sz="1650" dirty="0"/>
          </a:p>
        </p:txBody>
      </p:sp>
      <p:sp>
        <p:nvSpPr>
          <p:cNvPr id="18" name="Text 13"/>
          <p:cNvSpPr txBox="1"/>
          <p:nvPr/>
        </p:nvSpPr>
        <p:spPr>
          <a:xfrm>
            <a:off x="841248" y="546811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Literature → Data → Analysis → Writing</a:t>
            </a:r>
            <a:endParaRPr lang="en-US" sz="1200" dirty="0"/>
          </a:p>
        </p:txBody>
      </p:sp>
      <p:sp>
        <p:nvSpPr>
          <p:cNvPr id="19" name="Shape 14"/>
          <p:cNvSpPr/>
          <p:nvPr/>
        </p:nvSpPr>
        <p:spPr>
          <a:xfrm>
            <a:off x="6254496" y="438912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20" name="Shape 15"/>
          <p:cNvSpPr/>
          <p:nvPr/>
        </p:nvSpPr>
        <p:spPr>
          <a:xfrm>
            <a:off x="6547104" y="4681728"/>
            <a:ext cx="658368" cy="658368"/>
          </a:xfrm>
          <a:prstGeom prst="ellipse">
            <a:avLst/>
          </a:prstGeom>
          <a:solidFill>
            <a:srgbClr val="1C7293"/>
          </a:solidFill>
          <a:ln/>
        </p:spPr>
      </p:sp>
      <p:pic>
        <p:nvPicPr>
          <p:cNvPr id="21" name="Image 3" descr="icons/envelope.png"/>
          <p:cNvPicPr>
            <a:picLocks noChangeAspect="1"/>
          </p:cNvPicPr>
          <p:nvPr/>
        </p:nvPicPr>
        <p:blipFill>
          <a:blip r:embed="rId6"/>
          <a:stretch>
            <a:fillRect/>
          </a:stretch>
        </p:blipFill>
        <p:spPr>
          <a:xfrm>
            <a:off x="6718280" y="4852904"/>
            <a:ext cx="316017" cy="316017"/>
          </a:xfrm>
          <a:prstGeom prst="rect">
            <a:avLst/>
          </a:prstGeom>
        </p:spPr>
      </p:pic>
      <p:sp>
        <p:nvSpPr>
          <p:cNvPr id="22" name="Text 16"/>
          <p:cNvSpPr txBox="1"/>
          <p:nvPr/>
        </p:nvSpPr>
        <p:spPr>
          <a:xfrm>
            <a:off x="7351776" y="470001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Productivity</a:t>
            </a:r>
            <a:endParaRPr lang="en-US" sz="1650" dirty="0"/>
          </a:p>
        </p:txBody>
      </p:sp>
      <p:sp>
        <p:nvSpPr>
          <p:cNvPr id="23" name="Text 17"/>
          <p:cNvSpPr txBox="1"/>
          <p:nvPr/>
        </p:nvSpPr>
        <p:spPr>
          <a:xfrm>
            <a:off x="6547104" y="546811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Emails → Reports → Meetings → Slides</a:t>
            </a:r>
            <a:endParaRPr lang="en-US" sz="1200" dirty="0"/>
          </a:p>
        </p:txBody>
      </p:sp>
      <p:sp>
        <p:nvSpPr>
          <p:cNvPr id="24" name="Text 18"/>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Part 1 · AI Fundamentals</a:t>
            </a:r>
            <a:endParaRPr lang="en-US" sz="950" dirty="0"/>
          </a:p>
        </p:txBody>
      </p:sp>
      <p:sp>
        <p:nvSpPr>
          <p:cNvPr id="25" name="Text 19"/>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14</a:t>
            </a:r>
            <a:endParaRPr lang="en-US" sz="95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0058400" y="-1645920"/>
            <a:ext cx="4114800" cy="4114800"/>
          </a:xfrm>
          <a:prstGeom prst="ellipse">
            <a:avLst/>
          </a:prstGeom>
          <a:solidFill>
            <a:srgbClr val="233A63"/>
          </a:solidFill>
          <a:ln/>
        </p:spPr>
      </p:sp>
      <p:sp>
        <p:nvSpPr>
          <p:cNvPr id="3" name="Text 1"/>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9FD6E8"/>
                </a:solidFill>
                <a:latin typeface="Calibri" pitchFamily="34" charset="0"/>
                <a:ea typeface="Calibri" pitchFamily="34" charset="-122"/>
                <a:cs typeface="Calibri" pitchFamily="34" charset="-120"/>
              </a:rPr>
              <a:t>PART 1 RECAP</a:t>
            </a:r>
            <a:endParaRPr lang="en-US" sz="1250" dirty="0"/>
          </a:p>
        </p:txBody>
      </p:sp>
      <p:sp>
        <p:nvSpPr>
          <p:cNvPr id="4" name="Text 2"/>
          <p:cNvSpPr txBox="1"/>
          <p:nvPr/>
        </p:nvSpPr>
        <p:spPr>
          <a:xfrm>
            <a:off x="548640" y="731520"/>
            <a:ext cx="10607040" cy="8229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Key Takeaways: AI Fundamentals</a:t>
            </a:r>
            <a:endParaRPr lang="en-US" sz="3000" dirty="0"/>
          </a:p>
        </p:txBody>
      </p:sp>
      <p:sp>
        <p:nvSpPr>
          <p:cNvPr id="5" name="Shape 3"/>
          <p:cNvSpPr/>
          <p:nvPr/>
        </p:nvSpPr>
        <p:spPr>
          <a:xfrm>
            <a:off x="10149840" y="502920"/>
            <a:ext cx="1051560" cy="1051560"/>
          </a:xfrm>
          <a:prstGeom prst="ellipse">
            <a:avLst/>
          </a:prstGeom>
          <a:solidFill>
            <a:srgbClr val="1C7293"/>
          </a:solidFill>
          <a:ln/>
        </p:spPr>
      </p:sp>
      <p:pic>
        <p:nvPicPr>
          <p:cNvPr id="6" name="Image 0" descr="icons/star.png"/>
          <p:cNvPicPr>
            <a:picLocks noChangeAspect="1"/>
          </p:cNvPicPr>
          <p:nvPr/>
        </p:nvPicPr>
        <p:blipFill>
          <a:blip r:embed="rId3"/>
          <a:stretch>
            <a:fillRect/>
          </a:stretch>
        </p:blipFill>
        <p:spPr>
          <a:xfrm>
            <a:off x="10423246" y="776326"/>
            <a:ext cx="504749" cy="504749"/>
          </a:xfrm>
          <a:prstGeom prst="rect">
            <a:avLst/>
          </a:prstGeom>
        </p:spPr>
      </p:pic>
      <p:sp>
        <p:nvSpPr>
          <p:cNvPr id="7" name="Shape 4"/>
          <p:cNvSpPr/>
          <p:nvPr/>
        </p:nvSpPr>
        <p:spPr>
          <a:xfrm>
            <a:off x="548640" y="1965960"/>
            <a:ext cx="5408676" cy="1965960"/>
          </a:xfrm>
          <a:prstGeom prst="roundRect">
            <a:avLst>
              <a:gd name="adj" fmla="val 3721"/>
            </a:avLst>
          </a:prstGeom>
          <a:solidFill>
            <a:srgbClr val="233A63"/>
          </a:solidFill>
          <a:ln/>
        </p:spPr>
      </p:sp>
      <p:sp>
        <p:nvSpPr>
          <p:cNvPr id="8" name="Shape 5"/>
          <p:cNvSpPr/>
          <p:nvPr/>
        </p:nvSpPr>
        <p:spPr>
          <a:xfrm>
            <a:off x="804672" y="2221992"/>
            <a:ext cx="457200" cy="457200"/>
          </a:xfrm>
          <a:prstGeom prst="ellipse">
            <a:avLst/>
          </a:prstGeom>
          <a:solidFill>
            <a:srgbClr val="1C7293"/>
          </a:solidFill>
          <a:ln/>
        </p:spPr>
      </p:sp>
      <p:pic>
        <p:nvPicPr>
          <p:cNvPr id="9" name="Image 1" descr="icons/brain.png"/>
          <p:cNvPicPr>
            <a:picLocks noChangeAspect="1"/>
          </p:cNvPicPr>
          <p:nvPr/>
        </p:nvPicPr>
        <p:blipFill>
          <a:blip r:embed="rId4"/>
          <a:stretch>
            <a:fillRect/>
          </a:stretch>
        </p:blipFill>
        <p:spPr>
          <a:xfrm>
            <a:off x="896112" y="2313432"/>
            <a:ext cx="274320" cy="274320"/>
          </a:xfrm>
          <a:prstGeom prst="rect">
            <a:avLst/>
          </a:prstGeom>
        </p:spPr>
      </p:pic>
      <p:sp>
        <p:nvSpPr>
          <p:cNvPr id="10" name="Text 6"/>
          <p:cNvSpPr txBox="1"/>
          <p:nvPr/>
        </p:nvSpPr>
        <p:spPr>
          <a:xfrm>
            <a:off x="1417320" y="2185416"/>
            <a:ext cx="4265676"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AI is the umbrella term</a:t>
            </a:r>
            <a:endParaRPr lang="en-US" sz="1450" dirty="0"/>
          </a:p>
        </p:txBody>
      </p:sp>
      <p:sp>
        <p:nvSpPr>
          <p:cNvPr id="11" name="Text 7"/>
          <p:cNvSpPr txBox="1"/>
          <p:nvPr/>
        </p:nvSpPr>
        <p:spPr>
          <a:xfrm>
            <a:off x="804672" y="2788920"/>
            <a:ext cx="4896612" cy="960120"/>
          </a:xfrm>
          <a:prstGeom prst="rect">
            <a:avLst/>
          </a:prstGeom>
          <a:noFill/>
          <a:ln/>
        </p:spPr>
        <p:txBody>
          <a:bodyPr wrap="square" lIns="0" tIns="0" rIns="0" bIns="0"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Every concept in this section — ML, DL, NLP, GenAI — is a type of AI.</a:t>
            </a:r>
            <a:endParaRPr lang="en-US" sz="1150" dirty="0"/>
          </a:p>
        </p:txBody>
      </p:sp>
      <p:sp>
        <p:nvSpPr>
          <p:cNvPr id="12" name="Shape 8"/>
          <p:cNvSpPr/>
          <p:nvPr/>
        </p:nvSpPr>
        <p:spPr>
          <a:xfrm>
            <a:off x="6231636" y="1965960"/>
            <a:ext cx="5408676" cy="1965960"/>
          </a:xfrm>
          <a:prstGeom prst="roundRect">
            <a:avLst>
              <a:gd name="adj" fmla="val 3721"/>
            </a:avLst>
          </a:prstGeom>
          <a:solidFill>
            <a:srgbClr val="233A63"/>
          </a:solidFill>
          <a:ln/>
        </p:spPr>
      </p:sp>
      <p:sp>
        <p:nvSpPr>
          <p:cNvPr id="13" name="Shape 9"/>
          <p:cNvSpPr/>
          <p:nvPr/>
        </p:nvSpPr>
        <p:spPr>
          <a:xfrm>
            <a:off x="6487668" y="2221992"/>
            <a:ext cx="457200" cy="457200"/>
          </a:xfrm>
          <a:prstGeom prst="ellipse">
            <a:avLst/>
          </a:prstGeom>
          <a:solidFill>
            <a:srgbClr val="1C7293"/>
          </a:solidFill>
          <a:ln/>
        </p:spPr>
      </p:sp>
      <p:pic>
        <p:nvPicPr>
          <p:cNvPr id="14" name="Image 2" descr="icons/chartline.png"/>
          <p:cNvPicPr>
            <a:picLocks noChangeAspect="1"/>
          </p:cNvPicPr>
          <p:nvPr/>
        </p:nvPicPr>
        <p:blipFill>
          <a:blip r:embed="rId5"/>
          <a:stretch>
            <a:fillRect/>
          </a:stretch>
        </p:blipFill>
        <p:spPr>
          <a:xfrm>
            <a:off x="6579108" y="2313432"/>
            <a:ext cx="274320" cy="274320"/>
          </a:xfrm>
          <a:prstGeom prst="rect">
            <a:avLst/>
          </a:prstGeom>
        </p:spPr>
      </p:pic>
      <p:sp>
        <p:nvSpPr>
          <p:cNvPr id="15" name="Text 10"/>
          <p:cNvSpPr txBox="1"/>
          <p:nvPr/>
        </p:nvSpPr>
        <p:spPr>
          <a:xfrm>
            <a:off x="7100316" y="2185416"/>
            <a:ext cx="4265676"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ML learns from data</a:t>
            </a:r>
            <a:endParaRPr lang="en-US" sz="1450" dirty="0"/>
          </a:p>
        </p:txBody>
      </p:sp>
      <p:sp>
        <p:nvSpPr>
          <p:cNvPr id="16" name="Text 11"/>
          <p:cNvSpPr txBox="1"/>
          <p:nvPr/>
        </p:nvSpPr>
        <p:spPr>
          <a:xfrm>
            <a:off x="6487668" y="2788920"/>
            <a:ext cx="4896612" cy="960120"/>
          </a:xfrm>
          <a:prstGeom prst="rect">
            <a:avLst/>
          </a:prstGeom>
          <a:noFill/>
          <a:ln/>
        </p:spPr>
        <p:txBody>
          <a:bodyPr wrap="square" lIns="0" tIns="0" rIns="0" bIns="0"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No fixed rules; the system improves as it sees more examples.</a:t>
            </a:r>
            <a:endParaRPr lang="en-US" sz="1150" dirty="0"/>
          </a:p>
        </p:txBody>
      </p:sp>
      <p:sp>
        <p:nvSpPr>
          <p:cNvPr id="17" name="Shape 12"/>
          <p:cNvSpPr/>
          <p:nvPr/>
        </p:nvSpPr>
        <p:spPr>
          <a:xfrm>
            <a:off x="548640" y="4206240"/>
            <a:ext cx="5408676" cy="1965960"/>
          </a:xfrm>
          <a:prstGeom prst="roundRect">
            <a:avLst>
              <a:gd name="adj" fmla="val 3721"/>
            </a:avLst>
          </a:prstGeom>
          <a:solidFill>
            <a:srgbClr val="233A63"/>
          </a:solidFill>
          <a:ln/>
        </p:spPr>
      </p:sp>
      <p:sp>
        <p:nvSpPr>
          <p:cNvPr id="18" name="Shape 13"/>
          <p:cNvSpPr/>
          <p:nvPr/>
        </p:nvSpPr>
        <p:spPr>
          <a:xfrm>
            <a:off x="804672" y="4462272"/>
            <a:ext cx="457200" cy="457200"/>
          </a:xfrm>
          <a:prstGeom prst="ellipse">
            <a:avLst/>
          </a:prstGeom>
          <a:solidFill>
            <a:srgbClr val="1C7293"/>
          </a:solidFill>
          <a:ln/>
        </p:spPr>
      </p:sp>
      <p:pic>
        <p:nvPicPr>
          <p:cNvPr id="19" name="Image 3" descr="icons/layers.png"/>
          <p:cNvPicPr>
            <a:picLocks noChangeAspect="1"/>
          </p:cNvPicPr>
          <p:nvPr/>
        </p:nvPicPr>
        <p:blipFill>
          <a:blip r:embed="rId6"/>
          <a:stretch>
            <a:fillRect/>
          </a:stretch>
        </p:blipFill>
        <p:spPr>
          <a:xfrm>
            <a:off x="896112" y="4553712"/>
            <a:ext cx="274320" cy="274320"/>
          </a:xfrm>
          <a:prstGeom prst="rect">
            <a:avLst/>
          </a:prstGeom>
        </p:spPr>
      </p:pic>
      <p:sp>
        <p:nvSpPr>
          <p:cNvPr id="20" name="Text 14"/>
          <p:cNvSpPr txBox="1"/>
          <p:nvPr/>
        </p:nvSpPr>
        <p:spPr>
          <a:xfrm>
            <a:off x="1417320" y="4425696"/>
            <a:ext cx="4265676"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DL uses neural networks</a:t>
            </a:r>
            <a:endParaRPr lang="en-US" sz="1450" dirty="0"/>
          </a:p>
        </p:txBody>
      </p:sp>
      <p:sp>
        <p:nvSpPr>
          <p:cNvPr id="21" name="Text 15"/>
          <p:cNvSpPr txBox="1"/>
          <p:nvPr/>
        </p:nvSpPr>
        <p:spPr>
          <a:xfrm>
            <a:off x="804672" y="5029200"/>
            <a:ext cx="4896612" cy="960120"/>
          </a:xfrm>
          <a:prstGeom prst="rect">
            <a:avLst/>
          </a:prstGeom>
          <a:noFill/>
          <a:ln/>
        </p:spPr>
        <p:txBody>
          <a:bodyPr wrap="square" lIns="0" tIns="0" rIns="0" bIns="0"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Best for complex, unstructured data like images, audio and text.</a:t>
            </a:r>
            <a:endParaRPr lang="en-US" sz="1150" dirty="0"/>
          </a:p>
        </p:txBody>
      </p:sp>
      <p:sp>
        <p:nvSpPr>
          <p:cNvPr id="22" name="Shape 16"/>
          <p:cNvSpPr/>
          <p:nvPr/>
        </p:nvSpPr>
        <p:spPr>
          <a:xfrm>
            <a:off x="6231636" y="4206240"/>
            <a:ext cx="5408676" cy="1965960"/>
          </a:xfrm>
          <a:prstGeom prst="roundRect">
            <a:avLst>
              <a:gd name="adj" fmla="val 3721"/>
            </a:avLst>
          </a:prstGeom>
          <a:solidFill>
            <a:srgbClr val="233A63"/>
          </a:solidFill>
          <a:ln/>
        </p:spPr>
      </p:sp>
      <p:sp>
        <p:nvSpPr>
          <p:cNvPr id="23" name="Shape 17"/>
          <p:cNvSpPr/>
          <p:nvPr/>
        </p:nvSpPr>
        <p:spPr>
          <a:xfrm>
            <a:off x="6487668" y="4462272"/>
            <a:ext cx="457200" cy="457200"/>
          </a:xfrm>
          <a:prstGeom prst="ellipse">
            <a:avLst/>
          </a:prstGeom>
          <a:solidFill>
            <a:srgbClr val="1C7293"/>
          </a:solidFill>
          <a:ln/>
        </p:spPr>
      </p:sp>
      <p:pic>
        <p:nvPicPr>
          <p:cNvPr id="24" name="Image 4" descr="icons/magic.png"/>
          <p:cNvPicPr>
            <a:picLocks noChangeAspect="1"/>
          </p:cNvPicPr>
          <p:nvPr/>
        </p:nvPicPr>
        <p:blipFill>
          <a:blip r:embed="rId7"/>
          <a:stretch>
            <a:fillRect/>
          </a:stretch>
        </p:blipFill>
        <p:spPr>
          <a:xfrm>
            <a:off x="6579108" y="4553712"/>
            <a:ext cx="274320" cy="274320"/>
          </a:xfrm>
          <a:prstGeom prst="rect">
            <a:avLst/>
          </a:prstGeom>
        </p:spPr>
      </p:pic>
      <p:sp>
        <p:nvSpPr>
          <p:cNvPr id="25" name="Text 18"/>
          <p:cNvSpPr txBox="1"/>
          <p:nvPr/>
        </p:nvSpPr>
        <p:spPr>
          <a:xfrm>
            <a:off x="7100316" y="4425696"/>
            <a:ext cx="4265676"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GenAI creates, not just analyses</a:t>
            </a:r>
            <a:endParaRPr lang="en-US" sz="1450" dirty="0"/>
          </a:p>
        </p:txBody>
      </p:sp>
      <p:sp>
        <p:nvSpPr>
          <p:cNvPr id="26" name="Text 19"/>
          <p:cNvSpPr txBox="1"/>
          <p:nvPr/>
        </p:nvSpPr>
        <p:spPr>
          <a:xfrm>
            <a:off x="6487668" y="5029200"/>
            <a:ext cx="4896612" cy="960120"/>
          </a:xfrm>
          <a:prstGeom prst="rect">
            <a:avLst/>
          </a:prstGeom>
          <a:noFill/>
          <a:ln/>
        </p:spPr>
        <p:txBody>
          <a:bodyPr wrap="square" lIns="0" tIns="0" rIns="0" bIns="0"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It produces new text, images, audio and code from a prompt.</a:t>
            </a:r>
            <a:endParaRPr lang="en-US" sz="1150" dirty="0"/>
          </a:p>
        </p:txBody>
      </p:sp>
      <p:sp>
        <p:nvSpPr>
          <p:cNvPr id="27" name="Text 20"/>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9FD6E8"/>
                </a:solidFill>
                <a:latin typeface="Calibri" pitchFamily="34" charset="0"/>
                <a:ea typeface="Calibri" pitchFamily="34" charset="-122"/>
                <a:cs typeface="Calibri" pitchFamily="34" charset="-120"/>
              </a:rPr>
              <a:t>AI Fundamentals</a:t>
            </a:r>
            <a:endParaRPr lang="en-US" sz="950" dirty="0"/>
          </a:p>
        </p:txBody>
      </p:sp>
      <p:sp>
        <p:nvSpPr>
          <p:cNvPr id="28" name="Text 21"/>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9FD6E8"/>
                </a:solidFill>
                <a:latin typeface="Calibri" pitchFamily="34" charset="0"/>
                <a:ea typeface="Calibri" pitchFamily="34" charset="-122"/>
                <a:cs typeface="Calibri" pitchFamily="34" charset="-120"/>
              </a:rPr>
              <a:t>15</a:t>
            </a:r>
            <a:endParaRPr lang="en-US" sz="95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828800" y="-2011680"/>
            <a:ext cx="5486400" cy="5486400"/>
          </a:xfrm>
          <a:prstGeom prst="ellipse">
            <a:avLst/>
          </a:prstGeom>
          <a:solidFill>
            <a:srgbClr val="233A63"/>
          </a:solidFill>
          <a:ln/>
        </p:spPr>
      </p:sp>
      <p:sp>
        <p:nvSpPr>
          <p:cNvPr id="3" name="Shape 1"/>
          <p:cNvSpPr/>
          <p:nvPr/>
        </p:nvSpPr>
        <p:spPr>
          <a:xfrm>
            <a:off x="9875520" y="4206240"/>
            <a:ext cx="5029200" cy="5029200"/>
          </a:xfrm>
          <a:prstGeom prst="ellipse">
            <a:avLst/>
          </a:prstGeom>
          <a:solidFill>
            <a:srgbClr val="121C33"/>
          </a:solidFill>
          <a:ln/>
        </p:spPr>
      </p:sp>
      <p:sp>
        <p:nvSpPr>
          <p:cNvPr id="4" name="Text 2"/>
          <p:cNvSpPr txBox="1"/>
          <p:nvPr/>
        </p:nvSpPr>
        <p:spPr>
          <a:xfrm>
            <a:off x="822960" y="2286000"/>
            <a:ext cx="3657600" cy="457200"/>
          </a:xfrm>
          <a:prstGeom prst="rect">
            <a:avLst/>
          </a:prstGeom>
          <a:noFill/>
          <a:ln/>
        </p:spPr>
        <p:txBody>
          <a:bodyPr wrap="square" lIns="0" tIns="0" rIns="0" bIns="0" rtlCol="0" anchor="ctr"/>
          <a:lstStyle/>
          <a:p>
            <a:pPr marL="0" indent="0">
              <a:buNone/>
            </a:pPr>
            <a:r>
              <a:rPr lang="en-US" sz="1600" b="1" kern="0" spc="200" dirty="0">
                <a:solidFill>
                  <a:srgbClr val="1C7293"/>
                </a:solidFill>
                <a:latin typeface="Calibri" pitchFamily="34" charset="0"/>
                <a:ea typeface="Calibri" pitchFamily="34" charset="-122"/>
                <a:cs typeface="Calibri" pitchFamily="34" charset="-120"/>
              </a:rPr>
              <a:t>PART 2</a:t>
            </a:r>
            <a:endParaRPr lang="en-US" sz="1600" dirty="0"/>
          </a:p>
        </p:txBody>
      </p:sp>
      <p:sp>
        <p:nvSpPr>
          <p:cNvPr id="5" name="Shape 3"/>
          <p:cNvSpPr/>
          <p:nvPr/>
        </p:nvSpPr>
        <p:spPr>
          <a:xfrm>
            <a:off x="868680" y="2788920"/>
            <a:ext cx="1280160" cy="0"/>
          </a:xfrm>
          <a:prstGeom prst="line">
            <a:avLst/>
          </a:prstGeom>
          <a:noFill/>
          <a:ln w="31750">
            <a:solidFill>
              <a:srgbClr val="1C7293"/>
            </a:solidFill>
            <a:prstDash val="solid"/>
          </a:ln>
        </p:spPr>
      </p:sp>
      <p:sp>
        <p:nvSpPr>
          <p:cNvPr id="6" name="Text 4"/>
          <p:cNvSpPr txBox="1"/>
          <p:nvPr/>
        </p:nvSpPr>
        <p:spPr>
          <a:xfrm>
            <a:off x="822960" y="2880360"/>
            <a:ext cx="9601200" cy="365760"/>
          </a:xfrm>
          <a:prstGeom prst="rect">
            <a:avLst/>
          </a:prstGeom>
          <a:noFill/>
          <a:ln/>
        </p:spPr>
        <p:txBody>
          <a:bodyPr wrap="square" lIns="0" tIns="0" rIns="0" bIns="0" rtlCol="0" anchor="ctr"/>
          <a:lstStyle/>
          <a:p>
            <a:pPr marL="0" indent="0">
              <a:buNone/>
            </a:pPr>
            <a:r>
              <a:rPr lang="en-US" sz="1300" b="1" kern="0" spc="180" dirty="0">
                <a:solidFill>
                  <a:srgbClr val="9FD6E8"/>
                </a:solidFill>
                <a:latin typeface="Calibri" pitchFamily="34" charset="0"/>
                <a:ea typeface="Calibri" pitchFamily="34" charset="-122"/>
                <a:cs typeface="Calibri" pitchFamily="34" charset="-120"/>
              </a:rPr>
              <a:t>AI TOOL LANDSCAPE</a:t>
            </a:r>
            <a:endParaRPr lang="en-US" sz="1300" dirty="0"/>
          </a:p>
        </p:txBody>
      </p:sp>
      <p:sp>
        <p:nvSpPr>
          <p:cNvPr id="7" name="Text 5"/>
          <p:cNvSpPr txBox="1"/>
          <p:nvPr/>
        </p:nvSpPr>
        <p:spPr>
          <a:xfrm>
            <a:off x="777240" y="3246120"/>
            <a:ext cx="9692640" cy="1463040"/>
          </a:xfrm>
          <a:prstGeom prst="rect">
            <a:avLst/>
          </a:prstGeom>
          <a:noFill/>
          <a:ln/>
        </p:spPr>
        <p:txBody>
          <a:bodyPr wrap="square" lIns="0" tIns="0" rIns="0" bIns="0" rtlCol="0" anchor="ctr"/>
          <a:lstStyle/>
          <a:p>
            <a:pPr marL="0" indent="0">
              <a:lnSpc>
                <a:spcPct val="105000"/>
              </a:lnSpc>
              <a:buNone/>
            </a:pPr>
            <a:r>
              <a:rPr lang="en-US" sz="3800" b="1" dirty="0">
                <a:solidFill>
                  <a:srgbClr val="FFFFFF"/>
                </a:solidFill>
                <a:latin typeface="Cambria" pitchFamily="34" charset="0"/>
                <a:ea typeface="Cambria" pitchFamily="34" charset="-122"/>
                <a:cs typeface="Cambria" pitchFamily="34" charset="-120"/>
              </a:rPr>
              <a:t>Core Categories</a:t>
            </a:r>
            <a:endParaRPr lang="en-US" sz="3800" dirty="0"/>
          </a:p>
          <a:p>
            <a:pPr marL="0" indent="0">
              <a:lnSpc>
                <a:spcPct val="105000"/>
              </a:lnSpc>
              <a:buNone/>
            </a:pPr>
            <a:r>
              <a:rPr lang="en-US" sz="3800" b="1" dirty="0">
                <a:solidFill>
                  <a:srgbClr val="FFFFFF"/>
                </a:solidFill>
                <a:latin typeface="Cambria" pitchFamily="34" charset="0"/>
                <a:ea typeface="Cambria" pitchFamily="34" charset="-122"/>
                <a:cs typeface="Cambria" pitchFamily="34" charset="-120"/>
              </a:rPr>
              <a:t>of AI Tools</a:t>
            </a:r>
            <a:endParaRPr lang="en-US" sz="3800" dirty="0"/>
          </a:p>
        </p:txBody>
      </p:sp>
      <p:sp>
        <p:nvSpPr>
          <p:cNvPr id="8" name="Text 6"/>
          <p:cNvSpPr txBox="1"/>
          <p:nvPr/>
        </p:nvSpPr>
        <p:spPr>
          <a:xfrm>
            <a:off x="822960" y="4709160"/>
            <a:ext cx="8686800" cy="731520"/>
          </a:xfrm>
          <a:prstGeom prst="rect">
            <a:avLst/>
          </a:prstGeom>
          <a:noFill/>
          <a:ln/>
        </p:spPr>
        <p:txBody>
          <a:bodyPr wrap="square" lIns="0" tIns="0" rIns="0" bIns="0" rtlCol="0" anchor="ctr"/>
          <a:lstStyle/>
          <a:p>
            <a:pPr marL="0" indent="0">
              <a:lnSpc>
                <a:spcPct val="125000"/>
              </a:lnSpc>
              <a:buNone/>
            </a:pPr>
            <a:r>
              <a:rPr lang="en-US" sz="1500" i="1" dirty="0">
                <a:solidFill>
                  <a:srgbClr val="C9D6E3"/>
                </a:solidFill>
                <a:latin typeface="Calibri" pitchFamily="34" charset="0"/>
                <a:ea typeface="Calibri" pitchFamily="34" charset="-122"/>
                <a:cs typeface="Calibri" pitchFamily="34" charset="-120"/>
              </a:rPr>
              <a:t>Five families of tools every academic should know — with the leading names, and honest pros &amp; cons of each.</a:t>
            </a:r>
            <a:endParaRPr lang="en-US" sz="1500" dirty="0"/>
          </a:p>
        </p:txBody>
      </p:sp>
      <p:sp>
        <p:nvSpPr>
          <p:cNvPr id="9" name="Shape 7"/>
          <p:cNvSpPr/>
          <p:nvPr/>
        </p:nvSpPr>
        <p:spPr>
          <a:xfrm>
            <a:off x="10195560" y="685800"/>
            <a:ext cx="1143000" cy="1143000"/>
          </a:xfrm>
          <a:prstGeom prst="ellipse">
            <a:avLst/>
          </a:prstGeom>
          <a:solidFill>
            <a:srgbClr val="1C7293"/>
          </a:solidFill>
          <a:ln/>
        </p:spPr>
      </p:sp>
      <p:pic>
        <p:nvPicPr>
          <p:cNvPr id="10" name="Image 0" descr="icons/toolbox.png"/>
          <p:cNvPicPr>
            <a:picLocks noChangeAspect="1"/>
          </p:cNvPicPr>
          <p:nvPr/>
        </p:nvPicPr>
        <p:blipFill>
          <a:blip r:embed="rId3"/>
          <a:stretch>
            <a:fillRect/>
          </a:stretch>
        </p:blipFill>
        <p:spPr>
          <a:xfrm>
            <a:off x="10492740" y="982980"/>
            <a:ext cx="548640" cy="548640"/>
          </a:xfrm>
          <a:prstGeom prst="rect">
            <a:avLst/>
          </a:prstGeom>
        </p:spPr>
      </p:pic>
      <p:sp>
        <p:nvSpPr>
          <p:cNvPr id="11" name="Text 8"/>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9FD6E8"/>
                </a:solidFill>
                <a:latin typeface="Calibri" pitchFamily="34" charset="0"/>
                <a:ea typeface="Calibri" pitchFamily="34" charset="-122"/>
                <a:cs typeface="Calibri" pitchFamily="34" charset="-120"/>
              </a:rPr>
              <a:t>Part 2 · AI Tool Landscape</a:t>
            </a:r>
            <a:endParaRPr lang="en-US" sz="950" dirty="0"/>
          </a:p>
        </p:txBody>
      </p:sp>
      <p:sp>
        <p:nvSpPr>
          <p:cNvPr id="12" name="Text 9"/>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9FD6E8"/>
                </a:solidFill>
                <a:latin typeface="Calibri" pitchFamily="34" charset="0"/>
                <a:ea typeface="Calibri" pitchFamily="34" charset="-122"/>
                <a:cs typeface="Calibri" pitchFamily="34" charset="-120"/>
              </a:rPr>
              <a:t>16</a:t>
            </a:r>
            <a:endParaRPr lang="en-US" sz="95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2 · AI TOOL LANDSCAPE</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Five Categories You Will Use Most</a:t>
            </a:r>
            <a:endParaRPr lang="en-US" sz="3200" dirty="0"/>
          </a:p>
        </p:txBody>
      </p:sp>
      <p:sp>
        <p:nvSpPr>
          <p:cNvPr id="4" name="Shape 2"/>
          <p:cNvSpPr/>
          <p:nvPr/>
        </p:nvSpPr>
        <p:spPr>
          <a:xfrm>
            <a:off x="548640" y="1920240"/>
            <a:ext cx="3483864"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5" name="Shape 3"/>
          <p:cNvSpPr/>
          <p:nvPr/>
        </p:nvSpPr>
        <p:spPr>
          <a:xfrm>
            <a:off x="841248" y="2212848"/>
            <a:ext cx="658368" cy="658368"/>
          </a:xfrm>
          <a:prstGeom prst="ellipse">
            <a:avLst/>
          </a:prstGeom>
          <a:solidFill>
            <a:srgbClr val="1C7293"/>
          </a:solidFill>
          <a:ln/>
        </p:spPr>
      </p:sp>
      <p:pic>
        <p:nvPicPr>
          <p:cNvPr id="6" name="Image 0" descr="icons/comments.png"/>
          <p:cNvPicPr>
            <a:picLocks noChangeAspect="1"/>
          </p:cNvPicPr>
          <p:nvPr/>
        </p:nvPicPr>
        <p:blipFill>
          <a:blip r:embed="rId3"/>
          <a:stretch>
            <a:fillRect/>
          </a:stretch>
        </p:blipFill>
        <p:spPr>
          <a:xfrm>
            <a:off x="1012424" y="2384024"/>
            <a:ext cx="316017" cy="316017"/>
          </a:xfrm>
          <a:prstGeom prst="rect">
            <a:avLst/>
          </a:prstGeom>
        </p:spPr>
      </p:pic>
      <p:sp>
        <p:nvSpPr>
          <p:cNvPr id="7" name="Text 4"/>
          <p:cNvSpPr txBox="1"/>
          <p:nvPr/>
        </p:nvSpPr>
        <p:spPr>
          <a:xfrm>
            <a:off x="1645920" y="2231136"/>
            <a:ext cx="2112264"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Conversational / Text</a:t>
            </a:r>
            <a:endParaRPr lang="en-US" sz="1650" dirty="0"/>
          </a:p>
        </p:txBody>
      </p:sp>
      <p:sp>
        <p:nvSpPr>
          <p:cNvPr id="8" name="Text 5"/>
          <p:cNvSpPr txBox="1"/>
          <p:nvPr/>
        </p:nvSpPr>
        <p:spPr>
          <a:xfrm>
            <a:off x="841248" y="2999232"/>
            <a:ext cx="2898648"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Chat → Explain → Draft → Brainstorm</a:t>
            </a:r>
            <a:endParaRPr lang="en-US" sz="1200" dirty="0"/>
          </a:p>
        </p:txBody>
      </p:sp>
      <p:sp>
        <p:nvSpPr>
          <p:cNvPr id="9" name="Shape 6"/>
          <p:cNvSpPr/>
          <p:nvPr/>
        </p:nvSpPr>
        <p:spPr>
          <a:xfrm>
            <a:off x="4352544" y="1920240"/>
            <a:ext cx="3483864"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Shape 7"/>
          <p:cNvSpPr/>
          <p:nvPr/>
        </p:nvSpPr>
        <p:spPr>
          <a:xfrm>
            <a:off x="4645152" y="2212848"/>
            <a:ext cx="658368" cy="658368"/>
          </a:xfrm>
          <a:prstGeom prst="ellipse">
            <a:avLst/>
          </a:prstGeom>
          <a:solidFill>
            <a:srgbClr val="1C7293"/>
          </a:solidFill>
          <a:ln/>
        </p:spPr>
      </p:sp>
      <p:pic>
        <p:nvPicPr>
          <p:cNvPr id="11" name="Image 1" descr="icons/code.png"/>
          <p:cNvPicPr>
            <a:picLocks noChangeAspect="1"/>
          </p:cNvPicPr>
          <p:nvPr/>
        </p:nvPicPr>
        <p:blipFill>
          <a:blip r:embed="rId4"/>
          <a:stretch>
            <a:fillRect/>
          </a:stretch>
        </p:blipFill>
        <p:spPr>
          <a:xfrm>
            <a:off x="4816328" y="2384024"/>
            <a:ext cx="316017" cy="316017"/>
          </a:xfrm>
          <a:prstGeom prst="rect">
            <a:avLst/>
          </a:prstGeom>
        </p:spPr>
      </p:pic>
      <p:sp>
        <p:nvSpPr>
          <p:cNvPr id="12" name="Text 8"/>
          <p:cNvSpPr txBox="1"/>
          <p:nvPr/>
        </p:nvSpPr>
        <p:spPr>
          <a:xfrm>
            <a:off x="5449824" y="2231136"/>
            <a:ext cx="2112264"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Code Assistants</a:t>
            </a:r>
            <a:endParaRPr lang="en-US" sz="1650" dirty="0"/>
          </a:p>
        </p:txBody>
      </p:sp>
      <p:sp>
        <p:nvSpPr>
          <p:cNvPr id="13" name="Text 9"/>
          <p:cNvSpPr txBox="1"/>
          <p:nvPr/>
        </p:nvSpPr>
        <p:spPr>
          <a:xfrm>
            <a:off x="4645152" y="2999232"/>
            <a:ext cx="2898648"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Write → Debug → Explain → Refactor</a:t>
            </a:r>
            <a:endParaRPr lang="en-US" sz="1200" dirty="0"/>
          </a:p>
        </p:txBody>
      </p:sp>
      <p:sp>
        <p:nvSpPr>
          <p:cNvPr id="14" name="Shape 10"/>
          <p:cNvSpPr/>
          <p:nvPr/>
        </p:nvSpPr>
        <p:spPr>
          <a:xfrm>
            <a:off x="8156448" y="1920240"/>
            <a:ext cx="3483864"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5" name="Shape 11"/>
          <p:cNvSpPr/>
          <p:nvPr/>
        </p:nvSpPr>
        <p:spPr>
          <a:xfrm>
            <a:off x="8449056" y="2212848"/>
            <a:ext cx="658368" cy="658368"/>
          </a:xfrm>
          <a:prstGeom prst="ellipse">
            <a:avLst/>
          </a:prstGeom>
          <a:solidFill>
            <a:srgbClr val="1C7293"/>
          </a:solidFill>
          <a:ln/>
        </p:spPr>
      </p:sp>
      <p:pic>
        <p:nvPicPr>
          <p:cNvPr id="16" name="Image 2" descr="icons/chartbar.png"/>
          <p:cNvPicPr>
            <a:picLocks noChangeAspect="1"/>
          </p:cNvPicPr>
          <p:nvPr/>
        </p:nvPicPr>
        <p:blipFill>
          <a:blip r:embed="rId5"/>
          <a:stretch>
            <a:fillRect/>
          </a:stretch>
        </p:blipFill>
        <p:spPr>
          <a:xfrm>
            <a:off x="8620232" y="2384024"/>
            <a:ext cx="316017" cy="316017"/>
          </a:xfrm>
          <a:prstGeom prst="rect">
            <a:avLst/>
          </a:prstGeom>
        </p:spPr>
      </p:pic>
      <p:sp>
        <p:nvSpPr>
          <p:cNvPr id="17" name="Text 12"/>
          <p:cNvSpPr txBox="1"/>
          <p:nvPr/>
        </p:nvSpPr>
        <p:spPr>
          <a:xfrm>
            <a:off x="9253728" y="2231136"/>
            <a:ext cx="2112264"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Data-Analysis Tools</a:t>
            </a:r>
            <a:endParaRPr lang="en-US" sz="1650" dirty="0"/>
          </a:p>
        </p:txBody>
      </p:sp>
      <p:sp>
        <p:nvSpPr>
          <p:cNvPr id="18" name="Text 13"/>
          <p:cNvSpPr txBox="1"/>
          <p:nvPr/>
        </p:nvSpPr>
        <p:spPr>
          <a:xfrm>
            <a:off x="8449056" y="2999232"/>
            <a:ext cx="2898648"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Upload → Clean → Analyse → Visualise</a:t>
            </a:r>
            <a:endParaRPr lang="en-US" sz="1200" dirty="0"/>
          </a:p>
        </p:txBody>
      </p:sp>
      <p:sp>
        <p:nvSpPr>
          <p:cNvPr id="19" name="Shape 14"/>
          <p:cNvSpPr/>
          <p:nvPr/>
        </p:nvSpPr>
        <p:spPr>
          <a:xfrm>
            <a:off x="2450592" y="4389120"/>
            <a:ext cx="3483864"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20" name="Shape 15"/>
          <p:cNvSpPr/>
          <p:nvPr/>
        </p:nvSpPr>
        <p:spPr>
          <a:xfrm>
            <a:off x="2743200" y="4681728"/>
            <a:ext cx="658368" cy="658368"/>
          </a:xfrm>
          <a:prstGeom prst="ellipse">
            <a:avLst/>
          </a:prstGeom>
          <a:solidFill>
            <a:srgbClr val="1C7293"/>
          </a:solidFill>
          <a:ln/>
        </p:spPr>
      </p:sp>
      <p:pic>
        <p:nvPicPr>
          <p:cNvPr id="21" name="Image 3" descr="icons/image.png"/>
          <p:cNvPicPr>
            <a:picLocks noChangeAspect="1"/>
          </p:cNvPicPr>
          <p:nvPr/>
        </p:nvPicPr>
        <p:blipFill>
          <a:blip r:embed="rId6"/>
          <a:stretch>
            <a:fillRect/>
          </a:stretch>
        </p:blipFill>
        <p:spPr>
          <a:xfrm>
            <a:off x="2914376" y="4852904"/>
            <a:ext cx="316017" cy="316017"/>
          </a:xfrm>
          <a:prstGeom prst="rect">
            <a:avLst/>
          </a:prstGeom>
        </p:spPr>
      </p:pic>
      <p:sp>
        <p:nvSpPr>
          <p:cNvPr id="22" name="Text 16"/>
          <p:cNvSpPr txBox="1"/>
          <p:nvPr/>
        </p:nvSpPr>
        <p:spPr>
          <a:xfrm>
            <a:off x="3547872" y="4700016"/>
            <a:ext cx="2112264"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Image-Generation Tools</a:t>
            </a:r>
            <a:endParaRPr lang="en-US" sz="1650" dirty="0"/>
          </a:p>
        </p:txBody>
      </p:sp>
      <p:sp>
        <p:nvSpPr>
          <p:cNvPr id="23" name="Text 17"/>
          <p:cNvSpPr txBox="1"/>
          <p:nvPr/>
        </p:nvSpPr>
        <p:spPr>
          <a:xfrm>
            <a:off x="2743200" y="5468112"/>
            <a:ext cx="2898648"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Prompt → Generate → Refine → Export</a:t>
            </a:r>
            <a:endParaRPr lang="en-US" sz="1200" dirty="0"/>
          </a:p>
        </p:txBody>
      </p:sp>
      <p:sp>
        <p:nvSpPr>
          <p:cNvPr id="24" name="Shape 18"/>
          <p:cNvSpPr/>
          <p:nvPr/>
        </p:nvSpPr>
        <p:spPr>
          <a:xfrm>
            <a:off x="6254496" y="4389120"/>
            <a:ext cx="3483864"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25" name="Shape 19"/>
          <p:cNvSpPr/>
          <p:nvPr/>
        </p:nvSpPr>
        <p:spPr>
          <a:xfrm>
            <a:off x="6547104" y="4681728"/>
            <a:ext cx="658368" cy="658368"/>
          </a:xfrm>
          <a:prstGeom prst="ellipse">
            <a:avLst/>
          </a:prstGeom>
          <a:solidFill>
            <a:srgbClr val="1C7293"/>
          </a:solidFill>
          <a:ln/>
        </p:spPr>
      </p:sp>
      <p:pic>
        <p:nvPicPr>
          <p:cNvPr id="26" name="Image 4" descr="icons/pen.png"/>
          <p:cNvPicPr>
            <a:picLocks noChangeAspect="1"/>
          </p:cNvPicPr>
          <p:nvPr/>
        </p:nvPicPr>
        <p:blipFill>
          <a:blip r:embed="rId7"/>
          <a:stretch>
            <a:fillRect/>
          </a:stretch>
        </p:blipFill>
        <p:spPr>
          <a:xfrm>
            <a:off x="6718280" y="4852904"/>
            <a:ext cx="316017" cy="316017"/>
          </a:xfrm>
          <a:prstGeom prst="rect">
            <a:avLst/>
          </a:prstGeom>
        </p:spPr>
      </p:pic>
      <p:sp>
        <p:nvSpPr>
          <p:cNvPr id="27" name="Text 20"/>
          <p:cNvSpPr txBox="1"/>
          <p:nvPr/>
        </p:nvSpPr>
        <p:spPr>
          <a:xfrm>
            <a:off x="7351776" y="4700016"/>
            <a:ext cx="2112264"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Writing / Productivity</a:t>
            </a:r>
            <a:endParaRPr lang="en-US" sz="1650" dirty="0"/>
          </a:p>
        </p:txBody>
      </p:sp>
      <p:sp>
        <p:nvSpPr>
          <p:cNvPr id="28" name="Text 21"/>
          <p:cNvSpPr txBox="1"/>
          <p:nvPr/>
        </p:nvSpPr>
        <p:spPr>
          <a:xfrm>
            <a:off x="6547104" y="5468112"/>
            <a:ext cx="2898648"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Draft → Edit → Format → Send</a:t>
            </a:r>
            <a:endParaRPr lang="en-US" sz="1200" dirty="0"/>
          </a:p>
        </p:txBody>
      </p:sp>
      <p:sp>
        <p:nvSpPr>
          <p:cNvPr id="29" name="Text 22"/>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Part 2 · AI Tool Landscape</a:t>
            </a:r>
            <a:endParaRPr lang="en-US" sz="950" dirty="0"/>
          </a:p>
        </p:txBody>
      </p:sp>
      <p:sp>
        <p:nvSpPr>
          <p:cNvPr id="30" name="Text 23"/>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17</a:t>
            </a:r>
            <a:endParaRPr lang="en-US" sz="95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2 · AI TOOL LANDSCAPE</a:t>
            </a:r>
            <a:endParaRPr lang="en-US" sz="1250" dirty="0"/>
          </a:p>
        </p:txBody>
      </p:sp>
      <p:sp>
        <p:nvSpPr>
          <p:cNvPr id="3" name="Text 1"/>
          <p:cNvSpPr txBox="1"/>
          <p:nvPr/>
        </p:nvSpPr>
        <p:spPr>
          <a:xfrm>
            <a:off x="548640" y="1371600"/>
            <a:ext cx="5486400" cy="274320"/>
          </a:xfrm>
          <a:prstGeom prst="rect">
            <a:avLst/>
          </a:prstGeom>
          <a:noFill/>
          <a:ln/>
        </p:spPr>
        <p:txBody>
          <a:bodyPr wrap="square" lIns="0" tIns="0" rIns="0" bIns="0" rtlCol="0" anchor="ctr"/>
          <a:lstStyle/>
          <a:p>
            <a:pPr marL="0" indent="0">
              <a:buNone/>
            </a:pPr>
            <a:r>
              <a:rPr lang="en-US" sz="1050" b="1" kern="0" spc="120" dirty="0">
                <a:solidFill>
                  <a:srgbClr val="8A94A0"/>
                </a:solidFill>
                <a:latin typeface="Calibri" pitchFamily="34" charset="0"/>
                <a:ea typeface="Calibri" pitchFamily="34" charset="-122"/>
                <a:cs typeface="Calibri" pitchFamily="34" charset="-120"/>
              </a:rPr>
              <a:t>CATEGORY 1 OF 5</a:t>
            </a:r>
            <a:endParaRPr lang="en-US" sz="1050" dirty="0"/>
          </a:p>
        </p:txBody>
      </p:sp>
      <p:sp>
        <p:nvSpPr>
          <p:cNvPr id="4" name="Text 2"/>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Conversational / Text AI Tools</a:t>
            </a:r>
            <a:endParaRPr lang="en-US" sz="3200" dirty="0"/>
          </a:p>
        </p:txBody>
      </p:sp>
      <p:sp>
        <p:nvSpPr>
          <p:cNvPr id="5" name="Shape 3"/>
          <p:cNvSpPr/>
          <p:nvPr/>
        </p:nvSpPr>
        <p:spPr>
          <a:xfrm>
            <a:off x="9646920" y="777240"/>
            <a:ext cx="1737360" cy="1737360"/>
          </a:xfrm>
          <a:prstGeom prst="ellipse">
            <a:avLst/>
          </a:prstGeom>
          <a:solidFill>
            <a:srgbClr val="1C7293"/>
          </a:solidFill>
          <a:ln/>
        </p:spPr>
      </p:sp>
      <p:pic>
        <p:nvPicPr>
          <p:cNvPr id="6" name="Image 0" descr="icons/comments.png"/>
          <p:cNvPicPr>
            <a:picLocks noChangeAspect="1"/>
          </p:cNvPicPr>
          <p:nvPr/>
        </p:nvPicPr>
        <p:blipFill>
          <a:blip r:embed="rId3"/>
          <a:stretch>
            <a:fillRect/>
          </a:stretch>
        </p:blipFill>
        <p:spPr>
          <a:xfrm>
            <a:off x="10098634" y="1228954"/>
            <a:ext cx="833933" cy="833933"/>
          </a:xfrm>
          <a:prstGeom prst="rect">
            <a:avLst/>
          </a:prstGeom>
        </p:spPr>
      </p:pic>
      <p:sp>
        <p:nvSpPr>
          <p:cNvPr id="7" name="Shape 4"/>
          <p:cNvSpPr/>
          <p:nvPr/>
        </p:nvSpPr>
        <p:spPr>
          <a:xfrm>
            <a:off x="548640" y="2057400"/>
            <a:ext cx="10195560" cy="1051560"/>
          </a:xfrm>
          <a:prstGeom prst="roundRect">
            <a:avLst>
              <a:gd name="adj" fmla="val 7826"/>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8" name="Text 5"/>
          <p:cNvSpPr txBox="1"/>
          <p:nvPr/>
        </p:nvSpPr>
        <p:spPr>
          <a:xfrm>
            <a:off x="868680" y="2057400"/>
            <a:ext cx="9601200" cy="1051560"/>
          </a:xfrm>
          <a:prstGeom prst="rect">
            <a:avLst/>
          </a:prstGeom>
          <a:noFill/>
          <a:ln/>
        </p:spPr>
        <p:txBody>
          <a:bodyPr wrap="square" lIns="0" tIns="0" rIns="0" bIns="0" rtlCol="0" anchor="ctr"/>
          <a:lstStyle/>
          <a:p>
            <a:pPr marL="0" indent="0">
              <a:buNone/>
            </a:pPr>
            <a:r>
              <a:rPr lang="en-US" sz="1700" b="1" dirty="0">
                <a:solidFill>
                  <a:srgbClr val="1C7293"/>
                </a:solidFill>
                <a:latin typeface="Calibri" pitchFamily="34" charset="0"/>
                <a:ea typeface="Calibri" pitchFamily="34" charset="-122"/>
                <a:cs typeface="Calibri" pitchFamily="34" charset="-120"/>
              </a:rPr>
              <a:t>Ask a Question  →  Get an Explanation  →  Refine with Follow-ups  →  Final Answer</a:t>
            </a:r>
            <a:endParaRPr lang="en-US" sz="1700" dirty="0"/>
          </a:p>
        </p:txBody>
      </p:sp>
      <p:sp>
        <p:nvSpPr>
          <p:cNvPr id="9" name="Shape 6"/>
          <p:cNvSpPr/>
          <p:nvPr/>
        </p:nvSpPr>
        <p:spPr>
          <a:xfrm>
            <a:off x="548640" y="3337560"/>
            <a:ext cx="5074920" cy="2788920"/>
          </a:xfrm>
          <a:prstGeom prst="roundRect">
            <a:avLst>
              <a:gd name="adj" fmla="val 2951"/>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Text 7"/>
          <p:cNvSpPr txBox="1"/>
          <p:nvPr/>
        </p:nvSpPr>
        <p:spPr>
          <a:xfrm>
            <a:off x="841248" y="3547872"/>
            <a:ext cx="45720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WHAT IT DOES</a:t>
            </a:r>
            <a:endParaRPr lang="en-US" sz="1050" dirty="0"/>
          </a:p>
        </p:txBody>
      </p:sp>
      <p:sp>
        <p:nvSpPr>
          <p:cNvPr id="11" name="Text 8"/>
          <p:cNvSpPr txBox="1"/>
          <p:nvPr/>
        </p:nvSpPr>
        <p:spPr>
          <a:xfrm>
            <a:off x="841248" y="3877056"/>
            <a:ext cx="4526280" cy="2103120"/>
          </a:xfrm>
          <a:prstGeom prst="rect">
            <a:avLst/>
          </a:prstGeom>
          <a:noFill/>
          <a:ln/>
        </p:spPr>
        <p:txBody>
          <a:bodyPr wrap="square" lIns="0" tIns="0" rIns="0" bIns="0" rtlCol="0" anchor="t"/>
          <a:lstStyle/>
          <a:p>
            <a:pPr marL="0" indent="0">
              <a:lnSpc>
                <a:spcPct val="122000"/>
              </a:lnSpc>
              <a:buNone/>
            </a:pPr>
            <a:r>
              <a:rPr lang="en-US" sz="1300" dirty="0">
                <a:solidFill>
                  <a:srgbClr val="55606C"/>
                </a:solidFill>
                <a:latin typeface="Calibri" pitchFamily="34" charset="0"/>
                <a:ea typeface="Calibri" pitchFamily="34" charset="-122"/>
                <a:cs typeface="Calibri" pitchFamily="34" charset="-120"/>
              </a:rPr>
              <a:t>General-purpose chat assistants that hold a natural conversation, answer questions, explain concepts, and draft text on almost any academic topic.</a:t>
            </a:r>
            <a:endParaRPr lang="en-US" sz="1300" dirty="0"/>
          </a:p>
        </p:txBody>
      </p:sp>
      <p:sp>
        <p:nvSpPr>
          <p:cNvPr id="12" name="Shape 9"/>
          <p:cNvSpPr/>
          <p:nvPr/>
        </p:nvSpPr>
        <p:spPr>
          <a:xfrm>
            <a:off x="5852160" y="3337560"/>
            <a:ext cx="4892040" cy="2788920"/>
          </a:xfrm>
          <a:prstGeom prst="roundRect">
            <a:avLst>
              <a:gd name="adj" fmla="val 2951"/>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3" name="Text 10"/>
          <p:cNvSpPr txBox="1"/>
          <p:nvPr/>
        </p:nvSpPr>
        <p:spPr>
          <a:xfrm>
            <a:off x="6126480" y="3547872"/>
            <a:ext cx="438912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COMMON USES FOR FACULTY</a:t>
            </a:r>
            <a:endParaRPr lang="en-US" sz="1050" dirty="0"/>
          </a:p>
        </p:txBody>
      </p:sp>
      <p:sp>
        <p:nvSpPr>
          <p:cNvPr id="14" name="Text 11"/>
          <p:cNvSpPr txBox="1"/>
          <p:nvPr/>
        </p:nvSpPr>
        <p:spPr>
          <a:xfrm>
            <a:off x="6126480" y="3877056"/>
            <a:ext cx="4526280" cy="21031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Explaining a difficult concept in simpler language for students</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Brainstorming lecture examples or discussion questions</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Drafting emails, reports, or committee notes quickly</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Getting a second opinion while writing a literature review</a:t>
            </a:r>
            <a:endParaRPr lang="en-US" sz="1250" dirty="0"/>
          </a:p>
        </p:txBody>
      </p:sp>
      <p:sp>
        <p:nvSpPr>
          <p:cNvPr id="15" name="Text 12"/>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AI Tool Landscape</a:t>
            </a:r>
            <a:endParaRPr lang="en-US" sz="950" dirty="0"/>
          </a:p>
        </p:txBody>
      </p:sp>
      <p:sp>
        <p:nvSpPr>
          <p:cNvPr id="16" name="Text 13"/>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18</a:t>
            </a:r>
            <a:endParaRPr lang="en-US" sz="95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2 · CONVERSATIONAL / TEXT AI</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Leading Tools: ChatGPT &amp; Claude</a:t>
            </a:r>
            <a:endParaRPr lang="en-US" sz="3200" dirty="0"/>
          </a:p>
        </p:txBody>
      </p:sp>
      <p:sp>
        <p:nvSpPr>
          <p:cNvPr id="4" name="Shape 2"/>
          <p:cNvSpPr/>
          <p:nvPr/>
        </p:nvSpPr>
        <p:spPr>
          <a:xfrm>
            <a:off x="548640" y="1965960"/>
            <a:ext cx="5385816" cy="4160520"/>
          </a:xfrm>
          <a:prstGeom prst="roundRect">
            <a:avLst>
              <a:gd name="adj" fmla="val 197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5" name="Shape 3"/>
          <p:cNvSpPr/>
          <p:nvPr/>
        </p:nvSpPr>
        <p:spPr>
          <a:xfrm>
            <a:off x="822960" y="2221992"/>
            <a:ext cx="4837176" cy="566928"/>
          </a:xfrm>
          <a:prstGeom prst="roundRect">
            <a:avLst>
              <a:gd name="adj" fmla="val 9677"/>
            </a:avLst>
          </a:prstGeom>
          <a:solidFill>
            <a:srgbClr val="EFF6F7"/>
          </a:solidFill>
          <a:ln/>
        </p:spPr>
      </p:sp>
      <p:sp>
        <p:nvSpPr>
          <p:cNvPr id="6" name="Text 4"/>
          <p:cNvSpPr txBox="1"/>
          <p:nvPr/>
        </p:nvSpPr>
        <p:spPr>
          <a:xfrm>
            <a:off x="960120" y="2221992"/>
            <a:ext cx="3557016" cy="566928"/>
          </a:xfrm>
          <a:prstGeom prst="rect">
            <a:avLst/>
          </a:prstGeom>
          <a:noFill/>
          <a:ln/>
        </p:spPr>
        <p:txBody>
          <a:bodyPr wrap="square" lIns="0" tIns="0" rIns="0" bIns="0" rtlCol="0" anchor="ctr"/>
          <a:lstStyle/>
          <a:p>
            <a:pPr marL="0" indent="0">
              <a:buNone/>
            </a:pPr>
            <a:r>
              <a:rPr lang="en-US" sz="1700" b="1" dirty="0">
                <a:solidFill>
                  <a:srgbClr val="1B2A4A"/>
                </a:solidFill>
                <a:latin typeface="Cambria" pitchFamily="34" charset="0"/>
                <a:ea typeface="Cambria" pitchFamily="34" charset="-122"/>
                <a:cs typeface="Cambria" pitchFamily="34" charset="-120"/>
              </a:rPr>
              <a:t>ChatGPT (OpenAI)</a:t>
            </a:r>
            <a:endParaRPr lang="en-US" sz="1700" dirty="0"/>
          </a:p>
        </p:txBody>
      </p:sp>
      <p:sp>
        <p:nvSpPr>
          <p:cNvPr id="7" name="Text 5"/>
          <p:cNvSpPr txBox="1"/>
          <p:nvPr/>
        </p:nvSpPr>
        <p:spPr>
          <a:xfrm>
            <a:off x="822960" y="2258568"/>
            <a:ext cx="4837176" cy="502920"/>
          </a:xfrm>
          <a:prstGeom prst="rect">
            <a:avLst/>
          </a:prstGeom>
          <a:noFill/>
          <a:ln/>
        </p:spPr>
        <p:txBody>
          <a:bodyPr wrap="square" lIns="0" tIns="0" rIns="0" bIns="0" rtlCol="0" anchor="ctr"/>
          <a:lstStyle/>
          <a:p>
            <a:pPr marL="0" indent="0" algn="r">
              <a:buNone/>
            </a:pPr>
            <a:r>
              <a:rPr lang="en-US" sz="1000" b="1" dirty="0">
                <a:solidFill>
                  <a:srgbClr val="1C7293"/>
                </a:solidFill>
                <a:latin typeface="Calibri" pitchFamily="34" charset="0"/>
                <a:ea typeface="Calibri" pitchFamily="34" charset="-122"/>
                <a:cs typeface="Calibri" pitchFamily="34" charset="-120"/>
              </a:rPr>
              <a:t>MOST WIDELY USED</a:t>
            </a:r>
            <a:endParaRPr lang="en-US" sz="1000" dirty="0"/>
          </a:p>
        </p:txBody>
      </p:sp>
      <p:sp>
        <p:nvSpPr>
          <p:cNvPr id="8" name="Text 6"/>
          <p:cNvSpPr txBox="1"/>
          <p:nvPr/>
        </p:nvSpPr>
        <p:spPr>
          <a:xfrm>
            <a:off x="822960" y="2953512"/>
            <a:ext cx="2743200" cy="256032"/>
          </a:xfrm>
          <a:prstGeom prst="rect">
            <a:avLst/>
          </a:prstGeom>
          <a:noFill/>
          <a:ln/>
        </p:spPr>
        <p:txBody>
          <a:bodyPr wrap="square" lIns="0" tIns="0" rIns="0" bIns="0" rtlCol="0" anchor="ctr"/>
          <a:lstStyle/>
          <a:p>
            <a:pPr marL="0" indent="0">
              <a:buNone/>
            </a:pPr>
            <a:r>
              <a:rPr lang="en-US" sz="1050" b="1" kern="0" spc="140" dirty="0">
                <a:solidFill>
                  <a:srgbClr val="2E7D32"/>
                </a:solidFill>
                <a:latin typeface="Calibri" pitchFamily="34" charset="0"/>
                <a:ea typeface="Calibri" pitchFamily="34" charset="-122"/>
                <a:cs typeface="Calibri" pitchFamily="34" charset="-120"/>
              </a:rPr>
              <a:t>PROS</a:t>
            </a:r>
            <a:endParaRPr lang="en-US" sz="1050" dirty="0"/>
          </a:p>
        </p:txBody>
      </p:sp>
      <p:sp>
        <p:nvSpPr>
          <p:cNvPr id="9" name="Text 7"/>
          <p:cNvSpPr txBox="1"/>
          <p:nvPr/>
        </p:nvSpPr>
        <p:spPr>
          <a:xfrm>
            <a:off x="822960" y="3246120"/>
            <a:ext cx="4837176" cy="14173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Huge plugin/app ecosystem and browser access</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Strong at general knowledge and quick drafting</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Voice mode and mobile apps are very polished</a:t>
            </a:r>
            <a:endParaRPr lang="en-US" sz="1150" dirty="0"/>
          </a:p>
        </p:txBody>
      </p:sp>
      <p:sp>
        <p:nvSpPr>
          <p:cNvPr id="10" name="Shape 8"/>
          <p:cNvSpPr/>
          <p:nvPr/>
        </p:nvSpPr>
        <p:spPr>
          <a:xfrm>
            <a:off x="822960" y="4690872"/>
            <a:ext cx="4837176" cy="0"/>
          </a:xfrm>
          <a:prstGeom prst="line">
            <a:avLst/>
          </a:prstGeom>
          <a:noFill/>
          <a:ln w="12700">
            <a:solidFill>
              <a:srgbClr val="E2E6EA"/>
            </a:solidFill>
            <a:prstDash val="solid"/>
          </a:ln>
        </p:spPr>
      </p:sp>
      <p:sp>
        <p:nvSpPr>
          <p:cNvPr id="11" name="Text 9"/>
          <p:cNvSpPr txBox="1"/>
          <p:nvPr/>
        </p:nvSpPr>
        <p:spPr>
          <a:xfrm>
            <a:off x="822960" y="4800600"/>
            <a:ext cx="2743200" cy="256032"/>
          </a:xfrm>
          <a:prstGeom prst="rect">
            <a:avLst/>
          </a:prstGeom>
          <a:noFill/>
          <a:ln/>
        </p:spPr>
        <p:txBody>
          <a:bodyPr wrap="square" lIns="0" tIns="0" rIns="0" bIns="0" rtlCol="0" anchor="ctr"/>
          <a:lstStyle/>
          <a:p>
            <a:pPr marL="0" indent="0">
              <a:buNone/>
            </a:pPr>
            <a:r>
              <a:rPr lang="en-US" sz="1050" b="1" kern="0" spc="140" dirty="0">
                <a:solidFill>
                  <a:srgbClr val="B3261E"/>
                </a:solidFill>
                <a:latin typeface="Calibri" pitchFamily="34" charset="0"/>
                <a:ea typeface="Calibri" pitchFamily="34" charset="-122"/>
                <a:cs typeface="Calibri" pitchFamily="34" charset="-120"/>
              </a:rPr>
              <a:t>CONS</a:t>
            </a:r>
            <a:endParaRPr lang="en-US" sz="1050" dirty="0"/>
          </a:p>
        </p:txBody>
      </p:sp>
      <p:sp>
        <p:nvSpPr>
          <p:cNvPr id="12" name="Text 10"/>
          <p:cNvSpPr txBox="1"/>
          <p:nvPr/>
        </p:nvSpPr>
        <p:spPr>
          <a:xfrm>
            <a:off x="822960" y="5093208"/>
            <a:ext cx="4837176" cy="9144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Can produce confident but incorrect facts</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Free tier has usage caps and an older model</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Long documents sometimes lose context mid-chat</a:t>
            </a:r>
            <a:endParaRPr lang="en-US" sz="1150" dirty="0"/>
          </a:p>
        </p:txBody>
      </p:sp>
      <p:sp>
        <p:nvSpPr>
          <p:cNvPr id="13" name="Shape 11"/>
          <p:cNvSpPr/>
          <p:nvPr/>
        </p:nvSpPr>
        <p:spPr>
          <a:xfrm>
            <a:off x="6254496" y="1965960"/>
            <a:ext cx="5385816" cy="4160520"/>
          </a:xfrm>
          <a:prstGeom prst="roundRect">
            <a:avLst>
              <a:gd name="adj" fmla="val 197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4" name="Shape 12"/>
          <p:cNvSpPr/>
          <p:nvPr/>
        </p:nvSpPr>
        <p:spPr>
          <a:xfrm>
            <a:off x="6528816" y="2221992"/>
            <a:ext cx="4837176" cy="566928"/>
          </a:xfrm>
          <a:prstGeom prst="roundRect">
            <a:avLst>
              <a:gd name="adj" fmla="val 9677"/>
            </a:avLst>
          </a:prstGeom>
          <a:solidFill>
            <a:srgbClr val="EFF6F7"/>
          </a:solidFill>
          <a:ln/>
        </p:spPr>
      </p:sp>
      <p:sp>
        <p:nvSpPr>
          <p:cNvPr id="15" name="Text 13"/>
          <p:cNvSpPr txBox="1"/>
          <p:nvPr/>
        </p:nvSpPr>
        <p:spPr>
          <a:xfrm>
            <a:off x="6665976" y="2221992"/>
            <a:ext cx="3557016" cy="566928"/>
          </a:xfrm>
          <a:prstGeom prst="rect">
            <a:avLst/>
          </a:prstGeom>
          <a:noFill/>
          <a:ln/>
        </p:spPr>
        <p:txBody>
          <a:bodyPr wrap="square" lIns="0" tIns="0" rIns="0" bIns="0" rtlCol="0" anchor="ctr"/>
          <a:lstStyle/>
          <a:p>
            <a:pPr marL="0" indent="0">
              <a:buNone/>
            </a:pPr>
            <a:r>
              <a:rPr lang="en-US" sz="1700" b="1" dirty="0">
                <a:solidFill>
                  <a:srgbClr val="1B2A4A"/>
                </a:solidFill>
                <a:latin typeface="Cambria" pitchFamily="34" charset="0"/>
                <a:ea typeface="Cambria" pitchFamily="34" charset="-122"/>
                <a:cs typeface="Cambria" pitchFamily="34" charset="-120"/>
              </a:rPr>
              <a:t>Claude (Anthropic)</a:t>
            </a:r>
            <a:endParaRPr lang="en-US" sz="1700" dirty="0"/>
          </a:p>
        </p:txBody>
      </p:sp>
      <p:sp>
        <p:nvSpPr>
          <p:cNvPr id="16" name="Text 14"/>
          <p:cNvSpPr txBox="1"/>
          <p:nvPr/>
        </p:nvSpPr>
        <p:spPr>
          <a:xfrm>
            <a:off x="6528816" y="2258568"/>
            <a:ext cx="4837176" cy="502920"/>
          </a:xfrm>
          <a:prstGeom prst="rect">
            <a:avLst/>
          </a:prstGeom>
          <a:noFill/>
          <a:ln/>
        </p:spPr>
        <p:txBody>
          <a:bodyPr wrap="square" lIns="0" tIns="0" rIns="0" bIns="0" rtlCol="0" anchor="ctr"/>
          <a:lstStyle/>
          <a:p>
            <a:pPr marL="0" indent="0" algn="r">
              <a:buNone/>
            </a:pPr>
            <a:r>
              <a:rPr lang="en-US" sz="1000" b="1" dirty="0">
                <a:solidFill>
                  <a:srgbClr val="1C7293"/>
                </a:solidFill>
                <a:latin typeface="Calibri" pitchFamily="34" charset="0"/>
                <a:ea typeface="Calibri" pitchFamily="34" charset="-122"/>
                <a:cs typeface="Calibri" pitchFamily="34" charset="-120"/>
              </a:rPr>
              <a:t>STRONG AT LONG DOCUMENTS</a:t>
            </a:r>
            <a:endParaRPr lang="en-US" sz="1000" dirty="0"/>
          </a:p>
        </p:txBody>
      </p:sp>
      <p:sp>
        <p:nvSpPr>
          <p:cNvPr id="17" name="Text 15"/>
          <p:cNvSpPr txBox="1"/>
          <p:nvPr/>
        </p:nvSpPr>
        <p:spPr>
          <a:xfrm>
            <a:off x="6528816" y="2953512"/>
            <a:ext cx="2743200" cy="256032"/>
          </a:xfrm>
          <a:prstGeom prst="rect">
            <a:avLst/>
          </a:prstGeom>
          <a:noFill/>
          <a:ln/>
        </p:spPr>
        <p:txBody>
          <a:bodyPr wrap="square" lIns="0" tIns="0" rIns="0" bIns="0" rtlCol="0" anchor="ctr"/>
          <a:lstStyle/>
          <a:p>
            <a:pPr marL="0" indent="0">
              <a:buNone/>
            </a:pPr>
            <a:r>
              <a:rPr lang="en-US" sz="1050" b="1" kern="0" spc="140" dirty="0">
                <a:solidFill>
                  <a:srgbClr val="2E7D32"/>
                </a:solidFill>
                <a:latin typeface="Calibri" pitchFamily="34" charset="0"/>
                <a:ea typeface="Calibri" pitchFamily="34" charset="-122"/>
                <a:cs typeface="Calibri" pitchFamily="34" charset="-120"/>
              </a:rPr>
              <a:t>PROS</a:t>
            </a:r>
            <a:endParaRPr lang="en-US" sz="1050" dirty="0"/>
          </a:p>
        </p:txBody>
      </p:sp>
      <p:sp>
        <p:nvSpPr>
          <p:cNvPr id="18" name="Text 16"/>
          <p:cNvSpPr txBox="1"/>
          <p:nvPr/>
        </p:nvSpPr>
        <p:spPr>
          <a:xfrm>
            <a:off x="6528816" y="3246120"/>
            <a:ext cx="4837176" cy="14173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Excellent at reading and reasoning over long PDFs</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Careful, well-structured writing style</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Strong safety and instruction-following</a:t>
            </a:r>
            <a:endParaRPr lang="en-US" sz="1150" dirty="0"/>
          </a:p>
        </p:txBody>
      </p:sp>
      <p:sp>
        <p:nvSpPr>
          <p:cNvPr id="19" name="Shape 17"/>
          <p:cNvSpPr/>
          <p:nvPr/>
        </p:nvSpPr>
        <p:spPr>
          <a:xfrm>
            <a:off x="6528816" y="4690872"/>
            <a:ext cx="4837176" cy="0"/>
          </a:xfrm>
          <a:prstGeom prst="line">
            <a:avLst/>
          </a:prstGeom>
          <a:noFill/>
          <a:ln w="12700">
            <a:solidFill>
              <a:srgbClr val="E2E6EA"/>
            </a:solidFill>
            <a:prstDash val="solid"/>
          </a:ln>
        </p:spPr>
      </p:sp>
      <p:sp>
        <p:nvSpPr>
          <p:cNvPr id="20" name="Text 18"/>
          <p:cNvSpPr txBox="1"/>
          <p:nvPr/>
        </p:nvSpPr>
        <p:spPr>
          <a:xfrm>
            <a:off x="6528816" y="4800600"/>
            <a:ext cx="2743200" cy="256032"/>
          </a:xfrm>
          <a:prstGeom prst="rect">
            <a:avLst/>
          </a:prstGeom>
          <a:noFill/>
          <a:ln/>
        </p:spPr>
        <p:txBody>
          <a:bodyPr wrap="square" lIns="0" tIns="0" rIns="0" bIns="0" rtlCol="0" anchor="ctr"/>
          <a:lstStyle/>
          <a:p>
            <a:pPr marL="0" indent="0">
              <a:buNone/>
            </a:pPr>
            <a:r>
              <a:rPr lang="en-US" sz="1050" b="1" kern="0" spc="140" dirty="0">
                <a:solidFill>
                  <a:srgbClr val="B3261E"/>
                </a:solidFill>
                <a:latin typeface="Calibri" pitchFamily="34" charset="0"/>
                <a:ea typeface="Calibri" pitchFamily="34" charset="-122"/>
                <a:cs typeface="Calibri" pitchFamily="34" charset="-120"/>
              </a:rPr>
              <a:t>CONS</a:t>
            </a:r>
            <a:endParaRPr lang="en-US" sz="1050" dirty="0"/>
          </a:p>
        </p:txBody>
      </p:sp>
      <p:sp>
        <p:nvSpPr>
          <p:cNvPr id="21" name="Text 19"/>
          <p:cNvSpPr txBox="1"/>
          <p:nvPr/>
        </p:nvSpPr>
        <p:spPr>
          <a:xfrm>
            <a:off x="6528816" y="5093208"/>
            <a:ext cx="4837176" cy="9144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Smaller third-party plugin ecosystem</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Free tier message limits reset every few hours</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Fewer built-in integrations than some competitors</a:t>
            </a:r>
            <a:endParaRPr lang="en-US" sz="1150" dirty="0"/>
          </a:p>
        </p:txBody>
      </p:sp>
      <p:sp>
        <p:nvSpPr>
          <p:cNvPr id="22" name="Text 20"/>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AI Tool Landscape</a:t>
            </a:r>
            <a:endParaRPr lang="en-US" sz="950" dirty="0"/>
          </a:p>
        </p:txBody>
      </p:sp>
      <p:sp>
        <p:nvSpPr>
          <p:cNvPr id="23" name="Text 21"/>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19</a:t>
            </a:r>
            <a:endParaRPr lang="en-US" sz="95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2 · CONVERSATIONAL / TEXT AI</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Leading Tools: Gemini &amp; Copilot</a:t>
            </a:r>
            <a:endParaRPr lang="en-US" sz="3200" dirty="0"/>
          </a:p>
        </p:txBody>
      </p:sp>
      <p:sp>
        <p:nvSpPr>
          <p:cNvPr id="4" name="Shape 2"/>
          <p:cNvSpPr/>
          <p:nvPr/>
        </p:nvSpPr>
        <p:spPr>
          <a:xfrm>
            <a:off x="548640" y="1965960"/>
            <a:ext cx="5385816" cy="4160520"/>
          </a:xfrm>
          <a:prstGeom prst="roundRect">
            <a:avLst>
              <a:gd name="adj" fmla="val 197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5" name="Shape 3"/>
          <p:cNvSpPr/>
          <p:nvPr/>
        </p:nvSpPr>
        <p:spPr>
          <a:xfrm>
            <a:off x="822960" y="2221992"/>
            <a:ext cx="4837176" cy="566928"/>
          </a:xfrm>
          <a:prstGeom prst="roundRect">
            <a:avLst>
              <a:gd name="adj" fmla="val 9677"/>
            </a:avLst>
          </a:prstGeom>
          <a:solidFill>
            <a:srgbClr val="EFF6F7"/>
          </a:solidFill>
          <a:ln/>
        </p:spPr>
      </p:sp>
      <p:sp>
        <p:nvSpPr>
          <p:cNvPr id="6" name="Text 4"/>
          <p:cNvSpPr txBox="1"/>
          <p:nvPr/>
        </p:nvSpPr>
        <p:spPr>
          <a:xfrm>
            <a:off x="960120" y="2221992"/>
            <a:ext cx="3557016" cy="566928"/>
          </a:xfrm>
          <a:prstGeom prst="rect">
            <a:avLst/>
          </a:prstGeom>
          <a:noFill/>
          <a:ln/>
        </p:spPr>
        <p:txBody>
          <a:bodyPr wrap="square" lIns="0" tIns="0" rIns="0" bIns="0" rtlCol="0" anchor="ctr"/>
          <a:lstStyle/>
          <a:p>
            <a:pPr marL="0" indent="0">
              <a:buNone/>
            </a:pPr>
            <a:r>
              <a:rPr lang="en-US" sz="1700" b="1" dirty="0">
                <a:solidFill>
                  <a:srgbClr val="1B2A4A"/>
                </a:solidFill>
                <a:latin typeface="Cambria" pitchFamily="34" charset="0"/>
                <a:ea typeface="Cambria" pitchFamily="34" charset="-122"/>
                <a:cs typeface="Cambria" pitchFamily="34" charset="-120"/>
              </a:rPr>
              <a:t>Google Gemini</a:t>
            </a:r>
            <a:endParaRPr lang="en-US" sz="1700" dirty="0"/>
          </a:p>
        </p:txBody>
      </p:sp>
      <p:sp>
        <p:nvSpPr>
          <p:cNvPr id="7" name="Text 5"/>
          <p:cNvSpPr txBox="1"/>
          <p:nvPr/>
        </p:nvSpPr>
        <p:spPr>
          <a:xfrm>
            <a:off x="822960" y="2258568"/>
            <a:ext cx="4837176" cy="502920"/>
          </a:xfrm>
          <a:prstGeom prst="rect">
            <a:avLst/>
          </a:prstGeom>
          <a:noFill/>
          <a:ln/>
        </p:spPr>
        <p:txBody>
          <a:bodyPr wrap="square" lIns="0" tIns="0" rIns="0" bIns="0" rtlCol="0" anchor="ctr"/>
          <a:lstStyle/>
          <a:p>
            <a:pPr marL="0" indent="0" algn="r">
              <a:buNone/>
            </a:pPr>
            <a:r>
              <a:rPr lang="en-US" sz="1000" b="1" dirty="0">
                <a:solidFill>
                  <a:srgbClr val="1C7293"/>
                </a:solidFill>
                <a:latin typeface="Calibri" pitchFamily="34" charset="0"/>
                <a:ea typeface="Calibri" pitchFamily="34" charset="-122"/>
                <a:cs typeface="Calibri" pitchFamily="34" charset="-120"/>
              </a:rPr>
              <a:t>DEEPLY GOOGLE-INTEGRATED</a:t>
            </a:r>
            <a:endParaRPr lang="en-US" sz="1000" dirty="0"/>
          </a:p>
        </p:txBody>
      </p:sp>
      <p:sp>
        <p:nvSpPr>
          <p:cNvPr id="8" name="Text 6"/>
          <p:cNvSpPr txBox="1"/>
          <p:nvPr/>
        </p:nvSpPr>
        <p:spPr>
          <a:xfrm>
            <a:off x="822960" y="2953512"/>
            <a:ext cx="2743200" cy="256032"/>
          </a:xfrm>
          <a:prstGeom prst="rect">
            <a:avLst/>
          </a:prstGeom>
          <a:noFill/>
          <a:ln/>
        </p:spPr>
        <p:txBody>
          <a:bodyPr wrap="square" lIns="0" tIns="0" rIns="0" bIns="0" rtlCol="0" anchor="ctr"/>
          <a:lstStyle/>
          <a:p>
            <a:pPr marL="0" indent="0">
              <a:buNone/>
            </a:pPr>
            <a:r>
              <a:rPr lang="en-US" sz="1050" b="1" kern="0" spc="140" dirty="0">
                <a:solidFill>
                  <a:srgbClr val="2E7D32"/>
                </a:solidFill>
                <a:latin typeface="Calibri" pitchFamily="34" charset="0"/>
                <a:ea typeface="Calibri" pitchFamily="34" charset="-122"/>
                <a:cs typeface="Calibri" pitchFamily="34" charset="-120"/>
              </a:rPr>
              <a:t>PROS</a:t>
            </a:r>
            <a:endParaRPr lang="en-US" sz="1050" dirty="0"/>
          </a:p>
        </p:txBody>
      </p:sp>
      <p:sp>
        <p:nvSpPr>
          <p:cNvPr id="9" name="Text 7"/>
          <p:cNvSpPr txBox="1"/>
          <p:nvPr/>
        </p:nvSpPr>
        <p:spPr>
          <a:xfrm>
            <a:off x="822960" y="3246120"/>
            <a:ext cx="4837176" cy="14173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Built into Gmail, Docs and Sheets for Google Workspace users</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Strong at summarising very long inputs</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Free tier is generous for basic use</a:t>
            </a:r>
            <a:endParaRPr lang="en-US" sz="1150" dirty="0"/>
          </a:p>
        </p:txBody>
      </p:sp>
      <p:sp>
        <p:nvSpPr>
          <p:cNvPr id="10" name="Shape 8"/>
          <p:cNvSpPr/>
          <p:nvPr/>
        </p:nvSpPr>
        <p:spPr>
          <a:xfrm>
            <a:off x="822960" y="4690872"/>
            <a:ext cx="4837176" cy="0"/>
          </a:xfrm>
          <a:prstGeom prst="line">
            <a:avLst/>
          </a:prstGeom>
          <a:noFill/>
          <a:ln w="12700">
            <a:solidFill>
              <a:srgbClr val="E2E6EA"/>
            </a:solidFill>
            <a:prstDash val="solid"/>
          </a:ln>
        </p:spPr>
      </p:sp>
      <p:sp>
        <p:nvSpPr>
          <p:cNvPr id="11" name="Text 9"/>
          <p:cNvSpPr txBox="1"/>
          <p:nvPr/>
        </p:nvSpPr>
        <p:spPr>
          <a:xfrm>
            <a:off x="822960" y="4800600"/>
            <a:ext cx="2743200" cy="256032"/>
          </a:xfrm>
          <a:prstGeom prst="rect">
            <a:avLst/>
          </a:prstGeom>
          <a:noFill/>
          <a:ln/>
        </p:spPr>
        <p:txBody>
          <a:bodyPr wrap="square" lIns="0" tIns="0" rIns="0" bIns="0" rtlCol="0" anchor="ctr"/>
          <a:lstStyle/>
          <a:p>
            <a:pPr marL="0" indent="0">
              <a:buNone/>
            </a:pPr>
            <a:r>
              <a:rPr lang="en-US" sz="1050" b="1" kern="0" spc="140" dirty="0">
                <a:solidFill>
                  <a:srgbClr val="B3261E"/>
                </a:solidFill>
                <a:latin typeface="Calibri" pitchFamily="34" charset="0"/>
                <a:ea typeface="Calibri" pitchFamily="34" charset="-122"/>
                <a:cs typeface="Calibri" pitchFamily="34" charset="-120"/>
              </a:rPr>
              <a:t>CONS</a:t>
            </a:r>
            <a:endParaRPr lang="en-US" sz="1050" dirty="0"/>
          </a:p>
        </p:txBody>
      </p:sp>
      <p:sp>
        <p:nvSpPr>
          <p:cNvPr id="12" name="Text 10"/>
          <p:cNvSpPr txBox="1"/>
          <p:nvPr/>
        </p:nvSpPr>
        <p:spPr>
          <a:xfrm>
            <a:off x="822960" y="5093208"/>
            <a:ext cx="4837176" cy="9144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Response quality can vary by task type</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Some advanced features are region-limited</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Occasional inconsistency between app versions</a:t>
            </a:r>
            <a:endParaRPr lang="en-US" sz="1150" dirty="0"/>
          </a:p>
        </p:txBody>
      </p:sp>
      <p:sp>
        <p:nvSpPr>
          <p:cNvPr id="13" name="Shape 11"/>
          <p:cNvSpPr/>
          <p:nvPr/>
        </p:nvSpPr>
        <p:spPr>
          <a:xfrm>
            <a:off x="6254496" y="1965960"/>
            <a:ext cx="5385816" cy="4160520"/>
          </a:xfrm>
          <a:prstGeom prst="roundRect">
            <a:avLst>
              <a:gd name="adj" fmla="val 197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4" name="Shape 12"/>
          <p:cNvSpPr/>
          <p:nvPr/>
        </p:nvSpPr>
        <p:spPr>
          <a:xfrm>
            <a:off x="6528816" y="2221992"/>
            <a:ext cx="4837176" cy="566928"/>
          </a:xfrm>
          <a:prstGeom prst="roundRect">
            <a:avLst>
              <a:gd name="adj" fmla="val 9677"/>
            </a:avLst>
          </a:prstGeom>
          <a:solidFill>
            <a:srgbClr val="EFF6F7"/>
          </a:solidFill>
          <a:ln/>
        </p:spPr>
      </p:sp>
      <p:sp>
        <p:nvSpPr>
          <p:cNvPr id="15" name="Text 13"/>
          <p:cNvSpPr txBox="1"/>
          <p:nvPr/>
        </p:nvSpPr>
        <p:spPr>
          <a:xfrm>
            <a:off x="6665976" y="2221992"/>
            <a:ext cx="3557016" cy="566928"/>
          </a:xfrm>
          <a:prstGeom prst="rect">
            <a:avLst/>
          </a:prstGeom>
          <a:noFill/>
          <a:ln/>
        </p:spPr>
        <p:txBody>
          <a:bodyPr wrap="square" lIns="0" tIns="0" rIns="0" bIns="0" rtlCol="0" anchor="ctr"/>
          <a:lstStyle/>
          <a:p>
            <a:pPr marL="0" indent="0">
              <a:buNone/>
            </a:pPr>
            <a:r>
              <a:rPr lang="en-US" sz="1700" b="1" dirty="0">
                <a:solidFill>
                  <a:srgbClr val="1B2A4A"/>
                </a:solidFill>
                <a:latin typeface="Cambria" pitchFamily="34" charset="0"/>
                <a:ea typeface="Cambria" pitchFamily="34" charset="-122"/>
                <a:cs typeface="Cambria" pitchFamily="34" charset="-120"/>
              </a:rPr>
              <a:t>Microsoft Copilot</a:t>
            </a:r>
            <a:endParaRPr lang="en-US" sz="1700" dirty="0"/>
          </a:p>
        </p:txBody>
      </p:sp>
      <p:sp>
        <p:nvSpPr>
          <p:cNvPr id="16" name="Text 14"/>
          <p:cNvSpPr txBox="1"/>
          <p:nvPr/>
        </p:nvSpPr>
        <p:spPr>
          <a:xfrm>
            <a:off x="6528816" y="2258568"/>
            <a:ext cx="4837176" cy="502920"/>
          </a:xfrm>
          <a:prstGeom prst="rect">
            <a:avLst/>
          </a:prstGeom>
          <a:noFill/>
          <a:ln/>
        </p:spPr>
        <p:txBody>
          <a:bodyPr wrap="square" lIns="0" tIns="0" rIns="0" bIns="0" rtlCol="0" anchor="ctr"/>
          <a:lstStyle/>
          <a:p>
            <a:pPr marL="0" indent="0" algn="r">
              <a:buNone/>
            </a:pPr>
            <a:r>
              <a:rPr lang="en-US" sz="1000" b="1" dirty="0">
                <a:solidFill>
                  <a:srgbClr val="1C7293"/>
                </a:solidFill>
                <a:latin typeface="Calibri" pitchFamily="34" charset="0"/>
                <a:ea typeface="Calibri" pitchFamily="34" charset="-122"/>
                <a:cs typeface="Calibri" pitchFamily="34" charset="-120"/>
              </a:rPr>
              <a:t>BEST FOR OFFICE 365 USERS</a:t>
            </a:r>
            <a:endParaRPr lang="en-US" sz="1000" dirty="0"/>
          </a:p>
        </p:txBody>
      </p:sp>
      <p:sp>
        <p:nvSpPr>
          <p:cNvPr id="17" name="Text 15"/>
          <p:cNvSpPr txBox="1"/>
          <p:nvPr/>
        </p:nvSpPr>
        <p:spPr>
          <a:xfrm>
            <a:off x="6528816" y="2953512"/>
            <a:ext cx="2743200" cy="256032"/>
          </a:xfrm>
          <a:prstGeom prst="rect">
            <a:avLst/>
          </a:prstGeom>
          <a:noFill/>
          <a:ln/>
        </p:spPr>
        <p:txBody>
          <a:bodyPr wrap="square" lIns="0" tIns="0" rIns="0" bIns="0" rtlCol="0" anchor="ctr"/>
          <a:lstStyle/>
          <a:p>
            <a:pPr marL="0" indent="0">
              <a:buNone/>
            </a:pPr>
            <a:r>
              <a:rPr lang="en-US" sz="1050" b="1" kern="0" spc="140" dirty="0">
                <a:solidFill>
                  <a:srgbClr val="2E7D32"/>
                </a:solidFill>
                <a:latin typeface="Calibri" pitchFamily="34" charset="0"/>
                <a:ea typeface="Calibri" pitchFamily="34" charset="-122"/>
                <a:cs typeface="Calibri" pitchFamily="34" charset="-120"/>
              </a:rPr>
              <a:t>PROS</a:t>
            </a:r>
            <a:endParaRPr lang="en-US" sz="1050" dirty="0"/>
          </a:p>
        </p:txBody>
      </p:sp>
      <p:sp>
        <p:nvSpPr>
          <p:cNvPr id="18" name="Text 16"/>
          <p:cNvSpPr txBox="1"/>
          <p:nvPr/>
        </p:nvSpPr>
        <p:spPr>
          <a:xfrm>
            <a:off x="6528816" y="3246120"/>
            <a:ext cx="4837176" cy="14173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Deep integration with Word, Excel, Outlook, Teams</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Cites live web sources by default</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Included in many institutional Microsoft licences</a:t>
            </a:r>
            <a:endParaRPr lang="en-US" sz="1150" dirty="0"/>
          </a:p>
        </p:txBody>
      </p:sp>
      <p:sp>
        <p:nvSpPr>
          <p:cNvPr id="19" name="Shape 17"/>
          <p:cNvSpPr/>
          <p:nvPr/>
        </p:nvSpPr>
        <p:spPr>
          <a:xfrm>
            <a:off x="6528816" y="4690872"/>
            <a:ext cx="4837176" cy="0"/>
          </a:xfrm>
          <a:prstGeom prst="line">
            <a:avLst/>
          </a:prstGeom>
          <a:noFill/>
          <a:ln w="12700">
            <a:solidFill>
              <a:srgbClr val="E2E6EA"/>
            </a:solidFill>
            <a:prstDash val="solid"/>
          </a:ln>
        </p:spPr>
      </p:sp>
      <p:sp>
        <p:nvSpPr>
          <p:cNvPr id="20" name="Text 18"/>
          <p:cNvSpPr txBox="1"/>
          <p:nvPr/>
        </p:nvSpPr>
        <p:spPr>
          <a:xfrm>
            <a:off x="6528816" y="4800600"/>
            <a:ext cx="2743200" cy="256032"/>
          </a:xfrm>
          <a:prstGeom prst="rect">
            <a:avLst/>
          </a:prstGeom>
          <a:noFill/>
          <a:ln/>
        </p:spPr>
        <p:txBody>
          <a:bodyPr wrap="square" lIns="0" tIns="0" rIns="0" bIns="0" rtlCol="0" anchor="ctr"/>
          <a:lstStyle/>
          <a:p>
            <a:pPr marL="0" indent="0">
              <a:buNone/>
            </a:pPr>
            <a:r>
              <a:rPr lang="en-US" sz="1050" b="1" kern="0" spc="140" dirty="0">
                <a:solidFill>
                  <a:srgbClr val="B3261E"/>
                </a:solidFill>
                <a:latin typeface="Calibri" pitchFamily="34" charset="0"/>
                <a:ea typeface="Calibri" pitchFamily="34" charset="-122"/>
                <a:cs typeface="Calibri" pitchFamily="34" charset="-120"/>
              </a:rPr>
              <a:t>CONS</a:t>
            </a:r>
            <a:endParaRPr lang="en-US" sz="1050" dirty="0"/>
          </a:p>
        </p:txBody>
      </p:sp>
      <p:sp>
        <p:nvSpPr>
          <p:cNvPr id="21" name="Text 19"/>
          <p:cNvSpPr txBox="1"/>
          <p:nvPr/>
        </p:nvSpPr>
        <p:spPr>
          <a:xfrm>
            <a:off x="6528816" y="5093208"/>
            <a:ext cx="4837176" cy="9144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Full features often need a paid Microsoft 365 add-on</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Interface differs across apps, adding a learning curve</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Less flexible for open-ended creative writing</a:t>
            </a:r>
            <a:endParaRPr lang="en-US" sz="1150" dirty="0"/>
          </a:p>
        </p:txBody>
      </p:sp>
      <p:sp>
        <p:nvSpPr>
          <p:cNvPr id="22" name="Text 20"/>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AI Tool Landscape</a:t>
            </a:r>
            <a:endParaRPr lang="en-US" sz="950" dirty="0"/>
          </a:p>
        </p:txBody>
      </p:sp>
      <p:sp>
        <p:nvSpPr>
          <p:cNvPr id="23" name="Text 21"/>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20</a:t>
            </a:r>
            <a:endParaRPr lang="en-US" sz="95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2 · AI TOOL LANDSCAPE</a:t>
            </a:r>
            <a:endParaRPr lang="en-US" sz="1250" dirty="0"/>
          </a:p>
        </p:txBody>
      </p:sp>
      <p:sp>
        <p:nvSpPr>
          <p:cNvPr id="3" name="Text 1"/>
          <p:cNvSpPr txBox="1"/>
          <p:nvPr/>
        </p:nvSpPr>
        <p:spPr>
          <a:xfrm>
            <a:off x="548640" y="1371600"/>
            <a:ext cx="5486400" cy="274320"/>
          </a:xfrm>
          <a:prstGeom prst="rect">
            <a:avLst/>
          </a:prstGeom>
          <a:noFill/>
          <a:ln/>
        </p:spPr>
        <p:txBody>
          <a:bodyPr wrap="square" lIns="0" tIns="0" rIns="0" bIns="0" rtlCol="0" anchor="ctr"/>
          <a:lstStyle/>
          <a:p>
            <a:pPr marL="0" indent="0">
              <a:buNone/>
            </a:pPr>
            <a:r>
              <a:rPr lang="en-US" sz="1050" b="1" kern="0" spc="120" dirty="0">
                <a:solidFill>
                  <a:srgbClr val="8A94A0"/>
                </a:solidFill>
                <a:latin typeface="Calibri" pitchFamily="34" charset="0"/>
                <a:ea typeface="Calibri" pitchFamily="34" charset="-122"/>
                <a:cs typeface="Calibri" pitchFamily="34" charset="-120"/>
              </a:rPr>
              <a:t>CATEGORY 2 OF 5</a:t>
            </a:r>
            <a:endParaRPr lang="en-US" sz="1050" dirty="0"/>
          </a:p>
        </p:txBody>
      </p:sp>
      <p:sp>
        <p:nvSpPr>
          <p:cNvPr id="4" name="Text 2"/>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Code Assistant Tools</a:t>
            </a:r>
            <a:endParaRPr lang="en-US" sz="3200" dirty="0"/>
          </a:p>
        </p:txBody>
      </p:sp>
      <p:sp>
        <p:nvSpPr>
          <p:cNvPr id="5" name="Shape 3"/>
          <p:cNvSpPr/>
          <p:nvPr/>
        </p:nvSpPr>
        <p:spPr>
          <a:xfrm>
            <a:off x="9646920" y="777240"/>
            <a:ext cx="1737360" cy="1737360"/>
          </a:xfrm>
          <a:prstGeom prst="ellipse">
            <a:avLst/>
          </a:prstGeom>
          <a:solidFill>
            <a:srgbClr val="1C7293"/>
          </a:solidFill>
          <a:ln/>
        </p:spPr>
      </p:sp>
      <p:pic>
        <p:nvPicPr>
          <p:cNvPr id="6" name="Image 0" descr="icons/code.png"/>
          <p:cNvPicPr>
            <a:picLocks noChangeAspect="1"/>
          </p:cNvPicPr>
          <p:nvPr/>
        </p:nvPicPr>
        <p:blipFill>
          <a:blip r:embed="rId3"/>
          <a:stretch>
            <a:fillRect/>
          </a:stretch>
        </p:blipFill>
        <p:spPr>
          <a:xfrm>
            <a:off x="10098634" y="1228954"/>
            <a:ext cx="833933" cy="833933"/>
          </a:xfrm>
          <a:prstGeom prst="rect">
            <a:avLst/>
          </a:prstGeom>
        </p:spPr>
      </p:pic>
      <p:sp>
        <p:nvSpPr>
          <p:cNvPr id="7" name="Shape 4"/>
          <p:cNvSpPr/>
          <p:nvPr/>
        </p:nvSpPr>
        <p:spPr>
          <a:xfrm>
            <a:off x="548640" y="2057400"/>
            <a:ext cx="10195560" cy="1051560"/>
          </a:xfrm>
          <a:prstGeom prst="roundRect">
            <a:avLst>
              <a:gd name="adj" fmla="val 7826"/>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8" name="Text 5"/>
          <p:cNvSpPr txBox="1"/>
          <p:nvPr/>
        </p:nvSpPr>
        <p:spPr>
          <a:xfrm>
            <a:off x="868680" y="2057400"/>
            <a:ext cx="9601200" cy="1051560"/>
          </a:xfrm>
          <a:prstGeom prst="rect">
            <a:avLst/>
          </a:prstGeom>
          <a:noFill/>
          <a:ln/>
        </p:spPr>
        <p:txBody>
          <a:bodyPr wrap="square" lIns="0" tIns="0" rIns="0" bIns="0" rtlCol="0" anchor="ctr"/>
          <a:lstStyle/>
          <a:p>
            <a:pPr marL="0" indent="0">
              <a:buNone/>
            </a:pPr>
            <a:r>
              <a:rPr lang="en-US" sz="1700" b="1" dirty="0">
                <a:solidFill>
                  <a:srgbClr val="1C7293"/>
                </a:solidFill>
                <a:latin typeface="Calibri" pitchFamily="34" charset="0"/>
                <a:ea typeface="Calibri" pitchFamily="34" charset="-122"/>
                <a:cs typeface="Calibri" pitchFamily="34" charset="-120"/>
              </a:rPr>
              <a:t>Describe the Task  →  Get Generated Code  →  Test &amp; Debug  →  Refine</a:t>
            </a:r>
            <a:endParaRPr lang="en-US" sz="1700" dirty="0"/>
          </a:p>
        </p:txBody>
      </p:sp>
      <p:sp>
        <p:nvSpPr>
          <p:cNvPr id="9" name="Shape 6"/>
          <p:cNvSpPr/>
          <p:nvPr/>
        </p:nvSpPr>
        <p:spPr>
          <a:xfrm>
            <a:off x="548640" y="3337560"/>
            <a:ext cx="5074920" cy="2788920"/>
          </a:xfrm>
          <a:prstGeom prst="roundRect">
            <a:avLst>
              <a:gd name="adj" fmla="val 2951"/>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Text 7"/>
          <p:cNvSpPr txBox="1"/>
          <p:nvPr/>
        </p:nvSpPr>
        <p:spPr>
          <a:xfrm>
            <a:off x="841248" y="3547872"/>
            <a:ext cx="45720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WHAT IT DOES</a:t>
            </a:r>
            <a:endParaRPr lang="en-US" sz="1050" dirty="0"/>
          </a:p>
        </p:txBody>
      </p:sp>
      <p:sp>
        <p:nvSpPr>
          <p:cNvPr id="11" name="Text 8"/>
          <p:cNvSpPr txBox="1"/>
          <p:nvPr/>
        </p:nvSpPr>
        <p:spPr>
          <a:xfrm>
            <a:off x="841248" y="3877056"/>
            <a:ext cx="4526280" cy="2103120"/>
          </a:xfrm>
          <a:prstGeom prst="rect">
            <a:avLst/>
          </a:prstGeom>
          <a:noFill/>
          <a:ln/>
        </p:spPr>
        <p:txBody>
          <a:bodyPr wrap="square" lIns="0" tIns="0" rIns="0" bIns="0" rtlCol="0" anchor="t"/>
          <a:lstStyle/>
          <a:p>
            <a:pPr marL="0" indent="0">
              <a:lnSpc>
                <a:spcPct val="122000"/>
              </a:lnSpc>
              <a:buNone/>
            </a:pPr>
            <a:r>
              <a:rPr lang="en-US" sz="1300" dirty="0">
                <a:solidFill>
                  <a:srgbClr val="55606C"/>
                </a:solidFill>
                <a:latin typeface="Calibri" pitchFamily="34" charset="0"/>
                <a:ea typeface="Calibri" pitchFamily="34" charset="-122"/>
                <a:cs typeface="Calibri" pitchFamily="34" charset="-120"/>
              </a:rPr>
              <a:t>AI assistants trained heavily on programming languages that write, explain, debug, and refactor code — useful for research computing, not just software engineering.</a:t>
            </a:r>
            <a:endParaRPr lang="en-US" sz="1300" dirty="0"/>
          </a:p>
        </p:txBody>
      </p:sp>
      <p:sp>
        <p:nvSpPr>
          <p:cNvPr id="12" name="Shape 9"/>
          <p:cNvSpPr/>
          <p:nvPr/>
        </p:nvSpPr>
        <p:spPr>
          <a:xfrm>
            <a:off x="5852160" y="3337560"/>
            <a:ext cx="4892040" cy="2788920"/>
          </a:xfrm>
          <a:prstGeom prst="roundRect">
            <a:avLst>
              <a:gd name="adj" fmla="val 2951"/>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3" name="Text 10"/>
          <p:cNvSpPr txBox="1"/>
          <p:nvPr/>
        </p:nvSpPr>
        <p:spPr>
          <a:xfrm>
            <a:off x="6126480" y="3547872"/>
            <a:ext cx="438912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COMMON USES FOR FACULTY</a:t>
            </a:r>
            <a:endParaRPr lang="en-US" sz="1050" dirty="0"/>
          </a:p>
        </p:txBody>
      </p:sp>
      <p:sp>
        <p:nvSpPr>
          <p:cNvPr id="14" name="Text 11"/>
          <p:cNvSpPr txBox="1"/>
          <p:nvPr/>
        </p:nvSpPr>
        <p:spPr>
          <a:xfrm>
            <a:off x="6126480" y="3877056"/>
            <a:ext cx="4526280" cy="21031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Writing scripts to clean and analyse research datasets</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Debugging statistical code in R, Python, or MATLAB</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Generating starter code for teaching programming labs</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Explaining unfamiliar legacy code left by a former student</a:t>
            </a:r>
            <a:endParaRPr lang="en-US" sz="1250" dirty="0"/>
          </a:p>
        </p:txBody>
      </p:sp>
      <p:sp>
        <p:nvSpPr>
          <p:cNvPr id="15" name="Text 12"/>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AI Tool Landscape</a:t>
            </a:r>
            <a:endParaRPr lang="en-US" sz="950" dirty="0"/>
          </a:p>
        </p:txBody>
      </p:sp>
      <p:sp>
        <p:nvSpPr>
          <p:cNvPr id="16" name="Text 13"/>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21</a:t>
            </a:r>
            <a:endParaRPr lang="en-US" sz="95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2 · CODE ASSISTANTS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Leading Tools: GitHub Copilot &amp; Claude Code</a:t>
            </a:r>
            <a:endParaRPr lang="en-US" sz="3200" dirty="0"/>
          </a:p>
        </p:txBody>
      </p:sp>
      <p:sp>
        <p:nvSpPr>
          <p:cNvPr id="4" name="Shape 2"/>
          <p:cNvSpPr/>
          <p:nvPr/>
        </p:nvSpPr>
        <p:spPr>
          <a:xfrm>
            <a:off x="548640" y="1965960"/>
            <a:ext cx="5385816" cy="4160520"/>
          </a:xfrm>
          <a:prstGeom prst="roundRect">
            <a:avLst>
              <a:gd name="adj" fmla="val 197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5" name="Shape 3"/>
          <p:cNvSpPr/>
          <p:nvPr/>
        </p:nvSpPr>
        <p:spPr>
          <a:xfrm>
            <a:off x="822960" y="2221992"/>
            <a:ext cx="4837176" cy="566928"/>
          </a:xfrm>
          <a:prstGeom prst="roundRect">
            <a:avLst>
              <a:gd name="adj" fmla="val 9677"/>
            </a:avLst>
          </a:prstGeom>
          <a:solidFill>
            <a:srgbClr val="EFF6F7"/>
          </a:solidFill>
          <a:ln/>
        </p:spPr>
      </p:sp>
      <p:sp>
        <p:nvSpPr>
          <p:cNvPr id="6" name="Text 4"/>
          <p:cNvSpPr txBox="1"/>
          <p:nvPr/>
        </p:nvSpPr>
        <p:spPr>
          <a:xfrm>
            <a:off x="960120" y="2221992"/>
            <a:ext cx="3557016" cy="566928"/>
          </a:xfrm>
          <a:prstGeom prst="rect">
            <a:avLst/>
          </a:prstGeom>
          <a:noFill/>
          <a:ln/>
        </p:spPr>
        <p:txBody>
          <a:bodyPr wrap="square" lIns="0" tIns="0" rIns="0" bIns="0" rtlCol="0" anchor="ctr"/>
          <a:lstStyle/>
          <a:p>
            <a:pPr marL="0" indent="0">
              <a:buNone/>
            </a:pPr>
            <a:r>
              <a:rPr lang="en-US" sz="1700" b="1" dirty="0">
                <a:solidFill>
                  <a:srgbClr val="1B2A4A"/>
                </a:solidFill>
                <a:latin typeface="Cambria" pitchFamily="34" charset="0"/>
                <a:ea typeface="Cambria" pitchFamily="34" charset="-122"/>
                <a:cs typeface="Cambria" pitchFamily="34" charset="-120"/>
              </a:rPr>
              <a:t>GitHub Copilot</a:t>
            </a:r>
            <a:endParaRPr lang="en-US" sz="1700" dirty="0"/>
          </a:p>
        </p:txBody>
      </p:sp>
      <p:sp>
        <p:nvSpPr>
          <p:cNvPr id="7" name="Text 5"/>
          <p:cNvSpPr txBox="1"/>
          <p:nvPr/>
        </p:nvSpPr>
        <p:spPr>
          <a:xfrm>
            <a:off x="822960" y="2258568"/>
            <a:ext cx="4837176" cy="502920"/>
          </a:xfrm>
          <a:prstGeom prst="rect">
            <a:avLst/>
          </a:prstGeom>
          <a:noFill/>
          <a:ln/>
        </p:spPr>
        <p:txBody>
          <a:bodyPr wrap="square" lIns="0" tIns="0" rIns="0" bIns="0" rtlCol="0" anchor="ctr"/>
          <a:lstStyle/>
          <a:p>
            <a:pPr marL="0" indent="0" algn="r">
              <a:buNone/>
            </a:pPr>
            <a:r>
              <a:rPr lang="en-US" sz="1000" b="1" dirty="0">
                <a:solidFill>
                  <a:srgbClr val="1C7293"/>
                </a:solidFill>
                <a:latin typeface="Calibri" pitchFamily="34" charset="0"/>
                <a:ea typeface="Calibri" pitchFamily="34" charset="-122"/>
                <a:cs typeface="Calibri" pitchFamily="34" charset="-120"/>
              </a:rPr>
              <a:t>BEST IDE INTEGRATION</a:t>
            </a:r>
            <a:endParaRPr lang="en-US" sz="1000" dirty="0"/>
          </a:p>
        </p:txBody>
      </p:sp>
      <p:sp>
        <p:nvSpPr>
          <p:cNvPr id="8" name="Text 6"/>
          <p:cNvSpPr txBox="1"/>
          <p:nvPr/>
        </p:nvSpPr>
        <p:spPr>
          <a:xfrm>
            <a:off x="822960" y="2953512"/>
            <a:ext cx="2743200" cy="256032"/>
          </a:xfrm>
          <a:prstGeom prst="rect">
            <a:avLst/>
          </a:prstGeom>
          <a:noFill/>
          <a:ln/>
        </p:spPr>
        <p:txBody>
          <a:bodyPr wrap="square" lIns="0" tIns="0" rIns="0" bIns="0" rtlCol="0" anchor="ctr"/>
          <a:lstStyle/>
          <a:p>
            <a:pPr marL="0" indent="0">
              <a:buNone/>
            </a:pPr>
            <a:r>
              <a:rPr lang="en-US" sz="1050" b="1" kern="0" spc="140" dirty="0">
                <a:solidFill>
                  <a:srgbClr val="2E7D32"/>
                </a:solidFill>
                <a:latin typeface="Calibri" pitchFamily="34" charset="0"/>
                <a:ea typeface="Calibri" pitchFamily="34" charset="-122"/>
                <a:cs typeface="Calibri" pitchFamily="34" charset="-120"/>
              </a:rPr>
              <a:t>PROS</a:t>
            </a:r>
            <a:endParaRPr lang="en-US" sz="1050" dirty="0"/>
          </a:p>
        </p:txBody>
      </p:sp>
      <p:sp>
        <p:nvSpPr>
          <p:cNvPr id="9" name="Text 7"/>
          <p:cNvSpPr txBox="1"/>
          <p:nvPr/>
        </p:nvSpPr>
        <p:spPr>
          <a:xfrm>
            <a:off x="822960" y="3246120"/>
            <a:ext cx="4837176" cy="14173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Autocompletes code directly inside popular editors</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Learns from your open project for relevant suggestions</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Affordable education-tier licensing for staff/students</a:t>
            </a:r>
            <a:endParaRPr lang="en-US" sz="1150" dirty="0"/>
          </a:p>
        </p:txBody>
      </p:sp>
      <p:sp>
        <p:nvSpPr>
          <p:cNvPr id="10" name="Shape 8"/>
          <p:cNvSpPr/>
          <p:nvPr/>
        </p:nvSpPr>
        <p:spPr>
          <a:xfrm>
            <a:off x="822960" y="4690872"/>
            <a:ext cx="4837176" cy="0"/>
          </a:xfrm>
          <a:prstGeom prst="line">
            <a:avLst/>
          </a:prstGeom>
          <a:noFill/>
          <a:ln w="12700">
            <a:solidFill>
              <a:srgbClr val="E2E6EA"/>
            </a:solidFill>
            <a:prstDash val="solid"/>
          </a:ln>
        </p:spPr>
      </p:sp>
      <p:sp>
        <p:nvSpPr>
          <p:cNvPr id="11" name="Text 9"/>
          <p:cNvSpPr txBox="1"/>
          <p:nvPr/>
        </p:nvSpPr>
        <p:spPr>
          <a:xfrm>
            <a:off x="822960" y="4800600"/>
            <a:ext cx="2743200" cy="256032"/>
          </a:xfrm>
          <a:prstGeom prst="rect">
            <a:avLst/>
          </a:prstGeom>
          <a:noFill/>
          <a:ln/>
        </p:spPr>
        <p:txBody>
          <a:bodyPr wrap="square" lIns="0" tIns="0" rIns="0" bIns="0" rtlCol="0" anchor="ctr"/>
          <a:lstStyle/>
          <a:p>
            <a:pPr marL="0" indent="0">
              <a:buNone/>
            </a:pPr>
            <a:r>
              <a:rPr lang="en-US" sz="1050" b="1" kern="0" spc="140" dirty="0">
                <a:solidFill>
                  <a:srgbClr val="B3261E"/>
                </a:solidFill>
                <a:latin typeface="Calibri" pitchFamily="34" charset="0"/>
                <a:ea typeface="Calibri" pitchFamily="34" charset="-122"/>
                <a:cs typeface="Calibri" pitchFamily="34" charset="-120"/>
              </a:rPr>
              <a:t>CONS</a:t>
            </a:r>
            <a:endParaRPr lang="en-US" sz="1050" dirty="0"/>
          </a:p>
        </p:txBody>
      </p:sp>
      <p:sp>
        <p:nvSpPr>
          <p:cNvPr id="12" name="Text 10"/>
          <p:cNvSpPr txBox="1"/>
          <p:nvPr/>
        </p:nvSpPr>
        <p:spPr>
          <a:xfrm>
            <a:off x="822960" y="5093208"/>
            <a:ext cx="4837176" cy="9144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Requires comfort working inside a code editor</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Occasionally suggests outdated or insecure patterns</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Less useful for non-coding, general research tasks</a:t>
            </a:r>
            <a:endParaRPr lang="en-US" sz="1150" dirty="0"/>
          </a:p>
        </p:txBody>
      </p:sp>
      <p:sp>
        <p:nvSpPr>
          <p:cNvPr id="13" name="Shape 11"/>
          <p:cNvSpPr/>
          <p:nvPr/>
        </p:nvSpPr>
        <p:spPr>
          <a:xfrm>
            <a:off x="6254496" y="1965960"/>
            <a:ext cx="5385816" cy="4160520"/>
          </a:xfrm>
          <a:prstGeom prst="roundRect">
            <a:avLst>
              <a:gd name="adj" fmla="val 197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4" name="Shape 12"/>
          <p:cNvSpPr/>
          <p:nvPr/>
        </p:nvSpPr>
        <p:spPr>
          <a:xfrm>
            <a:off x="6528816" y="2221992"/>
            <a:ext cx="4837176" cy="566928"/>
          </a:xfrm>
          <a:prstGeom prst="roundRect">
            <a:avLst>
              <a:gd name="adj" fmla="val 9677"/>
            </a:avLst>
          </a:prstGeom>
          <a:solidFill>
            <a:srgbClr val="EFF6F7"/>
          </a:solidFill>
          <a:ln/>
        </p:spPr>
      </p:sp>
      <p:sp>
        <p:nvSpPr>
          <p:cNvPr id="15" name="Text 13"/>
          <p:cNvSpPr txBox="1"/>
          <p:nvPr/>
        </p:nvSpPr>
        <p:spPr>
          <a:xfrm>
            <a:off x="6665976" y="2221992"/>
            <a:ext cx="3557016" cy="566928"/>
          </a:xfrm>
          <a:prstGeom prst="rect">
            <a:avLst/>
          </a:prstGeom>
          <a:noFill/>
          <a:ln/>
        </p:spPr>
        <p:txBody>
          <a:bodyPr wrap="square" lIns="0" tIns="0" rIns="0" bIns="0" rtlCol="0" anchor="ctr"/>
          <a:lstStyle/>
          <a:p>
            <a:pPr marL="0" indent="0">
              <a:buNone/>
            </a:pPr>
            <a:r>
              <a:rPr lang="en-US" sz="1700" b="1" dirty="0">
                <a:solidFill>
                  <a:srgbClr val="1B2A4A"/>
                </a:solidFill>
                <a:latin typeface="Cambria" pitchFamily="34" charset="0"/>
                <a:ea typeface="Cambria" pitchFamily="34" charset="-122"/>
                <a:cs typeface="Cambria" pitchFamily="34" charset="-120"/>
              </a:rPr>
              <a:t>Claude Code / Cursor</a:t>
            </a:r>
            <a:endParaRPr lang="en-US" sz="1700" dirty="0"/>
          </a:p>
        </p:txBody>
      </p:sp>
      <p:sp>
        <p:nvSpPr>
          <p:cNvPr id="16" name="Text 14"/>
          <p:cNvSpPr txBox="1"/>
          <p:nvPr/>
        </p:nvSpPr>
        <p:spPr>
          <a:xfrm>
            <a:off x="6528816" y="2258568"/>
            <a:ext cx="4837176" cy="502920"/>
          </a:xfrm>
          <a:prstGeom prst="rect">
            <a:avLst/>
          </a:prstGeom>
          <a:noFill/>
          <a:ln/>
        </p:spPr>
        <p:txBody>
          <a:bodyPr wrap="square" lIns="0" tIns="0" rIns="0" bIns="0" rtlCol="0" anchor="ctr"/>
          <a:lstStyle/>
          <a:p>
            <a:pPr marL="0" indent="0" algn="r">
              <a:buNone/>
            </a:pPr>
            <a:r>
              <a:rPr lang="en-US" sz="1000" b="1" dirty="0">
                <a:solidFill>
                  <a:srgbClr val="1C7293"/>
                </a:solidFill>
                <a:latin typeface="Calibri" pitchFamily="34" charset="0"/>
                <a:ea typeface="Calibri" pitchFamily="34" charset="-122"/>
                <a:cs typeface="Calibri" pitchFamily="34" charset="-120"/>
              </a:rPr>
              <a:t>BEST FOR MULTI-FILE PROJECTS</a:t>
            </a:r>
            <a:endParaRPr lang="en-US" sz="1000" dirty="0"/>
          </a:p>
        </p:txBody>
      </p:sp>
      <p:sp>
        <p:nvSpPr>
          <p:cNvPr id="17" name="Text 15"/>
          <p:cNvSpPr txBox="1"/>
          <p:nvPr/>
        </p:nvSpPr>
        <p:spPr>
          <a:xfrm>
            <a:off x="6528816" y="2953512"/>
            <a:ext cx="2743200" cy="256032"/>
          </a:xfrm>
          <a:prstGeom prst="rect">
            <a:avLst/>
          </a:prstGeom>
          <a:noFill/>
          <a:ln/>
        </p:spPr>
        <p:txBody>
          <a:bodyPr wrap="square" lIns="0" tIns="0" rIns="0" bIns="0" rtlCol="0" anchor="ctr"/>
          <a:lstStyle/>
          <a:p>
            <a:pPr marL="0" indent="0">
              <a:buNone/>
            </a:pPr>
            <a:r>
              <a:rPr lang="en-US" sz="1050" b="1" kern="0" spc="140" dirty="0">
                <a:solidFill>
                  <a:srgbClr val="2E7D32"/>
                </a:solidFill>
                <a:latin typeface="Calibri" pitchFamily="34" charset="0"/>
                <a:ea typeface="Calibri" pitchFamily="34" charset="-122"/>
                <a:cs typeface="Calibri" pitchFamily="34" charset="-120"/>
              </a:rPr>
              <a:t>PROS</a:t>
            </a:r>
            <a:endParaRPr lang="en-US" sz="1050" dirty="0"/>
          </a:p>
        </p:txBody>
      </p:sp>
      <p:sp>
        <p:nvSpPr>
          <p:cNvPr id="18" name="Text 16"/>
          <p:cNvSpPr txBox="1"/>
          <p:nvPr/>
        </p:nvSpPr>
        <p:spPr>
          <a:xfrm>
            <a:off x="6528816" y="3246120"/>
            <a:ext cx="4837176" cy="14173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Can plan and edit across many files in one task</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Strong reasoning for complex debugging</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Good at explaining *why* code works, not just *what*</a:t>
            </a:r>
            <a:endParaRPr lang="en-US" sz="1150" dirty="0"/>
          </a:p>
        </p:txBody>
      </p:sp>
      <p:sp>
        <p:nvSpPr>
          <p:cNvPr id="19" name="Shape 17"/>
          <p:cNvSpPr/>
          <p:nvPr/>
        </p:nvSpPr>
        <p:spPr>
          <a:xfrm>
            <a:off x="6528816" y="4690872"/>
            <a:ext cx="4837176" cy="0"/>
          </a:xfrm>
          <a:prstGeom prst="line">
            <a:avLst/>
          </a:prstGeom>
          <a:noFill/>
          <a:ln w="12700">
            <a:solidFill>
              <a:srgbClr val="E2E6EA"/>
            </a:solidFill>
            <a:prstDash val="solid"/>
          </a:ln>
        </p:spPr>
      </p:sp>
      <p:sp>
        <p:nvSpPr>
          <p:cNvPr id="20" name="Text 18"/>
          <p:cNvSpPr txBox="1"/>
          <p:nvPr/>
        </p:nvSpPr>
        <p:spPr>
          <a:xfrm>
            <a:off x="6528816" y="4800600"/>
            <a:ext cx="2743200" cy="256032"/>
          </a:xfrm>
          <a:prstGeom prst="rect">
            <a:avLst/>
          </a:prstGeom>
          <a:noFill/>
          <a:ln/>
        </p:spPr>
        <p:txBody>
          <a:bodyPr wrap="square" lIns="0" tIns="0" rIns="0" bIns="0" rtlCol="0" anchor="ctr"/>
          <a:lstStyle/>
          <a:p>
            <a:pPr marL="0" indent="0">
              <a:buNone/>
            </a:pPr>
            <a:r>
              <a:rPr lang="en-US" sz="1050" b="1" kern="0" spc="140" dirty="0">
                <a:solidFill>
                  <a:srgbClr val="B3261E"/>
                </a:solidFill>
                <a:latin typeface="Calibri" pitchFamily="34" charset="0"/>
                <a:ea typeface="Calibri" pitchFamily="34" charset="-122"/>
                <a:cs typeface="Calibri" pitchFamily="34" charset="-120"/>
              </a:rPr>
              <a:t>CONS</a:t>
            </a:r>
            <a:endParaRPr lang="en-US" sz="1050" dirty="0"/>
          </a:p>
        </p:txBody>
      </p:sp>
      <p:sp>
        <p:nvSpPr>
          <p:cNvPr id="21" name="Text 19"/>
          <p:cNvSpPr txBox="1"/>
          <p:nvPr/>
        </p:nvSpPr>
        <p:spPr>
          <a:xfrm>
            <a:off x="6528816" y="5093208"/>
            <a:ext cx="4837176" cy="9144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Steeper learning curve for non-programmers</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Usage-based pricing can add up on large projects</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Best results need clear, well-scoped instructions</a:t>
            </a:r>
            <a:endParaRPr lang="en-US" sz="1150" dirty="0"/>
          </a:p>
        </p:txBody>
      </p:sp>
      <p:sp>
        <p:nvSpPr>
          <p:cNvPr id="22" name="Text 20"/>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AI Tool Landscape</a:t>
            </a:r>
            <a:endParaRPr lang="en-US" sz="950" dirty="0"/>
          </a:p>
        </p:txBody>
      </p:sp>
      <p:sp>
        <p:nvSpPr>
          <p:cNvPr id="23" name="Text 21"/>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22</a:t>
            </a:r>
            <a:endParaRPr lang="en-US" sz="95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2 · AI TOOL LANDSCAPE</a:t>
            </a:r>
            <a:endParaRPr lang="en-US" sz="1250" dirty="0"/>
          </a:p>
        </p:txBody>
      </p:sp>
      <p:sp>
        <p:nvSpPr>
          <p:cNvPr id="3" name="Text 1"/>
          <p:cNvSpPr txBox="1"/>
          <p:nvPr/>
        </p:nvSpPr>
        <p:spPr>
          <a:xfrm>
            <a:off x="548640" y="1371600"/>
            <a:ext cx="5486400" cy="274320"/>
          </a:xfrm>
          <a:prstGeom prst="rect">
            <a:avLst/>
          </a:prstGeom>
          <a:noFill/>
          <a:ln/>
        </p:spPr>
        <p:txBody>
          <a:bodyPr wrap="square" lIns="0" tIns="0" rIns="0" bIns="0" rtlCol="0" anchor="ctr"/>
          <a:lstStyle/>
          <a:p>
            <a:pPr marL="0" indent="0">
              <a:buNone/>
            </a:pPr>
            <a:r>
              <a:rPr lang="en-US" sz="1050" b="1" kern="0" spc="120" dirty="0">
                <a:solidFill>
                  <a:srgbClr val="8A94A0"/>
                </a:solidFill>
                <a:latin typeface="Calibri" pitchFamily="34" charset="0"/>
                <a:ea typeface="Calibri" pitchFamily="34" charset="-122"/>
                <a:cs typeface="Calibri" pitchFamily="34" charset="-120"/>
              </a:rPr>
              <a:t>CATEGORY 3 OF 5</a:t>
            </a:r>
            <a:endParaRPr lang="en-US" sz="1050" dirty="0"/>
          </a:p>
        </p:txBody>
      </p:sp>
      <p:sp>
        <p:nvSpPr>
          <p:cNvPr id="4" name="Text 2"/>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Data-Analysis Tools</a:t>
            </a:r>
            <a:endParaRPr lang="en-US" sz="3200" dirty="0"/>
          </a:p>
        </p:txBody>
      </p:sp>
      <p:sp>
        <p:nvSpPr>
          <p:cNvPr id="5" name="Shape 3"/>
          <p:cNvSpPr/>
          <p:nvPr/>
        </p:nvSpPr>
        <p:spPr>
          <a:xfrm>
            <a:off x="9646920" y="777240"/>
            <a:ext cx="1737360" cy="1737360"/>
          </a:xfrm>
          <a:prstGeom prst="ellipse">
            <a:avLst/>
          </a:prstGeom>
          <a:solidFill>
            <a:srgbClr val="1C7293"/>
          </a:solidFill>
          <a:ln/>
        </p:spPr>
      </p:sp>
      <p:pic>
        <p:nvPicPr>
          <p:cNvPr id="6" name="Image 0" descr="icons/chartbar.png"/>
          <p:cNvPicPr>
            <a:picLocks noChangeAspect="1"/>
          </p:cNvPicPr>
          <p:nvPr/>
        </p:nvPicPr>
        <p:blipFill>
          <a:blip r:embed="rId3"/>
          <a:stretch>
            <a:fillRect/>
          </a:stretch>
        </p:blipFill>
        <p:spPr>
          <a:xfrm>
            <a:off x="10098634" y="1228954"/>
            <a:ext cx="833933" cy="833933"/>
          </a:xfrm>
          <a:prstGeom prst="rect">
            <a:avLst/>
          </a:prstGeom>
        </p:spPr>
      </p:pic>
      <p:sp>
        <p:nvSpPr>
          <p:cNvPr id="7" name="Shape 4"/>
          <p:cNvSpPr/>
          <p:nvPr/>
        </p:nvSpPr>
        <p:spPr>
          <a:xfrm>
            <a:off x="548640" y="2057400"/>
            <a:ext cx="10195560" cy="1051560"/>
          </a:xfrm>
          <a:prstGeom prst="roundRect">
            <a:avLst>
              <a:gd name="adj" fmla="val 7826"/>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8" name="Text 5"/>
          <p:cNvSpPr txBox="1"/>
          <p:nvPr/>
        </p:nvSpPr>
        <p:spPr>
          <a:xfrm>
            <a:off x="868680" y="2057400"/>
            <a:ext cx="9601200" cy="1051560"/>
          </a:xfrm>
          <a:prstGeom prst="rect">
            <a:avLst/>
          </a:prstGeom>
          <a:noFill/>
          <a:ln/>
        </p:spPr>
        <p:txBody>
          <a:bodyPr wrap="square" lIns="0" tIns="0" rIns="0" bIns="0" rtlCol="0" anchor="ctr"/>
          <a:lstStyle/>
          <a:p>
            <a:pPr marL="0" indent="0">
              <a:buNone/>
            </a:pPr>
            <a:r>
              <a:rPr lang="en-US" sz="1700" b="1" dirty="0">
                <a:solidFill>
                  <a:srgbClr val="1C7293"/>
                </a:solidFill>
                <a:latin typeface="Calibri" pitchFamily="34" charset="0"/>
                <a:ea typeface="Calibri" pitchFamily="34" charset="-122"/>
                <a:cs typeface="Calibri" pitchFamily="34" charset="-120"/>
              </a:rPr>
              <a:t>Upload Dataset  →  Ask a Question  →  Get Analysis &amp; Charts  →  Export Results</a:t>
            </a:r>
            <a:endParaRPr lang="en-US" sz="1700" dirty="0"/>
          </a:p>
        </p:txBody>
      </p:sp>
      <p:sp>
        <p:nvSpPr>
          <p:cNvPr id="9" name="Shape 6"/>
          <p:cNvSpPr/>
          <p:nvPr/>
        </p:nvSpPr>
        <p:spPr>
          <a:xfrm>
            <a:off x="548640" y="3337560"/>
            <a:ext cx="5074920" cy="2788920"/>
          </a:xfrm>
          <a:prstGeom prst="roundRect">
            <a:avLst>
              <a:gd name="adj" fmla="val 2951"/>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Text 7"/>
          <p:cNvSpPr txBox="1"/>
          <p:nvPr/>
        </p:nvSpPr>
        <p:spPr>
          <a:xfrm>
            <a:off x="841248" y="3547872"/>
            <a:ext cx="45720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WHAT IT DOES</a:t>
            </a:r>
            <a:endParaRPr lang="en-US" sz="1050" dirty="0"/>
          </a:p>
        </p:txBody>
      </p:sp>
      <p:sp>
        <p:nvSpPr>
          <p:cNvPr id="11" name="Text 8"/>
          <p:cNvSpPr txBox="1"/>
          <p:nvPr/>
        </p:nvSpPr>
        <p:spPr>
          <a:xfrm>
            <a:off x="841248" y="3877056"/>
            <a:ext cx="4526280" cy="2103120"/>
          </a:xfrm>
          <a:prstGeom prst="rect">
            <a:avLst/>
          </a:prstGeom>
          <a:noFill/>
          <a:ln/>
        </p:spPr>
        <p:txBody>
          <a:bodyPr wrap="square" lIns="0" tIns="0" rIns="0" bIns="0" rtlCol="0" anchor="t"/>
          <a:lstStyle/>
          <a:p>
            <a:pPr marL="0" indent="0">
              <a:lnSpc>
                <a:spcPct val="122000"/>
              </a:lnSpc>
              <a:buNone/>
            </a:pPr>
            <a:r>
              <a:rPr lang="en-US" sz="1300" dirty="0">
                <a:solidFill>
                  <a:srgbClr val="55606C"/>
                </a:solidFill>
                <a:latin typeface="Calibri" pitchFamily="34" charset="0"/>
                <a:ea typeface="Calibri" pitchFamily="34" charset="-122"/>
                <a:cs typeface="Calibri" pitchFamily="34" charset="-120"/>
              </a:rPr>
              <a:t>Tools that let you upload spreadsheets or datasets and ask questions in plain English, generating statistics, charts, and cleaned data — without writing formulas.</a:t>
            </a:r>
            <a:endParaRPr lang="en-US" sz="1300" dirty="0"/>
          </a:p>
        </p:txBody>
      </p:sp>
      <p:sp>
        <p:nvSpPr>
          <p:cNvPr id="12" name="Shape 9"/>
          <p:cNvSpPr/>
          <p:nvPr/>
        </p:nvSpPr>
        <p:spPr>
          <a:xfrm>
            <a:off x="5852160" y="3337560"/>
            <a:ext cx="4892040" cy="2788920"/>
          </a:xfrm>
          <a:prstGeom prst="roundRect">
            <a:avLst>
              <a:gd name="adj" fmla="val 2951"/>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3" name="Text 10"/>
          <p:cNvSpPr txBox="1"/>
          <p:nvPr/>
        </p:nvSpPr>
        <p:spPr>
          <a:xfrm>
            <a:off x="6126480" y="3547872"/>
            <a:ext cx="438912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COMMON USES FOR FACULTY</a:t>
            </a:r>
            <a:endParaRPr lang="en-US" sz="1050" dirty="0"/>
          </a:p>
        </p:txBody>
      </p:sp>
      <p:sp>
        <p:nvSpPr>
          <p:cNvPr id="14" name="Text 11"/>
          <p:cNvSpPr txBox="1"/>
          <p:nvPr/>
        </p:nvSpPr>
        <p:spPr>
          <a:xfrm>
            <a:off x="6126480" y="3877056"/>
            <a:ext cx="4526280" cy="21031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Exploring survey results from a course feedback form</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Spotting trends in multi-year enrolment or grade data</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Cleaning messy research data before formal statistical analysis</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Creating quick charts for a departmental report</a:t>
            </a:r>
            <a:endParaRPr lang="en-US" sz="1250" dirty="0"/>
          </a:p>
        </p:txBody>
      </p:sp>
      <p:sp>
        <p:nvSpPr>
          <p:cNvPr id="15" name="Text 12"/>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AI Tool Landscape</a:t>
            </a:r>
            <a:endParaRPr lang="en-US" sz="950" dirty="0"/>
          </a:p>
        </p:txBody>
      </p:sp>
      <p:sp>
        <p:nvSpPr>
          <p:cNvPr id="16" name="Text 13"/>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23</a:t>
            </a:r>
            <a:endParaRPr lang="en-US" sz="95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2 · DATA-ANALYSIS TOOLS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Leading Tools: ChatGPT Data Analysis &amp; Julius AI</a:t>
            </a:r>
            <a:endParaRPr lang="en-US" sz="3200" dirty="0"/>
          </a:p>
        </p:txBody>
      </p:sp>
      <p:sp>
        <p:nvSpPr>
          <p:cNvPr id="4" name="Shape 2"/>
          <p:cNvSpPr/>
          <p:nvPr/>
        </p:nvSpPr>
        <p:spPr>
          <a:xfrm>
            <a:off x="548640" y="1965960"/>
            <a:ext cx="5385816" cy="4160520"/>
          </a:xfrm>
          <a:prstGeom prst="roundRect">
            <a:avLst>
              <a:gd name="adj" fmla="val 197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5" name="Shape 3"/>
          <p:cNvSpPr/>
          <p:nvPr/>
        </p:nvSpPr>
        <p:spPr>
          <a:xfrm>
            <a:off x="822960" y="2221992"/>
            <a:ext cx="4837176" cy="566928"/>
          </a:xfrm>
          <a:prstGeom prst="roundRect">
            <a:avLst>
              <a:gd name="adj" fmla="val 9677"/>
            </a:avLst>
          </a:prstGeom>
          <a:solidFill>
            <a:srgbClr val="EFF6F7"/>
          </a:solidFill>
          <a:ln/>
        </p:spPr>
      </p:sp>
      <p:sp>
        <p:nvSpPr>
          <p:cNvPr id="6" name="Text 4"/>
          <p:cNvSpPr txBox="1"/>
          <p:nvPr/>
        </p:nvSpPr>
        <p:spPr>
          <a:xfrm>
            <a:off x="960120" y="2221992"/>
            <a:ext cx="3557016" cy="566928"/>
          </a:xfrm>
          <a:prstGeom prst="rect">
            <a:avLst/>
          </a:prstGeom>
          <a:noFill/>
          <a:ln/>
        </p:spPr>
        <p:txBody>
          <a:bodyPr wrap="square" lIns="0" tIns="0" rIns="0" bIns="0" rtlCol="0" anchor="ctr"/>
          <a:lstStyle/>
          <a:p>
            <a:pPr marL="0" indent="0">
              <a:buNone/>
            </a:pPr>
            <a:r>
              <a:rPr lang="en-US" sz="1700" b="1" dirty="0">
                <a:solidFill>
                  <a:srgbClr val="1B2A4A"/>
                </a:solidFill>
                <a:latin typeface="Cambria" pitchFamily="34" charset="0"/>
                <a:ea typeface="Cambria" pitchFamily="34" charset="-122"/>
                <a:cs typeface="Cambria" pitchFamily="34" charset="-120"/>
              </a:rPr>
              <a:t>ChatGPT Advanced Data Analysis</a:t>
            </a:r>
            <a:endParaRPr lang="en-US" sz="1700" dirty="0"/>
          </a:p>
        </p:txBody>
      </p:sp>
      <p:sp>
        <p:nvSpPr>
          <p:cNvPr id="7" name="Text 5"/>
          <p:cNvSpPr txBox="1"/>
          <p:nvPr/>
        </p:nvSpPr>
        <p:spPr>
          <a:xfrm>
            <a:off x="822960" y="2258568"/>
            <a:ext cx="4837176" cy="502920"/>
          </a:xfrm>
          <a:prstGeom prst="rect">
            <a:avLst/>
          </a:prstGeom>
          <a:noFill/>
          <a:ln/>
        </p:spPr>
        <p:txBody>
          <a:bodyPr wrap="square" lIns="0" tIns="0" rIns="0" bIns="0" rtlCol="0" anchor="ctr"/>
          <a:lstStyle/>
          <a:p>
            <a:pPr marL="0" indent="0" algn="r">
              <a:buNone/>
            </a:pPr>
            <a:r>
              <a:rPr lang="en-US" sz="1000" b="1" dirty="0">
                <a:solidFill>
                  <a:srgbClr val="1C7293"/>
                </a:solidFill>
                <a:latin typeface="Calibri" pitchFamily="34" charset="0"/>
                <a:ea typeface="Calibri" pitchFamily="34" charset="-122"/>
                <a:cs typeface="Calibri" pitchFamily="34" charset="-120"/>
              </a:rPr>
              <a:t>GOOD ALL-ROUNDER</a:t>
            </a:r>
            <a:endParaRPr lang="en-US" sz="1000" dirty="0"/>
          </a:p>
        </p:txBody>
      </p:sp>
      <p:sp>
        <p:nvSpPr>
          <p:cNvPr id="8" name="Text 6"/>
          <p:cNvSpPr txBox="1"/>
          <p:nvPr/>
        </p:nvSpPr>
        <p:spPr>
          <a:xfrm>
            <a:off x="822960" y="2953512"/>
            <a:ext cx="2743200" cy="256032"/>
          </a:xfrm>
          <a:prstGeom prst="rect">
            <a:avLst/>
          </a:prstGeom>
          <a:noFill/>
          <a:ln/>
        </p:spPr>
        <p:txBody>
          <a:bodyPr wrap="square" lIns="0" tIns="0" rIns="0" bIns="0" rtlCol="0" anchor="ctr"/>
          <a:lstStyle/>
          <a:p>
            <a:pPr marL="0" indent="0">
              <a:buNone/>
            </a:pPr>
            <a:r>
              <a:rPr lang="en-US" sz="1050" b="1" kern="0" spc="140" dirty="0">
                <a:solidFill>
                  <a:srgbClr val="2E7D32"/>
                </a:solidFill>
                <a:latin typeface="Calibri" pitchFamily="34" charset="0"/>
                <a:ea typeface="Calibri" pitchFamily="34" charset="-122"/>
                <a:cs typeface="Calibri" pitchFamily="34" charset="-120"/>
              </a:rPr>
              <a:t>PROS</a:t>
            </a:r>
            <a:endParaRPr lang="en-US" sz="1050" dirty="0"/>
          </a:p>
        </p:txBody>
      </p:sp>
      <p:sp>
        <p:nvSpPr>
          <p:cNvPr id="9" name="Text 7"/>
          <p:cNvSpPr txBox="1"/>
          <p:nvPr/>
        </p:nvSpPr>
        <p:spPr>
          <a:xfrm>
            <a:off x="822960" y="3246120"/>
            <a:ext cx="4837176" cy="14173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Handles CSV/Excel uploads with plain-English questions</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Writes and runs Python behind the scenes automatically</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Produces downloadable charts and cleaned files</a:t>
            </a:r>
            <a:endParaRPr lang="en-US" sz="1150" dirty="0"/>
          </a:p>
        </p:txBody>
      </p:sp>
      <p:sp>
        <p:nvSpPr>
          <p:cNvPr id="10" name="Shape 8"/>
          <p:cNvSpPr/>
          <p:nvPr/>
        </p:nvSpPr>
        <p:spPr>
          <a:xfrm>
            <a:off x="822960" y="4690872"/>
            <a:ext cx="4837176" cy="0"/>
          </a:xfrm>
          <a:prstGeom prst="line">
            <a:avLst/>
          </a:prstGeom>
          <a:noFill/>
          <a:ln w="12700">
            <a:solidFill>
              <a:srgbClr val="E2E6EA"/>
            </a:solidFill>
            <a:prstDash val="solid"/>
          </a:ln>
        </p:spPr>
      </p:sp>
      <p:sp>
        <p:nvSpPr>
          <p:cNvPr id="11" name="Text 9"/>
          <p:cNvSpPr txBox="1"/>
          <p:nvPr/>
        </p:nvSpPr>
        <p:spPr>
          <a:xfrm>
            <a:off x="822960" y="4800600"/>
            <a:ext cx="2743200" cy="256032"/>
          </a:xfrm>
          <a:prstGeom prst="rect">
            <a:avLst/>
          </a:prstGeom>
          <a:noFill/>
          <a:ln/>
        </p:spPr>
        <p:txBody>
          <a:bodyPr wrap="square" lIns="0" tIns="0" rIns="0" bIns="0" rtlCol="0" anchor="ctr"/>
          <a:lstStyle/>
          <a:p>
            <a:pPr marL="0" indent="0">
              <a:buNone/>
            </a:pPr>
            <a:r>
              <a:rPr lang="en-US" sz="1050" b="1" kern="0" spc="140" dirty="0">
                <a:solidFill>
                  <a:srgbClr val="B3261E"/>
                </a:solidFill>
                <a:latin typeface="Calibri" pitchFamily="34" charset="0"/>
                <a:ea typeface="Calibri" pitchFamily="34" charset="-122"/>
                <a:cs typeface="Calibri" pitchFamily="34" charset="-120"/>
              </a:rPr>
              <a:t>CONS</a:t>
            </a:r>
            <a:endParaRPr lang="en-US" sz="1050" dirty="0"/>
          </a:p>
        </p:txBody>
      </p:sp>
      <p:sp>
        <p:nvSpPr>
          <p:cNvPr id="12" name="Text 10"/>
          <p:cNvSpPr txBox="1"/>
          <p:nvPr/>
        </p:nvSpPr>
        <p:spPr>
          <a:xfrm>
            <a:off x="822960" y="5093208"/>
            <a:ext cx="4837176" cy="9144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Feature sits behind the paid subscription tier</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Large files can slow down or truncate analysis</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Statistical choices should be checked by a specialist</a:t>
            </a:r>
            <a:endParaRPr lang="en-US" sz="1150" dirty="0"/>
          </a:p>
        </p:txBody>
      </p:sp>
      <p:sp>
        <p:nvSpPr>
          <p:cNvPr id="13" name="Shape 11"/>
          <p:cNvSpPr/>
          <p:nvPr/>
        </p:nvSpPr>
        <p:spPr>
          <a:xfrm>
            <a:off x="6254496" y="1965960"/>
            <a:ext cx="5385816" cy="4160520"/>
          </a:xfrm>
          <a:prstGeom prst="roundRect">
            <a:avLst>
              <a:gd name="adj" fmla="val 197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4" name="Shape 12"/>
          <p:cNvSpPr/>
          <p:nvPr/>
        </p:nvSpPr>
        <p:spPr>
          <a:xfrm>
            <a:off x="6528816" y="2221992"/>
            <a:ext cx="4837176" cy="566928"/>
          </a:xfrm>
          <a:prstGeom prst="roundRect">
            <a:avLst>
              <a:gd name="adj" fmla="val 9677"/>
            </a:avLst>
          </a:prstGeom>
          <a:solidFill>
            <a:srgbClr val="EFF6F7"/>
          </a:solidFill>
          <a:ln/>
        </p:spPr>
      </p:sp>
      <p:sp>
        <p:nvSpPr>
          <p:cNvPr id="15" name="Text 13"/>
          <p:cNvSpPr txBox="1"/>
          <p:nvPr/>
        </p:nvSpPr>
        <p:spPr>
          <a:xfrm>
            <a:off x="6665976" y="2221992"/>
            <a:ext cx="3557016" cy="566928"/>
          </a:xfrm>
          <a:prstGeom prst="rect">
            <a:avLst/>
          </a:prstGeom>
          <a:noFill/>
          <a:ln/>
        </p:spPr>
        <p:txBody>
          <a:bodyPr wrap="square" lIns="0" tIns="0" rIns="0" bIns="0" rtlCol="0" anchor="ctr"/>
          <a:lstStyle/>
          <a:p>
            <a:pPr marL="0" indent="0">
              <a:buNone/>
            </a:pPr>
            <a:r>
              <a:rPr lang="en-US" sz="1700" b="1" dirty="0">
                <a:solidFill>
                  <a:srgbClr val="1B2A4A"/>
                </a:solidFill>
                <a:latin typeface="Cambria" pitchFamily="34" charset="0"/>
                <a:ea typeface="Cambria" pitchFamily="34" charset="-122"/>
                <a:cs typeface="Cambria" pitchFamily="34" charset="-120"/>
              </a:rPr>
              <a:t>Julius AI</a:t>
            </a:r>
            <a:endParaRPr lang="en-US" sz="1700" dirty="0"/>
          </a:p>
        </p:txBody>
      </p:sp>
      <p:sp>
        <p:nvSpPr>
          <p:cNvPr id="16" name="Text 14"/>
          <p:cNvSpPr txBox="1"/>
          <p:nvPr/>
        </p:nvSpPr>
        <p:spPr>
          <a:xfrm>
            <a:off x="6528816" y="2258568"/>
            <a:ext cx="4837176" cy="502920"/>
          </a:xfrm>
          <a:prstGeom prst="rect">
            <a:avLst/>
          </a:prstGeom>
          <a:noFill/>
          <a:ln/>
        </p:spPr>
        <p:txBody>
          <a:bodyPr wrap="square" lIns="0" tIns="0" rIns="0" bIns="0" rtlCol="0" anchor="ctr"/>
          <a:lstStyle/>
          <a:p>
            <a:pPr marL="0" indent="0" algn="r">
              <a:buNone/>
            </a:pPr>
            <a:r>
              <a:rPr lang="en-US" sz="1000" b="1" dirty="0">
                <a:solidFill>
                  <a:srgbClr val="1C7293"/>
                </a:solidFill>
                <a:latin typeface="Calibri" pitchFamily="34" charset="0"/>
                <a:ea typeface="Calibri" pitchFamily="34" charset="-122"/>
                <a:cs typeface="Calibri" pitchFamily="34" charset="-120"/>
              </a:rPr>
              <a:t>ANALYSIS-FOCUSED</a:t>
            </a:r>
            <a:endParaRPr lang="en-US" sz="1000" dirty="0"/>
          </a:p>
        </p:txBody>
      </p:sp>
      <p:sp>
        <p:nvSpPr>
          <p:cNvPr id="17" name="Text 15"/>
          <p:cNvSpPr txBox="1"/>
          <p:nvPr/>
        </p:nvSpPr>
        <p:spPr>
          <a:xfrm>
            <a:off x="6528816" y="2953512"/>
            <a:ext cx="2743200" cy="256032"/>
          </a:xfrm>
          <a:prstGeom prst="rect">
            <a:avLst/>
          </a:prstGeom>
          <a:noFill/>
          <a:ln/>
        </p:spPr>
        <p:txBody>
          <a:bodyPr wrap="square" lIns="0" tIns="0" rIns="0" bIns="0" rtlCol="0" anchor="ctr"/>
          <a:lstStyle/>
          <a:p>
            <a:pPr marL="0" indent="0">
              <a:buNone/>
            </a:pPr>
            <a:r>
              <a:rPr lang="en-US" sz="1050" b="1" kern="0" spc="140" dirty="0">
                <a:solidFill>
                  <a:srgbClr val="2E7D32"/>
                </a:solidFill>
                <a:latin typeface="Calibri" pitchFamily="34" charset="0"/>
                <a:ea typeface="Calibri" pitchFamily="34" charset="-122"/>
                <a:cs typeface="Calibri" pitchFamily="34" charset="-120"/>
              </a:rPr>
              <a:t>PROS</a:t>
            </a:r>
            <a:endParaRPr lang="en-US" sz="1050" dirty="0"/>
          </a:p>
        </p:txBody>
      </p:sp>
      <p:sp>
        <p:nvSpPr>
          <p:cNvPr id="18" name="Text 16"/>
          <p:cNvSpPr txBox="1"/>
          <p:nvPr/>
        </p:nvSpPr>
        <p:spPr>
          <a:xfrm>
            <a:off x="6528816" y="3246120"/>
            <a:ext cx="4837176" cy="14173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Purpose-built for statistics and data visualisation</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Clear step-by-step explanation of each analysis</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Supports many file types including SPSS-style data</a:t>
            </a:r>
            <a:endParaRPr lang="en-US" sz="1150" dirty="0"/>
          </a:p>
        </p:txBody>
      </p:sp>
      <p:sp>
        <p:nvSpPr>
          <p:cNvPr id="19" name="Shape 17"/>
          <p:cNvSpPr/>
          <p:nvPr/>
        </p:nvSpPr>
        <p:spPr>
          <a:xfrm>
            <a:off x="6528816" y="4690872"/>
            <a:ext cx="4837176" cy="0"/>
          </a:xfrm>
          <a:prstGeom prst="line">
            <a:avLst/>
          </a:prstGeom>
          <a:noFill/>
          <a:ln w="12700">
            <a:solidFill>
              <a:srgbClr val="E2E6EA"/>
            </a:solidFill>
            <a:prstDash val="solid"/>
          </a:ln>
        </p:spPr>
      </p:sp>
      <p:sp>
        <p:nvSpPr>
          <p:cNvPr id="20" name="Text 18"/>
          <p:cNvSpPr txBox="1"/>
          <p:nvPr/>
        </p:nvSpPr>
        <p:spPr>
          <a:xfrm>
            <a:off x="6528816" y="4800600"/>
            <a:ext cx="2743200" cy="256032"/>
          </a:xfrm>
          <a:prstGeom prst="rect">
            <a:avLst/>
          </a:prstGeom>
          <a:noFill/>
          <a:ln/>
        </p:spPr>
        <p:txBody>
          <a:bodyPr wrap="square" lIns="0" tIns="0" rIns="0" bIns="0" rtlCol="0" anchor="ctr"/>
          <a:lstStyle/>
          <a:p>
            <a:pPr marL="0" indent="0">
              <a:buNone/>
            </a:pPr>
            <a:r>
              <a:rPr lang="en-US" sz="1050" b="1" kern="0" spc="140" dirty="0">
                <a:solidFill>
                  <a:srgbClr val="B3261E"/>
                </a:solidFill>
                <a:latin typeface="Calibri" pitchFamily="34" charset="0"/>
                <a:ea typeface="Calibri" pitchFamily="34" charset="-122"/>
                <a:cs typeface="Calibri" pitchFamily="34" charset="-120"/>
              </a:rPr>
              <a:t>CONS</a:t>
            </a:r>
            <a:endParaRPr lang="en-US" sz="1050" dirty="0"/>
          </a:p>
        </p:txBody>
      </p:sp>
      <p:sp>
        <p:nvSpPr>
          <p:cNvPr id="21" name="Text 19"/>
          <p:cNvSpPr txBox="1"/>
          <p:nvPr/>
        </p:nvSpPr>
        <p:spPr>
          <a:xfrm>
            <a:off x="6528816" y="5093208"/>
            <a:ext cx="4837176" cy="9144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Smaller company; feature set changes frequently</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Free tier has strict monthly usage limits</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Less familiar interface than mainstream chat tools</a:t>
            </a:r>
            <a:endParaRPr lang="en-US" sz="1150" dirty="0"/>
          </a:p>
        </p:txBody>
      </p:sp>
      <p:sp>
        <p:nvSpPr>
          <p:cNvPr id="22" name="Text 20"/>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AI Tool Landscape</a:t>
            </a:r>
            <a:endParaRPr lang="en-US" sz="950" dirty="0"/>
          </a:p>
        </p:txBody>
      </p:sp>
      <p:sp>
        <p:nvSpPr>
          <p:cNvPr id="23" name="Text 21"/>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24</a:t>
            </a:r>
            <a:endParaRPr lang="en-US" sz="95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2 · AI TOOL LANDSCAPE</a:t>
            </a:r>
            <a:endParaRPr lang="en-US" sz="1250" dirty="0"/>
          </a:p>
        </p:txBody>
      </p:sp>
      <p:sp>
        <p:nvSpPr>
          <p:cNvPr id="3" name="Text 1"/>
          <p:cNvSpPr txBox="1"/>
          <p:nvPr/>
        </p:nvSpPr>
        <p:spPr>
          <a:xfrm>
            <a:off x="548640" y="1371600"/>
            <a:ext cx="5486400" cy="274320"/>
          </a:xfrm>
          <a:prstGeom prst="rect">
            <a:avLst/>
          </a:prstGeom>
          <a:noFill/>
          <a:ln/>
        </p:spPr>
        <p:txBody>
          <a:bodyPr wrap="square" lIns="0" tIns="0" rIns="0" bIns="0" rtlCol="0" anchor="ctr"/>
          <a:lstStyle/>
          <a:p>
            <a:pPr marL="0" indent="0">
              <a:buNone/>
            </a:pPr>
            <a:r>
              <a:rPr lang="en-US" sz="1050" b="1" kern="0" spc="120" dirty="0">
                <a:solidFill>
                  <a:srgbClr val="8A94A0"/>
                </a:solidFill>
                <a:latin typeface="Calibri" pitchFamily="34" charset="0"/>
                <a:ea typeface="Calibri" pitchFamily="34" charset="-122"/>
                <a:cs typeface="Calibri" pitchFamily="34" charset="-120"/>
              </a:rPr>
              <a:t>CATEGORY 4 OF 5</a:t>
            </a:r>
            <a:endParaRPr lang="en-US" sz="1050" dirty="0"/>
          </a:p>
        </p:txBody>
      </p:sp>
      <p:sp>
        <p:nvSpPr>
          <p:cNvPr id="4" name="Text 2"/>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Image-Generation Tools</a:t>
            </a:r>
            <a:endParaRPr lang="en-US" sz="3200" dirty="0"/>
          </a:p>
        </p:txBody>
      </p:sp>
      <p:sp>
        <p:nvSpPr>
          <p:cNvPr id="5" name="Shape 3"/>
          <p:cNvSpPr/>
          <p:nvPr/>
        </p:nvSpPr>
        <p:spPr>
          <a:xfrm>
            <a:off x="9646920" y="777240"/>
            <a:ext cx="1737360" cy="1737360"/>
          </a:xfrm>
          <a:prstGeom prst="ellipse">
            <a:avLst/>
          </a:prstGeom>
          <a:solidFill>
            <a:srgbClr val="1C7293"/>
          </a:solidFill>
          <a:ln/>
        </p:spPr>
      </p:sp>
      <p:pic>
        <p:nvPicPr>
          <p:cNvPr id="6" name="Image 0" descr="icons/image.png"/>
          <p:cNvPicPr>
            <a:picLocks noChangeAspect="1"/>
          </p:cNvPicPr>
          <p:nvPr/>
        </p:nvPicPr>
        <p:blipFill>
          <a:blip r:embed="rId3"/>
          <a:stretch>
            <a:fillRect/>
          </a:stretch>
        </p:blipFill>
        <p:spPr>
          <a:xfrm>
            <a:off x="10098634" y="1228954"/>
            <a:ext cx="833933" cy="833933"/>
          </a:xfrm>
          <a:prstGeom prst="rect">
            <a:avLst/>
          </a:prstGeom>
        </p:spPr>
      </p:pic>
      <p:sp>
        <p:nvSpPr>
          <p:cNvPr id="7" name="Shape 4"/>
          <p:cNvSpPr/>
          <p:nvPr/>
        </p:nvSpPr>
        <p:spPr>
          <a:xfrm>
            <a:off x="548640" y="2057400"/>
            <a:ext cx="10195560" cy="1051560"/>
          </a:xfrm>
          <a:prstGeom prst="roundRect">
            <a:avLst>
              <a:gd name="adj" fmla="val 7826"/>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8" name="Text 5"/>
          <p:cNvSpPr txBox="1"/>
          <p:nvPr/>
        </p:nvSpPr>
        <p:spPr>
          <a:xfrm>
            <a:off x="868680" y="2057400"/>
            <a:ext cx="9601200" cy="1051560"/>
          </a:xfrm>
          <a:prstGeom prst="rect">
            <a:avLst/>
          </a:prstGeom>
          <a:noFill/>
          <a:ln/>
        </p:spPr>
        <p:txBody>
          <a:bodyPr wrap="square" lIns="0" tIns="0" rIns="0" bIns="0" rtlCol="0" anchor="ctr"/>
          <a:lstStyle/>
          <a:p>
            <a:pPr marL="0" indent="0">
              <a:buNone/>
            </a:pPr>
            <a:r>
              <a:rPr lang="en-US" sz="1700" b="1" dirty="0">
                <a:solidFill>
                  <a:srgbClr val="1C7293"/>
                </a:solidFill>
                <a:latin typeface="Calibri" pitchFamily="34" charset="0"/>
                <a:ea typeface="Calibri" pitchFamily="34" charset="-122"/>
                <a:cs typeface="Calibri" pitchFamily="34" charset="-120"/>
              </a:rPr>
              <a:t>Write a Prompt  →  Generate Options  →  Refine the Prompt  →  Download Image</a:t>
            </a:r>
            <a:endParaRPr lang="en-US" sz="1700" dirty="0"/>
          </a:p>
        </p:txBody>
      </p:sp>
      <p:sp>
        <p:nvSpPr>
          <p:cNvPr id="9" name="Shape 6"/>
          <p:cNvSpPr/>
          <p:nvPr/>
        </p:nvSpPr>
        <p:spPr>
          <a:xfrm>
            <a:off x="548640" y="3337560"/>
            <a:ext cx="5074920" cy="2788920"/>
          </a:xfrm>
          <a:prstGeom prst="roundRect">
            <a:avLst>
              <a:gd name="adj" fmla="val 2951"/>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Text 7"/>
          <p:cNvSpPr txBox="1"/>
          <p:nvPr/>
        </p:nvSpPr>
        <p:spPr>
          <a:xfrm>
            <a:off x="841248" y="3547872"/>
            <a:ext cx="45720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WHAT IT DOES</a:t>
            </a:r>
            <a:endParaRPr lang="en-US" sz="1050" dirty="0"/>
          </a:p>
        </p:txBody>
      </p:sp>
      <p:sp>
        <p:nvSpPr>
          <p:cNvPr id="11" name="Text 8"/>
          <p:cNvSpPr txBox="1"/>
          <p:nvPr/>
        </p:nvSpPr>
        <p:spPr>
          <a:xfrm>
            <a:off x="841248" y="3877056"/>
            <a:ext cx="4526280" cy="2103120"/>
          </a:xfrm>
          <a:prstGeom prst="rect">
            <a:avLst/>
          </a:prstGeom>
          <a:noFill/>
          <a:ln/>
        </p:spPr>
        <p:txBody>
          <a:bodyPr wrap="square" lIns="0" tIns="0" rIns="0" bIns="0" rtlCol="0" anchor="t"/>
          <a:lstStyle/>
          <a:p>
            <a:pPr marL="0" indent="0">
              <a:lnSpc>
                <a:spcPct val="122000"/>
              </a:lnSpc>
              <a:buNone/>
            </a:pPr>
            <a:r>
              <a:rPr lang="en-US" sz="1300" dirty="0">
                <a:solidFill>
                  <a:srgbClr val="55606C"/>
                </a:solidFill>
                <a:latin typeface="Calibri" pitchFamily="34" charset="0"/>
                <a:ea typeface="Calibri" pitchFamily="34" charset="-122"/>
                <a:cs typeface="Calibri" pitchFamily="34" charset="-120"/>
              </a:rPr>
              <a:t>Tools that turn a text description into original illustrations, diagrams, or photo-style images — handy for lecture slides, posters, and visual explainers.</a:t>
            </a:r>
            <a:endParaRPr lang="en-US" sz="1300" dirty="0"/>
          </a:p>
        </p:txBody>
      </p:sp>
      <p:sp>
        <p:nvSpPr>
          <p:cNvPr id="12" name="Shape 9"/>
          <p:cNvSpPr/>
          <p:nvPr/>
        </p:nvSpPr>
        <p:spPr>
          <a:xfrm>
            <a:off x="5852160" y="3337560"/>
            <a:ext cx="4892040" cy="2788920"/>
          </a:xfrm>
          <a:prstGeom prst="roundRect">
            <a:avLst>
              <a:gd name="adj" fmla="val 2951"/>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3" name="Text 10"/>
          <p:cNvSpPr txBox="1"/>
          <p:nvPr/>
        </p:nvSpPr>
        <p:spPr>
          <a:xfrm>
            <a:off x="6126480" y="3547872"/>
            <a:ext cx="438912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COMMON USES FOR FACULTY</a:t>
            </a:r>
            <a:endParaRPr lang="en-US" sz="1050" dirty="0"/>
          </a:p>
        </p:txBody>
      </p:sp>
      <p:sp>
        <p:nvSpPr>
          <p:cNvPr id="14" name="Text 11"/>
          <p:cNvSpPr txBox="1"/>
          <p:nvPr/>
        </p:nvSpPr>
        <p:spPr>
          <a:xfrm>
            <a:off x="6126480" y="3877056"/>
            <a:ext cx="4526280" cy="21031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Creating custom diagrams to illustrate abstract concepts</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Designing eye-catching posters for seminars or conferences</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Generating royalty-free illustrations for course material</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Producing quick visual mock-ups for a grant proposal</a:t>
            </a:r>
            <a:endParaRPr lang="en-US" sz="1250" dirty="0"/>
          </a:p>
        </p:txBody>
      </p:sp>
      <p:sp>
        <p:nvSpPr>
          <p:cNvPr id="15" name="Text 12"/>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AI Tool Landscape</a:t>
            </a:r>
            <a:endParaRPr lang="en-US" sz="950" dirty="0"/>
          </a:p>
        </p:txBody>
      </p:sp>
      <p:sp>
        <p:nvSpPr>
          <p:cNvPr id="16" name="Text 13"/>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25</a:t>
            </a:r>
            <a:endParaRPr lang="en-US" sz="950"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2 · IMAGE-GENERATION TOOLS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Leading Tools: Midjourney &amp; DALL-E</a:t>
            </a:r>
            <a:endParaRPr lang="en-US" sz="3200" dirty="0"/>
          </a:p>
        </p:txBody>
      </p:sp>
      <p:sp>
        <p:nvSpPr>
          <p:cNvPr id="4" name="Shape 2"/>
          <p:cNvSpPr/>
          <p:nvPr/>
        </p:nvSpPr>
        <p:spPr>
          <a:xfrm>
            <a:off x="548640" y="1965960"/>
            <a:ext cx="5385816" cy="4160520"/>
          </a:xfrm>
          <a:prstGeom prst="roundRect">
            <a:avLst>
              <a:gd name="adj" fmla="val 197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5" name="Shape 3"/>
          <p:cNvSpPr/>
          <p:nvPr/>
        </p:nvSpPr>
        <p:spPr>
          <a:xfrm>
            <a:off x="822960" y="2221992"/>
            <a:ext cx="4837176" cy="566928"/>
          </a:xfrm>
          <a:prstGeom prst="roundRect">
            <a:avLst>
              <a:gd name="adj" fmla="val 9677"/>
            </a:avLst>
          </a:prstGeom>
          <a:solidFill>
            <a:srgbClr val="EFF6F7"/>
          </a:solidFill>
          <a:ln/>
        </p:spPr>
      </p:sp>
      <p:sp>
        <p:nvSpPr>
          <p:cNvPr id="6" name="Text 4"/>
          <p:cNvSpPr txBox="1"/>
          <p:nvPr/>
        </p:nvSpPr>
        <p:spPr>
          <a:xfrm>
            <a:off x="960120" y="2221992"/>
            <a:ext cx="3557016" cy="566928"/>
          </a:xfrm>
          <a:prstGeom prst="rect">
            <a:avLst/>
          </a:prstGeom>
          <a:noFill/>
          <a:ln/>
        </p:spPr>
        <p:txBody>
          <a:bodyPr wrap="square" lIns="0" tIns="0" rIns="0" bIns="0" rtlCol="0" anchor="ctr"/>
          <a:lstStyle/>
          <a:p>
            <a:pPr marL="0" indent="0">
              <a:buNone/>
            </a:pPr>
            <a:r>
              <a:rPr lang="en-US" sz="1700" b="1" dirty="0">
                <a:solidFill>
                  <a:srgbClr val="1B2A4A"/>
                </a:solidFill>
                <a:latin typeface="Cambria" pitchFamily="34" charset="0"/>
                <a:ea typeface="Cambria" pitchFamily="34" charset="-122"/>
                <a:cs typeface="Cambria" pitchFamily="34" charset="-120"/>
              </a:rPr>
              <a:t>Midjourney</a:t>
            </a:r>
            <a:endParaRPr lang="en-US" sz="1700" dirty="0"/>
          </a:p>
        </p:txBody>
      </p:sp>
      <p:sp>
        <p:nvSpPr>
          <p:cNvPr id="7" name="Text 5"/>
          <p:cNvSpPr txBox="1"/>
          <p:nvPr/>
        </p:nvSpPr>
        <p:spPr>
          <a:xfrm>
            <a:off x="822960" y="2258568"/>
            <a:ext cx="4837176" cy="502920"/>
          </a:xfrm>
          <a:prstGeom prst="rect">
            <a:avLst/>
          </a:prstGeom>
          <a:noFill/>
          <a:ln/>
        </p:spPr>
        <p:txBody>
          <a:bodyPr wrap="square" lIns="0" tIns="0" rIns="0" bIns="0" rtlCol="0" anchor="ctr"/>
          <a:lstStyle/>
          <a:p>
            <a:pPr marL="0" indent="0" algn="r">
              <a:buNone/>
            </a:pPr>
            <a:r>
              <a:rPr lang="en-US" sz="1000" b="1" dirty="0">
                <a:solidFill>
                  <a:srgbClr val="1C7293"/>
                </a:solidFill>
                <a:latin typeface="Calibri" pitchFamily="34" charset="0"/>
                <a:ea typeface="Calibri" pitchFamily="34" charset="-122"/>
                <a:cs typeface="Calibri" pitchFamily="34" charset="-120"/>
              </a:rPr>
              <a:t>HIGHEST VISUAL QUALITY</a:t>
            </a:r>
            <a:endParaRPr lang="en-US" sz="1000" dirty="0"/>
          </a:p>
        </p:txBody>
      </p:sp>
      <p:sp>
        <p:nvSpPr>
          <p:cNvPr id="8" name="Text 6"/>
          <p:cNvSpPr txBox="1"/>
          <p:nvPr/>
        </p:nvSpPr>
        <p:spPr>
          <a:xfrm>
            <a:off x="822960" y="2953512"/>
            <a:ext cx="2743200" cy="256032"/>
          </a:xfrm>
          <a:prstGeom prst="rect">
            <a:avLst/>
          </a:prstGeom>
          <a:noFill/>
          <a:ln/>
        </p:spPr>
        <p:txBody>
          <a:bodyPr wrap="square" lIns="0" tIns="0" rIns="0" bIns="0" rtlCol="0" anchor="ctr"/>
          <a:lstStyle/>
          <a:p>
            <a:pPr marL="0" indent="0">
              <a:buNone/>
            </a:pPr>
            <a:r>
              <a:rPr lang="en-US" sz="1050" b="1" kern="0" spc="140" dirty="0">
                <a:solidFill>
                  <a:srgbClr val="2E7D32"/>
                </a:solidFill>
                <a:latin typeface="Calibri" pitchFamily="34" charset="0"/>
                <a:ea typeface="Calibri" pitchFamily="34" charset="-122"/>
                <a:cs typeface="Calibri" pitchFamily="34" charset="-120"/>
              </a:rPr>
              <a:t>PROS</a:t>
            </a:r>
            <a:endParaRPr lang="en-US" sz="1050" dirty="0"/>
          </a:p>
        </p:txBody>
      </p:sp>
      <p:sp>
        <p:nvSpPr>
          <p:cNvPr id="9" name="Text 7"/>
          <p:cNvSpPr txBox="1"/>
          <p:nvPr/>
        </p:nvSpPr>
        <p:spPr>
          <a:xfrm>
            <a:off x="822960" y="3246120"/>
            <a:ext cx="4837176" cy="14173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Consistently the most polished, artistic image quality</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Large style vocabulary for very specific looks</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Active community sharing effective prompt techniques</a:t>
            </a:r>
            <a:endParaRPr lang="en-US" sz="1150" dirty="0"/>
          </a:p>
        </p:txBody>
      </p:sp>
      <p:sp>
        <p:nvSpPr>
          <p:cNvPr id="10" name="Shape 8"/>
          <p:cNvSpPr/>
          <p:nvPr/>
        </p:nvSpPr>
        <p:spPr>
          <a:xfrm>
            <a:off x="822960" y="4690872"/>
            <a:ext cx="4837176" cy="0"/>
          </a:xfrm>
          <a:prstGeom prst="line">
            <a:avLst/>
          </a:prstGeom>
          <a:noFill/>
          <a:ln w="12700">
            <a:solidFill>
              <a:srgbClr val="E2E6EA"/>
            </a:solidFill>
            <a:prstDash val="solid"/>
          </a:ln>
        </p:spPr>
      </p:sp>
      <p:sp>
        <p:nvSpPr>
          <p:cNvPr id="11" name="Text 9"/>
          <p:cNvSpPr txBox="1"/>
          <p:nvPr/>
        </p:nvSpPr>
        <p:spPr>
          <a:xfrm>
            <a:off x="822960" y="4800600"/>
            <a:ext cx="2743200" cy="256032"/>
          </a:xfrm>
          <a:prstGeom prst="rect">
            <a:avLst/>
          </a:prstGeom>
          <a:noFill/>
          <a:ln/>
        </p:spPr>
        <p:txBody>
          <a:bodyPr wrap="square" lIns="0" tIns="0" rIns="0" bIns="0" rtlCol="0" anchor="ctr"/>
          <a:lstStyle/>
          <a:p>
            <a:pPr marL="0" indent="0">
              <a:buNone/>
            </a:pPr>
            <a:r>
              <a:rPr lang="en-US" sz="1050" b="1" kern="0" spc="140" dirty="0">
                <a:solidFill>
                  <a:srgbClr val="B3261E"/>
                </a:solidFill>
                <a:latin typeface="Calibri" pitchFamily="34" charset="0"/>
                <a:ea typeface="Calibri" pitchFamily="34" charset="-122"/>
                <a:cs typeface="Calibri" pitchFamily="34" charset="-120"/>
              </a:rPr>
              <a:t>CONS</a:t>
            </a:r>
            <a:endParaRPr lang="en-US" sz="1050" dirty="0"/>
          </a:p>
        </p:txBody>
      </p:sp>
      <p:sp>
        <p:nvSpPr>
          <p:cNvPr id="12" name="Text 10"/>
          <p:cNvSpPr txBox="1"/>
          <p:nvPr/>
        </p:nvSpPr>
        <p:spPr>
          <a:xfrm>
            <a:off x="822960" y="5093208"/>
            <a:ext cx="4837176" cy="9144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No free tier — subscription required from day one</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Historically required using Discord to generate images</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Less precise at rendering readable text in images</a:t>
            </a:r>
            <a:endParaRPr lang="en-US" sz="1150" dirty="0"/>
          </a:p>
        </p:txBody>
      </p:sp>
      <p:sp>
        <p:nvSpPr>
          <p:cNvPr id="13" name="Shape 11"/>
          <p:cNvSpPr/>
          <p:nvPr/>
        </p:nvSpPr>
        <p:spPr>
          <a:xfrm>
            <a:off x="6254496" y="1965960"/>
            <a:ext cx="5385816" cy="4160520"/>
          </a:xfrm>
          <a:prstGeom prst="roundRect">
            <a:avLst>
              <a:gd name="adj" fmla="val 197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4" name="Shape 12"/>
          <p:cNvSpPr/>
          <p:nvPr/>
        </p:nvSpPr>
        <p:spPr>
          <a:xfrm>
            <a:off x="6528816" y="2221992"/>
            <a:ext cx="4837176" cy="566928"/>
          </a:xfrm>
          <a:prstGeom prst="roundRect">
            <a:avLst>
              <a:gd name="adj" fmla="val 9677"/>
            </a:avLst>
          </a:prstGeom>
          <a:solidFill>
            <a:srgbClr val="EFF6F7"/>
          </a:solidFill>
          <a:ln/>
        </p:spPr>
      </p:sp>
      <p:sp>
        <p:nvSpPr>
          <p:cNvPr id="15" name="Text 13"/>
          <p:cNvSpPr txBox="1"/>
          <p:nvPr/>
        </p:nvSpPr>
        <p:spPr>
          <a:xfrm>
            <a:off x="6665976" y="2221992"/>
            <a:ext cx="3557016" cy="566928"/>
          </a:xfrm>
          <a:prstGeom prst="rect">
            <a:avLst/>
          </a:prstGeom>
          <a:noFill/>
          <a:ln/>
        </p:spPr>
        <p:txBody>
          <a:bodyPr wrap="square" lIns="0" tIns="0" rIns="0" bIns="0" rtlCol="0" anchor="ctr"/>
          <a:lstStyle/>
          <a:p>
            <a:pPr marL="0" indent="0">
              <a:buNone/>
            </a:pPr>
            <a:r>
              <a:rPr lang="en-US" sz="1700" b="1" dirty="0">
                <a:solidFill>
                  <a:srgbClr val="1B2A4A"/>
                </a:solidFill>
                <a:latin typeface="Cambria" pitchFamily="34" charset="0"/>
                <a:ea typeface="Cambria" pitchFamily="34" charset="-122"/>
                <a:cs typeface="Cambria" pitchFamily="34" charset="-120"/>
              </a:rPr>
              <a:t>DALL-E (via ChatGPT)</a:t>
            </a:r>
            <a:endParaRPr lang="en-US" sz="1700" dirty="0"/>
          </a:p>
        </p:txBody>
      </p:sp>
      <p:sp>
        <p:nvSpPr>
          <p:cNvPr id="16" name="Text 14"/>
          <p:cNvSpPr txBox="1"/>
          <p:nvPr/>
        </p:nvSpPr>
        <p:spPr>
          <a:xfrm>
            <a:off x="6528816" y="2258568"/>
            <a:ext cx="4837176" cy="502920"/>
          </a:xfrm>
          <a:prstGeom prst="rect">
            <a:avLst/>
          </a:prstGeom>
          <a:noFill/>
          <a:ln/>
        </p:spPr>
        <p:txBody>
          <a:bodyPr wrap="square" lIns="0" tIns="0" rIns="0" bIns="0" rtlCol="0" anchor="ctr"/>
          <a:lstStyle/>
          <a:p>
            <a:pPr marL="0" indent="0" algn="r">
              <a:buNone/>
            </a:pPr>
            <a:r>
              <a:rPr lang="en-US" sz="1000" b="1" dirty="0">
                <a:solidFill>
                  <a:srgbClr val="1C7293"/>
                </a:solidFill>
                <a:latin typeface="Calibri" pitchFamily="34" charset="0"/>
                <a:ea typeface="Calibri" pitchFamily="34" charset="-122"/>
                <a:cs typeface="Calibri" pitchFamily="34" charset="-120"/>
              </a:rPr>
              <a:t>EASIEST TO USE</a:t>
            </a:r>
            <a:endParaRPr lang="en-US" sz="1000" dirty="0"/>
          </a:p>
        </p:txBody>
      </p:sp>
      <p:sp>
        <p:nvSpPr>
          <p:cNvPr id="17" name="Text 15"/>
          <p:cNvSpPr txBox="1"/>
          <p:nvPr/>
        </p:nvSpPr>
        <p:spPr>
          <a:xfrm>
            <a:off x="6528816" y="2953512"/>
            <a:ext cx="2743200" cy="256032"/>
          </a:xfrm>
          <a:prstGeom prst="rect">
            <a:avLst/>
          </a:prstGeom>
          <a:noFill/>
          <a:ln/>
        </p:spPr>
        <p:txBody>
          <a:bodyPr wrap="square" lIns="0" tIns="0" rIns="0" bIns="0" rtlCol="0" anchor="ctr"/>
          <a:lstStyle/>
          <a:p>
            <a:pPr marL="0" indent="0">
              <a:buNone/>
            </a:pPr>
            <a:r>
              <a:rPr lang="en-US" sz="1050" b="1" kern="0" spc="140" dirty="0">
                <a:solidFill>
                  <a:srgbClr val="2E7D32"/>
                </a:solidFill>
                <a:latin typeface="Calibri" pitchFamily="34" charset="0"/>
                <a:ea typeface="Calibri" pitchFamily="34" charset="-122"/>
                <a:cs typeface="Calibri" pitchFamily="34" charset="-120"/>
              </a:rPr>
              <a:t>PROS</a:t>
            </a:r>
            <a:endParaRPr lang="en-US" sz="1050" dirty="0"/>
          </a:p>
        </p:txBody>
      </p:sp>
      <p:sp>
        <p:nvSpPr>
          <p:cNvPr id="18" name="Text 16"/>
          <p:cNvSpPr txBox="1"/>
          <p:nvPr/>
        </p:nvSpPr>
        <p:spPr>
          <a:xfrm>
            <a:off x="6528816" y="3246120"/>
            <a:ext cx="4837176" cy="14173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Built directly into the ChatGPT chat interface</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Good at following detailed, literal instructions</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Simple conversational refinement of an image</a:t>
            </a:r>
            <a:endParaRPr lang="en-US" sz="1150" dirty="0"/>
          </a:p>
        </p:txBody>
      </p:sp>
      <p:sp>
        <p:nvSpPr>
          <p:cNvPr id="19" name="Shape 17"/>
          <p:cNvSpPr/>
          <p:nvPr/>
        </p:nvSpPr>
        <p:spPr>
          <a:xfrm>
            <a:off x="6528816" y="4690872"/>
            <a:ext cx="4837176" cy="0"/>
          </a:xfrm>
          <a:prstGeom prst="line">
            <a:avLst/>
          </a:prstGeom>
          <a:noFill/>
          <a:ln w="12700">
            <a:solidFill>
              <a:srgbClr val="E2E6EA"/>
            </a:solidFill>
            <a:prstDash val="solid"/>
          </a:ln>
        </p:spPr>
      </p:sp>
      <p:sp>
        <p:nvSpPr>
          <p:cNvPr id="20" name="Text 18"/>
          <p:cNvSpPr txBox="1"/>
          <p:nvPr/>
        </p:nvSpPr>
        <p:spPr>
          <a:xfrm>
            <a:off x="6528816" y="4800600"/>
            <a:ext cx="2743200" cy="256032"/>
          </a:xfrm>
          <a:prstGeom prst="rect">
            <a:avLst/>
          </a:prstGeom>
          <a:noFill/>
          <a:ln/>
        </p:spPr>
        <p:txBody>
          <a:bodyPr wrap="square" lIns="0" tIns="0" rIns="0" bIns="0" rtlCol="0" anchor="ctr"/>
          <a:lstStyle/>
          <a:p>
            <a:pPr marL="0" indent="0">
              <a:buNone/>
            </a:pPr>
            <a:r>
              <a:rPr lang="en-US" sz="1050" b="1" kern="0" spc="140" dirty="0">
                <a:solidFill>
                  <a:srgbClr val="B3261E"/>
                </a:solidFill>
                <a:latin typeface="Calibri" pitchFamily="34" charset="0"/>
                <a:ea typeface="Calibri" pitchFamily="34" charset="-122"/>
                <a:cs typeface="Calibri" pitchFamily="34" charset="-120"/>
              </a:rPr>
              <a:t>CONS</a:t>
            </a:r>
            <a:endParaRPr lang="en-US" sz="1050" dirty="0"/>
          </a:p>
        </p:txBody>
      </p:sp>
      <p:sp>
        <p:nvSpPr>
          <p:cNvPr id="21" name="Text 19"/>
          <p:cNvSpPr txBox="1"/>
          <p:nvPr/>
        </p:nvSpPr>
        <p:spPr>
          <a:xfrm>
            <a:off x="6528816" y="5093208"/>
            <a:ext cx="4837176" cy="9144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Included usage may be capped on lower-tier plans</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Photorealism can lag behind specialist competitors</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Some content and likeness restrictions apply</a:t>
            </a:r>
            <a:endParaRPr lang="en-US" sz="1150" dirty="0"/>
          </a:p>
        </p:txBody>
      </p:sp>
      <p:sp>
        <p:nvSpPr>
          <p:cNvPr id="22" name="Text 20"/>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AI Tool Landscape</a:t>
            </a:r>
            <a:endParaRPr lang="en-US" sz="950" dirty="0"/>
          </a:p>
        </p:txBody>
      </p:sp>
      <p:sp>
        <p:nvSpPr>
          <p:cNvPr id="23" name="Text 21"/>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26</a:t>
            </a:r>
            <a:endParaRPr lang="en-US" sz="95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2 · IMAGE-GENERATION TOOLS</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Leading Tools: Adobe Firefly &amp; Canva AI</a:t>
            </a:r>
            <a:endParaRPr lang="en-US" sz="3200" dirty="0"/>
          </a:p>
        </p:txBody>
      </p:sp>
      <p:sp>
        <p:nvSpPr>
          <p:cNvPr id="4" name="Shape 2"/>
          <p:cNvSpPr/>
          <p:nvPr/>
        </p:nvSpPr>
        <p:spPr>
          <a:xfrm>
            <a:off x="548640" y="1965960"/>
            <a:ext cx="5385816" cy="4160520"/>
          </a:xfrm>
          <a:prstGeom prst="roundRect">
            <a:avLst>
              <a:gd name="adj" fmla="val 197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5" name="Shape 3"/>
          <p:cNvSpPr/>
          <p:nvPr/>
        </p:nvSpPr>
        <p:spPr>
          <a:xfrm>
            <a:off x="822960" y="2221992"/>
            <a:ext cx="4837176" cy="566928"/>
          </a:xfrm>
          <a:prstGeom prst="roundRect">
            <a:avLst>
              <a:gd name="adj" fmla="val 9677"/>
            </a:avLst>
          </a:prstGeom>
          <a:solidFill>
            <a:srgbClr val="EFF6F7"/>
          </a:solidFill>
          <a:ln/>
        </p:spPr>
      </p:sp>
      <p:sp>
        <p:nvSpPr>
          <p:cNvPr id="6" name="Text 4"/>
          <p:cNvSpPr txBox="1"/>
          <p:nvPr/>
        </p:nvSpPr>
        <p:spPr>
          <a:xfrm>
            <a:off x="960120" y="2221992"/>
            <a:ext cx="3557016" cy="566928"/>
          </a:xfrm>
          <a:prstGeom prst="rect">
            <a:avLst/>
          </a:prstGeom>
          <a:noFill/>
          <a:ln/>
        </p:spPr>
        <p:txBody>
          <a:bodyPr wrap="square" lIns="0" tIns="0" rIns="0" bIns="0" rtlCol="0" anchor="ctr"/>
          <a:lstStyle/>
          <a:p>
            <a:pPr marL="0" indent="0">
              <a:buNone/>
            </a:pPr>
            <a:r>
              <a:rPr lang="en-US" sz="1700" b="1" dirty="0">
                <a:solidFill>
                  <a:srgbClr val="1B2A4A"/>
                </a:solidFill>
                <a:latin typeface="Cambria" pitchFamily="34" charset="0"/>
                <a:ea typeface="Cambria" pitchFamily="34" charset="-122"/>
                <a:cs typeface="Cambria" pitchFamily="34" charset="-120"/>
              </a:rPr>
              <a:t>Adobe Firefly</a:t>
            </a:r>
            <a:endParaRPr lang="en-US" sz="1700" dirty="0"/>
          </a:p>
        </p:txBody>
      </p:sp>
      <p:sp>
        <p:nvSpPr>
          <p:cNvPr id="7" name="Text 5"/>
          <p:cNvSpPr txBox="1"/>
          <p:nvPr/>
        </p:nvSpPr>
        <p:spPr>
          <a:xfrm>
            <a:off x="822960" y="2258568"/>
            <a:ext cx="4837176" cy="502920"/>
          </a:xfrm>
          <a:prstGeom prst="rect">
            <a:avLst/>
          </a:prstGeom>
          <a:noFill/>
          <a:ln/>
        </p:spPr>
        <p:txBody>
          <a:bodyPr wrap="square" lIns="0" tIns="0" rIns="0" bIns="0" rtlCol="0" anchor="ctr"/>
          <a:lstStyle/>
          <a:p>
            <a:pPr marL="0" indent="0" algn="r">
              <a:buNone/>
            </a:pPr>
            <a:r>
              <a:rPr lang="en-US" sz="1000" b="1" dirty="0">
                <a:solidFill>
                  <a:srgbClr val="1C7293"/>
                </a:solidFill>
                <a:latin typeface="Calibri" pitchFamily="34" charset="0"/>
                <a:ea typeface="Calibri" pitchFamily="34" charset="-122"/>
                <a:cs typeface="Calibri" pitchFamily="34" charset="-120"/>
              </a:rPr>
              <a:t>SAFE FOR INSTITUTIONAL USE</a:t>
            </a:r>
            <a:endParaRPr lang="en-US" sz="1000" dirty="0"/>
          </a:p>
        </p:txBody>
      </p:sp>
      <p:sp>
        <p:nvSpPr>
          <p:cNvPr id="8" name="Text 6"/>
          <p:cNvSpPr txBox="1"/>
          <p:nvPr/>
        </p:nvSpPr>
        <p:spPr>
          <a:xfrm>
            <a:off x="822960" y="2953512"/>
            <a:ext cx="2743200" cy="256032"/>
          </a:xfrm>
          <a:prstGeom prst="rect">
            <a:avLst/>
          </a:prstGeom>
          <a:noFill/>
          <a:ln/>
        </p:spPr>
        <p:txBody>
          <a:bodyPr wrap="square" lIns="0" tIns="0" rIns="0" bIns="0" rtlCol="0" anchor="ctr"/>
          <a:lstStyle/>
          <a:p>
            <a:pPr marL="0" indent="0">
              <a:buNone/>
            </a:pPr>
            <a:r>
              <a:rPr lang="en-US" sz="1050" b="1" kern="0" spc="140" dirty="0">
                <a:solidFill>
                  <a:srgbClr val="2E7D32"/>
                </a:solidFill>
                <a:latin typeface="Calibri" pitchFamily="34" charset="0"/>
                <a:ea typeface="Calibri" pitchFamily="34" charset="-122"/>
                <a:cs typeface="Calibri" pitchFamily="34" charset="-120"/>
              </a:rPr>
              <a:t>PROS</a:t>
            </a:r>
            <a:endParaRPr lang="en-US" sz="1050" dirty="0"/>
          </a:p>
        </p:txBody>
      </p:sp>
      <p:sp>
        <p:nvSpPr>
          <p:cNvPr id="9" name="Text 7"/>
          <p:cNvSpPr txBox="1"/>
          <p:nvPr/>
        </p:nvSpPr>
        <p:spPr>
          <a:xfrm>
            <a:off x="822960" y="3246120"/>
            <a:ext cx="4837176" cy="14173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Trained on licensed content — lower copyright risk</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Integrates directly into Photoshop and Illustrator</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Includes generative fill/expand for editing existing images</a:t>
            </a:r>
            <a:endParaRPr lang="en-US" sz="1150" dirty="0"/>
          </a:p>
        </p:txBody>
      </p:sp>
      <p:sp>
        <p:nvSpPr>
          <p:cNvPr id="10" name="Shape 8"/>
          <p:cNvSpPr/>
          <p:nvPr/>
        </p:nvSpPr>
        <p:spPr>
          <a:xfrm>
            <a:off x="822960" y="4690872"/>
            <a:ext cx="4837176" cy="0"/>
          </a:xfrm>
          <a:prstGeom prst="line">
            <a:avLst/>
          </a:prstGeom>
          <a:noFill/>
          <a:ln w="12700">
            <a:solidFill>
              <a:srgbClr val="E2E6EA"/>
            </a:solidFill>
            <a:prstDash val="solid"/>
          </a:ln>
        </p:spPr>
      </p:sp>
      <p:sp>
        <p:nvSpPr>
          <p:cNvPr id="11" name="Text 9"/>
          <p:cNvSpPr txBox="1"/>
          <p:nvPr/>
        </p:nvSpPr>
        <p:spPr>
          <a:xfrm>
            <a:off x="822960" y="4800600"/>
            <a:ext cx="2743200" cy="256032"/>
          </a:xfrm>
          <a:prstGeom prst="rect">
            <a:avLst/>
          </a:prstGeom>
          <a:noFill/>
          <a:ln/>
        </p:spPr>
        <p:txBody>
          <a:bodyPr wrap="square" lIns="0" tIns="0" rIns="0" bIns="0" rtlCol="0" anchor="ctr"/>
          <a:lstStyle/>
          <a:p>
            <a:pPr marL="0" indent="0">
              <a:buNone/>
            </a:pPr>
            <a:r>
              <a:rPr lang="en-US" sz="1050" b="1" kern="0" spc="140" dirty="0">
                <a:solidFill>
                  <a:srgbClr val="B3261E"/>
                </a:solidFill>
                <a:latin typeface="Calibri" pitchFamily="34" charset="0"/>
                <a:ea typeface="Calibri" pitchFamily="34" charset="-122"/>
                <a:cs typeface="Calibri" pitchFamily="34" charset="-120"/>
              </a:rPr>
              <a:t>CONS</a:t>
            </a:r>
            <a:endParaRPr lang="en-US" sz="1050" dirty="0"/>
          </a:p>
        </p:txBody>
      </p:sp>
      <p:sp>
        <p:nvSpPr>
          <p:cNvPr id="12" name="Text 10"/>
          <p:cNvSpPr txBox="1"/>
          <p:nvPr/>
        </p:nvSpPr>
        <p:spPr>
          <a:xfrm>
            <a:off x="822960" y="5093208"/>
            <a:ext cx="4837176" cy="9144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Best features need an Adobe Creative Cloud licence</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Stylistic range is narrower than Midjourney</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Standalone web app has fewer controls than desktop apps</a:t>
            </a:r>
            <a:endParaRPr lang="en-US" sz="1150" dirty="0"/>
          </a:p>
        </p:txBody>
      </p:sp>
      <p:sp>
        <p:nvSpPr>
          <p:cNvPr id="13" name="Shape 11"/>
          <p:cNvSpPr/>
          <p:nvPr/>
        </p:nvSpPr>
        <p:spPr>
          <a:xfrm>
            <a:off x="6254496" y="1965960"/>
            <a:ext cx="5385816" cy="4160520"/>
          </a:xfrm>
          <a:prstGeom prst="roundRect">
            <a:avLst>
              <a:gd name="adj" fmla="val 197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4" name="Shape 12"/>
          <p:cNvSpPr/>
          <p:nvPr/>
        </p:nvSpPr>
        <p:spPr>
          <a:xfrm>
            <a:off x="6528816" y="2221992"/>
            <a:ext cx="4837176" cy="566928"/>
          </a:xfrm>
          <a:prstGeom prst="roundRect">
            <a:avLst>
              <a:gd name="adj" fmla="val 9677"/>
            </a:avLst>
          </a:prstGeom>
          <a:solidFill>
            <a:srgbClr val="EFF6F7"/>
          </a:solidFill>
          <a:ln/>
        </p:spPr>
      </p:sp>
      <p:sp>
        <p:nvSpPr>
          <p:cNvPr id="15" name="Text 13"/>
          <p:cNvSpPr txBox="1"/>
          <p:nvPr/>
        </p:nvSpPr>
        <p:spPr>
          <a:xfrm>
            <a:off x="6665976" y="2221992"/>
            <a:ext cx="3557016" cy="566928"/>
          </a:xfrm>
          <a:prstGeom prst="rect">
            <a:avLst/>
          </a:prstGeom>
          <a:noFill/>
          <a:ln/>
        </p:spPr>
        <p:txBody>
          <a:bodyPr wrap="square" lIns="0" tIns="0" rIns="0" bIns="0" rtlCol="0" anchor="ctr"/>
          <a:lstStyle/>
          <a:p>
            <a:pPr marL="0" indent="0">
              <a:buNone/>
            </a:pPr>
            <a:r>
              <a:rPr lang="en-US" sz="1700" b="1" dirty="0">
                <a:solidFill>
                  <a:srgbClr val="1B2A4A"/>
                </a:solidFill>
                <a:latin typeface="Cambria" pitchFamily="34" charset="0"/>
                <a:ea typeface="Cambria" pitchFamily="34" charset="-122"/>
                <a:cs typeface="Cambria" pitchFamily="34" charset="-120"/>
              </a:rPr>
              <a:t>Canva AI (Magic Studio)</a:t>
            </a:r>
            <a:endParaRPr lang="en-US" sz="1700" dirty="0"/>
          </a:p>
        </p:txBody>
      </p:sp>
      <p:sp>
        <p:nvSpPr>
          <p:cNvPr id="16" name="Text 14"/>
          <p:cNvSpPr txBox="1"/>
          <p:nvPr/>
        </p:nvSpPr>
        <p:spPr>
          <a:xfrm>
            <a:off x="6528816" y="2258568"/>
            <a:ext cx="4837176" cy="502920"/>
          </a:xfrm>
          <a:prstGeom prst="rect">
            <a:avLst/>
          </a:prstGeom>
          <a:noFill/>
          <a:ln/>
        </p:spPr>
        <p:txBody>
          <a:bodyPr wrap="square" lIns="0" tIns="0" rIns="0" bIns="0" rtlCol="0" anchor="ctr"/>
          <a:lstStyle/>
          <a:p>
            <a:pPr marL="0" indent="0" algn="r">
              <a:buNone/>
            </a:pPr>
            <a:r>
              <a:rPr lang="en-US" sz="1000" b="1" dirty="0">
                <a:solidFill>
                  <a:srgbClr val="1C7293"/>
                </a:solidFill>
                <a:latin typeface="Calibri" pitchFamily="34" charset="0"/>
                <a:ea typeface="Calibri" pitchFamily="34" charset="-122"/>
                <a:cs typeface="Calibri" pitchFamily="34" charset="-120"/>
              </a:rPr>
              <a:t>BEST FOR QUICK POSTERS/SLIDES</a:t>
            </a:r>
            <a:endParaRPr lang="en-US" sz="1000" dirty="0"/>
          </a:p>
        </p:txBody>
      </p:sp>
      <p:sp>
        <p:nvSpPr>
          <p:cNvPr id="17" name="Text 15"/>
          <p:cNvSpPr txBox="1"/>
          <p:nvPr/>
        </p:nvSpPr>
        <p:spPr>
          <a:xfrm>
            <a:off x="6528816" y="2953512"/>
            <a:ext cx="2743200" cy="256032"/>
          </a:xfrm>
          <a:prstGeom prst="rect">
            <a:avLst/>
          </a:prstGeom>
          <a:noFill/>
          <a:ln/>
        </p:spPr>
        <p:txBody>
          <a:bodyPr wrap="square" lIns="0" tIns="0" rIns="0" bIns="0" rtlCol="0" anchor="ctr"/>
          <a:lstStyle/>
          <a:p>
            <a:pPr marL="0" indent="0">
              <a:buNone/>
            </a:pPr>
            <a:r>
              <a:rPr lang="en-US" sz="1050" b="1" kern="0" spc="140" dirty="0">
                <a:solidFill>
                  <a:srgbClr val="2E7D32"/>
                </a:solidFill>
                <a:latin typeface="Calibri" pitchFamily="34" charset="0"/>
                <a:ea typeface="Calibri" pitchFamily="34" charset="-122"/>
                <a:cs typeface="Calibri" pitchFamily="34" charset="-120"/>
              </a:rPr>
              <a:t>PROS</a:t>
            </a:r>
            <a:endParaRPr lang="en-US" sz="1050" dirty="0"/>
          </a:p>
        </p:txBody>
      </p:sp>
      <p:sp>
        <p:nvSpPr>
          <p:cNvPr id="18" name="Text 16"/>
          <p:cNvSpPr txBox="1"/>
          <p:nvPr/>
        </p:nvSpPr>
        <p:spPr>
          <a:xfrm>
            <a:off x="6528816" y="3246120"/>
            <a:ext cx="4837176" cy="14173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Combines image generation with ready design templates</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Extremely beginner-friendly drag-and-drop interface</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Free tier is genuinely usable for simple materials</a:t>
            </a:r>
            <a:endParaRPr lang="en-US" sz="1150" dirty="0"/>
          </a:p>
        </p:txBody>
      </p:sp>
      <p:sp>
        <p:nvSpPr>
          <p:cNvPr id="19" name="Shape 17"/>
          <p:cNvSpPr/>
          <p:nvPr/>
        </p:nvSpPr>
        <p:spPr>
          <a:xfrm>
            <a:off x="6528816" y="4690872"/>
            <a:ext cx="4837176" cy="0"/>
          </a:xfrm>
          <a:prstGeom prst="line">
            <a:avLst/>
          </a:prstGeom>
          <a:noFill/>
          <a:ln w="12700">
            <a:solidFill>
              <a:srgbClr val="E2E6EA"/>
            </a:solidFill>
            <a:prstDash val="solid"/>
          </a:ln>
        </p:spPr>
      </p:sp>
      <p:sp>
        <p:nvSpPr>
          <p:cNvPr id="20" name="Text 18"/>
          <p:cNvSpPr txBox="1"/>
          <p:nvPr/>
        </p:nvSpPr>
        <p:spPr>
          <a:xfrm>
            <a:off x="6528816" y="4800600"/>
            <a:ext cx="2743200" cy="256032"/>
          </a:xfrm>
          <a:prstGeom prst="rect">
            <a:avLst/>
          </a:prstGeom>
          <a:noFill/>
          <a:ln/>
        </p:spPr>
        <p:txBody>
          <a:bodyPr wrap="square" lIns="0" tIns="0" rIns="0" bIns="0" rtlCol="0" anchor="ctr"/>
          <a:lstStyle/>
          <a:p>
            <a:pPr marL="0" indent="0">
              <a:buNone/>
            </a:pPr>
            <a:r>
              <a:rPr lang="en-US" sz="1050" b="1" kern="0" spc="140" dirty="0">
                <a:solidFill>
                  <a:srgbClr val="B3261E"/>
                </a:solidFill>
                <a:latin typeface="Calibri" pitchFamily="34" charset="0"/>
                <a:ea typeface="Calibri" pitchFamily="34" charset="-122"/>
                <a:cs typeface="Calibri" pitchFamily="34" charset="-120"/>
              </a:rPr>
              <a:t>CONS</a:t>
            </a:r>
            <a:endParaRPr lang="en-US" sz="1050" dirty="0"/>
          </a:p>
        </p:txBody>
      </p:sp>
      <p:sp>
        <p:nvSpPr>
          <p:cNvPr id="21" name="Text 19"/>
          <p:cNvSpPr txBox="1"/>
          <p:nvPr/>
        </p:nvSpPr>
        <p:spPr>
          <a:xfrm>
            <a:off x="6528816" y="5093208"/>
            <a:ext cx="4837176" cy="9144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Image generation quality trails dedicated tools</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Premium templates and assets need a paid plan</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Less control over fine-grained artistic detail</a:t>
            </a:r>
            <a:endParaRPr lang="en-US" sz="1150" dirty="0"/>
          </a:p>
        </p:txBody>
      </p:sp>
      <p:sp>
        <p:nvSpPr>
          <p:cNvPr id="22" name="Text 20"/>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AI Tool Landscape</a:t>
            </a:r>
            <a:endParaRPr lang="en-US" sz="950" dirty="0"/>
          </a:p>
        </p:txBody>
      </p:sp>
      <p:sp>
        <p:nvSpPr>
          <p:cNvPr id="23" name="Text 21"/>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27</a:t>
            </a:r>
            <a:endParaRPr lang="en-US" sz="950"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2 · AI TOOL LANDSCAPE</a:t>
            </a:r>
            <a:endParaRPr lang="en-US" sz="1250" dirty="0"/>
          </a:p>
        </p:txBody>
      </p:sp>
      <p:sp>
        <p:nvSpPr>
          <p:cNvPr id="3" name="Text 1"/>
          <p:cNvSpPr txBox="1"/>
          <p:nvPr/>
        </p:nvSpPr>
        <p:spPr>
          <a:xfrm>
            <a:off x="548640" y="1371600"/>
            <a:ext cx="5486400" cy="274320"/>
          </a:xfrm>
          <a:prstGeom prst="rect">
            <a:avLst/>
          </a:prstGeom>
          <a:noFill/>
          <a:ln/>
        </p:spPr>
        <p:txBody>
          <a:bodyPr wrap="square" lIns="0" tIns="0" rIns="0" bIns="0" rtlCol="0" anchor="ctr"/>
          <a:lstStyle/>
          <a:p>
            <a:pPr marL="0" indent="0">
              <a:buNone/>
            </a:pPr>
            <a:r>
              <a:rPr lang="en-US" sz="1050" b="1" kern="0" spc="120" dirty="0">
                <a:solidFill>
                  <a:srgbClr val="8A94A0"/>
                </a:solidFill>
                <a:latin typeface="Calibri" pitchFamily="34" charset="0"/>
                <a:ea typeface="Calibri" pitchFamily="34" charset="-122"/>
                <a:cs typeface="Calibri" pitchFamily="34" charset="-120"/>
              </a:rPr>
              <a:t>CATEGORY 5 OF 5</a:t>
            </a:r>
            <a:endParaRPr lang="en-US" sz="1050" dirty="0"/>
          </a:p>
        </p:txBody>
      </p:sp>
      <p:sp>
        <p:nvSpPr>
          <p:cNvPr id="4" name="Text 2"/>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Writing &amp; Productivity Tools</a:t>
            </a:r>
            <a:endParaRPr lang="en-US" sz="3200" dirty="0"/>
          </a:p>
        </p:txBody>
      </p:sp>
      <p:sp>
        <p:nvSpPr>
          <p:cNvPr id="5" name="Shape 3"/>
          <p:cNvSpPr/>
          <p:nvPr/>
        </p:nvSpPr>
        <p:spPr>
          <a:xfrm>
            <a:off x="9646920" y="777240"/>
            <a:ext cx="1737360" cy="1737360"/>
          </a:xfrm>
          <a:prstGeom prst="ellipse">
            <a:avLst/>
          </a:prstGeom>
          <a:solidFill>
            <a:srgbClr val="1C7293"/>
          </a:solidFill>
          <a:ln/>
        </p:spPr>
      </p:sp>
      <p:pic>
        <p:nvPicPr>
          <p:cNvPr id="6" name="Image 0" descr="icons/pen.png"/>
          <p:cNvPicPr>
            <a:picLocks noChangeAspect="1"/>
          </p:cNvPicPr>
          <p:nvPr/>
        </p:nvPicPr>
        <p:blipFill>
          <a:blip r:embed="rId3"/>
          <a:stretch>
            <a:fillRect/>
          </a:stretch>
        </p:blipFill>
        <p:spPr>
          <a:xfrm>
            <a:off x="10098634" y="1228954"/>
            <a:ext cx="833933" cy="833933"/>
          </a:xfrm>
          <a:prstGeom prst="rect">
            <a:avLst/>
          </a:prstGeom>
        </p:spPr>
      </p:pic>
      <p:sp>
        <p:nvSpPr>
          <p:cNvPr id="7" name="Shape 4"/>
          <p:cNvSpPr/>
          <p:nvPr/>
        </p:nvSpPr>
        <p:spPr>
          <a:xfrm>
            <a:off x="548640" y="2057400"/>
            <a:ext cx="10195560" cy="1051560"/>
          </a:xfrm>
          <a:prstGeom prst="roundRect">
            <a:avLst>
              <a:gd name="adj" fmla="val 7826"/>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8" name="Text 5"/>
          <p:cNvSpPr txBox="1"/>
          <p:nvPr/>
        </p:nvSpPr>
        <p:spPr>
          <a:xfrm>
            <a:off x="868680" y="2057400"/>
            <a:ext cx="9601200" cy="1051560"/>
          </a:xfrm>
          <a:prstGeom prst="rect">
            <a:avLst/>
          </a:prstGeom>
          <a:noFill/>
          <a:ln/>
        </p:spPr>
        <p:txBody>
          <a:bodyPr wrap="square" lIns="0" tIns="0" rIns="0" bIns="0" rtlCol="0" anchor="ctr"/>
          <a:lstStyle/>
          <a:p>
            <a:pPr marL="0" indent="0">
              <a:buNone/>
            </a:pPr>
            <a:r>
              <a:rPr lang="en-US" sz="1700" b="1" dirty="0">
                <a:solidFill>
                  <a:srgbClr val="1C7293"/>
                </a:solidFill>
                <a:latin typeface="Calibri" pitchFamily="34" charset="0"/>
                <a:ea typeface="Calibri" pitchFamily="34" charset="-122"/>
                <a:cs typeface="Calibri" pitchFamily="34" charset="-120"/>
              </a:rPr>
              <a:t>Draft Content  →  AI Reviews &amp; Suggests  →  Accept Edits  →  Finalise &amp; Share</a:t>
            </a:r>
            <a:endParaRPr lang="en-US" sz="1700" dirty="0"/>
          </a:p>
        </p:txBody>
      </p:sp>
      <p:sp>
        <p:nvSpPr>
          <p:cNvPr id="9" name="Shape 6"/>
          <p:cNvSpPr/>
          <p:nvPr/>
        </p:nvSpPr>
        <p:spPr>
          <a:xfrm>
            <a:off x="548640" y="3337560"/>
            <a:ext cx="5074920" cy="2788920"/>
          </a:xfrm>
          <a:prstGeom prst="roundRect">
            <a:avLst>
              <a:gd name="adj" fmla="val 2951"/>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Text 7"/>
          <p:cNvSpPr txBox="1"/>
          <p:nvPr/>
        </p:nvSpPr>
        <p:spPr>
          <a:xfrm>
            <a:off x="841248" y="3547872"/>
            <a:ext cx="45720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WHAT IT DOES</a:t>
            </a:r>
            <a:endParaRPr lang="en-US" sz="1050" dirty="0"/>
          </a:p>
        </p:txBody>
      </p:sp>
      <p:sp>
        <p:nvSpPr>
          <p:cNvPr id="11" name="Text 8"/>
          <p:cNvSpPr txBox="1"/>
          <p:nvPr/>
        </p:nvSpPr>
        <p:spPr>
          <a:xfrm>
            <a:off x="841248" y="3877056"/>
            <a:ext cx="4526280" cy="2103120"/>
          </a:xfrm>
          <a:prstGeom prst="rect">
            <a:avLst/>
          </a:prstGeom>
          <a:noFill/>
          <a:ln/>
        </p:spPr>
        <p:txBody>
          <a:bodyPr wrap="square" lIns="0" tIns="0" rIns="0" bIns="0" rtlCol="0" anchor="t"/>
          <a:lstStyle/>
          <a:p>
            <a:pPr marL="0" indent="0">
              <a:lnSpc>
                <a:spcPct val="122000"/>
              </a:lnSpc>
              <a:buNone/>
            </a:pPr>
            <a:r>
              <a:rPr lang="en-US" sz="1300" dirty="0">
                <a:solidFill>
                  <a:srgbClr val="55606C"/>
                </a:solidFill>
                <a:latin typeface="Calibri" pitchFamily="34" charset="0"/>
                <a:ea typeface="Calibri" pitchFamily="34" charset="-122"/>
                <a:cs typeface="Calibri" pitchFamily="34" charset="-120"/>
              </a:rPr>
              <a:t>Tools embedded into everyday writing and office work that check grammar, improve tone, summarise meetings, and automate routine administrative tasks.</a:t>
            </a:r>
            <a:endParaRPr lang="en-US" sz="1300" dirty="0"/>
          </a:p>
        </p:txBody>
      </p:sp>
      <p:sp>
        <p:nvSpPr>
          <p:cNvPr id="12" name="Shape 9"/>
          <p:cNvSpPr/>
          <p:nvPr/>
        </p:nvSpPr>
        <p:spPr>
          <a:xfrm>
            <a:off x="5852160" y="3337560"/>
            <a:ext cx="4892040" cy="2788920"/>
          </a:xfrm>
          <a:prstGeom prst="roundRect">
            <a:avLst>
              <a:gd name="adj" fmla="val 2951"/>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3" name="Text 10"/>
          <p:cNvSpPr txBox="1"/>
          <p:nvPr/>
        </p:nvSpPr>
        <p:spPr>
          <a:xfrm>
            <a:off x="6126480" y="3547872"/>
            <a:ext cx="438912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COMMON USES FOR FACULTY</a:t>
            </a:r>
            <a:endParaRPr lang="en-US" sz="1050" dirty="0"/>
          </a:p>
        </p:txBody>
      </p:sp>
      <p:sp>
        <p:nvSpPr>
          <p:cNvPr id="14" name="Text 11"/>
          <p:cNvSpPr txBox="1"/>
          <p:nvPr/>
        </p:nvSpPr>
        <p:spPr>
          <a:xfrm>
            <a:off x="6126480" y="3877056"/>
            <a:ext cx="4526280" cy="21031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Polishing grammar and tone in student feedback comments</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Summarising long email threads or committee minutes</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Turning rough notes into a structured report or slide outline</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Automating repetitive scheduling and reminder emails</a:t>
            </a:r>
            <a:endParaRPr lang="en-US" sz="1250" dirty="0"/>
          </a:p>
        </p:txBody>
      </p:sp>
      <p:sp>
        <p:nvSpPr>
          <p:cNvPr id="15" name="Text 12"/>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AI Tool Landscape</a:t>
            </a:r>
            <a:endParaRPr lang="en-US" sz="950" dirty="0"/>
          </a:p>
        </p:txBody>
      </p:sp>
      <p:sp>
        <p:nvSpPr>
          <p:cNvPr id="16" name="Text 13"/>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28</a:t>
            </a:r>
            <a:endParaRPr lang="en-US" sz="950"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2 · WRITING &amp; PRODUCTIVITY</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Leading Tools: Grammarly &amp; Notion AI</a:t>
            </a:r>
            <a:endParaRPr lang="en-US" sz="3200" dirty="0"/>
          </a:p>
        </p:txBody>
      </p:sp>
      <p:sp>
        <p:nvSpPr>
          <p:cNvPr id="4" name="Shape 2"/>
          <p:cNvSpPr/>
          <p:nvPr/>
        </p:nvSpPr>
        <p:spPr>
          <a:xfrm>
            <a:off x="548640" y="1965960"/>
            <a:ext cx="5385816" cy="4160520"/>
          </a:xfrm>
          <a:prstGeom prst="roundRect">
            <a:avLst>
              <a:gd name="adj" fmla="val 197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5" name="Shape 3"/>
          <p:cNvSpPr/>
          <p:nvPr/>
        </p:nvSpPr>
        <p:spPr>
          <a:xfrm>
            <a:off x="822960" y="2221992"/>
            <a:ext cx="4837176" cy="566928"/>
          </a:xfrm>
          <a:prstGeom prst="roundRect">
            <a:avLst>
              <a:gd name="adj" fmla="val 9677"/>
            </a:avLst>
          </a:prstGeom>
          <a:solidFill>
            <a:srgbClr val="EFF6F7"/>
          </a:solidFill>
          <a:ln/>
        </p:spPr>
      </p:sp>
      <p:sp>
        <p:nvSpPr>
          <p:cNvPr id="6" name="Text 4"/>
          <p:cNvSpPr txBox="1"/>
          <p:nvPr/>
        </p:nvSpPr>
        <p:spPr>
          <a:xfrm>
            <a:off x="960120" y="2221992"/>
            <a:ext cx="3557016" cy="566928"/>
          </a:xfrm>
          <a:prstGeom prst="rect">
            <a:avLst/>
          </a:prstGeom>
          <a:noFill/>
          <a:ln/>
        </p:spPr>
        <p:txBody>
          <a:bodyPr wrap="square" lIns="0" tIns="0" rIns="0" bIns="0" rtlCol="0" anchor="ctr"/>
          <a:lstStyle/>
          <a:p>
            <a:pPr marL="0" indent="0">
              <a:buNone/>
            </a:pPr>
            <a:r>
              <a:rPr lang="en-US" sz="1700" b="1" dirty="0">
                <a:solidFill>
                  <a:srgbClr val="1B2A4A"/>
                </a:solidFill>
                <a:latin typeface="Cambria" pitchFamily="34" charset="0"/>
                <a:ea typeface="Cambria" pitchFamily="34" charset="-122"/>
                <a:cs typeface="Cambria" pitchFamily="34" charset="-120"/>
              </a:rPr>
              <a:t>Grammarly</a:t>
            </a:r>
            <a:endParaRPr lang="en-US" sz="1700" dirty="0"/>
          </a:p>
        </p:txBody>
      </p:sp>
      <p:sp>
        <p:nvSpPr>
          <p:cNvPr id="7" name="Text 5"/>
          <p:cNvSpPr txBox="1"/>
          <p:nvPr/>
        </p:nvSpPr>
        <p:spPr>
          <a:xfrm>
            <a:off x="822960" y="2258568"/>
            <a:ext cx="4837176" cy="502920"/>
          </a:xfrm>
          <a:prstGeom prst="rect">
            <a:avLst/>
          </a:prstGeom>
          <a:noFill/>
          <a:ln/>
        </p:spPr>
        <p:txBody>
          <a:bodyPr wrap="square" lIns="0" tIns="0" rIns="0" bIns="0" rtlCol="0" anchor="ctr"/>
          <a:lstStyle/>
          <a:p>
            <a:pPr marL="0" indent="0" algn="r">
              <a:buNone/>
            </a:pPr>
            <a:r>
              <a:rPr lang="en-US" sz="1000" b="1" dirty="0">
                <a:solidFill>
                  <a:srgbClr val="1C7293"/>
                </a:solidFill>
                <a:latin typeface="Calibri" pitchFamily="34" charset="0"/>
                <a:ea typeface="Calibri" pitchFamily="34" charset="-122"/>
                <a:cs typeface="Calibri" pitchFamily="34" charset="-120"/>
              </a:rPr>
              <a:t>BEST FOR PROOFREADING</a:t>
            </a:r>
            <a:endParaRPr lang="en-US" sz="1000" dirty="0"/>
          </a:p>
        </p:txBody>
      </p:sp>
      <p:sp>
        <p:nvSpPr>
          <p:cNvPr id="8" name="Text 6"/>
          <p:cNvSpPr txBox="1"/>
          <p:nvPr/>
        </p:nvSpPr>
        <p:spPr>
          <a:xfrm>
            <a:off x="822960" y="2953512"/>
            <a:ext cx="2743200" cy="256032"/>
          </a:xfrm>
          <a:prstGeom prst="rect">
            <a:avLst/>
          </a:prstGeom>
          <a:noFill/>
          <a:ln/>
        </p:spPr>
        <p:txBody>
          <a:bodyPr wrap="square" lIns="0" tIns="0" rIns="0" bIns="0" rtlCol="0" anchor="ctr"/>
          <a:lstStyle/>
          <a:p>
            <a:pPr marL="0" indent="0">
              <a:buNone/>
            </a:pPr>
            <a:r>
              <a:rPr lang="en-US" sz="1050" b="1" kern="0" spc="140" dirty="0">
                <a:solidFill>
                  <a:srgbClr val="2E7D32"/>
                </a:solidFill>
                <a:latin typeface="Calibri" pitchFamily="34" charset="0"/>
                <a:ea typeface="Calibri" pitchFamily="34" charset="-122"/>
                <a:cs typeface="Calibri" pitchFamily="34" charset="-120"/>
              </a:rPr>
              <a:t>PROS</a:t>
            </a:r>
            <a:endParaRPr lang="en-US" sz="1050" dirty="0"/>
          </a:p>
        </p:txBody>
      </p:sp>
      <p:sp>
        <p:nvSpPr>
          <p:cNvPr id="9" name="Text 7"/>
          <p:cNvSpPr txBox="1"/>
          <p:nvPr/>
        </p:nvSpPr>
        <p:spPr>
          <a:xfrm>
            <a:off x="822960" y="3246120"/>
            <a:ext cx="4837176" cy="14173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Real-time grammar, clarity and tone suggestions everywhere you type</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Browser extension works across email, docs and forms</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Plagiarism checker available on paid tiers</a:t>
            </a:r>
            <a:endParaRPr lang="en-US" sz="1150" dirty="0"/>
          </a:p>
        </p:txBody>
      </p:sp>
      <p:sp>
        <p:nvSpPr>
          <p:cNvPr id="10" name="Shape 8"/>
          <p:cNvSpPr/>
          <p:nvPr/>
        </p:nvSpPr>
        <p:spPr>
          <a:xfrm>
            <a:off x="822960" y="4690872"/>
            <a:ext cx="4837176" cy="0"/>
          </a:xfrm>
          <a:prstGeom prst="line">
            <a:avLst/>
          </a:prstGeom>
          <a:noFill/>
          <a:ln w="12700">
            <a:solidFill>
              <a:srgbClr val="E2E6EA"/>
            </a:solidFill>
            <a:prstDash val="solid"/>
          </a:ln>
        </p:spPr>
      </p:sp>
      <p:sp>
        <p:nvSpPr>
          <p:cNvPr id="11" name="Text 9"/>
          <p:cNvSpPr txBox="1"/>
          <p:nvPr/>
        </p:nvSpPr>
        <p:spPr>
          <a:xfrm>
            <a:off x="822960" y="4800600"/>
            <a:ext cx="2743200" cy="256032"/>
          </a:xfrm>
          <a:prstGeom prst="rect">
            <a:avLst/>
          </a:prstGeom>
          <a:noFill/>
          <a:ln/>
        </p:spPr>
        <p:txBody>
          <a:bodyPr wrap="square" lIns="0" tIns="0" rIns="0" bIns="0" rtlCol="0" anchor="ctr"/>
          <a:lstStyle/>
          <a:p>
            <a:pPr marL="0" indent="0">
              <a:buNone/>
            </a:pPr>
            <a:r>
              <a:rPr lang="en-US" sz="1050" b="1" kern="0" spc="140" dirty="0">
                <a:solidFill>
                  <a:srgbClr val="B3261E"/>
                </a:solidFill>
                <a:latin typeface="Calibri" pitchFamily="34" charset="0"/>
                <a:ea typeface="Calibri" pitchFamily="34" charset="-122"/>
                <a:cs typeface="Calibri" pitchFamily="34" charset="-120"/>
              </a:rPr>
              <a:t>CONS</a:t>
            </a:r>
            <a:endParaRPr lang="en-US" sz="1050" dirty="0"/>
          </a:p>
        </p:txBody>
      </p:sp>
      <p:sp>
        <p:nvSpPr>
          <p:cNvPr id="12" name="Text 10"/>
          <p:cNvSpPr txBox="1"/>
          <p:nvPr/>
        </p:nvSpPr>
        <p:spPr>
          <a:xfrm>
            <a:off x="822960" y="5093208"/>
            <a:ext cx="4837176" cy="9144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Deeper rewriting features are behind a paywall</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Tone suggestions can feel generic for academic writing</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Occasional over-correction of discipline-specific terms</a:t>
            </a:r>
            <a:endParaRPr lang="en-US" sz="1150" dirty="0"/>
          </a:p>
        </p:txBody>
      </p:sp>
      <p:sp>
        <p:nvSpPr>
          <p:cNvPr id="13" name="Shape 11"/>
          <p:cNvSpPr/>
          <p:nvPr/>
        </p:nvSpPr>
        <p:spPr>
          <a:xfrm>
            <a:off x="6254496" y="1965960"/>
            <a:ext cx="5385816" cy="4160520"/>
          </a:xfrm>
          <a:prstGeom prst="roundRect">
            <a:avLst>
              <a:gd name="adj" fmla="val 197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4" name="Shape 12"/>
          <p:cNvSpPr/>
          <p:nvPr/>
        </p:nvSpPr>
        <p:spPr>
          <a:xfrm>
            <a:off x="6528816" y="2221992"/>
            <a:ext cx="4837176" cy="566928"/>
          </a:xfrm>
          <a:prstGeom prst="roundRect">
            <a:avLst>
              <a:gd name="adj" fmla="val 9677"/>
            </a:avLst>
          </a:prstGeom>
          <a:solidFill>
            <a:srgbClr val="EFF6F7"/>
          </a:solidFill>
          <a:ln/>
        </p:spPr>
      </p:sp>
      <p:sp>
        <p:nvSpPr>
          <p:cNvPr id="15" name="Text 13"/>
          <p:cNvSpPr txBox="1"/>
          <p:nvPr/>
        </p:nvSpPr>
        <p:spPr>
          <a:xfrm>
            <a:off x="6665976" y="2221992"/>
            <a:ext cx="3557016" cy="566928"/>
          </a:xfrm>
          <a:prstGeom prst="rect">
            <a:avLst/>
          </a:prstGeom>
          <a:noFill/>
          <a:ln/>
        </p:spPr>
        <p:txBody>
          <a:bodyPr wrap="square" lIns="0" tIns="0" rIns="0" bIns="0" rtlCol="0" anchor="ctr"/>
          <a:lstStyle/>
          <a:p>
            <a:pPr marL="0" indent="0">
              <a:buNone/>
            </a:pPr>
            <a:r>
              <a:rPr lang="en-US" sz="1700" b="1" dirty="0">
                <a:solidFill>
                  <a:srgbClr val="1B2A4A"/>
                </a:solidFill>
                <a:latin typeface="Cambria" pitchFamily="34" charset="0"/>
                <a:ea typeface="Cambria" pitchFamily="34" charset="-122"/>
                <a:cs typeface="Cambria" pitchFamily="34" charset="-120"/>
              </a:rPr>
              <a:t>Notion AI</a:t>
            </a:r>
            <a:endParaRPr lang="en-US" sz="1700" dirty="0"/>
          </a:p>
        </p:txBody>
      </p:sp>
      <p:sp>
        <p:nvSpPr>
          <p:cNvPr id="16" name="Text 14"/>
          <p:cNvSpPr txBox="1"/>
          <p:nvPr/>
        </p:nvSpPr>
        <p:spPr>
          <a:xfrm>
            <a:off x="6528816" y="2258568"/>
            <a:ext cx="4837176" cy="502920"/>
          </a:xfrm>
          <a:prstGeom prst="rect">
            <a:avLst/>
          </a:prstGeom>
          <a:noFill/>
          <a:ln/>
        </p:spPr>
        <p:txBody>
          <a:bodyPr wrap="square" lIns="0" tIns="0" rIns="0" bIns="0" rtlCol="0" anchor="ctr"/>
          <a:lstStyle/>
          <a:p>
            <a:pPr marL="0" indent="0" algn="r">
              <a:buNone/>
            </a:pPr>
            <a:r>
              <a:rPr lang="en-US" sz="1000" b="1" dirty="0">
                <a:solidFill>
                  <a:srgbClr val="1C7293"/>
                </a:solidFill>
                <a:latin typeface="Calibri" pitchFamily="34" charset="0"/>
                <a:ea typeface="Calibri" pitchFamily="34" charset="-122"/>
                <a:cs typeface="Calibri" pitchFamily="34" charset="-120"/>
              </a:rPr>
              <a:t>BEST FOR NOTES &amp; DOCS</a:t>
            </a:r>
            <a:endParaRPr lang="en-US" sz="1000" dirty="0"/>
          </a:p>
        </p:txBody>
      </p:sp>
      <p:sp>
        <p:nvSpPr>
          <p:cNvPr id="17" name="Text 15"/>
          <p:cNvSpPr txBox="1"/>
          <p:nvPr/>
        </p:nvSpPr>
        <p:spPr>
          <a:xfrm>
            <a:off x="6528816" y="2953512"/>
            <a:ext cx="2743200" cy="256032"/>
          </a:xfrm>
          <a:prstGeom prst="rect">
            <a:avLst/>
          </a:prstGeom>
          <a:noFill/>
          <a:ln/>
        </p:spPr>
        <p:txBody>
          <a:bodyPr wrap="square" lIns="0" tIns="0" rIns="0" bIns="0" rtlCol="0" anchor="ctr"/>
          <a:lstStyle/>
          <a:p>
            <a:pPr marL="0" indent="0">
              <a:buNone/>
            </a:pPr>
            <a:r>
              <a:rPr lang="en-US" sz="1050" b="1" kern="0" spc="140" dirty="0">
                <a:solidFill>
                  <a:srgbClr val="2E7D32"/>
                </a:solidFill>
                <a:latin typeface="Calibri" pitchFamily="34" charset="0"/>
                <a:ea typeface="Calibri" pitchFamily="34" charset="-122"/>
                <a:cs typeface="Calibri" pitchFamily="34" charset="-120"/>
              </a:rPr>
              <a:t>PROS</a:t>
            </a:r>
            <a:endParaRPr lang="en-US" sz="1050" dirty="0"/>
          </a:p>
        </p:txBody>
      </p:sp>
      <p:sp>
        <p:nvSpPr>
          <p:cNvPr id="18" name="Text 16"/>
          <p:cNvSpPr txBox="1"/>
          <p:nvPr/>
        </p:nvSpPr>
        <p:spPr>
          <a:xfrm>
            <a:off x="6528816" y="3246120"/>
            <a:ext cx="4837176" cy="14173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Summarises, translates and drafts inside your own notes</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Great for turning meeting notes into action items</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Works well alongside Notion’s project-planning features</a:t>
            </a:r>
            <a:endParaRPr lang="en-US" sz="1150" dirty="0"/>
          </a:p>
        </p:txBody>
      </p:sp>
      <p:sp>
        <p:nvSpPr>
          <p:cNvPr id="19" name="Shape 17"/>
          <p:cNvSpPr/>
          <p:nvPr/>
        </p:nvSpPr>
        <p:spPr>
          <a:xfrm>
            <a:off x="6528816" y="4690872"/>
            <a:ext cx="4837176" cy="0"/>
          </a:xfrm>
          <a:prstGeom prst="line">
            <a:avLst/>
          </a:prstGeom>
          <a:noFill/>
          <a:ln w="12700">
            <a:solidFill>
              <a:srgbClr val="E2E6EA"/>
            </a:solidFill>
            <a:prstDash val="solid"/>
          </a:ln>
        </p:spPr>
      </p:sp>
      <p:sp>
        <p:nvSpPr>
          <p:cNvPr id="20" name="Text 18"/>
          <p:cNvSpPr txBox="1"/>
          <p:nvPr/>
        </p:nvSpPr>
        <p:spPr>
          <a:xfrm>
            <a:off x="6528816" y="4800600"/>
            <a:ext cx="2743200" cy="256032"/>
          </a:xfrm>
          <a:prstGeom prst="rect">
            <a:avLst/>
          </a:prstGeom>
          <a:noFill/>
          <a:ln/>
        </p:spPr>
        <p:txBody>
          <a:bodyPr wrap="square" lIns="0" tIns="0" rIns="0" bIns="0" rtlCol="0" anchor="ctr"/>
          <a:lstStyle/>
          <a:p>
            <a:pPr marL="0" indent="0">
              <a:buNone/>
            </a:pPr>
            <a:r>
              <a:rPr lang="en-US" sz="1050" b="1" kern="0" spc="140" dirty="0">
                <a:solidFill>
                  <a:srgbClr val="B3261E"/>
                </a:solidFill>
                <a:latin typeface="Calibri" pitchFamily="34" charset="0"/>
                <a:ea typeface="Calibri" pitchFamily="34" charset="-122"/>
                <a:cs typeface="Calibri" pitchFamily="34" charset="-120"/>
              </a:rPr>
              <a:t>CONS</a:t>
            </a:r>
            <a:endParaRPr lang="en-US" sz="1050" dirty="0"/>
          </a:p>
        </p:txBody>
      </p:sp>
      <p:sp>
        <p:nvSpPr>
          <p:cNvPr id="21" name="Text 19"/>
          <p:cNvSpPr txBox="1"/>
          <p:nvPr/>
        </p:nvSpPr>
        <p:spPr>
          <a:xfrm>
            <a:off x="6528816" y="5093208"/>
            <a:ext cx="4837176" cy="9144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Only useful if your notes already live in Notion</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AI features are a paid add-on to the base plan</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Less suited to long-form academic manuscript writing</a:t>
            </a:r>
            <a:endParaRPr lang="en-US" sz="1150" dirty="0"/>
          </a:p>
        </p:txBody>
      </p:sp>
      <p:sp>
        <p:nvSpPr>
          <p:cNvPr id="22" name="Text 20"/>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AI Tool Landscape</a:t>
            </a:r>
            <a:endParaRPr lang="en-US" sz="950" dirty="0"/>
          </a:p>
        </p:txBody>
      </p:sp>
      <p:sp>
        <p:nvSpPr>
          <p:cNvPr id="23" name="Text 21"/>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29</a:t>
            </a:r>
            <a:endParaRPr lang="en-US" sz="95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2 · WRITING &amp; PRODUCTIVITY</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Leading Tools: MS 365 Copilot &amp; QuillBot</a:t>
            </a:r>
            <a:endParaRPr lang="en-US" sz="3200" dirty="0"/>
          </a:p>
        </p:txBody>
      </p:sp>
      <p:sp>
        <p:nvSpPr>
          <p:cNvPr id="4" name="Shape 2"/>
          <p:cNvSpPr/>
          <p:nvPr/>
        </p:nvSpPr>
        <p:spPr>
          <a:xfrm>
            <a:off x="548640" y="1965960"/>
            <a:ext cx="5385816" cy="4160520"/>
          </a:xfrm>
          <a:prstGeom prst="roundRect">
            <a:avLst>
              <a:gd name="adj" fmla="val 197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5" name="Shape 3"/>
          <p:cNvSpPr/>
          <p:nvPr/>
        </p:nvSpPr>
        <p:spPr>
          <a:xfrm>
            <a:off x="822960" y="2221992"/>
            <a:ext cx="4837176" cy="566928"/>
          </a:xfrm>
          <a:prstGeom prst="roundRect">
            <a:avLst>
              <a:gd name="adj" fmla="val 9677"/>
            </a:avLst>
          </a:prstGeom>
          <a:solidFill>
            <a:srgbClr val="EFF6F7"/>
          </a:solidFill>
          <a:ln/>
        </p:spPr>
      </p:sp>
      <p:sp>
        <p:nvSpPr>
          <p:cNvPr id="6" name="Text 4"/>
          <p:cNvSpPr txBox="1"/>
          <p:nvPr/>
        </p:nvSpPr>
        <p:spPr>
          <a:xfrm>
            <a:off x="960120" y="2221992"/>
            <a:ext cx="3557016" cy="566928"/>
          </a:xfrm>
          <a:prstGeom prst="rect">
            <a:avLst/>
          </a:prstGeom>
          <a:noFill/>
          <a:ln/>
        </p:spPr>
        <p:txBody>
          <a:bodyPr wrap="square" lIns="0" tIns="0" rIns="0" bIns="0" rtlCol="0" anchor="ctr"/>
          <a:lstStyle/>
          <a:p>
            <a:pPr marL="0" indent="0">
              <a:buNone/>
            </a:pPr>
            <a:r>
              <a:rPr lang="en-US" sz="1700" b="1" dirty="0">
                <a:solidFill>
                  <a:srgbClr val="1B2A4A"/>
                </a:solidFill>
                <a:latin typeface="Cambria" pitchFamily="34" charset="0"/>
                <a:ea typeface="Cambria" pitchFamily="34" charset="-122"/>
                <a:cs typeface="Cambria" pitchFamily="34" charset="-120"/>
              </a:rPr>
              <a:t>Microsoft 365 Copilot</a:t>
            </a:r>
            <a:endParaRPr lang="en-US" sz="1700" dirty="0"/>
          </a:p>
        </p:txBody>
      </p:sp>
      <p:sp>
        <p:nvSpPr>
          <p:cNvPr id="7" name="Text 5"/>
          <p:cNvSpPr txBox="1"/>
          <p:nvPr/>
        </p:nvSpPr>
        <p:spPr>
          <a:xfrm>
            <a:off x="822960" y="2258568"/>
            <a:ext cx="4837176" cy="502920"/>
          </a:xfrm>
          <a:prstGeom prst="rect">
            <a:avLst/>
          </a:prstGeom>
          <a:noFill/>
          <a:ln/>
        </p:spPr>
        <p:txBody>
          <a:bodyPr wrap="square" lIns="0" tIns="0" rIns="0" bIns="0" rtlCol="0" anchor="ctr"/>
          <a:lstStyle/>
          <a:p>
            <a:pPr marL="0" indent="0" algn="r">
              <a:buNone/>
            </a:pPr>
            <a:r>
              <a:rPr lang="en-US" sz="1000" b="1" dirty="0">
                <a:solidFill>
                  <a:srgbClr val="1C7293"/>
                </a:solidFill>
                <a:latin typeface="Calibri" pitchFamily="34" charset="0"/>
                <a:ea typeface="Calibri" pitchFamily="34" charset="-122"/>
                <a:cs typeface="Calibri" pitchFamily="34" charset="-120"/>
              </a:rPr>
              <a:t>BEST FOR OFFICE WORKFLOWS</a:t>
            </a:r>
            <a:endParaRPr lang="en-US" sz="1000" dirty="0"/>
          </a:p>
        </p:txBody>
      </p:sp>
      <p:sp>
        <p:nvSpPr>
          <p:cNvPr id="8" name="Text 6"/>
          <p:cNvSpPr txBox="1"/>
          <p:nvPr/>
        </p:nvSpPr>
        <p:spPr>
          <a:xfrm>
            <a:off x="822960" y="2953512"/>
            <a:ext cx="2743200" cy="256032"/>
          </a:xfrm>
          <a:prstGeom prst="rect">
            <a:avLst/>
          </a:prstGeom>
          <a:noFill/>
          <a:ln/>
        </p:spPr>
        <p:txBody>
          <a:bodyPr wrap="square" lIns="0" tIns="0" rIns="0" bIns="0" rtlCol="0" anchor="ctr"/>
          <a:lstStyle/>
          <a:p>
            <a:pPr marL="0" indent="0">
              <a:buNone/>
            </a:pPr>
            <a:r>
              <a:rPr lang="en-US" sz="1050" b="1" kern="0" spc="140" dirty="0">
                <a:solidFill>
                  <a:srgbClr val="2E7D32"/>
                </a:solidFill>
                <a:latin typeface="Calibri" pitchFamily="34" charset="0"/>
                <a:ea typeface="Calibri" pitchFamily="34" charset="-122"/>
                <a:cs typeface="Calibri" pitchFamily="34" charset="-120"/>
              </a:rPr>
              <a:t>PROS</a:t>
            </a:r>
            <a:endParaRPr lang="en-US" sz="1050" dirty="0"/>
          </a:p>
        </p:txBody>
      </p:sp>
      <p:sp>
        <p:nvSpPr>
          <p:cNvPr id="9" name="Text 7"/>
          <p:cNvSpPr txBox="1"/>
          <p:nvPr/>
        </p:nvSpPr>
        <p:spPr>
          <a:xfrm>
            <a:off x="822960" y="3246120"/>
            <a:ext cx="4837176" cy="14173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Drafts slides, summarises emails, builds spreadsheets in place</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Understands context from your existing files and calendar</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Single licence covers Word, Excel, PowerPoint and Outlook</a:t>
            </a:r>
            <a:endParaRPr lang="en-US" sz="1150" dirty="0"/>
          </a:p>
        </p:txBody>
      </p:sp>
      <p:sp>
        <p:nvSpPr>
          <p:cNvPr id="10" name="Shape 8"/>
          <p:cNvSpPr/>
          <p:nvPr/>
        </p:nvSpPr>
        <p:spPr>
          <a:xfrm>
            <a:off x="822960" y="4690872"/>
            <a:ext cx="4837176" cy="0"/>
          </a:xfrm>
          <a:prstGeom prst="line">
            <a:avLst/>
          </a:prstGeom>
          <a:noFill/>
          <a:ln w="12700">
            <a:solidFill>
              <a:srgbClr val="E2E6EA"/>
            </a:solidFill>
            <a:prstDash val="solid"/>
          </a:ln>
        </p:spPr>
      </p:sp>
      <p:sp>
        <p:nvSpPr>
          <p:cNvPr id="11" name="Text 9"/>
          <p:cNvSpPr txBox="1"/>
          <p:nvPr/>
        </p:nvSpPr>
        <p:spPr>
          <a:xfrm>
            <a:off x="822960" y="4800600"/>
            <a:ext cx="2743200" cy="256032"/>
          </a:xfrm>
          <a:prstGeom prst="rect">
            <a:avLst/>
          </a:prstGeom>
          <a:noFill/>
          <a:ln/>
        </p:spPr>
        <p:txBody>
          <a:bodyPr wrap="square" lIns="0" tIns="0" rIns="0" bIns="0" rtlCol="0" anchor="ctr"/>
          <a:lstStyle/>
          <a:p>
            <a:pPr marL="0" indent="0">
              <a:buNone/>
            </a:pPr>
            <a:r>
              <a:rPr lang="en-US" sz="1050" b="1" kern="0" spc="140" dirty="0">
                <a:solidFill>
                  <a:srgbClr val="B3261E"/>
                </a:solidFill>
                <a:latin typeface="Calibri" pitchFamily="34" charset="0"/>
                <a:ea typeface="Calibri" pitchFamily="34" charset="-122"/>
                <a:cs typeface="Calibri" pitchFamily="34" charset="-120"/>
              </a:rPr>
              <a:t>CONS</a:t>
            </a:r>
            <a:endParaRPr lang="en-US" sz="1050" dirty="0"/>
          </a:p>
        </p:txBody>
      </p:sp>
      <p:sp>
        <p:nvSpPr>
          <p:cNvPr id="12" name="Text 10"/>
          <p:cNvSpPr txBox="1"/>
          <p:nvPr/>
        </p:nvSpPr>
        <p:spPr>
          <a:xfrm>
            <a:off x="822960" y="5093208"/>
            <a:ext cx="4837176" cy="9144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Significant added cost on top of Microsoft 365</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Needs an institutional/enterprise licence for full features</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Quality depends on how well your files are organised</a:t>
            </a:r>
            <a:endParaRPr lang="en-US" sz="1150" dirty="0"/>
          </a:p>
        </p:txBody>
      </p:sp>
      <p:sp>
        <p:nvSpPr>
          <p:cNvPr id="13" name="Shape 11"/>
          <p:cNvSpPr/>
          <p:nvPr/>
        </p:nvSpPr>
        <p:spPr>
          <a:xfrm>
            <a:off x="6254496" y="1965960"/>
            <a:ext cx="5385816" cy="4160520"/>
          </a:xfrm>
          <a:prstGeom prst="roundRect">
            <a:avLst>
              <a:gd name="adj" fmla="val 197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4" name="Shape 12"/>
          <p:cNvSpPr/>
          <p:nvPr/>
        </p:nvSpPr>
        <p:spPr>
          <a:xfrm>
            <a:off x="6528816" y="2221992"/>
            <a:ext cx="4837176" cy="566928"/>
          </a:xfrm>
          <a:prstGeom prst="roundRect">
            <a:avLst>
              <a:gd name="adj" fmla="val 9677"/>
            </a:avLst>
          </a:prstGeom>
          <a:solidFill>
            <a:srgbClr val="EFF6F7"/>
          </a:solidFill>
          <a:ln/>
        </p:spPr>
      </p:sp>
      <p:sp>
        <p:nvSpPr>
          <p:cNvPr id="15" name="Text 13"/>
          <p:cNvSpPr txBox="1"/>
          <p:nvPr/>
        </p:nvSpPr>
        <p:spPr>
          <a:xfrm>
            <a:off x="6665976" y="2221992"/>
            <a:ext cx="3557016" cy="566928"/>
          </a:xfrm>
          <a:prstGeom prst="rect">
            <a:avLst/>
          </a:prstGeom>
          <a:noFill/>
          <a:ln/>
        </p:spPr>
        <p:txBody>
          <a:bodyPr wrap="square" lIns="0" tIns="0" rIns="0" bIns="0" rtlCol="0" anchor="ctr"/>
          <a:lstStyle/>
          <a:p>
            <a:pPr marL="0" indent="0">
              <a:buNone/>
            </a:pPr>
            <a:r>
              <a:rPr lang="en-US" sz="1700" b="1" dirty="0">
                <a:solidFill>
                  <a:srgbClr val="1B2A4A"/>
                </a:solidFill>
                <a:latin typeface="Cambria" pitchFamily="34" charset="0"/>
                <a:ea typeface="Cambria" pitchFamily="34" charset="-122"/>
                <a:cs typeface="Cambria" pitchFamily="34" charset="-120"/>
              </a:rPr>
              <a:t>QuillBot</a:t>
            </a:r>
            <a:endParaRPr lang="en-US" sz="1700" dirty="0"/>
          </a:p>
        </p:txBody>
      </p:sp>
      <p:sp>
        <p:nvSpPr>
          <p:cNvPr id="16" name="Text 14"/>
          <p:cNvSpPr txBox="1"/>
          <p:nvPr/>
        </p:nvSpPr>
        <p:spPr>
          <a:xfrm>
            <a:off x="6528816" y="2258568"/>
            <a:ext cx="4837176" cy="502920"/>
          </a:xfrm>
          <a:prstGeom prst="rect">
            <a:avLst/>
          </a:prstGeom>
          <a:noFill/>
          <a:ln/>
        </p:spPr>
        <p:txBody>
          <a:bodyPr wrap="square" lIns="0" tIns="0" rIns="0" bIns="0" rtlCol="0" anchor="ctr"/>
          <a:lstStyle/>
          <a:p>
            <a:pPr marL="0" indent="0" algn="r">
              <a:buNone/>
            </a:pPr>
            <a:r>
              <a:rPr lang="en-US" sz="1000" b="1" dirty="0">
                <a:solidFill>
                  <a:srgbClr val="1C7293"/>
                </a:solidFill>
                <a:latin typeface="Calibri" pitchFamily="34" charset="0"/>
                <a:ea typeface="Calibri" pitchFamily="34" charset="-122"/>
                <a:cs typeface="Calibri" pitchFamily="34" charset="-120"/>
              </a:rPr>
              <a:t>BEST FOR PARAPHRASING</a:t>
            </a:r>
            <a:endParaRPr lang="en-US" sz="1000" dirty="0"/>
          </a:p>
        </p:txBody>
      </p:sp>
      <p:sp>
        <p:nvSpPr>
          <p:cNvPr id="17" name="Text 15"/>
          <p:cNvSpPr txBox="1"/>
          <p:nvPr/>
        </p:nvSpPr>
        <p:spPr>
          <a:xfrm>
            <a:off x="6528816" y="2953512"/>
            <a:ext cx="2743200" cy="256032"/>
          </a:xfrm>
          <a:prstGeom prst="rect">
            <a:avLst/>
          </a:prstGeom>
          <a:noFill/>
          <a:ln/>
        </p:spPr>
        <p:txBody>
          <a:bodyPr wrap="square" lIns="0" tIns="0" rIns="0" bIns="0" rtlCol="0" anchor="ctr"/>
          <a:lstStyle/>
          <a:p>
            <a:pPr marL="0" indent="0">
              <a:buNone/>
            </a:pPr>
            <a:r>
              <a:rPr lang="en-US" sz="1050" b="1" kern="0" spc="140" dirty="0">
                <a:solidFill>
                  <a:srgbClr val="2E7D32"/>
                </a:solidFill>
                <a:latin typeface="Calibri" pitchFamily="34" charset="0"/>
                <a:ea typeface="Calibri" pitchFamily="34" charset="-122"/>
                <a:cs typeface="Calibri" pitchFamily="34" charset="-120"/>
              </a:rPr>
              <a:t>PROS</a:t>
            </a:r>
            <a:endParaRPr lang="en-US" sz="1050" dirty="0"/>
          </a:p>
        </p:txBody>
      </p:sp>
      <p:sp>
        <p:nvSpPr>
          <p:cNvPr id="18" name="Text 16"/>
          <p:cNvSpPr txBox="1"/>
          <p:nvPr/>
        </p:nvSpPr>
        <p:spPr>
          <a:xfrm>
            <a:off x="6528816" y="3246120"/>
            <a:ext cx="4837176" cy="14173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Fast paraphrasing and summarising of dense text</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Built-in citation generator for common styles</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Free tier covers basic paraphrasing needs</a:t>
            </a:r>
            <a:endParaRPr lang="en-US" sz="1150" dirty="0"/>
          </a:p>
        </p:txBody>
      </p:sp>
      <p:sp>
        <p:nvSpPr>
          <p:cNvPr id="19" name="Shape 17"/>
          <p:cNvSpPr/>
          <p:nvPr/>
        </p:nvSpPr>
        <p:spPr>
          <a:xfrm>
            <a:off x="6528816" y="4690872"/>
            <a:ext cx="4837176" cy="0"/>
          </a:xfrm>
          <a:prstGeom prst="line">
            <a:avLst/>
          </a:prstGeom>
          <a:noFill/>
          <a:ln w="12700">
            <a:solidFill>
              <a:srgbClr val="E2E6EA"/>
            </a:solidFill>
            <a:prstDash val="solid"/>
          </a:ln>
        </p:spPr>
      </p:sp>
      <p:sp>
        <p:nvSpPr>
          <p:cNvPr id="20" name="Text 18"/>
          <p:cNvSpPr txBox="1"/>
          <p:nvPr/>
        </p:nvSpPr>
        <p:spPr>
          <a:xfrm>
            <a:off x="6528816" y="4800600"/>
            <a:ext cx="2743200" cy="256032"/>
          </a:xfrm>
          <a:prstGeom prst="rect">
            <a:avLst/>
          </a:prstGeom>
          <a:noFill/>
          <a:ln/>
        </p:spPr>
        <p:txBody>
          <a:bodyPr wrap="square" lIns="0" tIns="0" rIns="0" bIns="0" rtlCol="0" anchor="ctr"/>
          <a:lstStyle/>
          <a:p>
            <a:pPr marL="0" indent="0">
              <a:buNone/>
            </a:pPr>
            <a:r>
              <a:rPr lang="en-US" sz="1050" b="1" kern="0" spc="140" dirty="0">
                <a:solidFill>
                  <a:srgbClr val="B3261E"/>
                </a:solidFill>
                <a:latin typeface="Calibri" pitchFamily="34" charset="0"/>
                <a:ea typeface="Calibri" pitchFamily="34" charset="-122"/>
                <a:cs typeface="Calibri" pitchFamily="34" charset="-120"/>
              </a:rPr>
              <a:t>CONS</a:t>
            </a:r>
            <a:endParaRPr lang="en-US" sz="1050" dirty="0"/>
          </a:p>
        </p:txBody>
      </p:sp>
      <p:sp>
        <p:nvSpPr>
          <p:cNvPr id="21" name="Text 19"/>
          <p:cNvSpPr txBox="1"/>
          <p:nvPr/>
        </p:nvSpPr>
        <p:spPr>
          <a:xfrm>
            <a:off x="6528816" y="5093208"/>
            <a:ext cx="4837176" cy="9144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Over-reliance can flatten a writer’s own voice</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Advanced modes and word limits need a subscription</a:t>
            </a:r>
            <a:endParaRPr lang="en-US" sz="11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Should never replace proper academic citation practice</a:t>
            </a:r>
            <a:endParaRPr lang="en-US" sz="1150" dirty="0"/>
          </a:p>
        </p:txBody>
      </p:sp>
      <p:sp>
        <p:nvSpPr>
          <p:cNvPr id="22" name="Text 20"/>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AI Tool Landscape</a:t>
            </a:r>
            <a:endParaRPr lang="en-US" sz="950" dirty="0"/>
          </a:p>
        </p:txBody>
      </p:sp>
      <p:sp>
        <p:nvSpPr>
          <p:cNvPr id="23" name="Text 21"/>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30</a:t>
            </a:r>
            <a:endParaRPr lang="en-US" sz="95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2 · AI TOOL LANDSCAPE</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Category Cheat-Sheet: Where to Start</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400" i="1" dirty="0">
                <a:solidFill>
                  <a:srgbClr val="8A94A0"/>
                </a:solidFill>
                <a:latin typeface="Calibri" pitchFamily="34" charset="0"/>
                <a:ea typeface="Calibri" pitchFamily="34" charset="-122"/>
                <a:cs typeface="Calibri" pitchFamily="34" charset="-120"/>
              </a:rPr>
              <a:t>One reasonable starting tool per category — free tiers are a good way to try before committing.</a:t>
            </a:r>
            <a:endParaRPr lang="en-US" sz="14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91672" cy="3017520"/>
        </p:xfrm>
        <a:graphic>
          <a:graphicData uri="http://schemas.openxmlformats.org/drawingml/2006/table">
            <a:tbl>
              <a:tblPr/>
              <a:tblGrid>
                <a:gridCol w="3017520"/>
                <a:gridCol w="3474720"/>
                <a:gridCol w="4599432"/>
              </a:tblGrid>
              <a:tr h="502920">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Category</a:t>
                      </a:r>
                      <a:endParaRPr lang="en-US" sz="115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1B2A4A"/>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Good starting tool</a:t>
                      </a:r>
                      <a:endParaRPr lang="en-US" sz="115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1B2A4A"/>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Best for</a:t>
                      </a:r>
                      <a:endParaRPr lang="en-US" sz="115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1B2A4A"/>
                    </a:solidFill>
                  </a:tcPr>
                </a:tc>
              </a:tr>
              <a:tr h="502920">
                <a:tc>
                  <a:txBody>
                    <a:bodyPr/>
                    <a:lstStyle/>
                    <a:p>
                      <a:pPr marL="0" indent="0" algn="l">
                        <a:buNone/>
                      </a:pPr>
                      <a:r>
                        <a:rPr lang="en-US" sz="1100" b="1" dirty="0">
                          <a:solidFill>
                            <a:srgbClr val="1B2A4A"/>
                          </a:solidFill>
                          <a:latin typeface="Calibri" pitchFamily="34" charset="0"/>
                          <a:ea typeface="Calibri" pitchFamily="34" charset="-122"/>
                          <a:cs typeface="Calibri" pitchFamily="34" charset="-120"/>
                        </a:rPr>
                        <a:t>Conversational / Text</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ChatGPT or Claude</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Explaining, drafting, brainstorming</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r>
              <a:tr h="502920">
                <a:tc>
                  <a:txBody>
                    <a:bodyPr/>
                    <a:lstStyle/>
                    <a:p>
                      <a:pPr marL="0" indent="0" algn="l">
                        <a:buNone/>
                      </a:pPr>
                      <a:r>
                        <a:rPr lang="en-US" sz="1100" b="1" dirty="0">
                          <a:solidFill>
                            <a:srgbClr val="1B2A4A"/>
                          </a:solidFill>
                          <a:latin typeface="Calibri" pitchFamily="34" charset="0"/>
                          <a:ea typeface="Calibri" pitchFamily="34" charset="-122"/>
                          <a:cs typeface="Calibri" pitchFamily="34" charset="-120"/>
                        </a:rPr>
                        <a:t>Code Assistants</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EFF6F7"/>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GitHub Copilot</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EFF6F7"/>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Research scripts &amp; teaching code</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EFF6F7"/>
                    </a:solidFill>
                  </a:tcPr>
                </a:tc>
              </a:tr>
              <a:tr h="502920">
                <a:tc>
                  <a:txBody>
                    <a:bodyPr/>
                    <a:lstStyle/>
                    <a:p>
                      <a:pPr marL="0" indent="0" algn="l">
                        <a:buNone/>
                      </a:pPr>
                      <a:r>
                        <a:rPr lang="en-US" sz="1100" b="1" dirty="0">
                          <a:solidFill>
                            <a:srgbClr val="1B2A4A"/>
                          </a:solidFill>
                          <a:latin typeface="Calibri" pitchFamily="34" charset="0"/>
                          <a:ea typeface="Calibri" pitchFamily="34" charset="-122"/>
                          <a:cs typeface="Calibri" pitchFamily="34" charset="-120"/>
                        </a:rPr>
                        <a:t>Data-Analysis</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ChatGPT Data Analysis</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Quick stats &amp; charts, no coding</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r>
              <a:tr h="502920">
                <a:tc>
                  <a:txBody>
                    <a:bodyPr/>
                    <a:lstStyle/>
                    <a:p>
                      <a:pPr marL="0" indent="0" algn="l">
                        <a:buNone/>
                      </a:pPr>
                      <a:r>
                        <a:rPr lang="en-US" sz="1100" b="1" dirty="0">
                          <a:solidFill>
                            <a:srgbClr val="1B2A4A"/>
                          </a:solidFill>
                          <a:latin typeface="Calibri" pitchFamily="34" charset="0"/>
                          <a:ea typeface="Calibri" pitchFamily="34" charset="-122"/>
                          <a:cs typeface="Calibri" pitchFamily="34" charset="-120"/>
                        </a:rPr>
                        <a:t>Image-Generation</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EFF6F7"/>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Canva AI / DALL-E</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EFF6F7"/>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Posters, slides, simple illustrations</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EFF6F7"/>
                    </a:solidFill>
                  </a:tcPr>
                </a:tc>
              </a:tr>
              <a:tr h="502920">
                <a:tc>
                  <a:txBody>
                    <a:bodyPr/>
                    <a:lstStyle/>
                    <a:p>
                      <a:pPr marL="0" indent="0" algn="l">
                        <a:buNone/>
                      </a:pPr>
                      <a:r>
                        <a:rPr lang="en-US" sz="1100" b="1" dirty="0">
                          <a:solidFill>
                            <a:srgbClr val="1B2A4A"/>
                          </a:solidFill>
                          <a:latin typeface="Calibri" pitchFamily="34" charset="0"/>
                          <a:ea typeface="Calibri" pitchFamily="34" charset="-122"/>
                          <a:cs typeface="Calibri" pitchFamily="34" charset="-120"/>
                        </a:rPr>
                        <a:t>Writing / Productivity</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Grammarly</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Everyday proofreading and tone</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AI Tool Landscape</a:t>
            </a:r>
            <a:endParaRPr lang="en-US" sz="950" dirty="0"/>
          </a:p>
        </p:txBody>
      </p:sp>
      <p:sp>
        <p:nvSpPr>
          <p:cNvPr id="7" name="Text 4"/>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31</a:t>
            </a:r>
            <a:endParaRPr lang="en-US" sz="95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2 · AI TOOL LANDSCAPE</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5 Prompting Tips for Better Results</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400" i="1" dirty="0">
                <a:solidFill>
                  <a:srgbClr val="8A94A0"/>
                </a:solidFill>
                <a:latin typeface="Calibri" pitchFamily="34" charset="0"/>
                <a:ea typeface="Calibri" pitchFamily="34" charset="-122"/>
                <a:cs typeface="Calibri" pitchFamily="34" charset="-120"/>
              </a:rPr>
              <a:t>Simple habits that noticeably improve output quality in any conversational tool.</a:t>
            </a:r>
            <a:endParaRPr lang="en-US" sz="1400" dirty="0"/>
          </a:p>
        </p:txBody>
      </p:sp>
      <p:sp>
        <p:nvSpPr>
          <p:cNvPr id="5" name="Shape 3"/>
          <p:cNvSpPr/>
          <p:nvPr/>
        </p:nvSpPr>
        <p:spPr>
          <a:xfrm>
            <a:off x="548640" y="2011680"/>
            <a:ext cx="10195560" cy="722376"/>
          </a:xfrm>
          <a:prstGeom prst="roundRect">
            <a:avLst>
              <a:gd name="adj" fmla="val 11392"/>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6" name="Shape 4"/>
          <p:cNvSpPr/>
          <p:nvPr/>
        </p:nvSpPr>
        <p:spPr>
          <a:xfrm>
            <a:off x="841248" y="2116836"/>
            <a:ext cx="512064" cy="512064"/>
          </a:xfrm>
          <a:prstGeom prst="ellipse">
            <a:avLst/>
          </a:prstGeom>
          <a:solidFill>
            <a:srgbClr val="1C7293"/>
          </a:solidFill>
          <a:ln/>
        </p:spPr>
      </p:sp>
      <p:sp>
        <p:nvSpPr>
          <p:cNvPr id="7" name="Text 5"/>
          <p:cNvSpPr txBox="1"/>
          <p:nvPr/>
        </p:nvSpPr>
        <p:spPr>
          <a:xfrm>
            <a:off x="841248" y="2116836"/>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txBox="1"/>
          <p:nvPr/>
        </p:nvSpPr>
        <p:spPr>
          <a:xfrm>
            <a:off x="1600200" y="2121408"/>
            <a:ext cx="4023360" cy="502920"/>
          </a:xfrm>
          <a:prstGeom prst="rect">
            <a:avLst/>
          </a:prstGeom>
          <a:noFill/>
          <a:ln/>
        </p:spPr>
        <p:txBody>
          <a:bodyPr wrap="square" lIns="0" tIns="0" rIns="0" bIns="0" rtlCol="0" anchor="ctr"/>
          <a:lstStyle/>
          <a:p>
            <a:pPr marL="0" indent="0">
              <a:buNone/>
            </a:pPr>
            <a:r>
              <a:rPr lang="en-US" sz="1450" b="1" dirty="0">
                <a:solidFill>
                  <a:srgbClr val="1B2A4A"/>
                </a:solidFill>
                <a:latin typeface="Calibri" pitchFamily="34" charset="0"/>
                <a:ea typeface="Calibri" pitchFamily="34" charset="-122"/>
                <a:cs typeface="Calibri" pitchFamily="34" charset="-120"/>
              </a:rPr>
              <a:t>Give context</a:t>
            </a:r>
            <a:endParaRPr lang="en-US" sz="1450" dirty="0"/>
          </a:p>
        </p:txBody>
      </p:sp>
      <p:sp>
        <p:nvSpPr>
          <p:cNvPr id="9" name="Text 7"/>
          <p:cNvSpPr txBox="1"/>
          <p:nvPr/>
        </p:nvSpPr>
        <p:spPr>
          <a:xfrm>
            <a:off x="5715000" y="2103120"/>
            <a:ext cx="4892040" cy="539496"/>
          </a:xfrm>
          <a:prstGeom prst="rect">
            <a:avLst/>
          </a:prstGeom>
          <a:noFill/>
          <a:ln/>
        </p:spPr>
        <p:txBody>
          <a:bodyPr wrap="square" lIns="0" tIns="0" rIns="0" bIns="0" rtlCol="0" anchor="ctr"/>
          <a:lstStyle/>
          <a:p>
            <a:pPr marL="0" indent="0">
              <a:lnSpc>
                <a:spcPct val="115000"/>
              </a:lnSpc>
              <a:buNone/>
            </a:pPr>
            <a:r>
              <a:rPr lang="en-US" sz="1200" dirty="0">
                <a:solidFill>
                  <a:srgbClr val="55606C"/>
                </a:solidFill>
                <a:latin typeface="Calibri" pitchFamily="34" charset="0"/>
                <a:ea typeface="Calibri" pitchFamily="34" charset="-122"/>
                <a:cs typeface="Calibri" pitchFamily="34" charset="-120"/>
              </a:rPr>
              <a:t>State the audience, subject and level — "for a first-year engineering class" changes the answer a lot.</a:t>
            </a:r>
            <a:endParaRPr lang="en-US" sz="1200" dirty="0"/>
          </a:p>
        </p:txBody>
      </p:sp>
      <p:sp>
        <p:nvSpPr>
          <p:cNvPr id="10" name="Shape 8"/>
          <p:cNvSpPr/>
          <p:nvPr/>
        </p:nvSpPr>
        <p:spPr>
          <a:xfrm>
            <a:off x="548640" y="2898648"/>
            <a:ext cx="10195560" cy="722376"/>
          </a:xfrm>
          <a:prstGeom prst="roundRect">
            <a:avLst>
              <a:gd name="adj" fmla="val 11392"/>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1" name="Shape 9"/>
          <p:cNvSpPr/>
          <p:nvPr/>
        </p:nvSpPr>
        <p:spPr>
          <a:xfrm>
            <a:off x="841248" y="3003804"/>
            <a:ext cx="512064" cy="512064"/>
          </a:xfrm>
          <a:prstGeom prst="ellipse">
            <a:avLst/>
          </a:prstGeom>
          <a:solidFill>
            <a:srgbClr val="1C7293"/>
          </a:solidFill>
          <a:ln/>
        </p:spPr>
      </p:sp>
      <p:sp>
        <p:nvSpPr>
          <p:cNvPr id="12" name="Text 10"/>
          <p:cNvSpPr txBox="1"/>
          <p:nvPr/>
        </p:nvSpPr>
        <p:spPr>
          <a:xfrm>
            <a:off x="841248" y="3003804"/>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txBox="1"/>
          <p:nvPr/>
        </p:nvSpPr>
        <p:spPr>
          <a:xfrm>
            <a:off x="1600200" y="3008376"/>
            <a:ext cx="4023360" cy="502920"/>
          </a:xfrm>
          <a:prstGeom prst="rect">
            <a:avLst/>
          </a:prstGeom>
          <a:noFill/>
          <a:ln/>
        </p:spPr>
        <p:txBody>
          <a:bodyPr wrap="square" lIns="0" tIns="0" rIns="0" bIns="0" rtlCol="0" anchor="ctr"/>
          <a:lstStyle/>
          <a:p>
            <a:pPr marL="0" indent="0">
              <a:buNone/>
            </a:pPr>
            <a:r>
              <a:rPr lang="en-US" sz="1450" b="1" dirty="0">
                <a:solidFill>
                  <a:srgbClr val="1B2A4A"/>
                </a:solidFill>
                <a:latin typeface="Calibri" pitchFamily="34" charset="0"/>
                <a:ea typeface="Calibri" pitchFamily="34" charset="-122"/>
                <a:cs typeface="Calibri" pitchFamily="34" charset="-120"/>
              </a:rPr>
              <a:t>Be specific about format</a:t>
            </a:r>
            <a:endParaRPr lang="en-US" sz="1450" dirty="0"/>
          </a:p>
        </p:txBody>
      </p:sp>
      <p:sp>
        <p:nvSpPr>
          <p:cNvPr id="14" name="Text 12"/>
          <p:cNvSpPr txBox="1"/>
          <p:nvPr/>
        </p:nvSpPr>
        <p:spPr>
          <a:xfrm>
            <a:off x="5715000" y="2990088"/>
            <a:ext cx="4892040" cy="539496"/>
          </a:xfrm>
          <a:prstGeom prst="rect">
            <a:avLst/>
          </a:prstGeom>
          <a:noFill/>
          <a:ln/>
        </p:spPr>
        <p:txBody>
          <a:bodyPr wrap="square" lIns="0" tIns="0" rIns="0" bIns="0" rtlCol="0" anchor="ctr"/>
          <a:lstStyle/>
          <a:p>
            <a:pPr marL="0" indent="0">
              <a:lnSpc>
                <a:spcPct val="115000"/>
              </a:lnSpc>
              <a:buNone/>
            </a:pPr>
            <a:r>
              <a:rPr lang="en-US" sz="1200" dirty="0">
                <a:solidFill>
                  <a:srgbClr val="55606C"/>
                </a:solidFill>
                <a:latin typeface="Calibri" pitchFamily="34" charset="0"/>
                <a:ea typeface="Calibri" pitchFamily="34" charset="-122"/>
                <a:cs typeface="Calibri" pitchFamily="34" charset="-120"/>
              </a:rPr>
              <a:t>Ask directly for a table, bullet list, or word count instead of hoping the tool guesses correctly.</a:t>
            </a:r>
            <a:endParaRPr lang="en-US" sz="1200" dirty="0"/>
          </a:p>
        </p:txBody>
      </p:sp>
      <p:sp>
        <p:nvSpPr>
          <p:cNvPr id="15" name="Shape 13"/>
          <p:cNvSpPr/>
          <p:nvPr/>
        </p:nvSpPr>
        <p:spPr>
          <a:xfrm>
            <a:off x="548640" y="3785616"/>
            <a:ext cx="10195560" cy="722376"/>
          </a:xfrm>
          <a:prstGeom prst="roundRect">
            <a:avLst>
              <a:gd name="adj" fmla="val 11392"/>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6" name="Shape 14"/>
          <p:cNvSpPr/>
          <p:nvPr/>
        </p:nvSpPr>
        <p:spPr>
          <a:xfrm>
            <a:off x="841248" y="3890772"/>
            <a:ext cx="512064" cy="512064"/>
          </a:xfrm>
          <a:prstGeom prst="ellipse">
            <a:avLst/>
          </a:prstGeom>
          <a:solidFill>
            <a:srgbClr val="1C7293"/>
          </a:solidFill>
          <a:ln/>
        </p:spPr>
      </p:sp>
      <p:sp>
        <p:nvSpPr>
          <p:cNvPr id="17" name="Text 15"/>
          <p:cNvSpPr txBox="1"/>
          <p:nvPr/>
        </p:nvSpPr>
        <p:spPr>
          <a:xfrm>
            <a:off x="841248" y="3890772"/>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6"/>
          <p:cNvSpPr txBox="1"/>
          <p:nvPr/>
        </p:nvSpPr>
        <p:spPr>
          <a:xfrm>
            <a:off x="1600200" y="3895344"/>
            <a:ext cx="4023360" cy="502920"/>
          </a:xfrm>
          <a:prstGeom prst="rect">
            <a:avLst/>
          </a:prstGeom>
          <a:noFill/>
          <a:ln/>
        </p:spPr>
        <p:txBody>
          <a:bodyPr wrap="square" lIns="0" tIns="0" rIns="0" bIns="0" rtlCol="0" anchor="ctr"/>
          <a:lstStyle/>
          <a:p>
            <a:pPr marL="0" indent="0">
              <a:buNone/>
            </a:pPr>
            <a:r>
              <a:rPr lang="en-US" sz="1450" b="1" dirty="0">
                <a:solidFill>
                  <a:srgbClr val="1B2A4A"/>
                </a:solidFill>
                <a:latin typeface="Calibri" pitchFamily="34" charset="0"/>
                <a:ea typeface="Calibri" pitchFamily="34" charset="-122"/>
                <a:cs typeface="Calibri" pitchFamily="34" charset="-120"/>
              </a:rPr>
              <a:t>Show an example</a:t>
            </a:r>
            <a:endParaRPr lang="en-US" sz="1450" dirty="0"/>
          </a:p>
        </p:txBody>
      </p:sp>
      <p:sp>
        <p:nvSpPr>
          <p:cNvPr id="19" name="Text 17"/>
          <p:cNvSpPr txBox="1"/>
          <p:nvPr/>
        </p:nvSpPr>
        <p:spPr>
          <a:xfrm>
            <a:off x="5715000" y="3877056"/>
            <a:ext cx="4892040" cy="539496"/>
          </a:xfrm>
          <a:prstGeom prst="rect">
            <a:avLst/>
          </a:prstGeom>
          <a:noFill/>
          <a:ln/>
        </p:spPr>
        <p:txBody>
          <a:bodyPr wrap="square" lIns="0" tIns="0" rIns="0" bIns="0" rtlCol="0" anchor="ctr"/>
          <a:lstStyle/>
          <a:p>
            <a:pPr marL="0" indent="0">
              <a:lnSpc>
                <a:spcPct val="115000"/>
              </a:lnSpc>
              <a:buNone/>
            </a:pPr>
            <a:r>
              <a:rPr lang="en-US" sz="1200" dirty="0">
                <a:solidFill>
                  <a:srgbClr val="55606C"/>
                </a:solidFill>
                <a:latin typeface="Calibri" pitchFamily="34" charset="0"/>
                <a:ea typeface="Calibri" pitchFamily="34" charset="-122"/>
                <a:cs typeface="Calibri" pitchFamily="34" charset="-120"/>
              </a:rPr>
              <a:t>Paste a sample of the style or structure you want copied — tools follow examples better than descriptions.</a:t>
            </a:r>
            <a:endParaRPr lang="en-US" sz="1200" dirty="0"/>
          </a:p>
        </p:txBody>
      </p:sp>
      <p:sp>
        <p:nvSpPr>
          <p:cNvPr id="20" name="Shape 18"/>
          <p:cNvSpPr/>
          <p:nvPr/>
        </p:nvSpPr>
        <p:spPr>
          <a:xfrm>
            <a:off x="548640" y="4672584"/>
            <a:ext cx="10195560" cy="722376"/>
          </a:xfrm>
          <a:prstGeom prst="roundRect">
            <a:avLst>
              <a:gd name="adj" fmla="val 11392"/>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21" name="Shape 19"/>
          <p:cNvSpPr/>
          <p:nvPr/>
        </p:nvSpPr>
        <p:spPr>
          <a:xfrm>
            <a:off x="841248" y="4777740"/>
            <a:ext cx="512064" cy="512064"/>
          </a:xfrm>
          <a:prstGeom prst="ellipse">
            <a:avLst/>
          </a:prstGeom>
          <a:solidFill>
            <a:srgbClr val="1C7293"/>
          </a:solidFill>
          <a:ln/>
        </p:spPr>
      </p:sp>
      <p:sp>
        <p:nvSpPr>
          <p:cNvPr id="22" name="Text 20"/>
          <p:cNvSpPr txBox="1"/>
          <p:nvPr/>
        </p:nvSpPr>
        <p:spPr>
          <a:xfrm>
            <a:off x="841248" y="4777740"/>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3" name="Text 21"/>
          <p:cNvSpPr txBox="1"/>
          <p:nvPr/>
        </p:nvSpPr>
        <p:spPr>
          <a:xfrm>
            <a:off x="1600200" y="4782312"/>
            <a:ext cx="4023360" cy="502920"/>
          </a:xfrm>
          <a:prstGeom prst="rect">
            <a:avLst/>
          </a:prstGeom>
          <a:noFill/>
          <a:ln/>
        </p:spPr>
        <p:txBody>
          <a:bodyPr wrap="square" lIns="0" tIns="0" rIns="0" bIns="0" rtlCol="0" anchor="ctr"/>
          <a:lstStyle/>
          <a:p>
            <a:pPr marL="0" indent="0">
              <a:buNone/>
            </a:pPr>
            <a:r>
              <a:rPr lang="en-US" sz="1450" b="1" dirty="0">
                <a:solidFill>
                  <a:srgbClr val="1B2A4A"/>
                </a:solidFill>
                <a:latin typeface="Calibri" pitchFamily="34" charset="0"/>
                <a:ea typeface="Calibri" pitchFamily="34" charset="-122"/>
                <a:cs typeface="Calibri" pitchFamily="34" charset="-120"/>
              </a:rPr>
              <a:t>Ask it to critique itself</a:t>
            </a:r>
            <a:endParaRPr lang="en-US" sz="1450" dirty="0"/>
          </a:p>
        </p:txBody>
      </p:sp>
      <p:sp>
        <p:nvSpPr>
          <p:cNvPr id="24" name="Text 22"/>
          <p:cNvSpPr txBox="1"/>
          <p:nvPr/>
        </p:nvSpPr>
        <p:spPr>
          <a:xfrm>
            <a:off x="5715000" y="4764024"/>
            <a:ext cx="4892040" cy="539496"/>
          </a:xfrm>
          <a:prstGeom prst="rect">
            <a:avLst/>
          </a:prstGeom>
          <a:noFill/>
          <a:ln/>
        </p:spPr>
        <p:txBody>
          <a:bodyPr wrap="square" lIns="0" tIns="0" rIns="0" bIns="0" rtlCol="0" anchor="ctr"/>
          <a:lstStyle/>
          <a:p>
            <a:pPr marL="0" indent="0">
              <a:lnSpc>
                <a:spcPct val="115000"/>
              </a:lnSpc>
              <a:buNone/>
            </a:pPr>
            <a:r>
              <a:rPr lang="en-US" sz="1200" dirty="0">
                <a:solidFill>
                  <a:srgbClr val="55606C"/>
                </a:solidFill>
                <a:latin typeface="Calibri" pitchFamily="34" charset="0"/>
                <a:ea typeface="Calibri" pitchFamily="34" charset="-122"/>
                <a:cs typeface="Calibri" pitchFamily="34" charset="-120"/>
              </a:rPr>
              <a:t>Follow up with "what might be wrong with this?" to catch errors before you use the output.</a:t>
            </a:r>
            <a:endParaRPr lang="en-US" sz="1200" dirty="0"/>
          </a:p>
        </p:txBody>
      </p:sp>
      <p:sp>
        <p:nvSpPr>
          <p:cNvPr id="25" name="Shape 23"/>
          <p:cNvSpPr/>
          <p:nvPr/>
        </p:nvSpPr>
        <p:spPr>
          <a:xfrm>
            <a:off x="548640" y="5559552"/>
            <a:ext cx="10195560" cy="722376"/>
          </a:xfrm>
          <a:prstGeom prst="roundRect">
            <a:avLst>
              <a:gd name="adj" fmla="val 11392"/>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26" name="Shape 24"/>
          <p:cNvSpPr/>
          <p:nvPr/>
        </p:nvSpPr>
        <p:spPr>
          <a:xfrm>
            <a:off x="841248" y="5664708"/>
            <a:ext cx="512064" cy="512064"/>
          </a:xfrm>
          <a:prstGeom prst="ellipse">
            <a:avLst/>
          </a:prstGeom>
          <a:solidFill>
            <a:srgbClr val="1C7293"/>
          </a:solidFill>
          <a:ln/>
        </p:spPr>
      </p:sp>
      <p:sp>
        <p:nvSpPr>
          <p:cNvPr id="27" name="Text 25"/>
          <p:cNvSpPr txBox="1"/>
          <p:nvPr/>
        </p:nvSpPr>
        <p:spPr>
          <a:xfrm>
            <a:off x="841248" y="5664708"/>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8" name="Text 26"/>
          <p:cNvSpPr txBox="1"/>
          <p:nvPr/>
        </p:nvSpPr>
        <p:spPr>
          <a:xfrm>
            <a:off x="1600200" y="5669280"/>
            <a:ext cx="4023360" cy="502920"/>
          </a:xfrm>
          <a:prstGeom prst="rect">
            <a:avLst/>
          </a:prstGeom>
          <a:noFill/>
          <a:ln/>
        </p:spPr>
        <p:txBody>
          <a:bodyPr wrap="square" lIns="0" tIns="0" rIns="0" bIns="0" rtlCol="0" anchor="ctr"/>
          <a:lstStyle/>
          <a:p>
            <a:pPr marL="0" indent="0">
              <a:buNone/>
            </a:pPr>
            <a:r>
              <a:rPr lang="en-US" sz="1450" b="1" dirty="0">
                <a:solidFill>
                  <a:srgbClr val="1B2A4A"/>
                </a:solidFill>
                <a:latin typeface="Calibri" pitchFamily="34" charset="0"/>
                <a:ea typeface="Calibri" pitchFamily="34" charset="-122"/>
                <a:cs typeface="Calibri" pitchFamily="34" charset="-120"/>
              </a:rPr>
              <a:t>Iterate, don’t restart</a:t>
            </a:r>
            <a:endParaRPr lang="en-US" sz="1450" dirty="0"/>
          </a:p>
        </p:txBody>
      </p:sp>
      <p:sp>
        <p:nvSpPr>
          <p:cNvPr id="29" name="Text 27"/>
          <p:cNvSpPr txBox="1"/>
          <p:nvPr/>
        </p:nvSpPr>
        <p:spPr>
          <a:xfrm>
            <a:off x="5715000" y="5650992"/>
            <a:ext cx="4892040" cy="539496"/>
          </a:xfrm>
          <a:prstGeom prst="rect">
            <a:avLst/>
          </a:prstGeom>
          <a:noFill/>
          <a:ln/>
        </p:spPr>
        <p:txBody>
          <a:bodyPr wrap="square" lIns="0" tIns="0" rIns="0" bIns="0" rtlCol="0" anchor="ctr"/>
          <a:lstStyle/>
          <a:p>
            <a:pPr marL="0" indent="0">
              <a:lnSpc>
                <a:spcPct val="115000"/>
              </a:lnSpc>
              <a:buNone/>
            </a:pPr>
            <a:r>
              <a:rPr lang="en-US" sz="1200" dirty="0">
                <a:solidFill>
                  <a:srgbClr val="55606C"/>
                </a:solidFill>
                <a:latin typeface="Calibri" pitchFamily="34" charset="0"/>
                <a:ea typeface="Calibri" pitchFamily="34" charset="-122"/>
                <a:cs typeface="Calibri" pitchFamily="34" charset="-120"/>
              </a:rPr>
              <a:t>Refine within the same conversation rather than starting over — the tool keeps useful context.</a:t>
            </a:r>
            <a:endParaRPr lang="en-US" sz="1200" dirty="0"/>
          </a:p>
        </p:txBody>
      </p:sp>
      <p:sp>
        <p:nvSpPr>
          <p:cNvPr id="30" name="Text 28"/>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AI Tool Landscape</a:t>
            </a:r>
            <a:endParaRPr lang="en-US" sz="950" dirty="0"/>
          </a:p>
        </p:txBody>
      </p:sp>
      <p:sp>
        <p:nvSpPr>
          <p:cNvPr id="31" name="Text 29"/>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32</a:t>
            </a:r>
            <a:endParaRPr lang="en-US" sz="95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2 · QUICK CHECK</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Discussion Prompt</a:t>
            </a:r>
            <a:endParaRPr lang="en-US" sz="3200" dirty="0"/>
          </a:p>
        </p:txBody>
      </p:sp>
      <p:sp>
        <p:nvSpPr>
          <p:cNvPr id="4" name="Shape 2"/>
          <p:cNvSpPr/>
          <p:nvPr/>
        </p:nvSpPr>
        <p:spPr>
          <a:xfrm>
            <a:off x="548640" y="2103120"/>
            <a:ext cx="10195560" cy="3566160"/>
          </a:xfrm>
          <a:prstGeom prst="roundRect">
            <a:avLst>
              <a:gd name="adj" fmla="val 230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5" name="Shape 3"/>
          <p:cNvSpPr/>
          <p:nvPr/>
        </p:nvSpPr>
        <p:spPr>
          <a:xfrm>
            <a:off x="5193792" y="2514600"/>
            <a:ext cx="1097280" cy="1097280"/>
          </a:xfrm>
          <a:prstGeom prst="ellipse">
            <a:avLst/>
          </a:prstGeom>
          <a:solidFill>
            <a:srgbClr val="1C7293"/>
          </a:solidFill>
          <a:ln/>
        </p:spPr>
      </p:sp>
      <p:pic>
        <p:nvPicPr>
          <p:cNvPr id="6" name="Image 0" descr="icons/question.png"/>
          <p:cNvPicPr>
            <a:picLocks noChangeAspect="1"/>
          </p:cNvPicPr>
          <p:nvPr/>
        </p:nvPicPr>
        <p:blipFill>
          <a:blip r:embed="rId3"/>
          <a:stretch>
            <a:fillRect/>
          </a:stretch>
        </p:blipFill>
        <p:spPr>
          <a:xfrm>
            <a:off x="5479085" y="2799893"/>
            <a:ext cx="526694" cy="526694"/>
          </a:xfrm>
          <a:prstGeom prst="rect">
            <a:avLst/>
          </a:prstGeom>
        </p:spPr>
      </p:pic>
      <p:sp>
        <p:nvSpPr>
          <p:cNvPr id="7" name="Text 4"/>
          <p:cNvSpPr txBox="1"/>
          <p:nvPr/>
        </p:nvSpPr>
        <p:spPr>
          <a:xfrm>
            <a:off x="1188720" y="3794760"/>
            <a:ext cx="9829800" cy="1005840"/>
          </a:xfrm>
          <a:prstGeom prst="rect">
            <a:avLst/>
          </a:prstGeom>
          <a:noFill/>
          <a:ln/>
        </p:spPr>
        <p:txBody>
          <a:bodyPr wrap="square" lIns="0" tIns="0" rIns="0" bIns="0" rtlCol="0" anchor="ctr"/>
          <a:lstStyle/>
          <a:p>
            <a:pPr marL="0" indent="0" algn="ctr">
              <a:lnSpc>
                <a:spcPct val="120000"/>
              </a:lnSpc>
              <a:buNone/>
            </a:pPr>
            <a:r>
              <a:rPr lang="en-US" sz="1900" b="1" i="1" dirty="0">
                <a:solidFill>
                  <a:srgbClr val="1B2A4A"/>
                </a:solidFill>
                <a:latin typeface="Cambria" pitchFamily="34" charset="0"/>
                <a:ea typeface="Cambria" pitchFamily="34" charset="-122"/>
                <a:cs typeface="Cambria" pitchFamily="34" charset="-120"/>
              </a:rPr>
              <a:t>“Which one of these five categories would save you the most time this semester — and why?”</a:t>
            </a:r>
            <a:endParaRPr lang="en-US" sz="1900" dirty="0"/>
          </a:p>
        </p:txBody>
      </p:sp>
      <p:sp>
        <p:nvSpPr>
          <p:cNvPr id="8" name="Text 5"/>
          <p:cNvSpPr txBox="1"/>
          <p:nvPr/>
        </p:nvSpPr>
        <p:spPr>
          <a:xfrm>
            <a:off x="1645920" y="4846320"/>
            <a:ext cx="8915400" cy="640080"/>
          </a:xfrm>
          <a:prstGeom prst="rect">
            <a:avLst/>
          </a:prstGeom>
          <a:noFill/>
          <a:ln/>
        </p:spPr>
        <p:txBody>
          <a:bodyPr wrap="square" lIns="0" tIns="0" rIns="0" bIns="0" rtlCol="0" anchor="ctr"/>
          <a:lstStyle/>
          <a:p>
            <a:pPr marL="0" indent="0" algn="ctr">
              <a:lnSpc>
                <a:spcPct val="120000"/>
              </a:lnSpc>
              <a:buNone/>
            </a:pPr>
            <a:r>
              <a:rPr lang="en-US" sz="1250" dirty="0">
                <a:solidFill>
                  <a:srgbClr val="8A94A0"/>
                </a:solidFill>
                <a:latin typeface="Calibri" pitchFamily="34" charset="0"/>
                <a:ea typeface="Calibri" pitchFamily="34" charset="-122"/>
                <a:cs typeface="Calibri" pitchFamily="34" charset="-120"/>
              </a:rPr>
              <a:t>Consider your own weekly workload: teaching prep, grading, research writing, or admin — which category matches your biggest time sink?</a:t>
            </a:r>
            <a:endParaRPr lang="en-US" sz="1250" dirty="0"/>
          </a:p>
        </p:txBody>
      </p:sp>
      <p:sp>
        <p:nvSpPr>
          <p:cNvPr id="9" name="Text 6"/>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AI Tool Landscape</a:t>
            </a:r>
            <a:endParaRPr lang="en-US" sz="950" dirty="0"/>
          </a:p>
        </p:txBody>
      </p:sp>
      <p:sp>
        <p:nvSpPr>
          <p:cNvPr id="10" name="Text 7"/>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33</a:t>
            </a:r>
            <a:endParaRPr lang="en-US" sz="950"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0058400" y="-1645920"/>
            <a:ext cx="4114800" cy="4114800"/>
          </a:xfrm>
          <a:prstGeom prst="ellipse">
            <a:avLst/>
          </a:prstGeom>
          <a:solidFill>
            <a:srgbClr val="233A63"/>
          </a:solidFill>
          <a:ln/>
        </p:spPr>
      </p:sp>
      <p:sp>
        <p:nvSpPr>
          <p:cNvPr id="3" name="Text 1"/>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9FD6E8"/>
                </a:solidFill>
                <a:latin typeface="Calibri" pitchFamily="34" charset="0"/>
                <a:ea typeface="Calibri" pitchFamily="34" charset="-122"/>
                <a:cs typeface="Calibri" pitchFamily="34" charset="-120"/>
              </a:rPr>
              <a:t>PART 2 RECAP</a:t>
            </a:r>
            <a:endParaRPr lang="en-US" sz="1250" dirty="0"/>
          </a:p>
        </p:txBody>
      </p:sp>
      <p:sp>
        <p:nvSpPr>
          <p:cNvPr id="4" name="Text 2"/>
          <p:cNvSpPr txBox="1"/>
          <p:nvPr/>
        </p:nvSpPr>
        <p:spPr>
          <a:xfrm>
            <a:off x="548640" y="731520"/>
            <a:ext cx="10607040" cy="8229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Key Takeaways: AI Tool Categories</a:t>
            </a:r>
            <a:endParaRPr lang="en-US" sz="3000" dirty="0"/>
          </a:p>
        </p:txBody>
      </p:sp>
      <p:sp>
        <p:nvSpPr>
          <p:cNvPr id="5" name="Shape 3"/>
          <p:cNvSpPr/>
          <p:nvPr/>
        </p:nvSpPr>
        <p:spPr>
          <a:xfrm>
            <a:off x="10149840" y="502920"/>
            <a:ext cx="1051560" cy="1051560"/>
          </a:xfrm>
          <a:prstGeom prst="ellipse">
            <a:avLst/>
          </a:prstGeom>
          <a:solidFill>
            <a:srgbClr val="1C7293"/>
          </a:solidFill>
          <a:ln/>
        </p:spPr>
      </p:sp>
      <p:pic>
        <p:nvPicPr>
          <p:cNvPr id="6" name="Image 0" descr="icons/toolbox.png"/>
          <p:cNvPicPr>
            <a:picLocks noChangeAspect="1"/>
          </p:cNvPicPr>
          <p:nvPr/>
        </p:nvPicPr>
        <p:blipFill>
          <a:blip r:embed="rId3"/>
          <a:stretch>
            <a:fillRect/>
          </a:stretch>
        </p:blipFill>
        <p:spPr>
          <a:xfrm>
            <a:off x="10423246" y="776326"/>
            <a:ext cx="504749" cy="504749"/>
          </a:xfrm>
          <a:prstGeom prst="rect">
            <a:avLst/>
          </a:prstGeom>
        </p:spPr>
      </p:pic>
      <p:sp>
        <p:nvSpPr>
          <p:cNvPr id="7" name="Shape 4"/>
          <p:cNvSpPr/>
          <p:nvPr/>
        </p:nvSpPr>
        <p:spPr>
          <a:xfrm>
            <a:off x="548640" y="1965960"/>
            <a:ext cx="5408676" cy="1965960"/>
          </a:xfrm>
          <a:prstGeom prst="roundRect">
            <a:avLst>
              <a:gd name="adj" fmla="val 3721"/>
            </a:avLst>
          </a:prstGeom>
          <a:solidFill>
            <a:srgbClr val="233A63"/>
          </a:solidFill>
          <a:ln/>
        </p:spPr>
      </p:sp>
      <p:sp>
        <p:nvSpPr>
          <p:cNvPr id="8" name="Shape 5"/>
          <p:cNvSpPr/>
          <p:nvPr/>
        </p:nvSpPr>
        <p:spPr>
          <a:xfrm>
            <a:off x="804672" y="2221992"/>
            <a:ext cx="457200" cy="457200"/>
          </a:xfrm>
          <a:prstGeom prst="ellipse">
            <a:avLst/>
          </a:prstGeom>
          <a:solidFill>
            <a:srgbClr val="1C7293"/>
          </a:solidFill>
          <a:ln/>
        </p:spPr>
      </p:sp>
      <p:pic>
        <p:nvPicPr>
          <p:cNvPr id="9" name="Image 1" descr="icons/comments.png"/>
          <p:cNvPicPr>
            <a:picLocks noChangeAspect="1"/>
          </p:cNvPicPr>
          <p:nvPr/>
        </p:nvPicPr>
        <p:blipFill>
          <a:blip r:embed="rId4"/>
          <a:stretch>
            <a:fillRect/>
          </a:stretch>
        </p:blipFill>
        <p:spPr>
          <a:xfrm>
            <a:off x="896112" y="2313432"/>
            <a:ext cx="274320" cy="274320"/>
          </a:xfrm>
          <a:prstGeom prst="rect">
            <a:avLst/>
          </a:prstGeom>
        </p:spPr>
      </p:pic>
      <p:sp>
        <p:nvSpPr>
          <p:cNvPr id="10" name="Text 6"/>
          <p:cNvSpPr txBox="1"/>
          <p:nvPr/>
        </p:nvSpPr>
        <p:spPr>
          <a:xfrm>
            <a:off x="1417320" y="2185416"/>
            <a:ext cx="4265676"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Five distinct categories</a:t>
            </a:r>
            <a:endParaRPr lang="en-US" sz="1450" dirty="0"/>
          </a:p>
        </p:txBody>
      </p:sp>
      <p:sp>
        <p:nvSpPr>
          <p:cNvPr id="11" name="Text 7"/>
          <p:cNvSpPr txBox="1"/>
          <p:nvPr/>
        </p:nvSpPr>
        <p:spPr>
          <a:xfrm>
            <a:off x="804672" y="2788920"/>
            <a:ext cx="4896612" cy="960120"/>
          </a:xfrm>
          <a:prstGeom prst="rect">
            <a:avLst/>
          </a:prstGeom>
          <a:noFill/>
          <a:ln/>
        </p:spPr>
        <p:txBody>
          <a:bodyPr wrap="square" lIns="0" tIns="0" rIns="0" bIns="0"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Conversational, code, data-analysis, image, and writing/productivity tools each solve different problems.</a:t>
            </a:r>
            <a:endParaRPr lang="en-US" sz="1150" dirty="0"/>
          </a:p>
        </p:txBody>
      </p:sp>
      <p:sp>
        <p:nvSpPr>
          <p:cNvPr id="12" name="Shape 8"/>
          <p:cNvSpPr/>
          <p:nvPr/>
        </p:nvSpPr>
        <p:spPr>
          <a:xfrm>
            <a:off x="6231636" y="1965960"/>
            <a:ext cx="5408676" cy="1965960"/>
          </a:xfrm>
          <a:prstGeom prst="roundRect">
            <a:avLst>
              <a:gd name="adj" fmla="val 3721"/>
            </a:avLst>
          </a:prstGeom>
          <a:solidFill>
            <a:srgbClr val="233A63"/>
          </a:solidFill>
          <a:ln/>
        </p:spPr>
      </p:sp>
      <p:sp>
        <p:nvSpPr>
          <p:cNvPr id="13" name="Shape 9"/>
          <p:cNvSpPr/>
          <p:nvPr/>
        </p:nvSpPr>
        <p:spPr>
          <a:xfrm>
            <a:off x="6487668" y="2221992"/>
            <a:ext cx="457200" cy="457200"/>
          </a:xfrm>
          <a:prstGeom prst="ellipse">
            <a:avLst/>
          </a:prstGeom>
          <a:solidFill>
            <a:srgbClr val="1C7293"/>
          </a:solidFill>
          <a:ln/>
        </p:spPr>
      </p:sp>
      <p:pic>
        <p:nvPicPr>
          <p:cNvPr id="14" name="Image 2" descr="icons/balance.png"/>
          <p:cNvPicPr>
            <a:picLocks noChangeAspect="1"/>
          </p:cNvPicPr>
          <p:nvPr/>
        </p:nvPicPr>
        <p:blipFill>
          <a:blip r:embed="rId5"/>
          <a:stretch>
            <a:fillRect/>
          </a:stretch>
        </p:blipFill>
        <p:spPr>
          <a:xfrm>
            <a:off x="6579108" y="2313432"/>
            <a:ext cx="274320" cy="274320"/>
          </a:xfrm>
          <a:prstGeom prst="rect">
            <a:avLst/>
          </a:prstGeom>
        </p:spPr>
      </p:pic>
      <p:sp>
        <p:nvSpPr>
          <p:cNvPr id="15" name="Text 10"/>
          <p:cNvSpPr txBox="1"/>
          <p:nvPr/>
        </p:nvSpPr>
        <p:spPr>
          <a:xfrm>
            <a:off x="7100316" y="2185416"/>
            <a:ext cx="4265676"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Every tool has trade-offs</a:t>
            </a:r>
            <a:endParaRPr lang="en-US" sz="1450" dirty="0"/>
          </a:p>
        </p:txBody>
      </p:sp>
      <p:sp>
        <p:nvSpPr>
          <p:cNvPr id="16" name="Text 11"/>
          <p:cNvSpPr txBox="1"/>
          <p:nvPr/>
        </p:nvSpPr>
        <p:spPr>
          <a:xfrm>
            <a:off x="6487668" y="2788920"/>
            <a:ext cx="4896612" cy="960120"/>
          </a:xfrm>
          <a:prstGeom prst="rect">
            <a:avLst/>
          </a:prstGeom>
          <a:noFill/>
          <a:ln/>
        </p:spPr>
        <p:txBody>
          <a:bodyPr wrap="square" lIns="0" tIns="0" rIns="0" bIns="0"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Weigh pros and cons against your actual task — no single tool wins every category.</a:t>
            </a:r>
            <a:endParaRPr lang="en-US" sz="1150" dirty="0"/>
          </a:p>
        </p:txBody>
      </p:sp>
      <p:sp>
        <p:nvSpPr>
          <p:cNvPr id="17" name="Shape 12"/>
          <p:cNvSpPr/>
          <p:nvPr/>
        </p:nvSpPr>
        <p:spPr>
          <a:xfrm>
            <a:off x="548640" y="4206240"/>
            <a:ext cx="5408676" cy="1965960"/>
          </a:xfrm>
          <a:prstGeom prst="roundRect">
            <a:avLst>
              <a:gd name="adj" fmla="val 3721"/>
            </a:avLst>
          </a:prstGeom>
          <a:solidFill>
            <a:srgbClr val="233A63"/>
          </a:solidFill>
          <a:ln/>
        </p:spPr>
      </p:sp>
      <p:sp>
        <p:nvSpPr>
          <p:cNvPr id="18" name="Shape 13"/>
          <p:cNvSpPr/>
          <p:nvPr/>
        </p:nvSpPr>
        <p:spPr>
          <a:xfrm>
            <a:off x="804672" y="4462272"/>
            <a:ext cx="457200" cy="457200"/>
          </a:xfrm>
          <a:prstGeom prst="ellipse">
            <a:avLst/>
          </a:prstGeom>
          <a:solidFill>
            <a:srgbClr val="1C7293"/>
          </a:solidFill>
          <a:ln/>
        </p:spPr>
      </p:sp>
      <p:pic>
        <p:nvPicPr>
          <p:cNvPr id="19" name="Image 3" descr="icons/gift.png"/>
          <p:cNvPicPr>
            <a:picLocks noChangeAspect="1"/>
          </p:cNvPicPr>
          <p:nvPr/>
        </p:nvPicPr>
        <p:blipFill>
          <a:blip r:embed="rId6"/>
          <a:stretch>
            <a:fillRect/>
          </a:stretch>
        </p:blipFill>
        <p:spPr>
          <a:xfrm>
            <a:off x="896112" y="4553712"/>
            <a:ext cx="274320" cy="274320"/>
          </a:xfrm>
          <a:prstGeom prst="rect">
            <a:avLst/>
          </a:prstGeom>
        </p:spPr>
      </p:pic>
      <p:sp>
        <p:nvSpPr>
          <p:cNvPr id="20" name="Text 14"/>
          <p:cNvSpPr txBox="1"/>
          <p:nvPr/>
        </p:nvSpPr>
        <p:spPr>
          <a:xfrm>
            <a:off x="1417320" y="4425696"/>
            <a:ext cx="4265676"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Free tiers are good starting points</a:t>
            </a:r>
            <a:endParaRPr lang="en-US" sz="1450" dirty="0"/>
          </a:p>
        </p:txBody>
      </p:sp>
      <p:sp>
        <p:nvSpPr>
          <p:cNvPr id="21" name="Text 15"/>
          <p:cNvSpPr txBox="1"/>
          <p:nvPr/>
        </p:nvSpPr>
        <p:spPr>
          <a:xfrm>
            <a:off x="804672" y="5029200"/>
            <a:ext cx="4896612" cy="960120"/>
          </a:xfrm>
          <a:prstGeom prst="rect">
            <a:avLst/>
          </a:prstGeom>
          <a:noFill/>
          <a:ln/>
        </p:spPr>
        <p:txBody>
          <a:bodyPr wrap="square" lIns="0" tIns="0" rIns="0" bIns="0"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Most categories have a usable free option before you commit to a paid plan.</a:t>
            </a:r>
            <a:endParaRPr lang="en-US" sz="1150" dirty="0"/>
          </a:p>
        </p:txBody>
      </p:sp>
      <p:sp>
        <p:nvSpPr>
          <p:cNvPr id="22" name="Shape 16"/>
          <p:cNvSpPr/>
          <p:nvPr/>
        </p:nvSpPr>
        <p:spPr>
          <a:xfrm>
            <a:off x="6231636" y="4206240"/>
            <a:ext cx="5408676" cy="1965960"/>
          </a:xfrm>
          <a:prstGeom prst="roundRect">
            <a:avLst>
              <a:gd name="adj" fmla="val 3721"/>
            </a:avLst>
          </a:prstGeom>
          <a:solidFill>
            <a:srgbClr val="233A63"/>
          </a:solidFill>
          <a:ln/>
        </p:spPr>
      </p:sp>
      <p:sp>
        <p:nvSpPr>
          <p:cNvPr id="23" name="Shape 17"/>
          <p:cNvSpPr/>
          <p:nvPr/>
        </p:nvSpPr>
        <p:spPr>
          <a:xfrm>
            <a:off x="6487668" y="4462272"/>
            <a:ext cx="457200" cy="457200"/>
          </a:xfrm>
          <a:prstGeom prst="ellipse">
            <a:avLst/>
          </a:prstGeom>
          <a:solidFill>
            <a:srgbClr val="1C7293"/>
          </a:solidFill>
          <a:ln/>
        </p:spPr>
      </p:sp>
      <p:pic>
        <p:nvPicPr>
          <p:cNvPr id="24" name="Image 4" descr="icons/shield.png"/>
          <p:cNvPicPr>
            <a:picLocks noChangeAspect="1"/>
          </p:cNvPicPr>
          <p:nvPr/>
        </p:nvPicPr>
        <p:blipFill>
          <a:blip r:embed="rId7"/>
          <a:stretch>
            <a:fillRect/>
          </a:stretch>
        </p:blipFill>
        <p:spPr>
          <a:xfrm>
            <a:off x="6579108" y="4553712"/>
            <a:ext cx="274320" cy="274320"/>
          </a:xfrm>
          <a:prstGeom prst="rect">
            <a:avLst/>
          </a:prstGeom>
        </p:spPr>
      </p:pic>
      <p:sp>
        <p:nvSpPr>
          <p:cNvPr id="25" name="Text 18"/>
          <p:cNvSpPr txBox="1"/>
          <p:nvPr/>
        </p:nvSpPr>
        <p:spPr>
          <a:xfrm>
            <a:off x="7100316" y="4425696"/>
            <a:ext cx="4265676"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Match the tool to the task</a:t>
            </a:r>
            <a:endParaRPr lang="en-US" sz="1450" dirty="0"/>
          </a:p>
        </p:txBody>
      </p:sp>
      <p:sp>
        <p:nvSpPr>
          <p:cNvPr id="26" name="Text 19"/>
          <p:cNvSpPr txBox="1"/>
          <p:nvPr/>
        </p:nvSpPr>
        <p:spPr>
          <a:xfrm>
            <a:off x="6487668" y="5029200"/>
            <a:ext cx="4896612" cy="960120"/>
          </a:xfrm>
          <a:prstGeom prst="rect">
            <a:avLst/>
          </a:prstGeom>
          <a:noFill/>
          <a:ln/>
        </p:spPr>
        <p:txBody>
          <a:bodyPr wrap="square" lIns="0" tIns="0" rIns="0" bIns="0"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Use conversational AI for drafting, but data tools for numbers — don’t force one tool to do everything.</a:t>
            </a:r>
            <a:endParaRPr lang="en-US" sz="1150" dirty="0"/>
          </a:p>
        </p:txBody>
      </p:sp>
      <p:sp>
        <p:nvSpPr>
          <p:cNvPr id="27" name="Text 20"/>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9FD6E8"/>
                </a:solidFill>
                <a:latin typeface="Calibri" pitchFamily="34" charset="0"/>
                <a:ea typeface="Calibri" pitchFamily="34" charset="-122"/>
                <a:cs typeface="Calibri" pitchFamily="34" charset="-120"/>
              </a:rPr>
              <a:t>AI Tool Landscape</a:t>
            </a:r>
            <a:endParaRPr lang="en-US" sz="950" dirty="0"/>
          </a:p>
        </p:txBody>
      </p:sp>
      <p:sp>
        <p:nvSpPr>
          <p:cNvPr id="28" name="Text 21"/>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9FD6E8"/>
                </a:solidFill>
                <a:latin typeface="Calibri" pitchFamily="34" charset="0"/>
                <a:ea typeface="Calibri" pitchFamily="34" charset="-122"/>
                <a:cs typeface="Calibri" pitchFamily="34" charset="-120"/>
              </a:rPr>
              <a:t>34</a:t>
            </a:r>
            <a:endParaRPr lang="en-US" sz="950"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828800" y="-2011680"/>
            <a:ext cx="5486400" cy="5486400"/>
          </a:xfrm>
          <a:prstGeom prst="ellipse">
            <a:avLst/>
          </a:prstGeom>
          <a:solidFill>
            <a:srgbClr val="233A63"/>
          </a:solidFill>
          <a:ln/>
        </p:spPr>
      </p:sp>
      <p:sp>
        <p:nvSpPr>
          <p:cNvPr id="3" name="Shape 1"/>
          <p:cNvSpPr/>
          <p:nvPr/>
        </p:nvSpPr>
        <p:spPr>
          <a:xfrm>
            <a:off x="9875520" y="4206240"/>
            <a:ext cx="5029200" cy="5029200"/>
          </a:xfrm>
          <a:prstGeom prst="ellipse">
            <a:avLst/>
          </a:prstGeom>
          <a:solidFill>
            <a:srgbClr val="121C33"/>
          </a:solidFill>
          <a:ln/>
        </p:spPr>
      </p:sp>
      <p:sp>
        <p:nvSpPr>
          <p:cNvPr id="4" name="Text 2"/>
          <p:cNvSpPr txBox="1"/>
          <p:nvPr/>
        </p:nvSpPr>
        <p:spPr>
          <a:xfrm>
            <a:off x="822960" y="2286000"/>
            <a:ext cx="3657600" cy="457200"/>
          </a:xfrm>
          <a:prstGeom prst="rect">
            <a:avLst/>
          </a:prstGeom>
          <a:noFill/>
          <a:ln/>
        </p:spPr>
        <p:txBody>
          <a:bodyPr wrap="square" lIns="0" tIns="0" rIns="0" bIns="0" rtlCol="0" anchor="ctr"/>
          <a:lstStyle/>
          <a:p>
            <a:pPr marL="0" indent="0">
              <a:buNone/>
            </a:pPr>
            <a:r>
              <a:rPr lang="en-US" sz="1600" b="1" kern="0" spc="200" dirty="0">
                <a:solidFill>
                  <a:srgbClr val="1C7293"/>
                </a:solidFill>
                <a:latin typeface="Calibri" pitchFamily="34" charset="0"/>
                <a:ea typeface="Calibri" pitchFamily="34" charset="-122"/>
                <a:cs typeface="Calibri" pitchFamily="34" charset="-120"/>
              </a:rPr>
              <a:t>PART 3</a:t>
            </a:r>
            <a:endParaRPr lang="en-US" sz="1600" dirty="0"/>
          </a:p>
        </p:txBody>
      </p:sp>
      <p:sp>
        <p:nvSpPr>
          <p:cNvPr id="5" name="Shape 3"/>
          <p:cNvSpPr/>
          <p:nvPr/>
        </p:nvSpPr>
        <p:spPr>
          <a:xfrm>
            <a:off x="868680" y="2788920"/>
            <a:ext cx="1280160" cy="0"/>
          </a:xfrm>
          <a:prstGeom prst="line">
            <a:avLst/>
          </a:prstGeom>
          <a:noFill/>
          <a:ln w="31750">
            <a:solidFill>
              <a:srgbClr val="1C7293"/>
            </a:solidFill>
            <a:prstDash val="solid"/>
          </a:ln>
        </p:spPr>
      </p:sp>
      <p:sp>
        <p:nvSpPr>
          <p:cNvPr id="6" name="Text 4"/>
          <p:cNvSpPr txBox="1"/>
          <p:nvPr/>
        </p:nvSpPr>
        <p:spPr>
          <a:xfrm>
            <a:off x="822960" y="2880360"/>
            <a:ext cx="9601200" cy="365760"/>
          </a:xfrm>
          <a:prstGeom prst="rect">
            <a:avLst/>
          </a:prstGeom>
          <a:noFill/>
          <a:ln/>
        </p:spPr>
        <p:txBody>
          <a:bodyPr wrap="square" lIns="0" tIns="0" rIns="0" bIns="0" rtlCol="0" anchor="ctr"/>
          <a:lstStyle/>
          <a:p>
            <a:pPr marL="0" indent="0">
              <a:buNone/>
            </a:pPr>
            <a:r>
              <a:rPr lang="en-US" sz="1300" b="1" kern="0" spc="180" dirty="0">
                <a:solidFill>
                  <a:srgbClr val="9FD6E8"/>
                </a:solidFill>
                <a:latin typeface="Calibri" pitchFamily="34" charset="0"/>
                <a:ea typeface="Calibri" pitchFamily="34" charset="-122"/>
                <a:cs typeface="Calibri" pitchFamily="34" charset="-120"/>
              </a:rPr>
              <a:t>UNDER THE HOOD</a:t>
            </a:r>
            <a:endParaRPr lang="en-US" sz="1300" dirty="0"/>
          </a:p>
        </p:txBody>
      </p:sp>
      <p:sp>
        <p:nvSpPr>
          <p:cNvPr id="7" name="Text 5"/>
          <p:cNvSpPr txBox="1"/>
          <p:nvPr/>
        </p:nvSpPr>
        <p:spPr>
          <a:xfrm>
            <a:off x="777240" y="3246120"/>
            <a:ext cx="9692640" cy="1463040"/>
          </a:xfrm>
          <a:prstGeom prst="rect">
            <a:avLst/>
          </a:prstGeom>
          <a:noFill/>
          <a:ln/>
        </p:spPr>
        <p:txBody>
          <a:bodyPr wrap="square" lIns="0" tIns="0" rIns="0" bIns="0" rtlCol="0" anchor="ctr"/>
          <a:lstStyle/>
          <a:p>
            <a:pPr marL="0" indent="0">
              <a:lnSpc>
                <a:spcPct val="105000"/>
              </a:lnSpc>
              <a:buNone/>
            </a:pPr>
            <a:r>
              <a:rPr lang="en-US" sz="3800" b="1" dirty="0">
                <a:solidFill>
                  <a:srgbClr val="FFFFFF"/>
                </a:solidFill>
                <a:latin typeface="Cambria" pitchFamily="34" charset="0"/>
                <a:ea typeface="Cambria" pitchFamily="34" charset="-122"/>
                <a:cs typeface="Cambria" pitchFamily="34" charset="-120"/>
              </a:rPr>
              <a:t>How Large Language</a:t>
            </a:r>
            <a:endParaRPr lang="en-US" sz="3800" dirty="0"/>
          </a:p>
          <a:p>
            <a:pPr marL="0" indent="0">
              <a:lnSpc>
                <a:spcPct val="105000"/>
              </a:lnSpc>
              <a:buNone/>
            </a:pPr>
            <a:r>
              <a:rPr lang="en-US" sz="3800" b="1" dirty="0">
                <a:solidFill>
                  <a:srgbClr val="FFFFFF"/>
                </a:solidFill>
                <a:latin typeface="Cambria" pitchFamily="34" charset="0"/>
                <a:ea typeface="Cambria" pitchFamily="34" charset="-122"/>
                <a:cs typeface="Cambria" pitchFamily="34" charset="-120"/>
              </a:rPr>
              <a:t>Models Generate Responses</a:t>
            </a:r>
            <a:endParaRPr lang="en-US" sz="3800" dirty="0"/>
          </a:p>
        </p:txBody>
      </p:sp>
      <p:sp>
        <p:nvSpPr>
          <p:cNvPr id="8" name="Text 6"/>
          <p:cNvSpPr txBox="1"/>
          <p:nvPr/>
        </p:nvSpPr>
        <p:spPr>
          <a:xfrm>
            <a:off x="822960" y="4709160"/>
            <a:ext cx="8686800" cy="731520"/>
          </a:xfrm>
          <a:prstGeom prst="rect">
            <a:avLst/>
          </a:prstGeom>
          <a:noFill/>
          <a:ln/>
        </p:spPr>
        <p:txBody>
          <a:bodyPr wrap="square" lIns="0" tIns="0" rIns="0" bIns="0" rtlCol="0" anchor="ctr"/>
          <a:lstStyle/>
          <a:p>
            <a:pPr marL="0" indent="0">
              <a:lnSpc>
                <a:spcPct val="125000"/>
              </a:lnSpc>
              <a:buNone/>
            </a:pPr>
            <a:r>
              <a:rPr lang="en-US" sz="1500" i="1" dirty="0">
                <a:solidFill>
                  <a:srgbClr val="C9D6E3"/>
                </a:solidFill>
                <a:latin typeface="Calibri" pitchFamily="34" charset="0"/>
                <a:ea typeface="Calibri" pitchFamily="34" charset="-122"/>
                <a:cs typeface="Calibri" pitchFamily="34" charset="-120"/>
              </a:rPr>
              <a:t>A conceptual, non-mathematical walkthrough of what happens between your prompt and the AI’s answer.</a:t>
            </a:r>
            <a:endParaRPr lang="en-US" sz="1500" dirty="0"/>
          </a:p>
        </p:txBody>
      </p:sp>
      <p:sp>
        <p:nvSpPr>
          <p:cNvPr id="9" name="Shape 7"/>
          <p:cNvSpPr/>
          <p:nvPr/>
        </p:nvSpPr>
        <p:spPr>
          <a:xfrm>
            <a:off x="10195560" y="685800"/>
            <a:ext cx="1143000" cy="1143000"/>
          </a:xfrm>
          <a:prstGeom prst="ellipse">
            <a:avLst/>
          </a:prstGeom>
          <a:solidFill>
            <a:srgbClr val="1C7293"/>
          </a:solidFill>
          <a:ln/>
        </p:spPr>
      </p:sp>
      <p:pic>
        <p:nvPicPr>
          <p:cNvPr id="10" name="Image 0" descr="icons/microchip.png"/>
          <p:cNvPicPr>
            <a:picLocks noChangeAspect="1"/>
          </p:cNvPicPr>
          <p:nvPr/>
        </p:nvPicPr>
        <p:blipFill>
          <a:blip r:embed="rId3"/>
          <a:stretch>
            <a:fillRect/>
          </a:stretch>
        </p:blipFill>
        <p:spPr>
          <a:xfrm>
            <a:off x="10492740" y="982980"/>
            <a:ext cx="548640" cy="548640"/>
          </a:xfrm>
          <a:prstGeom prst="rect">
            <a:avLst/>
          </a:prstGeom>
        </p:spPr>
      </p:pic>
      <p:sp>
        <p:nvSpPr>
          <p:cNvPr id="11" name="Text 8"/>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9FD6E8"/>
                </a:solidFill>
                <a:latin typeface="Calibri" pitchFamily="34" charset="0"/>
                <a:ea typeface="Calibri" pitchFamily="34" charset="-122"/>
                <a:cs typeface="Calibri" pitchFamily="34" charset="-120"/>
              </a:rPr>
              <a:t>Part 3 · Under the Hood</a:t>
            </a:r>
            <a:endParaRPr lang="en-US" sz="950" dirty="0"/>
          </a:p>
        </p:txBody>
      </p:sp>
      <p:sp>
        <p:nvSpPr>
          <p:cNvPr id="12" name="Text 9"/>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9FD6E8"/>
                </a:solidFill>
                <a:latin typeface="Calibri" pitchFamily="34" charset="0"/>
                <a:ea typeface="Calibri" pitchFamily="34" charset="-122"/>
                <a:cs typeface="Calibri" pitchFamily="34" charset="-120"/>
              </a:rPr>
              <a:t>35</a:t>
            </a:r>
            <a:endParaRPr lang="en-US" sz="950"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3 · UNDER THE HOOD</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What is a Large Language Model?</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450" i="1" dirty="0">
                <a:solidFill>
                  <a:srgbClr val="8A94A0"/>
                </a:solidFill>
                <a:latin typeface="Calibri" pitchFamily="34" charset="0"/>
                <a:ea typeface="Calibri" pitchFamily="34" charset="-122"/>
                <a:cs typeface="Calibri" pitchFamily="34" charset="-120"/>
              </a:rPr>
              <a:t>The engine behind ChatGPT, Claude, Gemini and Copilot</a:t>
            </a:r>
            <a:endParaRPr lang="en-US" sz="1450" dirty="0"/>
          </a:p>
        </p:txBody>
      </p:sp>
      <p:sp>
        <p:nvSpPr>
          <p:cNvPr id="5" name="Shape 3"/>
          <p:cNvSpPr/>
          <p:nvPr/>
        </p:nvSpPr>
        <p:spPr>
          <a:xfrm>
            <a:off x="548640" y="1965960"/>
            <a:ext cx="6720840" cy="4160520"/>
          </a:xfrm>
          <a:prstGeom prst="roundRect">
            <a:avLst>
              <a:gd name="adj" fmla="val 197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6" name="Text 4"/>
          <p:cNvSpPr txBox="1"/>
          <p:nvPr/>
        </p:nvSpPr>
        <p:spPr>
          <a:xfrm>
            <a:off x="868680" y="2212848"/>
            <a:ext cx="54864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SIMPLE DEFINITION</a:t>
            </a:r>
            <a:endParaRPr lang="en-US" sz="1050" dirty="0"/>
          </a:p>
        </p:txBody>
      </p:sp>
      <p:sp>
        <p:nvSpPr>
          <p:cNvPr id="7" name="Text 5"/>
          <p:cNvSpPr txBox="1"/>
          <p:nvPr/>
        </p:nvSpPr>
        <p:spPr>
          <a:xfrm>
            <a:off x="868680" y="2542032"/>
            <a:ext cx="6080760" cy="1417320"/>
          </a:xfrm>
          <a:prstGeom prst="rect">
            <a:avLst/>
          </a:prstGeom>
          <a:noFill/>
          <a:ln/>
        </p:spPr>
        <p:txBody>
          <a:bodyPr wrap="square" lIns="0" tIns="0" rIns="0" bIns="0" rtlCol="0" anchor="t"/>
          <a:lstStyle/>
          <a:p>
            <a:pPr marL="0" indent="0">
              <a:lnSpc>
                <a:spcPct val="122000"/>
              </a:lnSpc>
              <a:buNone/>
            </a:pPr>
            <a:r>
              <a:rPr lang="en-US" sz="1550" dirty="0">
                <a:solidFill>
                  <a:srgbClr val="1B2A4A"/>
                </a:solidFill>
                <a:latin typeface="Calibri" pitchFamily="34" charset="0"/>
                <a:ea typeface="Calibri" pitchFamily="34" charset="-122"/>
                <a:cs typeface="Calibri" pitchFamily="34" charset="-120"/>
              </a:rPr>
              <a:t>A Large Language Model (LLM) is a type of deep-learning model trained on enormous amounts of text — books, articles, websites, and more — to learn the statistical patterns of human language, so it can predict and generate coherent, relevant text.</a:t>
            </a:r>
            <a:endParaRPr lang="en-US" sz="1550" dirty="0"/>
          </a:p>
        </p:txBody>
      </p:sp>
      <p:sp>
        <p:nvSpPr>
          <p:cNvPr id="8" name="Shape 6"/>
          <p:cNvSpPr/>
          <p:nvPr/>
        </p:nvSpPr>
        <p:spPr>
          <a:xfrm>
            <a:off x="868680" y="4041648"/>
            <a:ext cx="6080760" cy="0"/>
          </a:xfrm>
          <a:prstGeom prst="line">
            <a:avLst/>
          </a:prstGeom>
          <a:noFill/>
          <a:ln w="12700">
            <a:solidFill>
              <a:srgbClr val="E2E6EA"/>
            </a:solidFill>
            <a:prstDash val="solid"/>
          </a:ln>
        </p:spPr>
      </p:sp>
      <p:sp>
        <p:nvSpPr>
          <p:cNvPr id="9" name="Text 7"/>
          <p:cNvSpPr txBox="1"/>
          <p:nvPr/>
        </p:nvSpPr>
        <p:spPr>
          <a:xfrm>
            <a:off x="868680" y="4187952"/>
            <a:ext cx="54864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IN THE CLASSROOM</a:t>
            </a:r>
            <a:endParaRPr lang="en-US" sz="1050" dirty="0"/>
          </a:p>
        </p:txBody>
      </p:sp>
      <p:sp>
        <p:nvSpPr>
          <p:cNvPr id="10" name="Text 8"/>
          <p:cNvSpPr txBox="1"/>
          <p:nvPr/>
        </p:nvSpPr>
        <p:spPr>
          <a:xfrm>
            <a:off x="868680" y="4517136"/>
            <a:ext cx="6080760" cy="1463040"/>
          </a:xfrm>
          <a:prstGeom prst="rect">
            <a:avLst/>
          </a:prstGeom>
          <a:noFill/>
          <a:ln/>
        </p:spPr>
        <p:txBody>
          <a:bodyPr wrap="square" lIns="0" tIns="0" rIns="0" bIns="0" rtlCol="0" anchor="t"/>
          <a:lstStyle/>
          <a:p>
            <a:pPr marL="0" indent="0">
              <a:lnSpc>
                <a:spcPct val="122000"/>
              </a:lnSpc>
              <a:buNone/>
            </a:pPr>
            <a:r>
              <a:rPr lang="en-US" sz="1350" dirty="0">
                <a:solidFill>
                  <a:srgbClr val="55606C"/>
                </a:solidFill>
                <a:latin typeface="Calibri" pitchFamily="34" charset="0"/>
                <a:ea typeface="Calibri" pitchFamily="34" charset="-122"/>
                <a:cs typeface="Calibri" pitchFamily="34" charset="-120"/>
              </a:rPr>
              <a:t>When you ask an LLM to "explain photosynthesis for a Grade 8 class," it draws on patterns learned from millions of explanatory texts to generate a fitting response — without looking anything up in real time.</a:t>
            </a:r>
            <a:endParaRPr lang="en-US" sz="1350" dirty="0"/>
          </a:p>
        </p:txBody>
      </p:sp>
      <p:sp>
        <p:nvSpPr>
          <p:cNvPr id="11" name="Shape 9"/>
          <p:cNvSpPr/>
          <p:nvPr/>
        </p:nvSpPr>
        <p:spPr>
          <a:xfrm>
            <a:off x="7635240" y="1965960"/>
            <a:ext cx="1143000" cy="1143000"/>
          </a:xfrm>
          <a:prstGeom prst="ellipse">
            <a:avLst/>
          </a:prstGeom>
          <a:solidFill>
            <a:srgbClr val="1C7293"/>
          </a:solidFill>
          <a:ln/>
        </p:spPr>
      </p:sp>
      <p:pic>
        <p:nvPicPr>
          <p:cNvPr id="12" name="Image 0" descr="icons/microchip.png"/>
          <p:cNvPicPr>
            <a:picLocks noChangeAspect="1"/>
          </p:cNvPicPr>
          <p:nvPr/>
        </p:nvPicPr>
        <p:blipFill>
          <a:blip r:embed="rId3"/>
          <a:stretch>
            <a:fillRect/>
          </a:stretch>
        </p:blipFill>
        <p:spPr>
          <a:xfrm>
            <a:off x="7932420" y="2263140"/>
            <a:ext cx="548640" cy="548640"/>
          </a:xfrm>
          <a:prstGeom prst="rect">
            <a:avLst/>
          </a:prstGeom>
        </p:spPr>
      </p:pic>
      <p:sp>
        <p:nvSpPr>
          <p:cNvPr id="13" name="Shape 10"/>
          <p:cNvSpPr/>
          <p:nvPr/>
        </p:nvSpPr>
        <p:spPr>
          <a:xfrm>
            <a:off x="7406640" y="3337560"/>
            <a:ext cx="4206240" cy="2788920"/>
          </a:xfrm>
          <a:prstGeom prst="roundRect">
            <a:avLst>
              <a:gd name="adj" fmla="val 2951"/>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4" name="Text 11"/>
          <p:cNvSpPr txBox="1"/>
          <p:nvPr/>
        </p:nvSpPr>
        <p:spPr>
          <a:xfrm>
            <a:off x="7699248" y="3547872"/>
            <a:ext cx="36576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KEY TRAITS</a:t>
            </a:r>
            <a:endParaRPr lang="en-US" sz="1050" dirty="0"/>
          </a:p>
        </p:txBody>
      </p:sp>
      <p:sp>
        <p:nvSpPr>
          <p:cNvPr id="15" name="Text 12"/>
          <p:cNvSpPr txBox="1"/>
          <p:nvPr/>
        </p:nvSpPr>
        <p:spPr>
          <a:xfrm>
            <a:off x="7699248" y="3858768"/>
            <a:ext cx="3749040" cy="21488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Trained once on massive text data, then reused many times</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Does not "know" facts the way a database does — it predicts patterns</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Larger models with more training generally perform better</a:t>
            </a:r>
            <a:endParaRPr lang="en-US" sz="1250" dirty="0"/>
          </a:p>
        </p:txBody>
      </p:sp>
      <p:sp>
        <p:nvSpPr>
          <p:cNvPr id="16" name="Text 13"/>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Under the Hood</a:t>
            </a:r>
            <a:endParaRPr lang="en-US" sz="950" dirty="0"/>
          </a:p>
        </p:txBody>
      </p:sp>
      <p:sp>
        <p:nvSpPr>
          <p:cNvPr id="17" name="Text 14"/>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36</a:t>
            </a:r>
            <a:endParaRPr lang="en-US" sz="950"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3 · UNDER THE HOOD</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Training vs. Inference</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450" i="1" dirty="0">
                <a:solidFill>
                  <a:srgbClr val="8A94A0"/>
                </a:solidFill>
                <a:latin typeface="Calibri" pitchFamily="34" charset="0"/>
                <a:ea typeface="Calibri" pitchFamily="34" charset="-122"/>
                <a:cs typeface="Calibri" pitchFamily="34" charset="-120"/>
              </a:rPr>
              <a:t>Two very different phases in an LLM’s life</a:t>
            </a:r>
            <a:endParaRPr lang="en-US" sz="1450" dirty="0"/>
          </a:p>
        </p:txBody>
      </p:sp>
      <p:sp>
        <p:nvSpPr>
          <p:cNvPr id="5" name="Shape 3"/>
          <p:cNvSpPr/>
          <p:nvPr/>
        </p:nvSpPr>
        <p:spPr>
          <a:xfrm>
            <a:off x="548640" y="1965960"/>
            <a:ext cx="6720840" cy="4160520"/>
          </a:xfrm>
          <a:prstGeom prst="roundRect">
            <a:avLst>
              <a:gd name="adj" fmla="val 197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6" name="Text 4"/>
          <p:cNvSpPr txBox="1"/>
          <p:nvPr/>
        </p:nvSpPr>
        <p:spPr>
          <a:xfrm>
            <a:off x="868680" y="2212848"/>
            <a:ext cx="54864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SIMPLE DEFINITION</a:t>
            </a:r>
            <a:endParaRPr lang="en-US" sz="1050" dirty="0"/>
          </a:p>
        </p:txBody>
      </p:sp>
      <p:sp>
        <p:nvSpPr>
          <p:cNvPr id="7" name="Text 5"/>
          <p:cNvSpPr txBox="1"/>
          <p:nvPr/>
        </p:nvSpPr>
        <p:spPr>
          <a:xfrm>
            <a:off x="868680" y="2542032"/>
            <a:ext cx="6080760" cy="1417320"/>
          </a:xfrm>
          <a:prstGeom prst="rect">
            <a:avLst/>
          </a:prstGeom>
          <a:noFill/>
          <a:ln/>
        </p:spPr>
        <p:txBody>
          <a:bodyPr wrap="square" lIns="0" tIns="0" rIns="0" bIns="0" rtlCol="0" anchor="t"/>
          <a:lstStyle/>
          <a:p>
            <a:pPr marL="0" indent="0">
              <a:lnSpc>
                <a:spcPct val="122000"/>
              </a:lnSpc>
              <a:buNone/>
            </a:pPr>
            <a:r>
              <a:rPr lang="en-US" sz="1550" dirty="0">
                <a:solidFill>
                  <a:srgbClr val="1B2A4A"/>
                </a:solidFill>
                <a:latin typeface="Calibri" pitchFamily="34" charset="0"/>
                <a:ea typeface="Calibri" pitchFamily="34" charset="-122"/>
                <a:cs typeface="Calibri" pitchFamily="34" charset="-120"/>
              </a:rPr>
              <a:t>"Training" is the one-time, extremely expensive process where the model reads enormous amounts of text to learn language patterns. "Inference" is what happens every time you send a prompt — the already-trained model simply generates a response, quickly and cheaply by comparison.</a:t>
            </a:r>
            <a:endParaRPr lang="en-US" sz="1550" dirty="0"/>
          </a:p>
        </p:txBody>
      </p:sp>
      <p:sp>
        <p:nvSpPr>
          <p:cNvPr id="8" name="Shape 6"/>
          <p:cNvSpPr/>
          <p:nvPr/>
        </p:nvSpPr>
        <p:spPr>
          <a:xfrm>
            <a:off x="868680" y="4041648"/>
            <a:ext cx="6080760" cy="0"/>
          </a:xfrm>
          <a:prstGeom prst="line">
            <a:avLst/>
          </a:prstGeom>
          <a:noFill/>
          <a:ln w="12700">
            <a:solidFill>
              <a:srgbClr val="E2E6EA"/>
            </a:solidFill>
            <a:prstDash val="solid"/>
          </a:ln>
        </p:spPr>
      </p:sp>
      <p:sp>
        <p:nvSpPr>
          <p:cNvPr id="9" name="Text 7"/>
          <p:cNvSpPr txBox="1"/>
          <p:nvPr/>
        </p:nvSpPr>
        <p:spPr>
          <a:xfrm>
            <a:off x="868680" y="4187952"/>
            <a:ext cx="54864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IN THE CLASSROOM</a:t>
            </a:r>
            <a:endParaRPr lang="en-US" sz="1050" dirty="0"/>
          </a:p>
        </p:txBody>
      </p:sp>
      <p:sp>
        <p:nvSpPr>
          <p:cNvPr id="10" name="Text 8"/>
          <p:cNvSpPr txBox="1"/>
          <p:nvPr/>
        </p:nvSpPr>
        <p:spPr>
          <a:xfrm>
            <a:off x="868680" y="4517136"/>
            <a:ext cx="6080760" cy="1463040"/>
          </a:xfrm>
          <a:prstGeom prst="rect">
            <a:avLst/>
          </a:prstGeom>
          <a:noFill/>
          <a:ln/>
        </p:spPr>
        <p:txBody>
          <a:bodyPr wrap="square" lIns="0" tIns="0" rIns="0" bIns="0" rtlCol="0" anchor="t"/>
          <a:lstStyle/>
          <a:p>
            <a:pPr marL="0" indent="0">
              <a:lnSpc>
                <a:spcPct val="122000"/>
              </a:lnSpc>
              <a:buNone/>
            </a:pPr>
            <a:r>
              <a:rPr lang="en-US" sz="1350" dirty="0">
                <a:solidFill>
                  <a:srgbClr val="55606C"/>
                </a:solidFill>
                <a:latin typeface="Calibri" pitchFamily="34" charset="0"/>
                <a:ea typeface="Calibri" pitchFamily="34" charset="-122"/>
                <a:cs typeface="Calibri" pitchFamily="34" charset="-120"/>
              </a:rPr>
              <a:t>Training an LLM is like a student spending years reading in a library. Inference is like that same student answering your question in seconds afterward — no re-reading required.</a:t>
            </a:r>
            <a:endParaRPr lang="en-US" sz="1350" dirty="0"/>
          </a:p>
        </p:txBody>
      </p:sp>
      <p:sp>
        <p:nvSpPr>
          <p:cNvPr id="11" name="Shape 9"/>
          <p:cNvSpPr/>
          <p:nvPr/>
        </p:nvSpPr>
        <p:spPr>
          <a:xfrm>
            <a:off x="7635240" y="1965960"/>
            <a:ext cx="1143000" cy="1143000"/>
          </a:xfrm>
          <a:prstGeom prst="ellipse">
            <a:avLst/>
          </a:prstGeom>
          <a:solidFill>
            <a:srgbClr val="1C7293"/>
          </a:solidFill>
          <a:ln/>
        </p:spPr>
      </p:sp>
      <p:pic>
        <p:nvPicPr>
          <p:cNvPr id="12" name="Image 0" descr="icons/book.png"/>
          <p:cNvPicPr>
            <a:picLocks noChangeAspect="1"/>
          </p:cNvPicPr>
          <p:nvPr/>
        </p:nvPicPr>
        <p:blipFill>
          <a:blip r:embed="rId3"/>
          <a:stretch>
            <a:fillRect/>
          </a:stretch>
        </p:blipFill>
        <p:spPr>
          <a:xfrm>
            <a:off x="7932420" y="2263140"/>
            <a:ext cx="548640" cy="548640"/>
          </a:xfrm>
          <a:prstGeom prst="rect">
            <a:avLst/>
          </a:prstGeom>
        </p:spPr>
      </p:pic>
      <p:sp>
        <p:nvSpPr>
          <p:cNvPr id="13" name="Shape 10"/>
          <p:cNvSpPr/>
          <p:nvPr/>
        </p:nvSpPr>
        <p:spPr>
          <a:xfrm>
            <a:off x="7406640" y="3337560"/>
            <a:ext cx="4206240" cy="2788920"/>
          </a:xfrm>
          <a:prstGeom prst="roundRect">
            <a:avLst>
              <a:gd name="adj" fmla="val 2951"/>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4" name="Text 11"/>
          <p:cNvSpPr txBox="1"/>
          <p:nvPr/>
        </p:nvSpPr>
        <p:spPr>
          <a:xfrm>
            <a:off x="7699248" y="3547872"/>
            <a:ext cx="36576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KEY TRAITS</a:t>
            </a:r>
            <a:endParaRPr lang="en-US" sz="1050" dirty="0"/>
          </a:p>
        </p:txBody>
      </p:sp>
      <p:sp>
        <p:nvSpPr>
          <p:cNvPr id="15" name="Text 12"/>
          <p:cNvSpPr txBox="1"/>
          <p:nvPr/>
        </p:nvSpPr>
        <p:spPr>
          <a:xfrm>
            <a:off x="7699248" y="3858768"/>
            <a:ext cx="3749040" cy="21488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Training happens rarely and requires massive computing resources</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Inference happens on every single prompt you send</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Your conversations do not usually change the underlying trained model in real time</a:t>
            </a:r>
            <a:endParaRPr lang="en-US" sz="1250" dirty="0"/>
          </a:p>
        </p:txBody>
      </p:sp>
      <p:sp>
        <p:nvSpPr>
          <p:cNvPr id="16" name="Text 13"/>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Under the Hood</a:t>
            </a:r>
            <a:endParaRPr lang="en-US" sz="950" dirty="0"/>
          </a:p>
        </p:txBody>
      </p:sp>
      <p:sp>
        <p:nvSpPr>
          <p:cNvPr id="17" name="Text 14"/>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37</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3 · UNDER THE HOOD</a:t>
            </a:r>
            <a:endParaRPr lang="en-US" sz="1250" dirty="0"/>
          </a:p>
        </p:txBody>
      </p:sp>
      <p:sp>
        <p:nvSpPr>
          <p:cNvPr id="3" name="Text 1"/>
          <p:cNvSpPr txBox="1"/>
          <p:nvPr/>
        </p:nvSpPr>
        <p:spPr>
          <a:xfrm>
            <a:off x="548640" y="1371600"/>
            <a:ext cx="5486400" cy="274320"/>
          </a:xfrm>
          <a:prstGeom prst="rect">
            <a:avLst/>
          </a:prstGeom>
          <a:noFill/>
          <a:ln/>
        </p:spPr>
        <p:txBody>
          <a:bodyPr wrap="square" lIns="0" tIns="0" rIns="0" bIns="0" rtlCol="0" anchor="ctr"/>
          <a:lstStyle/>
          <a:p>
            <a:pPr marL="0" indent="0">
              <a:buNone/>
            </a:pPr>
            <a:r>
              <a:rPr lang="en-US" sz="1050" b="1" kern="0" spc="120" dirty="0">
                <a:solidFill>
                  <a:srgbClr val="8A94A0"/>
                </a:solidFill>
                <a:latin typeface="Calibri" pitchFamily="34" charset="0"/>
                <a:ea typeface="Calibri" pitchFamily="34" charset="-122"/>
                <a:cs typeface="Calibri" pitchFamily="34" charset="-120"/>
              </a:rPr>
              <a:t>STEP 1 OF 5</a:t>
            </a:r>
            <a:endParaRPr lang="en-US" sz="1050" dirty="0"/>
          </a:p>
        </p:txBody>
      </p:sp>
      <p:sp>
        <p:nvSpPr>
          <p:cNvPr id="4" name="Text 2"/>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The Big Picture: Prompt to Response</a:t>
            </a:r>
            <a:endParaRPr lang="en-US" sz="3200" dirty="0"/>
          </a:p>
        </p:txBody>
      </p:sp>
      <p:sp>
        <p:nvSpPr>
          <p:cNvPr id="5" name="Shape 3"/>
          <p:cNvSpPr/>
          <p:nvPr/>
        </p:nvSpPr>
        <p:spPr>
          <a:xfrm>
            <a:off x="548640" y="1737360"/>
            <a:ext cx="146304" cy="146304"/>
          </a:xfrm>
          <a:prstGeom prst="ellipse">
            <a:avLst/>
          </a:prstGeom>
          <a:solidFill>
            <a:srgbClr val="1C7293"/>
          </a:solidFill>
          <a:ln/>
        </p:spPr>
      </p:sp>
      <p:sp>
        <p:nvSpPr>
          <p:cNvPr id="6" name="Shape 4"/>
          <p:cNvSpPr/>
          <p:nvPr/>
        </p:nvSpPr>
        <p:spPr>
          <a:xfrm>
            <a:off x="841248" y="1737360"/>
            <a:ext cx="146304" cy="146304"/>
          </a:xfrm>
          <a:prstGeom prst="ellipse">
            <a:avLst/>
          </a:prstGeom>
          <a:solidFill>
            <a:srgbClr val="E2E6EA"/>
          </a:solidFill>
          <a:ln/>
        </p:spPr>
      </p:sp>
      <p:sp>
        <p:nvSpPr>
          <p:cNvPr id="7" name="Shape 5"/>
          <p:cNvSpPr/>
          <p:nvPr/>
        </p:nvSpPr>
        <p:spPr>
          <a:xfrm>
            <a:off x="1133856" y="1737360"/>
            <a:ext cx="146304" cy="146304"/>
          </a:xfrm>
          <a:prstGeom prst="ellipse">
            <a:avLst/>
          </a:prstGeom>
          <a:solidFill>
            <a:srgbClr val="E2E6EA"/>
          </a:solidFill>
          <a:ln/>
        </p:spPr>
      </p:sp>
      <p:sp>
        <p:nvSpPr>
          <p:cNvPr id="8" name="Shape 6"/>
          <p:cNvSpPr/>
          <p:nvPr/>
        </p:nvSpPr>
        <p:spPr>
          <a:xfrm>
            <a:off x="1426464" y="1737360"/>
            <a:ext cx="146304" cy="146304"/>
          </a:xfrm>
          <a:prstGeom prst="ellipse">
            <a:avLst/>
          </a:prstGeom>
          <a:solidFill>
            <a:srgbClr val="E2E6EA"/>
          </a:solidFill>
          <a:ln/>
        </p:spPr>
      </p:sp>
      <p:sp>
        <p:nvSpPr>
          <p:cNvPr id="9" name="Shape 7"/>
          <p:cNvSpPr/>
          <p:nvPr/>
        </p:nvSpPr>
        <p:spPr>
          <a:xfrm>
            <a:off x="1719072" y="1737360"/>
            <a:ext cx="146304" cy="146304"/>
          </a:xfrm>
          <a:prstGeom prst="ellipse">
            <a:avLst/>
          </a:prstGeom>
          <a:solidFill>
            <a:srgbClr val="E2E6EA"/>
          </a:solidFill>
          <a:ln/>
        </p:spPr>
      </p:sp>
      <p:sp>
        <p:nvSpPr>
          <p:cNvPr id="10" name="Shape 8"/>
          <p:cNvSpPr/>
          <p:nvPr/>
        </p:nvSpPr>
        <p:spPr>
          <a:xfrm>
            <a:off x="548640" y="2286000"/>
            <a:ext cx="1645920" cy="1645920"/>
          </a:xfrm>
          <a:prstGeom prst="ellipse">
            <a:avLst/>
          </a:prstGeom>
          <a:solidFill>
            <a:srgbClr val="1C7293"/>
          </a:solidFill>
          <a:ln/>
        </p:spPr>
      </p:sp>
      <p:pic>
        <p:nvPicPr>
          <p:cNvPr id="11" name="Image 0" descr="icons/sitemap.png"/>
          <p:cNvPicPr>
            <a:picLocks noChangeAspect="1"/>
          </p:cNvPicPr>
          <p:nvPr/>
        </p:nvPicPr>
        <p:blipFill>
          <a:blip r:embed="rId3"/>
          <a:stretch>
            <a:fillRect/>
          </a:stretch>
        </p:blipFill>
        <p:spPr>
          <a:xfrm>
            <a:off x="976579" y="2713939"/>
            <a:ext cx="790042" cy="790042"/>
          </a:xfrm>
          <a:prstGeom prst="rect">
            <a:avLst/>
          </a:prstGeom>
        </p:spPr>
      </p:pic>
      <p:sp>
        <p:nvSpPr>
          <p:cNvPr id="12" name="Shape 9"/>
          <p:cNvSpPr/>
          <p:nvPr/>
        </p:nvSpPr>
        <p:spPr>
          <a:xfrm>
            <a:off x="2514600" y="2148840"/>
            <a:ext cx="8229600" cy="1965960"/>
          </a:xfrm>
          <a:prstGeom prst="roundRect">
            <a:avLst>
              <a:gd name="adj" fmla="val 4186"/>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3" name="Text 10"/>
          <p:cNvSpPr txBox="1"/>
          <p:nvPr/>
        </p:nvSpPr>
        <p:spPr>
          <a:xfrm>
            <a:off x="2788920" y="2331720"/>
            <a:ext cx="7680960" cy="1645920"/>
          </a:xfrm>
          <a:prstGeom prst="rect">
            <a:avLst/>
          </a:prstGeom>
          <a:noFill/>
          <a:ln/>
        </p:spPr>
        <p:txBody>
          <a:bodyPr wrap="square" lIns="0" tIns="0" rIns="0" bIns="0" rtlCol="0" anchor="ctr"/>
          <a:lstStyle/>
          <a:p>
            <a:pPr marL="0" indent="0">
              <a:lnSpc>
                <a:spcPct val="122000"/>
              </a:lnSpc>
              <a:buNone/>
            </a:pPr>
            <a:r>
              <a:rPr lang="en-US" sz="1550" dirty="0">
                <a:solidFill>
                  <a:srgbClr val="1B2A4A"/>
                </a:solidFill>
                <a:latin typeface="Calibri" pitchFamily="34" charset="0"/>
                <a:ea typeface="Calibri" pitchFamily="34" charset="-122"/>
                <a:cs typeface="Calibri" pitchFamily="34" charset="-120"/>
              </a:rPr>
              <a:t>Before diving into each step, here is the full journey your prompt takes — five stages, all happening in a fraction of a second.</a:t>
            </a:r>
            <a:endParaRPr lang="en-US" sz="1550" dirty="0"/>
          </a:p>
        </p:txBody>
      </p:sp>
      <p:sp>
        <p:nvSpPr>
          <p:cNvPr id="14" name="Shape 11"/>
          <p:cNvSpPr/>
          <p:nvPr/>
        </p:nvSpPr>
        <p:spPr>
          <a:xfrm>
            <a:off x="548640" y="4343400"/>
            <a:ext cx="10195560" cy="1783080"/>
          </a:xfrm>
          <a:prstGeom prst="roundRect">
            <a:avLst>
              <a:gd name="adj" fmla="val 4615"/>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5" name="Text 12"/>
          <p:cNvSpPr txBox="1"/>
          <p:nvPr/>
        </p:nvSpPr>
        <p:spPr>
          <a:xfrm>
            <a:off x="841248" y="4553712"/>
            <a:ext cx="54864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IN PLAIN TERMS</a:t>
            </a:r>
            <a:endParaRPr lang="en-US" sz="1050" dirty="0"/>
          </a:p>
        </p:txBody>
      </p:sp>
      <p:sp>
        <p:nvSpPr>
          <p:cNvPr id="16" name="Text 13"/>
          <p:cNvSpPr txBox="1"/>
          <p:nvPr/>
        </p:nvSpPr>
        <p:spPr>
          <a:xfrm>
            <a:off x="841248" y="4864608"/>
            <a:ext cx="9509760" cy="1188720"/>
          </a:xfrm>
          <a:prstGeom prst="rect">
            <a:avLst/>
          </a:prstGeom>
          <a:noFill/>
          <a:ln/>
        </p:spPr>
        <p:txBody>
          <a:bodyPr wrap="square" lIns="0" tIns="0" rIns="0" bIns="0" rtlCol="0" anchor="t"/>
          <a:lstStyle/>
          <a:p>
            <a:pPr marL="0" indent="0">
              <a:lnSpc>
                <a:spcPct val="122000"/>
              </a:lnSpc>
              <a:buNone/>
            </a:pPr>
            <a:r>
              <a:rPr lang="en-US" sz="1300" dirty="0">
                <a:solidFill>
                  <a:srgbClr val="55606C"/>
                </a:solidFill>
                <a:latin typeface="Calibri" pitchFamily="34" charset="0"/>
                <a:ea typeface="Calibri" pitchFamily="34" charset="-122"/>
                <a:cs typeface="Calibri" pitchFamily="34" charset="-120"/>
              </a:rPr>
              <a:t>Your text → Tokenization → Embedding (meaning) → Context &amp; Attention → Next-word Prediction (repeated) → Final Response. We will unpack each of these next.</a:t>
            </a:r>
            <a:endParaRPr lang="en-US" sz="1300" dirty="0"/>
          </a:p>
        </p:txBody>
      </p:sp>
      <p:sp>
        <p:nvSpPr>
          <p:cNvPr id="17" name="Text 14"/>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Under the Hood</a:t>
            </a:r>
            <a:endParaRPr lang="en-US" sz="950" dirty="0"/>
          </a:p>
        </p:txBody>
      </p:sp>
      <p:sp>
        <p:nvSpPr>
          <p:cNvPr id="18" name="Text 15"/>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38</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3 · UNDER THE HOOD</a:t>
            </a:r>
            <a:endParaRPr lang="en-US" sz="1250" dirty="0"/>
          </a:p>
        </p:txBody>
      </p:sp>
      <p:sp>
        <p:nvSpPr>
          <p:cNvPr id="3" name="Text 1"/>
          <p:cNvSpPr txBox="1"/>
          <p:nvPr/>
        </p:nvSpPr>
        <p:spPr>
          <a:xfrm>
            <a:off x="548640" y="1371600"/>
            <a:ext cx="5486400" cy="274320"/>
          </a:xfrm>
          <a:prstGeom prst="rect">
            <a:avLst/>
          </a:prstGeom>
          <a:noFill/>
          <a:ln/>
        </p:spPr>
        <p:txBody>
          <a:bodyPr wrap="square" lIns="0" tIns="0" rIns="0" bIns="0" rtlCol="0" anchor="ctr"/>
          <a:lstStyle/>
          <a:p>
            <a:pPr marL="0" indent="0">
              <a:buNone/>
            </a:pPr>
            <a:r>
              <a:rPr lang="en-US" sz="1050" b="1" kern="0" spc="120" dirty="0">
                <a:solidFill>
                  <a:srgbClr val="8A94A0"/>
                </a:solidFill>
                <a:latin typeface="Calibri" pitchFamily="34" charset="0"/>
                <a:ea typeface="Calibri" pitchFamily="34" charset="-122"/>
                <a:cs typeface="Calibri" pitchFamily="34" charset="-120"/>
              </a:rPr>
              <a:t>STEP 2 OF 5</a:t>
            </a:r>
            <a:endParaRPr lang="en-US" sz="1050" dirty="0"/>
          </a:p>
        </p:txBody>
      </p:sp>
      <p:sp>
        <p:nvSpPr>
          <p:cNvPr id="4" name="Text 2"/>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Step 1: Tokenization</a:t>
            </a:r>
            <a:endParaRPr lang="en-US" sz="3200" dirty="0"/>
          </a:p>
        </p:txBody>
      </p:sp>
      <p:sp>
        <p:nvSpPr>
          <p:cNvPr id="5" name="Shape 3"/>
          <p:cNvSpPr/>
          <p:nvPr/>
        </p:nvSpPr>
        <p:spPr>
          <a:xfrm>
            <a:off x="548640" y="1737360"/>
            <a:ext cx="146304" cy="146304"/>
          </a:xfrm>
          <a:prstGeom prst="ellipse">
            <a:avLst/>
          </a:prstGeom>
          <a:solidFill>
            <a:srgbClr val="1C7293"/>
          </a:solidFill>
          <a:ln/>
        </p:spPr>
      </p:sp>
      <p:sp>
        <p:nvSpPr>
          <p:cNvPr id="6" name="Shape 4"/>
          <p:cNvSpPr/>
          <p:nvPr/>
        </p:nvSpPr>
        <p:spPr>
          <a:xfrm>
            <a:off x="841248" y="1737360"/>
            <a:ext cx="146304" cy="146304"/>
          </a:xfrm>
          <a:prstGeom prst="ellipse">
            <a:avLst/>
          </a:prstGeom>
          <a:solidFill>
            <a:srgbClr val="1C7293"/>
          </a:solidFill>
          <a:ln/>
        </p:spPr>
      </p:sp>
      <p:sp>
        <p:nvSpPr>
          <p:cNvPr id="7" name="Shape 5"/>
          <p:cNvSpPr/>
          <p:nvPr/>
        </p:nvSpPr>
        <p:spPr>
          <a:xfrm>
            <a:off x="1133856" y="1737360"/>
            <a:ext cx="146304" cy="146304"/>
          </a:xfrm>
          <a:prstGeom prst="ellipse">
            <a:avLst/>
          </a:prstGeom>
          <a:solidFill>
            <a:srgbClr val="E2E6EA"/>
          </a:solidFill>
          <a:ln/>
        </p:spPr>
      </p:sp>
      <p:sp>
        <p:nvSpPr>
          <p:cNvPr id="8" name="Shape 6"/>
          <p:cNvSpPr/>
          <p:nvPr/>
        </p:nvSpPr>
        <p:spPr>
          <a:xfrm>
            <a:off x="1426464" y="1737360"/>
            <a:ext cx="146304" cy="146304"/>
          </a:xfrm>
          <a:prstGeom prst="ellipse">
            <a:avLst/>
          </a:prstGeom>
          <a:solidFill>
            <a:srgbClr val="E2E6EA"/>
          </a:solidFill>
          <a:ln/>
        </p:spPr>
      </p:sp>
      <p:sp>
        <p:nvSpPr>
          <p:cNvPr id="9" name="Shape 7"/>
          <p:cNvSpPr/>
          <p:nvPr/>
        </p:nvSpPr>
        <p:spPr>
          <a:xfrm>
            <a:off x="1719072" y="1737360"/>
            <a:ext cx="146304" cy="146304"/>
          </a:xfrm>
          <a:prstGeom prst="ellipse">
            <a:avLst/>
          </a:prstGeom>
          <a:solidFill>
            <a:srgbClr val="E2E6EA"/>
          </a:solidFill>
          <a:ln/>
        </p:spPr>
      </p:sp>
      <p:sp>
        <p:nvSpPr>
          <p:cNvPr id="10" name="Shape 8"/>
          <p:cNvSpPr/>
          <p:nvPr/>
        </p:nvSpPr>
        <p:spPr>
          <a:xfrm>
            <a:off x="548640" y="2286000"/>
            <a:ext cx="1645920" cy="1645920"/>
          </a:xfrm>
          <a:prstGeom prst="ellipse">
            <a:avLst/>
          </a:prstGeom>
          <a:solidFill>
            <a:srgbClr val="1C7293"/>
          </a:solidFill>
          <a:ln/>
        </p:spPr>
      </p:sp>
      <p:pic>
        <p:nvPicPr>
          <p:cNvPr id="11" name="Image 0" descr="icons/puzzle.png"/>
          <p:cNvPicPr>
            <a:picLocks noChangeAspect="1"/>
          </p:cNvPicPr>
          <p:nvPr/>
        </p:nvPicPr>
        <p:blipFill>
          <a:blip r:embed="rId3"/>
          <a:stretch>
            <a:fillRect/>
          </a:stretch>
        </p:blipFill>
        <p:spPr>
          <a:xfrm>
            <a:off x="976579" y="2713939"/>
            <a:ext cx="790042" cy="790042"/>
          </a:xfrm>
          <a:prstGeom prst="rect">
            <a:avLst/>
          </a:prstGeom>
        </p:spPr>
      </p:pic>
      <p:sp>
        <p:nvSpPr>
          <p:cNvPr id="12" name="Shape 9"/>
          <p:cNvSpPr/>
          <p:nvPr/>
        </p:nvSpPr>
        <p:spPr>
          <a:xfrm>
            <a:off x="2514600" y="2148840"/>
            <a:ext cx="8229600" cy="1965960"/>
          </a:xfrm>
          <a:prstGeom prst="roundRect">
            <a:avLst>
              <a:gd name="adj" fmla="val 4186"/>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3" name="Text 10"/>
          <p:cNvSpPr txBox="1"/>
          <p:nvPr/>
        </p:nvSpPr>
        <p:spPr>
          <a:xfrm>
            <a:off x="2788920" y="2331720"/>
            <a:ext cx="7680960" cy="1645920"/>
          </a:xfrm>
          <a:prstGeom prst="rect">
            <a:avLst/>
          </a:prstGeom>
          <a:noFill/>
          <a:ln/>
        </p:spPr>
        <p:txBody>
          <a:bodyPr wrap="square" lIns="0" tIns="0" rIns="0" bIns="0" rtlCol="0" anchor="ctr"/>
          <a:lstStyle/>
          <a:p>
            <a:pPr marL="0" indent="0">
              <a:lnSpc>
                <a:spcPct val="122000"/>
              </a:lnSpc>
              <a:buNone/>
            </a:pPr>
            <a:r>
              <a:rPr lang="en-US" sz="1550" dirty="0">
                <a:solidFill>
                  <a:srgbClr val="1B2A4A"/>
                </a:solidFill>
                <a:latin typeface="Calibri" pitchFamily="34" charset="0"/>
                <a:ea typeface="Calibri" pitchFamily="34" charset="-122"/>
                <a:cs typeface="Calibri" pitchFamily="34" charset="-120"/>
              </a:rPr>
              <a:t>Your prompt is broken down into small chunks called "tokens" — roughly pieces of words — which the model can actually process, rather than reading whole sentences at once.</a:t>
            </a:r>
            <a:endParaRPr lang="en-US" sz="1550" dirty="0"/>
          </a:p>
        </p:txBody>
      </p:sp>
      <p:sp>
        <p:nvSpPr>
          <p:cNvPr id="14" name="Shape 11"/>
          <p:cNvSpPr/>
          <p:nvPr/>
        </p:nvSpPr>
        <p:spPr>
          <a:xfrm>
            <a:off x="548640" y="4343400"/>
            <a:ext cx="10195560" cy="1783080"/>
          </a:xfrm>
          <a:prstGeom prst="roundRect">
            <a:avLst>
              <a:gd name="adj" fmla="val 4615"/>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5" name="Text 12"/>
          <p:cNvSpPr txBox="1"/>
          <p:nvPr/>
        </p:nvSpPr>
        <p:spPr>
          <a:xfrm>
            <a:off x="841248" y="4553712"/>
            <a:ext cx="54864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IN PLAIN TERMS</a:t>
            </a:r>
            <a:endParaRPr lang="en-US" sz="1050" dirty="0"/>
          </a:p>
        </p:txBody>
      </p:sp>
      <p:sp>
        <p:nvSpPr>
          <p:cNvPr id="16" name="Text 13"/>
          <p:cNvSpPr txBox="1"/>
          <p:nvPr/>
        </p:nvSpPr>
        <p:spPr>
          <a:xfrm>
            <a:off x="841248" y="4864608"/>
            <a:ext cx="9509760" cy="1188720"/>
          </a:xfrm>
          <a:prstGeom prst="rect">
            <a:avLst/>
          </a:prstGeom>
          <a:noFill/>
          <a:ln/>
        </p:spPr>
        <p:txBody>
          <a:bodyPr wrap="square" lIns="0" tIns="0" rIns="0" bIns="0" rtlCol="0" anchor="t"/>
          <a:lstStyle/>
          <a:p>
            <a:pPr marL="0" indent="0">
              <a:lnSpc>
                <a:spcPct val="122000"/>
              </a:lnSpc>
              <a:buNone/>
            </a:pPr>
            <a:r>
              <a:rPr lang="en-US" sz="1300" dirty="0">
                <a:solidFill>
                  <a:srgbClr val="55606C"/>
                </a:solidFill>
                <a:latin typeface="Calibri" pitchFamily="34" charset="0"/>
                <a:ea typeface="Calibri" pitchFamily="34" charset="-122"/>
                <a:cs typeface="Calibri" pitchFamily="34" charset="-120"/>
              </a:rPr>
              <a:t>Think of it like chopping a sentence into puzzle pieces. The word "understanding" might become two tokens: "understand" + "ing". This lets the model handle any language, typo, or made-up word.</a:t>
            </a:r>
            <a:endParaRPr lang="en-US" sz="1300" dirty="0"/>
          </a:p>
        </p:txBody>
      </p:sp>
      <p:sp>
        <p:nvSpPr>
          <p:cNvPr id="17" name="Text 14"/>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Under the Hood</a:t>
            </a:r>
            <a:endParaRPr lang="en-US" sz="950" dirty="0"/>
          </a:p>
        </p:txBody>
      </p:sp>
      <p:sp>
        <p:nvSpPr>
          <p:cNvPr id="18" name="Text 15"/>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39</a:t>
            </a:r>
            <a:endParaRPr lang="en-US" sz="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3 · UNDER THE HOOD</a:t>
            </a:r>
            <a:endParaRPr lang="en-US" sz="1250" dirty="0"/>
          </a:p>
        </p:txBody>
      </p:sp>
      <p:sp>
        <p:nvSpPr>
          <p:cNvPr id="3" name="Text 1"/>
          <p:cNvSpPr txBox="1"/>
          <p:nvPr/>
        </p:nvSpPr>
        <p:spPr>
          <a:xfrm>
            <a:off x="548640" y="1371600"/>
            <a:ext cx="5486400" cy="274320"/>
          </a:xfrm>
          <a:prstGeom prst="rect">
            <a:avLst/>
          </a:prstGeom>
          <a:noFill/>
          <a:ln/>
        </p:spPr>
        <p:txBody>
          <a:bodyPr wrap="square" lIns="0" tIns="0" rIns="0" bIns="0" rtlCol="0" anchor="ctr"/>
          <a:lstStyle/>
          <a:p>
            <a:pPr marL="0" indent="0">
              <a:buNone/>
            </a:pPr>
            <a:r>
              <a:rPr lang="en-US" sz="1050" b="1" kern="0" spc="120" dirty="0">
                <a:solidFill>
                  <a:srgbClr val="8A94A0"/>
                </a:solidFill>
                <a:latin typeface="Calibri" pitchFamily="34" charset="0"/>
                <a:ea typeface="Calibri" pitchFamily="34" charset="-122"/>
                <a:cs typeface="Calibri" pitchFamily="34" charset="-120"/>
              </a:rPr>
              <a:t>STEP 3 OF 5</a:t>
            </a:r>
            <a:endParaRPr lang="en-US" sz="1050" dirty="0"/>
          </a:p>
        </p:txBody>
      </p:sp>
      <p:sp>
        <p:nvSpPr>
          <p:cNvPr id="4" name="Text 2"/>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Step 2: Embedding</a:t>
            </a:r>
            <a:endParaRPr lang="en-US" sz="3200" dirty="0"/>
          </a:p>
        </p:txBody>
      </p:sp>
      <p:sp>
        <p:nvSpPr>
          <p:cNvPr id="5" name="Shape 3"/>
          <p:cNvSpPr/>
          <p:nvPr/>
        </p:nvSpPr>
        <p:spPr>
          <a:xfrm>
            <a:off x="548640" y="1737360"/>
            <a:ext cx="146304" cy="146304"/>
          </a:xfrm>
          <a:prstGeom prst="ellipse">
            <a:avLst/>
          </a:prstGeom>
          <a:solidFill>
            <a:srgbClr val="1C7293"/>
          </a:solidFill>
          <a:ln/>
        </p:spPr>
      </p:sp>
      <p:sp>
        <p:nvSpPr>
          <p:cNvPr id="6" name="Shape 4"/>
          <p:cNvSpPr/>
          <p:nvPr/>
        </p:nvSpPr>
        <p:spPr>
          <a:xfrm>
            <a:off x="841248" y="1737360"/>
            <a:ext cx="146304" cy="146304"/>
          </a:xfrm>
          <a:prstGeom prst="ellipse">
            <a:avLst/>
          </a:prstGeom>
          <a:solidFill>
            <a:srgbClr val="1C7293"/>
          </a:solidFill>
          <a:ln/>
        </p:spPr>
      </p:sp>
      <p:sp>
        <p:nvSpPr>
          <p:cNvPr id="7" name="Shape 5"/>
          <p:cNvSpPr/>
          <p:nvPr/>
        </p:nvSpPr>
        <p:spPr>
          <a:xfrm>
            <a:off x="1133856" y="1737360"/>
            <a:ext cx="146304" cy="146304"/>
          </a:xfrm>
          <a:prstGeom prst="ellipse">
            <a:avLst/>
          </a:prstGeom>
          <a:solidFill>
            <a:srgbClr val="1C7293"/>
          </a:solidFill>
          <a:ln/>
        </p:spPr>
      </p:sp>
      <p:sp>
        <p:nvSpPr>
          <p:cNvPr id="8" name="Shape 6"/>
          <p:cNvSpPr/>
          <p:nvPr/>
        </p:nvSpPr>
        <p:spPr>
          <a:xfrm>
            <a:off x="1426464" y="1737360"/>
            <a:ext cx="146304" cy="146304"/>
          </a:xfrm>
          <a:prstGeom prst="ellipse">
            <a:avLst/>
          </a:prstGeom>
          <a:solidFill>
            <a:srgbClr val="E2E6EA"/>
          </a:solidFill>
          <a:ln/>
        </p:spPr>
      </p:sp>
      <p:sp>
        <p:nvSpPr>
          <p:cNvPr id="9" name="Shape 7"/>
          <p:cNvSpPr/>
          <p:nvPr/>
        </p:nvSpPr>
        <p:spPr>
          <a:xfrm>
            <a:off x="1719072" y="1737360"/>
            <a:ext cx="146304" cy="146304"/>
          </a:xfrm>
          <a:prstGeom prst="ellipse">
            <a:avLst/>
          </a:prstGeom>
          <a:solidFill>
            <a:srgbClr val="E2E6EA"/>
          </a:solidFill>
          <a:ln/>
        </p:spPr>
      </p:sp>
      <p:sp>
        <p:nvSpPr>
          <p:cNvPr id="10" name="Shape 8"/>
          <p:cNvSpPr/>
          <p:nvPr/>
        </p:nvSpPr>
        <p:spPr>
          <a:xfrm>
            <a:off x="548640" y="2286000"/>
            <a:ext cx="1645920" cy="1645920"/>
          </a:xfrm>
          <a:prstGeom prst="ellipse">
            <a:avLst/>
          </a:prstGeom>
          <a:solidFill>
            <a:srgbClr val="1C7293"/>
          </a:solidFill>
          <a:ln/>
        </p:spPr>
      </p:sp>
      <p:pic>
        <p:nvPicPr>
          <p:cNvPr id="11" name="Image 0" descr="icons/vector.png"/>
          <p:cNvPicPr>
            <a:picLocks noChangeAspect="1"/>
          </p:cNvPicPr>
          <p:nvPr/>
        </p:nvPicPr>
        <p:blipFill>
          <a:blip r:embed="rId3"/>
          <a:stretch>
            <a:fillRect/>
          </a:stretch>
        </p:blipFill>
        <p:spPr>
          <a:xfrm>
            <a:off x="976579" y="2713939"/>
            <a:ext cx="790042" cy="790042"/>
          </a:xfrm>
          <a:prstGeom prst="rect">
            <a:avLst/>
          </a:prstGeom>
        </p:spPr>
      </p:pic>
      <p:sp>
        <p:nvSpPr>
          <p:cNvPr id="12" name="Shape 9"/>
          <p:cNvSpPr/>
          <p:nvPr/>
        </p:nvSpPr>
        <p:spPr>
          <a:xfrm>
            <a:off x="2514600" y="2148840"/>
            <a:ext cx="8229600" cy="1965960"/>
          </a:xfrm>
          <a:prstGeom prst="roundRect">
            <a:avLst>
              <a:gd name="adj" fmla="val 4186"/>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3" name="Text 10"/>
          <p:cNvSpPr txBox="1"/>
          <p:nvPr/>
        </p:nvSpPr>
        <p:spPr>
          <a:xfrm>
            <a:off x="2788920" y="2331720"/>
            <a:ext cx="7680960" cy="1645920"/>
          </a:xfrm>
          <a:prstGeom prst="rect">
            <a:avLst/>
          </a:prstGeom>
          <a:noFill/>
          <a:ln/>
        </p:spPr>
        <p:txBody>
          <a:bodyPr wrap="square" lIns="0" tIns="0" rIns="0" bIns="0" rtlCol="0" anchor="ctr"/>
          <a:lstStyle/>
          <a:p>
            <a:pPr marL="0" indent="0">
              <a:lnSpc>
                <a:spcPct val="122000"/>
              </a:lnSpc>
              <a:buNone/>
            </a:pPr>
            <a:r>
              <a:rPr lang="en-US" sz="1550" dirty="0">
                <a:solidFill>
                  <a:srgbClr val="1B2A4A"/>
                </a:solidFill>
                <a:latin typeface="Calibri" pitchFamily="34" charset="0"/>
                <a:ea typeface="Calibri" pitchFamily="34" charset="-122"/>
                <a:cs typeface="Calibri" pitchFamily="34" charset="-120"/>
              </a:rPr>
              <a:t>Each token is converted into a list of numbers (a "vector") that captures its meaning and how it relates to other words — this is called an embedding.</a:t>
            </a:r>
            <a:endParaRPr lang="en-US" sz="1550" dirty="0"/>
          </a:p>
        </p:txBody>
      </p:sp>
      <p:sp>
        <p:nvSpPr>
          <p:cNvPr id="14" name="Shape 11"/>
          <p:cNvSpPr/>
          <p:nvPr/>
        </p:nvSpPr>
        <p:spPr>
          <a:xfrm>
            <a:off x="548640" y="4343400"/>
            <a:ext cx="10195560" cy="1783080"/>
          </a:xfrm>
          <a:prstGeom prst="roundRect">
            <a:avLst>
              <a:gd name="adj" fmla="val 4615"/>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5" name="Text 12"/>
          <p:cNvSpPr txBox="1"/>
          <p:nvPr/>
        </p:nvSpPr>
        <p:spPr>
          <a:xfrm>
            <a:off x="841248" y="4553712"/>
            <a:ext cx="54864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IN PLAIN TERMS</a:t>
            </a:r>
            <a:endParaRPr lang="en-US" sz="1050" dirty="0"/>
          </a:p>
        </p:txBody>
      </p:sp>
      <p:sp>
        <p:nvSpPr>
          <p:cNvPr id="16" name="Text 13"/>
          <p:cNvSpPr txBox="1"/>
          <p:nvPr/>
        </p:nvSpPr>
        <p:spPr>
          <a:xfrm>
            <a:off x="841248" y="4864608"/>
            <a:ext cx="9509760" cy="1188720"/>
          </a:xfrm>
          <a:prstGeom prst="rect">
            <a:avLst/>
          </a:prstGeom>
          <a:noFill/>
          <a:ln/>
        </p:spPr>
        <p:txBody>
          <a:bodyPr wrap="square" lIns="0" tIns="0" rIns="0" bIns="0" rtlCol="0" anchor="t"/>
          <a:lstStyle/>
          <a:p>
            <a:pPr marL="0" indent="0">
              <a:lnSpc>
                <a:spcPct val="122000"/>
              </a:lnSpc>
              <a:buNone/>
            </a:pPr>
            <a:r>
              <a:rPr lang="en-US" sz="1300" dirty="0">
                <a:solidFill>
                  <a:srgbClr val="55606C"/>
                </a:solidFill>
                <a:latin typeface="Calibri" pitchFamily="34" charset="0"/>
                <a:ea typeface="Calibri" pitchFamily="34" charset="-122"/>
                <a:cs typeface="Calibri" pitchFamily="34" charset="-120"/>
              </a:rPr>
              <a:t>Words with similar meanings end up numerically "close" together. This is how the model knows "lecture" and "class" are related concepts, even though they are different words.</a:t>
            </a:r>
            <a:endParaRPr lang="en-US" sz="1300" dirty="0"/>
          </a:p>
        </p:txBody>
      </p:sp>
      <p:sp>
        <p:nvSpPr>
          <p:cNvPr id="17" name="Text 14"/>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Under the Hood</a:t>
            </a:r>
            <a:endParaRPr lang="en-US" sz="950" dirty="0"/>
          </a:p>
        </p:txBody>
      </p:sp>
      <p:sp>
        <p:nvSpPr>
          <p:cNvPr id="18" name="Text 15"/>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40</a:t>
            </a:r>
            <a:endParaRPr lang="en-US" sz="9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3 · UNDER THE HOOD</a:t>
            </a:r>
            <a:endParaRPr lang="en-US" sz="1250" dirty="0"/>
          </a:p>
        </p:txBody>
      </p:sp>
      <p:sp>
        <p:nvSpPr>
          <p:cNvPr id="3" name="Text 1"/>
          <p:cNvSpPr txBox="1"/>
          <p:nvPr/>
        </p:nvSpPr>
        <p:spPr>
          <a:xfrm>
            <a:off x="548640" y="1371600"/>
            <a:ext cx="5486400" cy="274320"/>
          </a:xfrm>
          <a:prstGeom prst="rect">
            <a:avLst/>
          </a:prstGeom>
          <a:noFill/>
          <a:ln/>
        </p:spPr>
        <p:txBody>
          <a:bodyPr wrap="square" lIns="0" tIns="0" rIns="0" bIns="0" rtlCol="0" anchor="ctr"/>
          <a:lstStyle/>
          <a:p>
            <a:pPr marL="0" indent="0">
              <a:buNone/>
            </a:pPr>
            <a:r>
              <a:rPr lang="en-US" sz="1050" b="1" kern="0" spc="120" dirty="0">
                <a:solidFill>
                  <a:srgbClr val="8A94A0"/>
                </a:solidFill>
                <a:latin typeface="Calibri" pitchFamily="34" charset="0"/>
                <a:ea typeface="Calibri" pitchFamily="34" charset="-122"/>
                <a:cs typeface="Calibri" pitchFamily="34" charset="-120"/>
              </a:rPr>
              <a:t>STEP 4 OF 5</a:t>
            </a:r>
            <a:endParaRPr lang="en-US" sz="1050" dirty="0"/>
          </a:p>
        </p:txBody>
      </p:sp>
      <p:sp>
        <p:nvSpPr>
          <p:cNvPr id="4" name="Text 2"/>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Step 3: Context &amp; Attention</a:t>
            </a:r>
            <a:endParaRPr lang="en-US" sz="3200" dirty="0"/>
          </a:p>
        </p:txBody>
      </p:sp>
      <p:sp>
        <p:nvSpPr>
          <p:cNvPr id="5" name="Shape 3"/>
          <p:cNvSpPr/>
          <p:nvPr/>
        </p:nvSpPr>
        <p:spPr>
          <a:xfrm>
            <a:off x="548640" y="1737360"/>
            <a:ext cx="146304" cy="146304"/>
          </a:xfrm>
          <a:prstGeom prst="ellipse">
            <a:avLst/>
          </a:prstGeom>
          <a:solidFill>
            <a:srgbClr val="1C7293"/>
          </a:solidFill>
          <a:ln/>
        </p:spPr>
      </p:sp>
      <p:sp>
        <p:nvSpPr>
          <p:cNvPr id="6" name="Shape 4"/>
          <p:cNvSpPr/>
          <p:nvPr/>
        </p:nvSpPr>
        <p:spPr>
          <a:xfrm>
            <a:off x="841248" y="1737360"/>
            <a:ext cx="146304" cy="146304"/>
          </a:xfrm>
          <a:prstGeom prst="ellipse">
            <a:avLst/>
          </a:prstGeom>
          <a:solidFill>
            <a:srgbClr val="1C7293"/>
          </a:solidFill>
          <a:ln/>
        </p:spPr>
      </p:sp>
      <p:sp>
        <p:nvSpPr>
          <p:cNvPr id="7" name="Shape 5"/>
          <p:cNvSpPr/>
          <p:nvPr/>
        </p:nvSpPr>
        <p:spPr>
          <a:xfrm>
            <a:off x="1133856" y="1737360"/>
            <a:ext cx="146304" cy="146304"/>
          </a:xfrm>
          <a:prstGeom prst="ellipse">
            <a:avLst/>
          </a:prstGeom>
          <a:solidFill>
            <a:srgbClr val="1C7293"/>
          </a:solidFill>
          <a:ln/>
        </p:spPr>
      </p:sp>
      <p:sp>
        <p:nvSpPr>
          <p:cNvPr id="8" name="Shape 6"/>
          <p:cNvSpPr/>
          <p:nvPr/>
        </p:nvSpPr>
        <p:spPr>
          <a:xfrm>
            <a:off x="1426464" y="1737360"/>
            <a:ext cx="146304" cy="146304"/>
          </a:xfrm>
          <a:prstGeom prst="ellipse">
            <a:avLst/>
          </a:prstGeom>
          <a:solidFill>
            <a:srgbClr val="1C7293"/>
          </a:solidFill>
          <a:ln/>
        </p:spPr>
      </p:sp>
      <p:sp>
        <p:nvSpPr>
          <p:cNvPr id="9" name="Shape 7"/>
          <p:cNvSpPr/>
          <p:nvPr/>
        </p:nvSpPr>
        <p:spPr>
          <a:xfrm>
            <a:off x="1719072" y="1737360"/>
            <a:ext cx="146304" cy="146304"/>
          </a:xfrm>
          <a:prstGeom prst="ellipse">
            <a:avLst/>
          </a:prstGeom>
          <a:solidFill>
            <a:srgbClr val="E2E6EA"/>
          </a:solidFill>
          <a:ln/>
        </p:spPr>
      </p:sp>
      <p:sp>
        <p:nvSpPr>
          <p:cNvPr id="10" name="Shape 8"/>
          <p:cNvSpPr/>
          <p:nvPr/>
        </p:nvSpPr>
        <p:spPr>
          <a:xfrm>
            <a:off x="548640" y="2286000"/>
            <a:ext cx="1645920" cy="1645920"/>
          </a:xfrm>
          <a:prstGeom prst="ellipse">
            <a:avLst/>
          </a:prstGeom>
          <a:solidFill>
            <a:srgbClr val="1C7293"/>
          </a:solidFill>
          <a:ln/>
        </p:spPr>
      </p:sp>
      <p:pic>
        <p:nvPicPr>
          <p:cNvPr id="11" name="Image 0" descr="icons/eye.png"/>
          <p:cNvPicPr>
            <a:picLocks noChangeAspect="1"/>
          </p:cNvPicPr>
          <p:nvPr/>
        </p:nvPicPr>
        <p:blipFill>
          <a:blip r:embed="rId3"/>
          <a:stretch>
            <a:fillRect/>
          </a:stretch>
        </p:blipFill>
        <p:spPr>
          <a:xfrm>
            <a:off x="976579" y="2713939"/>
            <a:ext cx="790042" cy="790042"/>
          </a:xfrm>
          <a:prstGeom prst="rect">
            <a:avLst/>
          </a:prstGeom>
        </p:spPr>
      </p:pic>
      <p:sp>
        <p:nvSpPr>
          <p:cNvPr id="12" name="Shape 9"/>
          <p:cNvSpPr/>
          <p:nvPr/>
        </p:nvSpPr>
        <p:spPr>
          <a:xfrm>
            <a:off x="2514600" y="2148840"/>
            <a:ext cx="8229600" cy="1965960"/>
          </a:xfrm>
          <a:prstGeom prst="roundRect">
            <a:avLst>
              <a:gd name="adj" fmla="val 4186"/>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3" name="Text 10"/>
          <p:cNvSpPr txBox="1"/>
          <p:nvPr/>
        </p:nvSpPr>
        <p:spPr>
          <a:xfrm>
            <a:off x="2788920" y="2331720"/>
            <a:ext cx="7680960" cy="1645920"/>
          </a:xfrm>
          <a:prstGeom prst="rect">
            <a:avLst/>
          </a:prstGeom>
          <a:noFill/>
          <a:ln/>
        </p:spPr>
        <p:txBody>
          <a:bodyPr wrap="square" lIns="0" tIns="0" rIns="0" bIns="0" rtlCol="0" anchor="ctr"/>
          <a:lstStyle/>
          <a:p>
            <a:pPr marL="0" indent="0">
              <a:lnSpc>
                <a:spcPct val="122000"/>
              </a:lnSpc>
              <a:buNone/>
            </a:pPr>
            <a:r>
              <a:rPr lang="en-US" sz="1550" dirty="0">
                <a:solidFill>
                  <a:srgbClr val="1B2A4A"/>
                </a:solidFill>
                <a:latin typeface="Calibri" pitchFamily="34" charset="0"/>
                <a:ea typeface="Calibri" pitchFamily="34" charset="-122"/>
                <a:cs typeface="Calibri" pitchFamily="34" charset="-120"/>
              </a:rPr>
              <a:t>The model looks across your entire prompt at once, weighing which earlier words matter most for understanding each new word — a mechanism called "attention."</a:t>
            </a:r>
            <a:endParaRPr lang="en-US" sz="1550" dirty="0"/>
          </a:p>
        </p:txBody>
      </p:sp>
      <p:sp>
        <p:nvSpPr>
          <p:cNvPr id="14" name="Shape 11"/>
          <p:cNvSpPr/>
          <p:nvPr/>
        </p:nvSpPr>
        <p:spPr>
          <a:xfrm>
            <a:off x="548640" y="4343400"/>
            <a:ext cx="10195560" cy="1783080"/>
          </a:xfrm>
          <a:prstGeom prst="roundRect">
            <a:avLst>
              <a:gd name="adj" fmla="val 4615"/>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5" name="Text 12"/>
          <p:cNvSpPr txBox="1"/>
          <p:nvPr/>
        </p:nvSpPr>
        <p:spPr>
          <a:xfrm>
            <a:off x="841248" y="4553712"/>
            <a:ext cx="54864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IN PLAIN TERMS</a:t>
            </a:r>
            <a:endParaRPr lang="en-US" sz="1050" dirty="0"/>
          </a:p>
        </p:txBody>
      </p:sp>
      <p:sp>
        <p:nvSpPr>
          <p:cNvPr id="16" name="Text 13"/>
          <p:cNvSpPr txBox="1"/>
          <p:nvPr/>
        </p:nvSpPr>
        <p:spPr>
          <a:xfrm>
            <a:off x="841248" y="4864608"/>
            <a:ext cx="9509760" cy="1188720"/>
          </a:xfrm>
          <a:prstGeom prst="rect">
            <a:avLst/>
          </a:prstGeom>
          <a:noFill/>
          <a:ln/>
        </p:spPr>
        <p:txBody>
          <a:bodyPr wrap="square" lIns="0" tIns="0" rIns="0" bIns="0" rtlCol="0" anchor="t"/>
          <a:lstStyle/>
          <a:p>
            <a:pPr marL="0" indent="0">
              <a:lnSpc>
                <a:spcPct val="122000"/>
              </a:lnSpc>
              <a:buNone/>
            </a:pPr>
            <a:r>
              <a:rPr lang="en-US" sz="1300" dirty="0">
                <a:solidFill>
                  <a:srgbClr val="55606C"/>
                </a:solidFill>
                <a:latin typeface="Calibri" pitchFamily="34" charset="0"/>
                <a:ea typeface="Calibri" pitchFamily="34" charset="-122"/>
                <a:cs typeface="Calibri" pitchFamily="34" charset="-120"/>
              </a:rPr>
              <a:t>This is why the model can tell that in "the bank raised its rates," bank means a financial institution, not a riverbank — it "pays attention" to surrounding context.</a:t>
            </a:r>
            <a:endParaRPr lang="en-US" sz="1300" dirty="0"/>
          </a:p>
        </p:txBody>
      </p:sp>
      <p:sp>
        <p:nvSpPr>
          <p:cNvPr id="17" name="Text 14"/>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Under the Hood</a:t>
            </a:r>
            <a:endParaRPr lang="en-US" sz="950" dirty="0"/>
          </a:p>
        </p:txBody>
      </p:sp>
      <p:sp>
        <p:nvSpPr>
          <p:cNvPr id="18" name="Text 15"/>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41</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3 · UNDER THE HOOD</a:t>
            </a:r>
            <a:endParaRPr lang="en-US" sz="1250" dirty="0"/>
          </a:p>
        </p:txBody>
      </p:sp>
      <p:sp>
        <p:nvSpPr>
          <p:cNvPr id="3" name="Text 1"/>
          <p:cNvSpPr txBox="1"/>
          <p:nvPr/>
        </p:nvSpPr>
        <p:spPr>
          <a:xfrm>
            <a:off x="548640" y="1371600"/>
            <a:ext cx="5486400" cy="274320"/>
          </a:xfrm>
          <a:prstGeom prst="rect">
            <a:avLst/>
          </a:prstGeom>
          <a:noFill/>
          <a:ln/>
        </p:spPr>
        <p:txBody>
          <a:bodyPr wrap="square" lIns="0" tIns="0" rIns="0" bIns="0" rtlCol="0" anchor="ctr"/>
          <a:lstStyle/>
          <a:p>
            <a:pPr marL="0" indent="0">
              <a:buNone/>
            </a:pPr>
            <a:r>
              <a:rPr lang="en-US" sz="1050" b="1" kern="0" spc="120" dirty="0">
                <a:solidFill>
                  <a:srgbClr val="8A94A0"/>
                </a:solidFill>
                <a:latin typeface="Calibri" pitchFamily="34" charset="0"/>
                <a:ea typeface="Calibri" pitchFamily="34" charset="-122"/>
                <a:cs typeface="Calibri" pitchFamily="34" charset="-120"/>
              </a:rPr>
              <a:t>STEP 5 OF 5</a:t>
            </a:r>
            <a:endParaRPr lang="en-US" sz="1050" dirty="0"/>
          </a:p>
        </p:txBody>
      </p:sp>
      <p:sp>
        <p:nvSpPr>
          <p:cNvPr id="4" name="Text 2"/>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Step 4 &amp; 5: Predict, then Assemble</a:t>
            </a:r>
            <a:endParaRPr lang="en-US" sz="3200" dirty="0"/>
          </a:p>
        </p:txBody>
      </p:sp>
      <p:sp>
        <p:nvSpPr>
          <p:cNvPr id="5" name="Shape 3"/>
          <p:cNvSpPr/>
          <p:nvPr/>
        </p:nvSpPr>
        <p:spPr>
          <a:xfrm>
            <a:off x="548640" y="1737360"/>
            <a:ext cx="146304" cy="146304"/>
          </a:xfrm>
          <a:prstGeom prst="ellipse">
            <a:avLst/>
          </a:prstGeom>
          <a:solidFill>
            <a:srgbClr val="1C7293"/>
          </a:solidFill>
          <a:ln/>
        </p:spPr>
      </p:sp>
      <p:sp>
        <p:nvSpPr>
          <p:cNvPr id="6" name="Shape 4"/>
          <p:cNvSpPr/>
          <p:nvPr/>
        </p:nvSpPr>
        <p:spPr>
          <a:xfrm>
            <a:off x="841248" y="1737360"/>
            <a:ext cx="146304" cy="146304"/>
          </a:xfrm>
          <a:prstGeom prst="ellipse">
            <a:avLst/>
          </a:prstGeom>
          <a:solidFill>
            <a:srgbClr val="1C7293"/>
          </a:solidFill>
          <a:ln/>
        </p:spPr>
      </p:sp>
      <p:sp>
        <p:nvSpPr>
          <p:cNvPr id="7" name="Shape 5"/>
          <p:cNvSpPr/>
          <p:nvPr/>
        </p:nvSpPr>
        <p:spPr>
          <a:xfrm>
            <a:off x="1133856" y="1737360"/>
            <a:ext cx="146304" cy="146304"/>
          </a:xfrm>
          <a:prstGeom prst="ellipse">
            <a:avLst/>
          </a:prstGeom>
          <a:solidFill>
            <a:srgbClr val="1C7293"/>
          </a:solidFill>
          <a:ln/>
        </p:spPr>
      </p:sp>
      <p:sp>
        <p:nvSpPr>
          <p:cNvPr id="8" name="Shape 6"/>
          <p:cNvSpPr/>
          <p:nvPr/>
        </p:nvSpPr>
        <p:spPr>
          <a:xfrm>
            <a:off x="1426464" y="1737360"/>
            <a:ext cx="146304" cy="146304"/>
          </a:xfrm>
          <a:prstGeom prst="ellipse">
            <a:avLst/>
          </a:prstGeom>
          <a:solidFill>
            <a:srgbClr val="1C7293"/>
          </a:solidFill>
          <a:ln/>
        </p:spPr>
      </p:sp>
      <p:sp>
        <p:nvSpPr>
          <p:cNvPr id="9" name="Shape 7"/>
          <p:cNvSpPr/>
          <p:nvPr/>
        </p:nvSpPr>
        <p:spPr>
          <a:xfrm>
            <a:off x="1719072" y="1737360"/>
            <a:ext cx="146304" cy="146304"/>
          </a:xfrm>
          <a:prstGeom prst="ellipse">
            <a:avLst/>
          </a:prstGeom>
          <a:solidFill>
            <a:srgbClr val="1C7293"/>
          </a:solidFill>
          <a:ln/>
        </p:spPr>
      </p:sp>
      <p:sp>
        <p:nvSpPr>
          <p:cNvPr id="10" name="Shape 8"/>
          <p:cNvSpPr/>
          <p:nvPr/>
        </p:nvSpPr>
        <p:spPr>
          <a:xfrm>
            <a:off x="548640" y="2286000"/>
            <a:ext cx="1645920" cy="1645920"/>
          </a:xfrm>
          <a:prstGeom prst="ellipse">
            <a:avLst/>
          </a:prstGeom>
          <a:solidFill>
            <a:srgbClr val="1C7293"/>
          </a:solidFill>
          <a:ln/>
        </p:spPr>
      </p:sp>
      <p:pic>
        <p:nvPicPr>
          <p:cNvPr id="11" name="Image 0" descr="icons/cogs.png"/>
          <p:cNvPicPr>
            <a:picLocks noChangeAspect="1"/>
          </p:cNvPicPr>
          <p:nvPr/>
        </p:nvPicPr>
        <p:blipFill>
          <a:blip r:embed="rId3"/>
          <a:stretch>
            <a:fillRect/>
          </a:stretch>
        </p:blipFill>
        <p:spPr>
          <a:xfrm>
            <a:off x="976579" y="2713939"/>
            <a:ext cx="790042" cy="790042"/>
          </a:xfrm>
          <a:prstGeom prst="rect">
            <a:avLst/>
          </a:prstGeom>
        </p:spPr>
      </p:pic>
      <p:sp>
        <p:nvSpPr>
          <p:cNvPr id="12" name="Shape 9"/>
          <p:cNvSpPr/>
          <p:nvPr/>
        </p:nvSpPr>
        <p:spPr>
          <a:xfrm>
            <a:off x="2514600" y="2148840"/>
            <a:ext cx="8229600" cy="1965960"/>
          </a:xfrm>
          <a:prstGeom prst="roundRect">
            <a:avLst>
              <a:gd name="adj" fmla="val 4186"/>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3" name="Text 10"/>
          <p:cNvSpPr txBox="1"/>
          <p:nvPr/>
        </p:nvSpPr>
        <p:spPr>
          <a:xfrm>
            <a:off x="2788920" y="2331720"/>
            <a:ext cx="7680960" cy="1645920"/>
          </a:xfrm>
          <a:prstGeom prst="rect">
            <a:avLst/>
          </a:prstGeom>
          <a:noFill/>
          <a:ln/>
        </p:spPr>
        <p:txBody>
          <a:bodyPr wrap="square" lIns="0" tIns="0" rIns="0" bIns="0" rtlCol="0" anchor="ctr"/>
          <a:lstStyle/>
          <a:p>
            <a:pPr marL="0" indent="0">
              <a:lnSpc>
                <a:spcPct val="122000"/>
              </a:lnSpc>
              <a:buNone/>
            </a:pPr>
            <a:r>
              <a:rPr lang="en-US" sz="1550" dirty="0">
                <a:solidFill>
                  <a:srgbClr val="1B2A4A"/>
                </a:solidFill>
                <a:latin typeface="Calibri" pitchFamily="34" charset="0"/>
                <a:ea typeface="Calibri" pitchFamily="34" charset="-122"/>
                <a:cs typeface="Calibri" pitchFamily="34" charset="-120"/>
              </a:rPr>
              <a:t>The model predicts the single most likely next token, adds it to the response, and repeats this prediction cycle — one token at a time — until a complete answer is formed.</a:t>
            </a:r>
            <a:endParaRPr lang="en-US" sz="1550" dirty="0"/>
          </a:p>
        </p:txBody>
      </p:sp>
      <p:sp>
        <p:nvSpPr>
          <p:cNvPr id="14" name="Shape 11"/>
          <p:cNvSpPr/>
          <p:nvPr/>
        </p:nvSpPr>
        <p:spPr>
          <a:xfrm>
            <a:off x="548640" y="4343400"/>
            <a:ext cx="10195560" cy="1783080"/>
          </a:xfrm>
          <a:prstGeom prst="roundRect">
            <a:avLst>
              <a:gd name="adj" fmla="val 4615"/>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5" name="Text 12"/>
          <p:cNvSpPr txBox="1"/>
          <p:nvPr/>
        </p:nvSpPr>
        <p:spPr>
          <a:xfrm>
            <a:off x="841248" y="4553712"/>
            <a:ext cx="54864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IN PLAIN TERMS</a:t>
            </a:r>
            <a:endParaRPr lang="en-US" sz="1050" dirty="0"/>
          </a:p>
        </p:txBody>
      </p:sp>
      <p:sp>
        <p:nvSpPr>
          <p:cNvPr id="16" name="Text 13"/>
          <p:cNvSpPr txBox="1"/>
          <p:nvPr/>
        </p:nvSpPr>
        <p:spPr>
          <a:xfrm>
            <a:off x="841248" y="4864608"/>
            <a:ext cx="9509760" cy="1188720"/>
          </a:xfrm>
          <a:prstGeom prst="rect">
            <a:avLst/>
          </a:prstGeom>
          <a:noFill/>
          <a:ln/>
        </p:spPr>
        <p:txBody>
          <a:bodyPr wrap="square" lIns="0" tIns="0" rIns="0" bIns="0" rtlCol="0" anchor="t"/>
          <a:lstStyle/>
          <a:p>
            <a:pPr marL="0" indent="0">
              <a:lnSpc>
                <a:spcPct val="122000"/>
              </a:lnSpc>
              <a:buNone/>
            </a:pPr>
            <a:r>
              <a:rPr lang="en-US" sz="1300" dirty="0">
                <a:solidFill>
                  <a:srgbClr val="55606C"/>
                </a:solidFill>
                <a:latin typeface="Calibri" pitchFamily="34" charset="0"/>
                <a:ea typeface="Calibri" pitchFamily="34" charset="-122"/>
                <a:cs typeface="Calibri" pitchFamily="34" charset="-120"/>
              </a:rPr>
              <a:t>This is why longer responses take slightly more time to generate: the model is essentially writing one puzzle piece at a time, each choice informed by everything written so far.</a:t>
            </a:r>
            <a:endParaRPr lang="en-US" sz="1300" dirty="0"/>
          </a:p>
        </p:txBody>
      </p:sp>
      <p:sp>
        <p:nvSpPr>
          <p:cNvPr id="17" name="Text 14"/>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Under the Hood</a:t>
            </a:r>
            <a:endParaRPr lang="en-US" sz="950" dirty="0"/>
          </a:p>
        </p:txBody>
      </p:sp>
      <p:sp>
        <p:nvSpPr>
          <p:cNvPr id="18" name="Text 15"/>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42</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3 · UNDER THE HOOD</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What This Means for You as a User</a:t>
            </a:r>
            <a:endParaRPr lang="en-US" sz="3200" dirty="0"/>
          </a:p>
        </p:txBody>
      </p:sp>
      <p:sp>
        <p:nvSpPr>
          <p:cNvPr id="4" name="Shape 2"/>
          <p:cNvSpPr/>
          <p:nvPr/>
        </p:nvSpPr>
        <p:spPr>
          <a:xfrm>
            <a:off x="548640" y="192024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5" name="Shape 3"/>
          <p:cNvSpPr/>
          <p:nvPr/>
        </p:nvSpPr>
        <p:spPr>
          <a:xfrm>
            <a:off x="841248" y="2212848"/>
            <a:ext cx="658368" cy="658368"/>
          </a:xfrm>
          <a:prstGeom prst="ellipse">
            <a:avLst/>
          </a:prstGeom>
          <a:solidFill>
            <a:srgbClr val="B08A2E"/>
          </a:solidFill>
          <a:ln/>
        </p:spPr>
      </p:sp>
      <p:pic>
        <p:nvPicPr>
          <p:cNvPr id="6" name="Image 0" descr="icons/question.png"/>
          <p:cNvPicPr>
            <a:picLocks noChangeAspect="1"/>
          </p:cNvPicPr>
          <p:nvPr/>
        </p:nvPicPr>
        <p:blipFill>
          <a:blip r:embed="rId3"/>
          <a:stretch>
            <a:fillRect/>
          </a:stretch>
        </p:blipFill>
        <p:spPr>
          <a:xfrm>
            <a:off x="1012424" y="2384024"/>
            <a:ext cx="316017" cy="316017"/>
          </a:xfrm>
          <a:prstGeom prst="rect">
            <a:avLst/>
          </a:prstGeom>
        </p:spPr>
      </p:pic>
      <p:sp>
        <p:nvSpPr>
          <p:cNvPr id="7" name="Text 4"/>
          <p:cNvSpPr txBox="1"/>
          <p:nvPr/>
        </p:nvSpPr>
        <p:spPr>
          <a:xfrm>
            <a:off x="1645920" y="223113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It predicts, it doesn’t "know"</a:t>
            </a:r>
            <a:endParaRPr lang="en-US" sz="1650" dirty="0"/>
          </a:p>
        </p:txBody>
      </p:sp>
      <p:sp>
        <p:nvSpPr>
          <p:cNvPr id="8" name="Text 5"/>
          <p:cNvSpPr txBox="1"/>
          <p:nvPr/>
        </p:nvSpPr>
        <p:spPr>
          <a:xfrm>
            <a:off x="841248" y="299923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Because output is generated word-by-word by prediction, an LLM can sound confident while being factually wrong ("hallucination").</a:t>
            </a:r>
            <a:endParaRPr lang="en-US" sz="1200" dirty="0"/>
          </a:p>
        </p:txBody>
      </p:sp>
      <p:sp>
        <p:nvSpPr>
          <p:cNvPr id="9" name="Shape 6"/>
          <p:cNvSpPr/>
          <p:nvPr/>
        </p:nvSpPr>
        <p:spPr>
          <a:xfrm>
            <a:off x="6254496" y="192024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Shape 7"/>
          <p:cNvSpPr/>
          <p:nvPr/>
        </p:nvSpPr>
        <p:spPr>
          <a:xfrm>
            <a:off x="6547104" y="2212848"/>
            <a:ext cx="658368" cy="658368"/>
          </a:xfrm>
          <a:prstGeom prst="ellipse">
            <a:avLst/>
          </a:prstGeom>
          <a:solidFill>
            <a:srgbClr val="B08A2E"/>
          </a:solidFill>
          <a:ln/>
        </p:spPr>
      </p:sp>
      <p:pic>
        <p:nvPicPr>
          <p:cNvPr id="11" name="Image 1" descr="icons/book.png"/>
          <p:cNvPicPr>
            <a:picLocks noChangeAspect="1"/>
          </p:cNvPicPr>
          <p:nvPr/>
        </p:nvPicPr>
        <p:blipFill>
          <a:blip r:embed="rId4"/>
          <a:stretch>
            <a:fillRect/>
          </a:stretch>
        </p:blipFill>
        <p:spPr>
          <a:xfrm>
            <a:off x="6718280" y="2384024"/>
            <a:ext cx="316017" cy="316017"/>
          </a:xfrm>
          <a:prstGeom prst="rect">
            <a:avLst/>
          </a:prstGeom>
        </p:spPr>
      </p:pic>
      <p:sp>
        <p:nvSpPr>
          <p:cNvPr id="12" name="Text 8"/>
          <p:cNvSpPr txBox="1"/>
          <p:nvPr/>
        </p:nvSpPr>
        <p:spPr>
          <a:xfrm>
            <a:off x="7351776" y="223113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It has a training cut-off</a:t>
            </a:r>
            <a:endParaRPr lang="en-US" sz="1650" dirty="0"/>
          </a:p>
        </p:txBody>
      </p:sp>
      <p:sp>
        <p:nvSpPr>
          <p:cNvPr id="13" name="Text 9"/>
          <p:cNvSpPr txBox="1"/>
          <p:nvPr/>
        </p:nvSpPr>
        <p:spPr>
          <a:xfrm>
            <a:off x="6547104" y="299923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An LLM only knows what existed in its training data — recent events may be unknown unless it has live web access.</a:t>
            </a:r>
            <a:endParaRPr lang="en-US" sz="1200" dirty="0"/>
          </a:p>
        </p:txBody>
      </p:sp>
      <p:sp>
        <p:nvSpPr>
          <p:cNvPr id="14" name="Shape 10"/>
          <p:cNvSpPr/>
          <p:nvPr/>
        </p:nvSpPr>
        <p:spPr>
          <a:xfrm>
            <a:off x="548640" y="438912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5" name="Shape 11"/>
          <p:cNvSpPr/>
          <p:nvPr/>
        </p:nvSpPr>
        <p:spPr>
          <a:xfrm>
            <a:off x="841248" y="4681728"/>
            <a:ext cx="658368" cy="658368"/>
          </a:xfrm>
          <a:prstGeom prst="ellipse">
            <a:avLst/>
          </a:prstGeom>
          <a:solidFill>
            <a:srgbClr val="1C7293"/>
          </a:solidFill>
          <a:ln/>
        </p:spPr>
      </p:sp>
      <p:pic>
        <p:nvPicPr>
          <p:cNvPr id="16" name="Image 2" descr="icons/balance.png"/>
          <p:cNvPicPr>
            <a:picLocks noChangeAspect="1"/>
          </p:cNvPicPr>
          <p:nvPr/>
        </p:nvPicPr>
        <p:blipFill>
          <a:blip r:embed="rId5"/>
          <a:stretch>
            <a:fillRect/>
          </a:stretch>
        </p:blipFill>
        <p:spPr>
          <a:xfrm>
            <a:off x="1012424" y="4852904"/>
            <a:ext cx="316017" cy="316017"/>
          </a:xfrm>
          <a:prstGeom prst="rect">
            <a:avLst/>
          </a:prstGeom>
        </p:spPr>
      </p:pic>
      <p:sp>
        <p:nvSpPr>
          <p:cNvPr id="17" name="Text 12"/>
          <p:cNvSpPr txBox="1"/>
          <p:nvPr/>
        </p:nvSpPr>
        <p:spPr>
          <a:xfrm>
            <a:off x="1645920" y="470001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Clear prompts help attention work</a:t>
            </a:r>
            <a:endParaRPr lang="en-US" sz="1650" dirty="0"/>
          </a:p>
        </p:txBody>
      </p:sp>
      <p:sp>
        <p:nvSpPr>
          <p:cNvPr id="18" name="Text 13"/>
          <p:cNvSpPr txBox="1"/>
          <p:nvPr/>
        </p:nvSpPr>
        <p:spPr>
          <a:xfrm>
            <a:off x="841248" y="546811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Because the model weighs your whole prompt, clear, specific instructions produce far better answers.</a:t>
            </a:r>
            <a:endParaRPr lang="en-US" sz="1200" dirty="0"/>
          </a:p>
        </p:txBody>
      </p:sp>
      <p:sp>
        <p:nvSpPr>
          <p:cNvPr id="19" name="Shape 14"/>
          <p:cNvSpPr/>
          <p:nvPr/>
        </p:nvSpPr>
        <p:spPr>
          <a:xfrm>
            <a:off x="6254496" y="438912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20" name="Shape 15"/>
          <p:cNvSpPr/>
          <p:nvPr/>
        </p:nvSpPr>
        <p:spPr>
          <a:xfrm>
            <a:off x="6547104" y="4681728"/>
            <a:ext cx="658368" cy="658368"/>
          </a:xfrm>
          <a:prstGeom prst="ellipse">
            <a:avLst/>
          </a:prstGeom>
          <a:solidFill>
            <a:srgbClr val="1C7293"/>
          </a:solidFill>
          <a:ln/>
        </p:spPr>
      </p:sp>
      <p:pic>
        <p:nvPicPr>
          <p:cNvPr id="21" name="Image 3" descr="icons/check.png"/>
          <p:cNvPicPr>
            <a:picLocks noChangeAspect="1"/>
          </p:cNvPicPr>
          <p:nvPr/>
        </p:nvPicPr>
        <p:blipFill>
          <a:blip r:embed="rId6"/>
          <a:stretch>
            <a:fillRect/>
          </a:stretch>
        </p:blipFill>
        <p:spPr>
          <a:xfrm>
            <a:off x="6718280" y="4852904"/>
            <a:ext cx="316017" cy="316017"/>
          </a:xfrm>
          <a:prstGeom prst="rect">
            <a:avLst/>
          </a:prstGeom>
        </p:spPr>
      </p:pic>
      <p:sp>
        <p:nvSpPr>
          <p:cNvPr id="22" name="Text 16"/>
          <p:cNvSpPr txBox="1"/>
          <p:nvPr/>
        </p:nvSpPr>
        <p:spPr>
          <a:xfrm>
            <a:off x="7351776" y="470001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Always verify important outputs</a:t>
            </a:r>
            <a:endParaRPr lang="en-US" sz="1650" dirty="0"/>
          </a:p>
        </p:txBody>
      </p:sp>
      <p:sp>
        <p:nvSpPr>
          <p:cNvPr id="23" name="Text 17"/>
          <p:cNvSpPr txBox="1"/>
          <p:nvPr/>
        </p:nvSpPr>
        <p:spPr>
          <a:xfrm>
            <a:off x="6547104" y="546811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Treat LLM answers as a well-read first draft — verify facts, citations and figures before relying on them.</a:t>
            </a:r>
            <a:endParaRPr lang="en-US" sz="1200" dirty="0"/>
          </a:p>
        </p:txBody>
      </p:sp>
      <p:sp>
        <p:nvSpPr>
          <p:cNvPr id="24" name="Text 18"/>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Part 3 · Under the Hood</a:t>
            </a:r>
            <a:endParaRPr lang="en-US" sz="950" dirty="0"/>
          </a:p>
        </p:txBody>
      </p:sp>
      <p:sp>
        <p:nvSpPr>
          <p:cNvPr id="25" name="Text 19"/>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43</a:t>
            </a:r>
            <a:endParaRPr lang="en-US" sz="9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3 · QUICK CHECK</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Discussion Prompt</a:t>
            </a:r>
            <a:endParaRPr lang="en-US" sz="3200" dirty="0"/>
          </a:p>
        </p:txBody>
      </p:sp>
      <p:sp>
        <p:nvSpPr>
          <p:cNvPr id="4" name="Shape 2"/>
          <p:cNvSpPr/>
          <p:nvPr/>
        </p:nvSpPr>
        <p:spPr>
          <a:xfrm>
            <a:off x="548640" y="2103120"/>
            <a:ext cx="10195560" cy="3566160"/>
          </a:xfrm>
          <a:prstGeom prst="roundRect">
            <a:avLst>
              <a:gd name="adj" fmla="val 230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5" name="Shape 3"/>
          <p:cNvSpPr/>
          <p:nvPr/>
        </p:nvSpPr>
        <p:spPr>
          <a:xfrm>
            <a:off x="5193792" y="2514600"/>
            <a:ext cx="1097280" cy="1097280"/>
          </a:xfrm>
          <a:prstGeom prst="ellipse">
            <a:avLst/>
          </a:prstGeom>
          <a:solidFill>
            <a:srgbClr val="1C7293"/>
          </a:solidFill>
          <a:ln/>
        </p:spPr>
      </p:sp>
      <p:pic>
        <p:nvPicPr>
          <p:cNvPr id="6" name="Image 0" descr="icons/question.png"/>
          <p:cNvPicPr>
            <a:picLocks noChangeAspect="1"/>
          </p:cNvPicPr>
          <p:nvPr/>
        </p:nvPicPr>
        <p:blipFill>
          <a:blip r:embed="rId3"/>
          <a:stretch>
            <a:fillRect/>
          </a:stretch>
        </p:blipFill>
        <p:spPr>
          <a:xfrm>
            <a:off x="5479085" y="2799893"/>
            <a:ext cx="526694" cy="526694"/>
          </a:xfrm>
          <a:prstGeom prst="rect">
            <a:avLst/>
          </a:prstGeom>
        </p:spPr>
      </p:pic>
      <p:sp>
        <p:nvSpPr>
          <p:cNvPr id="7" name="Text 4"/>
          <p:cNvSpPr txBox="1"/>
          <p:nvPr/>
        </p:nvSpPr>
        <p:spPr>
          <a:xfrm>
            <a:off x="1188720" y="3794760"/>
            <a:ext cx="9829800" cy="1005840"/>
          </a:xfrm>
          <a:prstGeom prst="rect">
            <a:avLst/>
          </a:prstGeom>
          <a:noFill/>
          <a:ln/>
        </p:spPr>
        <p:txBody>
          <a:bodyPr wrap="square" lIns="0" tIns="0" rIns="0" bIns="0" rtlCol="0" anchor="ctr"/>
          <a:lstStyle/>
          <a:p>
            <a:pPr marL="0" indent="0" algn="ctr">
              <a:lnSpc>
                <a:spcPct val="120000"/>
              </a:lnSpc>
              <a:buNone/>
            </a:pPr>
            <a:r>
              <a:rPr lang="en-US" sz="1900" b="1" i="1" dirty="0">
                <a:solidFill>
                  <a:srgbClr val="1B2A4A"/>
                </a:solidFill>
                <a:latin typeface="Cambria" pitchFamily="34" charset="0"/>
                <a:ea typeface="Cambria" pitchFamily="34" charset="-122"/>
                <a:cs typeface="Cambria" pitchFamily="34" charset="-120"/>
              </a:rPr>
              <a:t>“An AI tool gives you a confident citation that turns out not to exist. Why does this happen, given what you now know?”</a:t>
            </a:r>
            <a:endParaRPr lang="en-US" sz="1900" dirty="0"/>
          </a:p>
        </p:txBody>
      </p:sp>
      <p:sp>
        <p:nvSpPr>
          <p:cNvPr id="8" name="Text 5"/>
          <p:cNvSpPr txBox="1"/>
          <p:nvPr/>
        </p:nvSpPr>
        <p:spPr>
          <a:xfrm>
            <a:off x="1645920" y="4846320"/>
            <a:ext cx="8915400" cy="640080"/>
          </a:xfrm>
          <a:prstGeom prst="rect">
            <a:avLst/>
          </a:prstGeom>
          <a:noFill/>
          <a:ln/>
        </p:spPr>
        <p:txBody>
          <a:bodyPr wrap="square" lIns="0" tIns="0" rIns="0" bIns="0" rtlCol="0" anchor="ctr"/>
          <a:lstStyle/>
          <a:p>
            <a:pPr marL="0" indent="0" algn="ctr">
              <a:lnSpc>
                <a:spcPct val="120000"/>
              </a:lnSpc>
              <a:buNone/>
            </a:pPr>
            <a:r>
              <a:rPr lang="en-US" sz="1250" dirty="0">
                <a:solidFill>
                  <a:srgbClr val="8A94A0"/>
                </a:solidFill>
                <a:latin typeface="Calibri" pitchFamily="34" charset="0"/>
                <a:ea typeface="Calibri" pitchFamily="34" charset="-122"/>
                <a:cs typeface="Calibri" pitchFamily="34" charset="-120"/>
              </a:rPr>
              <a:t>Connect this back to prediction vs. recall — the model is generating plausible-sounding text, not retrieving a verified fact from a database.</a:t>
            </a:r>
            <a:endParaRPr lang="en-US" sz="1250" dirty="0"/>
          </a:p>
        </p:txBody>
      </p:sp>
      <p:sp>
        <p:nvSpPr>
          <p:cNvPr id="9" name="Text 6"/>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Under the Hood</a:t>
            </a:r>
            <a:endParaRPr lang="en-US" sz="950" dirty="0"/>
          </a:p>
        </p:txBody>
      </p:sp>
      <p:sp>
        <p:nvSpPr>
          <p:cNvPr id="10" name="Text 7"/>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44</a:t>
            </a:r>
            <a:endParaRPr lang="en-US" sz="9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0058400" y="-1645920"/>
            <a:ext cx="4114800" cy="4114800"/>
          </a:xfrm>
          <a:prstGeom prst="ellipse">
            <a:avLst/>
          </a:prstGeom>
          <a:solidFill>
            <a:srgbClr val="233A63"/>
          </a:solidFill>
          <a:ln/>
        </p:spPr>
      </p:sp>
      <p:sp>
        <p:nvSpPr>
          <p:cNvPr id="3" name="Text 1"/>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9FD6E8"/>
                </a:solidFill>
                <a:latin typeface="Calibri" pitchFamily="34" charset="0"/>
                <a:ea typeface="Calibri" pitchFamily="34" charset="-122"/>
                <a:cs typeface="Calibri" pitchFamily="34" charset="-120"/>
              </a:rPr>
              <a:t>PART 3 RECAP</a:t>
            </a:r>
            <a:endParaRPr lang="en-US" sz="1250" dirty="0"/>
          </a:p>
        </p:txBody>
      </p:sp>
      <p:sp>
        <p:nvSpPr>
          <p:cNvPr id="4" name="Text 2"/>
          <p:cNvSpPr txBox="1"/>
          <p:nvPr/>
        </p:nvSpPr>
        <p:spPr>
          <a:xfrm>
            <a:off x="548640" y="731520"/>
            <a:ext cx="10607040" cy="8229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Key Takeaways: How LLMs Work</a:t>
            </a:r>
            <a:endParaRPr lang="en-US" sz="3000" dirty="0"/>
          </a:p>
        </p:txBody>
      </p:sp>
      <p:sp>
        <p:nvSpPr>
          <p:cNvPr id="5" name="Shape 3"/>
          <p:cNvSpPr/>
          <p:nvPr/>
        </p:nvSpPr>
        <p:spPr>
          <a:xfrm>
            <a:off x="10149840" y="502920"/>
            <a:ext cx="1051560" cy="1051560"/>
          </a:xfrm>
          <a:prstGeom prst="ellipse">
            <a:avLst/>
          </a:prstGeom>
          <a:solidFill>
            <a:srgbClr val="1C7293"/>
          </a:solidFill>
          <a:ln/>
        </p:spPr>
      </p:sp>
      <p:pic>
        <p:nvPicPr>
          <p:cNvPr id="6" name="Image 0" descr="icons/microchip.png"/>
          <p:cNvPicPr>
            <a:picLocks noChangeAspect="1"/>
          </p:cNvPicPr>
          <p:nvPr/>
        </p:nvPicPr>
        <p:blipFill>
          <a:blip r:embed="rId3"/>
          <a:stretch>
            <a:fillRect/>
          </a:stretch>
        </p:blipFill>
        <p:spPr>
          <a:xfrm>
            <a:off x="10423246" y="776326"/>
            <a:ext cx="504749" cy="504749"/>
          </a:xfrm>
          <a:prstGeom prst="rect">
            <a:avLst/>
          </a:prstGeom>
        </p:spPr>
      </p:pic>
      <p:sp>
        <p:nvSpPr>
          <p:cNvPr id="7" name="Shape 4"/>
          <p:cNvSpPr/>
          <p:nvPr/>
        </p:nvSpPr>
        <p:spPr>
          <a:xfrm>
            <a:off x="548640" y="1965960"/>
            <a:ext cx="5408676" cy="1965960"/>
          </a:xfrm>
          <a:prstGeom prst="roundRect">
            <a:avLst>
              <a:gd name="adj" fmla="val 3721"/>
            </a:avLst>
          </a:prstGeom>
          <a:solidFill>
            <a:srgbClr val="233A63"/>
          </a:solidFill>
          <a:ln/>
        </p:spPr>
      </p:sp>
      <p:sp>
        <p:nvSpPr>
          <p:cNvPr id="8" name="Shape 5"/>
          <p:cNvSpPr/>
          <p:nvPr/>
        </p:nvSpPr>
        <p:spPr>
          <a:xfrm>
            <a:off x="804672" y="2221992"/>
            <a:ext cx="457200" cy="457200"/>
          </a:xfrm>
          <a:prstGeom prst="ellipse">
            <a:avLst/>
          </a:prstGeom>
          <a:solidFill>
            <a:srgbClr val="1C7293"/>
          </a:solidFill>
          <a:ln/>
        </p:spPr>
      </p:sp>
      <p:pic>
        <p:nvPicPr>
          <p:cNvPr id="9" name="Image 1" descr="icons/puzzle.png"/>
          <p:cNvPicPr>
            <a:picLocks noChangeAspect="1"/>
          </p:cNvPicPr>
          <p:nvPr/>
        </p:nvPicPr>
        <p:blipFill>
          <a:blip r:embed="rId4"/>
          <a:stretch>
            <a:fillRect/>
          </a:stretch>
        </p:blipFill>
        <p:spPr>
          <a:xfrm>
            <a:off x="896112" y="2313432"/>
            <a:ext cx="274320" cy="274320"/>
          </a:xfrm>
          <a:prstGeom prst="rect">
            <a:avLst/>
          </a:prstGeom>
        </p:spPr>
      </p:pic>
      <p:sp>
        <p:nvSpPr>
          <p:cNvPr id="10" name="Text 6"/>
          <p:cNvSpPr txBox="1"/>
          <p:nvPr/>
        </p:nvSpPr>
        <p:spPr>
          <a:xfrm>
            <a:off x="1417320" y="2185416"/>
            <a:ext cx="4265676"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Text becomes tokens</a:t>
            </a:r>
            <a:endParaRPr lang="en-US" sz="1450" dirty="0"/>
          </a:p>
        </p:txBody>
      </p:sp>
      <p:sp>
        <p:nvSpPr>
          <p:cNvPr id="11" name="Text 7"/>
          <p:cNvSpPr txBox="1"/>
          <p:nvPr/>
        </p:nvSpPr>
        <p:spPr>
          <a:xfrm>
            <a:off x="804672" y="2788920"/>
            <a:ext cx="4896612" cy="960120"/>
          </a:xfrm>
          <a:prstGeom prst="rect">
            <a:avLst/>
          </a:prstGeom>
          <a:noFill/>
          <a:ln/>
        </p:spPr>
        <p:txBody>
          <a:bodyPr wrap="square" lIns="0" tIns="0" rIns="0" bIns="0"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Your prompt is chopped into small word-pieces the model can process.</a:t>
            </a:r>
            <a:endParaRPr lang="en-US" sz="1150" dirty="0"/>
          </a:p>
        </p:txBody>
      </p:sp>
      <p:sp>
        <p:nvSpPr>
          <p:cNvPr id="12" name="Shape 8"/>
          <p:cNvSpPr/>
          <p:nvPr/>
        </p:nvSpPr>
        <p:spPr>
          <a:xfrm>
            <a:off x="6231636" y="1965960"/>
            <a:ext cx="5408676" cy="1965960"/>
          </a:xfrm>
          <a:prstGeom prst="roundRect">
            <a:avLst>
              <a:gd name="adj" fmla="val 3721"/>
            </a:avLst>
          </a:prstGeom>
          <a:solidFill>
            <a:srgbClr val="233A63"/>
          </a:solidFill>
          <a:ln/>
        </p:spPr>
      </p:sp>
      <p:sp>
        <p:nvSpPr>
          <p:cNvPr id="13" name="Shape 9"/>
          <p:cNvSpPr/>
          <p:nvPr/>
        </p:nvSpPr>
        <p:spPr>
          <a:xfrm>
            <a:off x="6487668" y="2221992"/>
            <a:ext cx="457200" cy="457200"/>
          </a:xfrm>
          <a:prstGeom prst="ellipse">
            <a:avLst/>
          </a:prstGeom>
          <a:solidFill>
            <a:srgbClr val="1C7293"/>
          </a:solidFill>
          <a:ln/>
        </p:spPr>
      </p:sp>
      <p:pic>
        <p:nvPicPr>
          <p:cNvPr id="14" name="Image 2" descr="icons/vector.png"/>
          <p:cNvPicPr>
            <a:picLocks noChangeAspect="1"/>
          </p:cNvPicPr>
          <p:nvPr/>
        </p:nvPicPr>
        <p:blipFill>
          <a:blip r:embed="rId5"/>
          <a:stretch>
            <a:fillRect/>
          </a:stretch>
        </p:blipFill>
        <p:spPr>
          <a:xfrm>
            <a:off x="6579108" y="2313432"/>
            <a:ext cx="274320" cy="274320"/>
          </a:xfrm>
          <a:prstGeom prst="rect">
            <a:avLst/>
          </a:prstGeom>
        </p:spPr>
      </p:pic>
      <p:sp>
        <p:nvSpPr>
          <p:cNvPr id="15" name="Text 10"/>
          <p:cNvSpPr txBox="1"/>
          <p:nvPr/>
        </p:nvSpPr>
        <p:spPr>
          <a:xfrm>
            <a:off x="7100316" y="2185416"/>
            <a:ext cx="4265676"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Tokens become meaning</a:t>
            </a:r>
            <a:endParaRPr lang="en-US" sz="1450" dirty="0"/>
          </a:p>
        </p:txBody>
      </p:sp>
      <p:sp>
        <p:nvSpPr>
          <p:cNvPr id="16" name="Text 11"/>
          <p:cNvSpPr txBox="1"/>
          <p:nvPr/>
        </p:nvSpPr>
        <p:spPr>
          <a:xfrm>
            <a:off x="6487668" y="2788920"/>
            <a:ext cx="4896612" cy="960120"/>
          </a:xfrm>
          <a:prstGeom prst="rect">
            <a:avLst/>
          </a:prstGeom>
          <a:noFill/>
          <a:ln/>
        </p:spPr>
        <p:txBody>
          <a:bodyPr wrap="square" lIns="0" tIns="0" rIns="0" bIns="0"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Embeddings turn tokens into numbers that capture relationships between words.</a:t>
            </a:r>
            <a:endParaRPr lang="en-US" sz="1150" dirty="0"/>
          </a:p>
        </p:txBody>
      </p:sp>
      <p:sp>
        <p:nvSpPr>
          <p:cNvPr id="17" name="Shape 12"/>
          <p:cNvSpPr/>
          <p:nvPr/>
        </p:nvSpPr>
        <p:spPr>
          <a:xfrm>
            <a:off x="548640" y="4206240"/>
            <a:ext cx="5408676" cy="1965960"/>
          </a:xfrm>
          <a:prstGeom prst="roundRect">
            <a:avLst>
              <a:gd name="adj" fmla="val 3721"/>
            </a:avLst>
          </a:prstGeom>
          <a:solidFill>
            <a:srgbClr val="233A63"/>
          </a:solidFill>
          <a:ln/>
        </p:spPr>
      </p:sp>
      <p:sp>
        <p:nvSpPr>
          <p:cNvPr id="18" name="Shape 13"/>
          <p:cNvSpPr/>
          <p:nvPr/>
        </p:nvSpPr>
        <p:spPr>
          <a:xfrm>
            <a:off x="804672" y="4462272"/>
            <a:ext cx="457200" cy="457200"/>
          </a:xfrm>
          <a:prstGeom prst="ellipse">
            <a:avLst/>
          </a:prstGeom>
          <a:solidFill>
            <a:srgbClr val="1C7293"/>
          </a:solidFill>
          <a:ln/>
        </p:spPr>
      </p:sp>
      <p:pic>
        <p:nvPicPr>
          <p:cNvPr id="19" name="Image 3" descr="icons/eye.png"/>
          <p:cNvPicPr>
            <a:picLocks noChangeAspect="1"/>
          </p:cNvPicPr>
          <p:nvPr/>
        </p:nvPicPr>
        <p:blipFill>
          <a:blip r:embed="rId6"/>
          <a:stretch>
            <a:fillRect/>
          </a:stretch>
        </p:blipFill>
        <p:spPr>
          <a:xfrm>
            <a:off x="896112" y="4553712"/>
            <a:ext cx="274320" cy="274320"/>
          </a:xfrm>
          <a:prstGeom prst="rect">
            <a:avLst/>
          </a:prstGeom>
        </p:spPr>
      </p:pic>
      <p:sp>
        <p:nvSpPr>
          <p:cNvPr id="20" name="Text 14"/>
          <p:cNvSpPr txBox="1"/>
          <p:nvPr/>
        </p:nvSpPr>
        <p:spPr>
          <a:xfrm>
            <a:off x="1417320" y="4425696"/>
            <a:ext cx="4265676"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Attention finds context</a:t>
            </a:r>
            <a:endParaRPr lang="en-US" sz="1450" dirty="0"/>
          </a:p>
        </p:txBody>
      </p:sp>
      <p:sp>
        <p:nvSpPr>
          <p:cNvPr id="21" name="Text 15"/>
          <p:cNvSpPr txBox="1"/>
          <p:nvPr/>
        </p:nvSpPr>
        <p:spPr>
          <a:xfrm>
            <a:off x="804672" y="5029200"/>
            <a:ext cx="4896612" cy="960120"/>
          </a:xfrm>
          <a:prstGeom prst="rect">
            <a:avLst/>
          </a:prstGeom>
          <a:noFill/>
          <a:ln/>
        </p:spPr>
        <p:txBody>
          <a:bodyPr wrap="square" lIns="0" tIns="0" rIns="0" bIns="0"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The model weighs the whole prompt to understand each word correctly.</a:t>
            </a:r>
            <a:endParaRPr lang="en-US" sz="1150" dirty="0"/>
          </a:p>
        </p:txBody>
      </p:sp>
      <p:sp>
        <p:nvSpPr>
          <p:cNvPr id="22" name="Shape 16"/>
          <p:cNvSpPr/>
          <p:nvPr/>
        </p:nvSpPr>
        <p:spPr>
          <a:xfrm>
            <a:off x="6231636" y="4206240"/>
            <a:ext cx="5408676" cy="1965960"/>
          </a:xfrm>
          <a:prstGeom prst="roundRect">
            <a:avLst>
              <a:gd name="adj" fmla="val 3721"/>
            </a:avLst>
          </a:prstGeom>
          <a:solidFill>
            <a:srgbClr val="233A63"/>
          </a:solidFill>
          <a:ln/>
        </p:spPr>
      </p:sp>
      <p:sp>
        <p:nvSpPr>
          <p:cNvPr id="23" name="Shape 17"/>
          <p:cNvSpPr/>
          <p:nvPr/>
        </p:nvSpPr>
        <p:spPr>
          <a:xfrm>
            <a:off x="6487668" y="4462272"/>
            <a:ext cx="457200" cy="457200"/>
          </a:xfrm>
          <a:prstGeom prst="ellipse">
            <a:avLst/>
          </a:prstGeom>
          <a:solidFill>
            <a:srgbClr val="1C7293"/>
          </a:solidFill>
          <a:ln/>
        </p:spPr>
      </p:sp>
      <p:pic>
        <p:nvPicPr>
          <p:cNvPr id="24" name="Image 4" descr="icons/cogs.png"/>
          <p:cNvPicPr>
            <a:picLocks noChangeAspect="1"/>
          </p:cNvPicPr>
          <p:nvPr/>
        </p:nvPicPr>
        <p:blipFill>
          <a:blip r:embed="rId7"/>
          <a:stretch>
            <a:fillRect/>
          </a:stretch>
        </p:blipFill>
        <p:spPr>
          <a:xfrm>
            <a:off x="6579108" y="4553712"/>
            <a:ext cx="274320" cy="274320"/>
          </a:xfrm>
          <a:prstGeom prst="rect">
            <a:avLst/>
          </a:prstGeom>
        </p:spPr>
      </p:pic>
      <p:sp>
        <p:nvSpPr>
          <p:cNvPr id="25" name="Text 18"/>
          <p:cNvSpPr txBox="1"/>
          <p:nvPr/>
        </p:nvSpPr>
        <p:spPr>
          <a:xfrm>
            <a:off x="7100316" y="4425696"/>
            <a:ext cx="4265676"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Answers are predicted, not recalled</a:t>
            </a:r>
            <a:endParaRPr lang="en-US" sz="1450" dirty="0"/>
          </a:p>
        </p:txBody>
      </p:sp>
      <p:sp>
        <p:nvSpPr>
          <p:cNvPr id="26" name="Text 19"/>
          <p:cNvSpPr txBox="1"/>
          <p:nvPr/>
        </p:nvSpPr>
        <p:spPr>
          <a:xfrm>
            <a:off x="6487668" y="5029200"/>
            <a:ext cx="4896612" cy="960120"/>
          </a:xfrm>
          <a:prstGeom prst="rect">
            <a:avLst/>
          </a:prstGeom>
          <a:noFill/>
          <a:ln/>
        </p:spPr>
        <p:txBody>
          <a:bodyPr wrap="square" lIns="0" tIns="0" rIns="0" bIns="0"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One likely next word at a time — which is why verification always matters.</a:t>
            </a:r>
            <a:endParaRPr lang="en-US" sz="1150" dirty="0"/>
          </a:p>
        </p:txBody>
      </p:sp>
      <p:sp>
        <p:nvSpPr>
          <p:cNvPr id="27" name="Text 20"/>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9FD6E8"/>
                </a:solidFill>
                <a:latin typeface="Calibri" pitchFamily="34" charset="0"/>
                <a:ea typeface="Calibri" pitchFamily="34" charset="-122"/>
                <a:cs typeface="Calibri" pitchFamily="34" charset="-120"/>
              </a:rPr>
              <a:t>Under the Hood</a:t>
            </a:r>
            <a:endParaRPr lang="en-US" sz="950" dirty="0"/>
          </a:p>
        </p:txBody>
      </p:sp>
      <p:sp>
        <p:nvSpPr>
          <p:cNvPr id="28" name="Text 21"/>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9FD6E8"/>
                </a:solidFill>
                <a:latin typeface="Calibri" pitchFamily="34" charset="0"/>
                <a:ea typeface="Calibri" pitchFamily="34" charset="-122"/>
                <a:cs typeface="Calibri" pitchFamily="34" charset="-120"/>
              </a:rPr>
              <a:t>45</a:t>
            </a:r>
            <a:endParaRPr lang="en-US" sz="9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828800" y="-2011680"/>
            <a:ext cx="5486400" cy="5486400"/>
          </a:xfrm>
          <a:prstGeom prst="ellipse">
            <a:avLst/>
          </a:prstGeom>
          <a:solidFill>
            <a:srgbClr val="233A63"/>
          </a:solidFill>
          <a:ln/>
        </p:spPr>
      </p:sp>
      <p:sp>
        <p:nvSpPr>
          <p:cNvPr id="3" name="Shape 1"/>
          <p:cNvSpPr/>
          <p:nvPr/>
        </p:nvSpPr>
        <p:spPr>
          <a:xfrm>
            <a:off x="9875520" y="4206240"/>
            <a:ext cx="5029200" cy="5029200"/>
          </a:xfrm>
          <a:prstGeom prst="ellipse">
            <a:avLst/>
          </a:prstGeom>
          <a:solidFill>
            <a:srgbClr val="121C33"/>
          </a:solidFill>
          <a:ln/>
        </p:spPr>
      </p:sp>
      <p:sp>
        <p:nvSpPr>
          <p:cNvPr id="4" name="Text 2"/>
          <p:cNvSpPr txBox="1"/>
          <p:nvPr/>
        </p:nvSpPr>
        <p:spPr>
          <a:xfrm>
            <a:off x="822960" y="2286000"/>
            <a:ext cx="3657600" cy="457200"/>
          </a:xfrm>
          <a:prstGeom prst="rect">
            <a:avLst/>
          </a:prstGeom>
          <a:noFill/>
          <a:ln/>
        </p:spPr>
        <p:txBody>
          <a:bodyPr wrap="square" lIns="0" tIns="0" rIns="0" bIns="0" rtlCol="0" anchor="ctr"/>
          <a:lstStyle/>
          <a:p>
            <a:pPr marL="0" indent="0">
              <a:buNone/>
            </a:pPr>
            <a:r>
              <a:rPr lang="en-US" sz="1600" b="1" kern="0" spc="200" dirty="0">
                <a:solidFill>
                  <a:srgbClr val="1C7293"/>
                </a:solidFill>
                <a:latin typeface="Calibri" pitchFamily="34" charset="0"/>
                <a:ea typeface="Calibri" pitchFamily="34" charset="-122"/>
                <a:cs typeface="Calibri" pitchFamily="34" charset="-120"/>
              </a:rPr>
              <a:t>PART 4</a:t>
            </a:r>
            <a:endParaRPr lang="en-US" sz="1600" dirty="0"/>
          </a:p>
        </p:txBody>
      </p:sp>
      <p:sp>
        <p:nvSpPr>
          <p:cNvPr id="5" name="Shape 3"/>
          <p:cNvSpPr/>
          <p:nvPr/>
        </p:nvSpPr>
        <p:spPr>
          <a:xfrm>
            <a:off x="868680" y="2788920"/>
            <a:ext cx="1280160" cy="0"/>
          </a:xfrm>
          <a:prstGeom prst="line">
            <a:avLst/>
          </a:prstGeom>
          <a:noFill/>
          <a:ln w="31750">
            <a:solidFill>
              <a:srgbClr val="1C7293"/>
            </a:solidFill>
            <a:prstDash val="solid"/>
          </a:ln>
        </p:spPr>
      </p:sp>
      <p:sp>
        <p:nvSpPr>
          <p:cNvPr id="6" name="Text 4"/>
          <p:cNvSpPr txBox="1"/>
          <p:nvPr/>
        </p:nvSpPr>
        <p:spPr>
          <a:xfrm>
            <a:off x="822960" y="2880360"/>
            <a:ext cx="9601200" cy="365760"/>
          </a:xfrm>
          <a:prstGeom prst="rect">
            <a:avLst/>
          </a:prstGeom>
          <a:noFill/>
          <a:ln/>
        </p:spPr>
        <p:txBody>
          <a:bodyPr wrap="square" lIns="0" tIns="0" rIns="0" bIns="0" rtlCol="0" anchor="ctr"/>
          <a:lstStyle/>
          <a:p>
            <a:pPr marL="0" indent="0">
              <a:buNone/>
            </a:pPr>
            <a:r>
              <a:rPr lang="en-US" sz="1300" b="1" kern="0" spc="180" dirty="0">
                <a:solidFill>
                  <a:srgbClr val="9FD6E8"/>
                </a:solidFill>
                <a:latin typeface="Calibri" pitchFamily="34" charset="0"/>
                <a:ea typeface="Calibri" pitchFamily="34" charset="-122"/>
                <a:cs typeface="Calibri" pitchFamily="34" charset="-120"/>
              </a:rPr>
              <a:t>CHOOSING WISELY</a:t>
            </a:r>
            <a:endParaRPr lang="en-US" sz="1300" dirty="0"/>
          </a:p>
        </p:txBody>
      </p:sp>
      <p:sp>
        <p:nvSpPr>
          <p:cNvPr id="7" name="Text 5"/>
          <p:cNvSpPr txBox="1"/>
          <p:nvPr/>
        </p:nvSpPr>
        <p:spPr>
          <a:xfrm>
            <a:off x="777240" y="3246120"/>
            <a:ext cx="9692640" cy="1463040"/>
          </a:xfrm>
          <a:prstGeom prst="rect">
            <a:avLst/>
          </a:prstGeom>
          <a:noFill/>
          <a:ln/>
        </p:spPr>
        <p:txBody>
          <a:bodyPr wrap="square" lIns="0" tIns="0" rIns="0" bIns="0" rtlCol="0" anchor="ctr"/>
          <a:lstStyle/>
          <a:p>
            <a:pPr marL="0" indent="0">
              <a:lnSpc>
                <a:spcPct val="105000"/>
              </a:lnSpc>
              <a:buNone/>
            </a:pPr>
            <a:r>
              <a:rPr lang="en-US" sz="3800" b="1" dirty="0">
                <a:solidFill>
                  <a:srgbClr val="FFFFFF"/>
                </a:solidFill>
                <a:latin typeface="Cambria" pitchFamily="34" charset="0"/>
                <a:ea typeface="Cambria" pitchFamily="34" charset="-122"/>
                <a:cs typeface="Cambria" pitchFamily="34" charset="-120"/>
              </a:rPr>
              <a:t>Criteria for Selecting</a:t>
            </a:r>
            <a:endParaRPr lang="en-US" sz="3800" dirty="0"/>
          </a:p>
          <a:p>
            <a:pPr marL="0" indent="0">
              <a:lnSpc>
                <a:spcPct val="105000"/>
              </a:lnSpc>
              <a:buNone/>
            </a:pPr>
            <a:r>
              <a:rPr lang="en-US" sz="3800" b="1" dirty="0">
                <a:solidFill>
                  <a:srgbClr val="FFFFFF"/>
                </a:solidFill>
                <a:latin typeface="Cambria" pitchFamily="34" charset="0"/>
                <a:ea typeface="Cambria" pitchFamily="34" charset="-122"/>
                <a:cs typeface="Cambria" pitchFamily="34" charset="-120"/>
              </a:rPr>
              <a:t>the Right AI Tool</a:t>
            </a:r>
            <a:endParaRPr lang="en-US" sz="3800" dirty="0"/>
          </a:p>
        </p:txBody>
      </p:sp>
      <p:sp>
        <p:nvSpPr>
          <p:cNvPr id="8" name="Text 6"/>
          <p:cNvSpPr txBox="1"/>
          <p:nvPr/>
        </p:nvSpPr>
        <p:spPr>
          <a:xfrm>
            <a:off x="822960" y="4709160"/>
            <a:ext cx="8686800" cy="731520"/>
          </a:xfrm>
          <a:prstGeom prst="rect">
            <a:avLst/>
          </a:prstGeom>
          <a:noFill/>
          <a:ln/>
        </p:spPr>
        <p:txBody>
          <a:bodyPr wrap="square" lIns="0" tIns="0" rIns="0" bIns="0" rtlCol="0" anchor="ctr"/>
          <a:lstStyle/>
          <a:p>
            <a:pPr marL="0" indent="0">
              <a:lnSpc>
                <a:spcPct val="125000"/>
              </a:lnSpc>
              <a:buNone/>
            </a:pPr>
            <a:r>
              <a:rPr lang="en-US" sz="1500" i="1" dirty="0">
                <a:solidFill>
                  <a:srgbClr val="C9D6E3"/>
                </a:solidFill>
                <a:latin typeface="Calibri" pitchFamily="34" charset="0"/>
                <a:ea typeface="Calibri" pitchFamily="34" charset="-122"/>
                <a:cs typeface="Calibri" pitchFamily="34" charset="-120"/>
              </a:rPr>
              <a:t>Four practical questions to ask before adopting any AI tool for teaching, research or admin work.</a:t>
            </a:r>
            <a:endParaRPr lang="en-US" sz="1500" dirty="0"/>
          </a:p>
        </p:txBody>
      </p:sp>
      <p:sp>
        <p:nvSpPr>
          <p:cNvPr id="9" name="Shape 7"/>
          <p:cNvSpPr/>
          <p:nvPr/>
        </p:nvSpPr>
        <p:spPr>
          <a:xfrm>
            <a:off x="10195560" y="685800"/>
            <a:ext cx="1143000" cy="1143000"/>
          </a:xfrm>
          <a:prstGeom prst="ellipse">
            <a:avLst/>
          </a:prstGeom>
          <a:solidFill>
            <a:srgbClr val="1C7293"/>
          </a:solidFill>
          <a:ln/>
        </p:spPr>
      </p:sp>
      <p:pic>
        <p:nvPicPr>
          <p:cNvPr id="10" name="Image 0" descr="icons/balance.png"/>
          <p:cNvPicPr>
            <a:picLocks noChangeAspect="1"/>
          </p:cNvPicPr>
          <p:nvPr/>
        </p:nvPicPr>
        <p:blipFill>
          <a:blip r:embed="rId3"/>
          <a:stretch>
            <a:fillRect/>
          </a:stretch>
        </p:blipFill>
        <p:spPr>
          <a:xfrm>
            <a:off x="10492740" y="982980"/>
            <a:ext cx="548640" cy="548640"/>
          </a:xfrm>
          <a:prstGeom prst="rect">
            <a:avLst/>
          </a:prstGeom>
        </p:spPr>
      </p:pic>
      <p:sp>
        <p:nvSpPr>
          <p:cNvPr id="11" name="Text 8"/>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9FD6E8"/>
                </a:solidFill>
                <a:latin typeface="Calibri" pitchFamily="34" charset="0"/>
                <a:ea typeface="Calibri" pitchFamily="34" charset="-122"/>
                <a:cs typeface="Calibri" pitchFamily="34" charset="-120"/>
              </a:rPr>
              <a:t>Part 4 · Choosing Wisely</a:t>
            </a:r>
            <a:endParaRPr lang="en-US" sz="950" dirty="0"/>
          </a:p>
        </p:txBody>
      </p:sp>
      <p:sp>
        <p:nvSpPr>
          <p:cNvPr id="12" name="Text 9"/>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9FD6E8"/>
                </a:solidFill>
                <a:latin typeface="Calibri" pitchFamily="34" charset="0"/>
                <a:ea typeface="Calibri" pitchFamily="34" charset="-122"/>
                <a:cs typeface="Calibri" pitchFamily="34" charset="-120"/>
              </a:rPr>
              <a:t>46</a:t>
            </a:r>
            <a:endParaRPr lang="en-US" sz="9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4 · CHOOSING WISELY</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Four Questions Before You Choose</a:t>
            </a:r>
            <a:endParaRPr lang="en-US" sz="3200" dirty="0"/>
          </a:p>
        </p:txBody>
      </p:sp>
      <p:sp>
        <p:nvSpPr>
          <p:cNvPr id="4" name="Shape 2"/>
          <p:cNvSpPr/>
          <p:nvPr/>
        </p:nvSpPr>
        <p:spPr>
          <a:xfrm>
            <a:off x="548640" y="192024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5" name="Shape 3"/>
          <p:cNvSpPr/>
          <p:nvPr/>
        </p:nvSpPr>
        <p:spPr>
          <a:xfrm>
            <a:off x="841248" y="2212848"/>
            <a:ext cx="658368" cy="658368"/>
          </a:xfrm>
          <a:prstGeom prst="ellipse">
            <a:avLst/>
          </a:prstGeom>
          <a:solidFill>
            <a:srgbClr val="1C7293"/>
          </a:solidFill>
          <a:ln/>
        </p:spPr>
      </p:sp>
      <p:pic>
        <p:nvPicPr>
          <p:cNvPr id="6" name="Image 0" descr="icons/bullseye.png"/>
          <p:cNvPicPr>
            <a:picLocks noChangeAspect="1"/>
          </p:cNvPicPr>
          <p:nvPr/>
        </p:nvPicPr>
        <p:blipFill>
          <a:blip r:embed="rId3"/>
          <a:stretch>
            <a:fillRect/>
          </a:stretch>
        </p:blipFill>
        <p:spPr>
          <a:xfrm>
            <a:off x="1012424" y="2384024"/>
            <a:ext cx="316017" cy="316017"/>
          </a:xfrm>
          <a:prstGeom prst="rect">
            <a:avLst/>
          </a:prstGeom>
        </p:spPr>
      </p:pic>
      <p:sp>
        <p:nvSpPr>
          <p:cNvPr id="7" name="Text 4"/>
          <p:cNvSpPr txBox="1"/>
          <p:nvPr/>
        </p:nvSpPr>
        <p:spPr>
          <a:xfrm>
            <a:off x="1645920" y="223113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1. Accuracy Needs</a:t>
            </a:r>
            <a:endParaRPr lang="en-US" sz="1650" dirty="0"/>
          </a:p>
        </p:txBody>
      </p:sp>
      <p:sp>
        <p:nvSpPr>
          <p:cNvPr id="8" name="Text 5"/>
          <p:cNvSpPr txBox="1"/>
          <p:nvPr/>
        </p:nvSpPr>
        <p:spPr>
          <a:xfrm>
            <a:off x="841248" y="299923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How much precision does this task actually require?</a:t>
            </a:r>
            <a:endParaRPr lang="en-US" sz="1200" dirty="0"/>
          </a:p>
        </p:txBody>
      </p:sp>
      <p:sp>
        <p:nvSpPr>
          <p:cNvPr id="9" name="Shape 6"/>
          <p:cNvSpPr/>
          <p:nvPr/>
        </p:nvSpPr>
        <p:spPr>
          <a:xfrm>
            <a:off x="6254496" y="192024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Shape 7"/>
          <p:cNvSpPr/>
          <p:nvPr/>
        </p:nvSpPr>
        <p:spPr>
          <a:xfrm>
            <a:off x="6547104" y="2212848"/>
            <a:ext cx="658368" cy="658368"/>
          </a:xfrm>
          <a:prstGeom prst="ellipse">
            <a:avLst/>
          </a:prstGeom>
          <a:solidFill>
            <a:srgbClr val="1C7293"/>
          </a:solidFill>
          <a:ln/>
        </p:spPr>
      </p:sp>
      <p:pic>
        <p:nvPicPr>
          <p:cNvPr id="11" name="Image 1" descr="icons/dollar.png"/>
          <p:cNvPicPr>
            <a:picLocks noChangeAspect="1"/>
          </p:cNvPicPr>
          <p:nvPr/>
        </p:nvPicPr>
        <p:blipFill>
          <a:blip r:embed="rId4"/>
          <a:stretch>
            <a:fillRect/>
          </a:stretch>
        </p:blipFill>
        <p:spPr>
          <a:xfrm>
            <a:off x="6718280" y="2384024"/>
            <a:ext cx="316017" cy="316017"/>
          </a:xfrm>
          <a:prstGeom prst="rect">
            <a:avLst/>
          </a:prstGeom>
        </p:spPr>
      </p:pic>
      <p:sp>
        <p:nvSpPr>
          <p:cNvPr id="12" name="Text 8"/>
          <p:cNvSpPr txBox="1"/>
          <p:nvPr/>
        </p:nvSpPr>
        <p:spPr>
          <a:xfrm>
            <a:off x="7351776" y="223113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2. Cost</a:t>
            </a:r>
            <a:endParaRPr lang="en-US" sz="1650" dirty="0"/>
          </a:p>
        </p:txBody>
      </p:sp>
      <p:sp>
        <p:nvSpPr>
          <p:cNvPr id="13" name="Text 9"/>
          <p:cNvSpPr txBox="1"/>
          <p:nvPr/>
        </p:nvSpPr>
        <p:spPr>
          <a:xfrm>
            <a:off x="6547104" y="299923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What is the real cost — free, subscription, or usage-based?</a:t>
            </a:r>
            <a:endParaRPr lang="en-US" sz="1200" dirty="0"/>
          </a:p>
        </p:txBody>
      </p:sp>
      <p:sp>
        <p:nvSpPr>
          <p:cNvPr id="14" name="Shape 10"/>
          <p:cNvSpPr/>
          <p:nvPr/>
        </p:nvSpPr>
        <p:spPr>
          <a:xfrm>
            <a:off x="548640" y="438912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5" name="Shape 11"/>
          <p:cNvSpPr/>
          <p:nvPr/>
        </p:nvSpPr>
        <p:spPr>
          <a:xfrm>
            <a:off x="841248" y="4681728"/>
            <a:ext cx="658368" cy="658368"/>
          </a:xfrm>
          <a:prstGeom prst="ellipse">
            <a:avLst/>
          </a:prstGeom>
          <a:solidFill>
            <a:srgbClr val="1C7293"/>
          </a:solidFill>
          <a:ln/>
        </p:spPr>
      </p:sp>
      <p:pic>
        <p:nvPicPr>
          <p:cNvPr id="16" name="Image 2" descr="icons/shield.png"/>
          <p:cNvPicPr>
            <a:picLocks noChangeAspect="1"/>
          </p:cNvPicPr>
          <p:nvPr/>
        </p:nvPicPr>
        <p:blipFill>
          <a:blip r:embed="rId5"/>
          <a:stretch>
            <a:fillRect/>
          </a:stretch>
        </p:blipFill>
        <p:spPr>
          <a:xfrm>
            <a:off x="1012424" y="4852904"/>
            <a:ext cx="316017" cy="316017"/>
          </a:xfrm>
          <a:prstGeom prst="rect">
            <a:avLst/>
          </a:prstGeom>
        </p:spPr>
      </p:pic>
      <p:sp>
        <p:nvSpPr>
          <p:cNvPr id="17" name="Text 12"/>
          <p:cNvSpPr txBox="1"/>
          <p:nvPr/>
        </p:nvSpPr>
        <p:spPr>
          <a:xfrm>
            <a:off x="1645920" y="470001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3. Data Sensitivity</a:t>
            </a:r>
            <a:endParaRPr lang="en-US" sz="1650" dirty="0"/>
          </a:p>
        </p:txBody>
      </p:sp>
      <p:sp>
        <p:nvSpPr>
          <p:cNvPr id="18" name="Text 13"/>
          <p:cNvSpPr txBox="1"/>
          <p:nvPr/>
        </p:nvSpPr>
        <p:spPr>
          <a:xfrm>
            <a:off x="841248" y="546811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Is confidential student or research data involved?</a:t>
            </a:r>
            <a:endParaRPr lang="en-US" sz="1200" dirty="0"/>
          </a:p>
        </p:txBody>
      </p:sp>
      <p:sp>
        <p:nvSpPr>
          <p:cNvPr id="19" name="Shape 14"/>
          <p:cNvSpPr/>
          <p:nvPr/>
        </p:nvSpPr>
        <p:spPr>
          <a:xfrm>
            <a:off x="6254496" y="438912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20" name="Shape 15"/>
          <p:cNvSpPr/>
          <p:nvPr/>
        </p:nvSpPr>
        <p:spPr>
          <a:xfrm>
            <a:off x="6547104" y="4681728"/>
            <a:ext cx="658368" cy="658368"/>
          </a:xfrm>
          <a:prstGeom prst="ellipse">
            <a:avLst/>
          </a:prstGeom>
          <a:solidFill>
            <a:srgbClr val="1C7293"/>
          </a:solidFill>
          <a:ln/>
        </p:spPr>
      </p:sp>
      <p:pic>
        <p:nvPicPr>
          <p:cNvPr id="21" name="Image 3" descr="icons/fileexport.png"/>
          <p:cNvPicPr>
            <a:picLocks noChangeAspect="1"/>
          </p:cNvPicPr>
          <p:nvPr/>
        </p:nvPicPr>
        <p:blipFill>
          <a:blip r:embed="rId6"/>
          <a:stretch>
            <a:fillRect/>
          </a:stretch>
        </p:blipFill>
        <p:spPr>
          <a:xfrm>
            <a:off x="6718280" y="4852904"/>
            <a:ext cx="316017" cy="316017"/>
          </a:xfrm>
          <a:prstGeom prst="rect">
            <a:avLst/>
          </a:prstGeom>
        </p:spPr>
      </p:pic>
      <p:sp>
        <p:nvSpPr>
          <p:cNvPr id="22" name="Text 16"/>
          <p:cNvSpPr txBox="1"/>
          <p:nvPr/>
        </p:nvSpPr>
        <p:spPr>
          <a:xfrm>
            <a:off x="7351776" y="470001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4. Output Format</a:t>
            </a:r>
            <a:endParaRPr lang="en-US" sz="1650" dirty="0"/>
          </a:p>
        </p:txBody>
      </p:sp>
      <p:sp>
        <p:nvSpPr>
          <p:cNvPr id="23" name="Text 17"/>
          <p:cNvSpPr txBox="1"/>
          <p:nvPr/>
        </p:nvSpPr>
        <p:spPr>
          <a:xfrm>
            <a:off x="6547104" y="546811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Do you need plain text, code, a spreadsheet, or an image?</a:t>
            </a:r>
            <a:endParaRPr lang="en-US" sz="1200" dirty="0"/>
          </a:p>
        </p:txBody>
      </p:sp>
      <p:sp>
        <p:nvSpPr>
          <p:cNvPr id="24" name="Text 18"/>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Part 4 · Choosing Wisely</a:t>
            </a:r>
            <a:endParaRPr lang="en-US" sz="950" dirty="0"/>
          </a:p>
        </p:txBody>
      </p:sp>
      <p:sp>
        <p:nvSpPr>
          <p:cNvPr id="25" name="Text 19"/>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47</a:t>
            </a:r>
            <a:endParaRPr lang="en-US" sz="9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4 · CHOOSING WISELY</a:t>
            </a:r>
            <a:endParaRPr lang="en-US" sz="1250" dirty="0"/>
          </a:p>
        </p:txBody>
      </p:sp>
      <p:sp>
        <p:nvSpPr>
          <p:cNvPr id="3" name="Text 1"/>
          <p:cNvSpPr txBox="1"/>
          <p:nvPr/>
        </p:nvSpPr>
        <p:spPr>
          <a:xfrm>
            <a:off x="548640" y="1371600"/>
            <a:ext cx="5486400" cy="274320"/>
          </a:xfrm>
          <a:prstGeom prst="rect">
            <a:avLst/>
          </a:prstGeom>
          <a:noFill/>
          <a:ln/>
        </p:spPr>
        <p:txBody>
          <a:bodyPr wrap="square" lIns="0" tIns="0" rIns="0" bIns="0" rtlCol="0" anchor="ctr"/>
          <a:lstStyle/>
          <a:p>
            <a:pPr marL="0" indent="0">
              <a:buNone/>
            </a:pPr>
            <a:r>
              <a:rPr lang="en-US" sz="1050" b="1" kern="0" spc="120" dirty="0">
                <a:solidFill>
                  <a:srgbClr val="8A94A0"/>
                </a:solidFill>
                <a:latin typeface="Calibri" pitchFamily="34" charset="0"/>
                <a:ea typeface="Calibri" pitchFamily="34" charset="-122"/>
                <a:cs typeface="Calibri" pitchFamily="34" charset="-120"/>
              </a:rPr>
              <a:t>CRITERION 1 OF 4</a:t>
            </a:r>
            <a:endParaRPr lang="en-US" sz="1050" dirty="0"/>
          </a:p>
        </p:txBody>
      </p:sp>
      <p:sp>
        <p:nvSpPr>
          <p:cNvPr id="4" name="Text 2"/>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Accuracy Needs</a:t>
            </a:r>
            <a:endParaRPr lang="en-US" sz="3200" dirty="0"/>
          </a:p>
        </p:txBody>
      </p:sp>
      <p:sp>
        <p:nvSpPr>
          <p:cNvPr id="5" name="Shape 3"/>
          <p:cNvSpPr/>
          <p:nvPr/>
        </p:nvSpPr>
        <p:spPr>
          <a:xfrm>
            <a:off x="9646920" y="777240"/>
            <a:ext cx="1737360" cy="1737360"/>
          </a:xfrm>
          <a:prstGeom prst="ellipse">
            <a:avLst/>
          </a:prstGeom>
          <a:solidFill>
            <a:srgbClr val="1C7293"/>
          </a:solidFill>
          <a:ln/>
        </p:spPr>
      </p:sp>
      <p:pic>
        <p:nvPicPr>
          <p:cNvPr id="6" name="Image 0" descr="icons/bullseye.png"/>
          <p:cNvPicPr>
            <a:picLocks noChangeAspect="1"/>
          </p:cNvPicPr>
          <p:nvPr/>
        </p:nvPicPr>
        <p:blipFill>
          <a:blip r:embed="rId3"/>
          <a:stretch>
            <a:fillRect/>
          </a:stretch>
        </p:blipFill>
        <p:spPr>
          <a:xfrm>
            <a:off x="10098634" y="1228954"/>
            <a:ext cx="833933" cy="833933"/>
          </a:xfrm>
          <a:prstGeom prst="rect">
            <a:avLst/>
          </a:prstGeom>
        </p:spPr>
      </p:pic>
      <p:sp>
        <p:nvSpPr>
          <p:cNvPr id="7" name="Shape 4"/>
          <p:cNvSpPr/>
          <p:nvPr/>
        </p:nvSpPr>
        <p:spPr>
          <a:xfrm>
            <a:off x="548640" y="2057400"/>
            <a:ext cx="10195560" cy="868680"/>
          </a:xfrm>
          <a:prstGeom prst="roundRect">
            <a:avLst>
              <a:gd name="adj" fmla="val 9474"/>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8" name="Text 5"/>
          <p:cNvSpPr txBox="1"/>
          <p:nvPr/>
        </p:nvSpPr>
        <p:spPr>
          <a:xfrm>
            <a:off x="868680" y="2057400"/>
            <a:ext cx="9509760" cy="868680"/>
          </a:xfrm>
          <a:prstGeom prst="rect">
            <a:avLst/>
          </a:prstGeom>
          <a:noFill/>
          <a:ln/>
        </p:spPr>
        <p:txBody>
          <a:bodyPr wrap="square" lIns="0" tIns="0" rIns="0" bIns="0" rtlCol="0" anchor="ctr"/>
          <a:lstStyle/>
          <a:p>
            <a:pPr marL="0" indent="0">
              <a:buNone/>
            </a:pPr>
            <a:r>
              <a:rPr lang="en-US" sz="1550" b="1" i="1" dirty="0">
                <a:solidFill>
                  <a:srgbClr val="1C7293"/>
                </a:solidFill>
                <a:latin typeface="Calibri" pitchFamily="34" charset="0"/>
                <a:ea typeface="Calibri" pitchFamily="34" charset="-122"/>
                <a:cs typeface="Calibri" pitchFamily="34" charset="-120"/>
              </a:rPr>
              <a:t>How much precision does this specific task really require?</a:t>
            </a:r>
            <a:endParaRPr lang="en-US" sz="1550" dirty="0"/>
          </a:p>
        </p:txBody>
      </p:sp>
      <p:sp>
        <p:nvSpPr>
          <p:cNvPr id="9" name="Shape 6"/>
          <p:cNvSpPr/>
          <p:nvPr/>
        </p:nvSpPr>
        <p:spPr>
          <a:xfrm>
            <a:off x="548640" y="3154680"/>
            <a:ext cx="5074920" cy="2971800"/>
          </a:xfrm>
          <a:prstGeom prst="roundRect">
            <a:avLst>
              <a:gd name="adj" fmla="val 2769"/>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Text 7"/>
          <p:cNvSpPr txBox="1"/>
          <p:nvPr/>
        </p:nvSpPr>
        <p:spPr>
          <a:xfrm>
            <a:off x="841248" y="3364992"/>
            <a:ext cx="45720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WHY IT MATTERS</a:t>
            </a:r>
            <a:endParaRPr lang="en-US" sz="1050" dirty="0"/>
          </a:p>
        </p:txBody>
      </p:sp>
      <p:sp>
        <p:nvSpPr>
          <p:cNvPr id="11" name="Text 8"/>
          <p:cNvSpPr txBox="1"/>
          <p:nvPr/>
        </p:nvSpPr>
        <p:spPr>
          <a:xfrm>
            <a:off x="841248" y="3694176"/>
            <a:ext cx="4526280" cy="2286000"/>
          </a:xfrm>
          <a:prstGeom prst="rect">
            <a:avLst/>
          </a:prstGeom>
          <a:noFill/>
          <a:ln/>
        </p:spPr>
        <p:txBody>
          <a:bodyPr wrap="square" lIns="0" tIns="0" rIns="0" bIns="0" rtlCol="0" anchor="t"/>
          <a:lstStyle/>
          <a:p>
            <a:pPr marL="0" indent="0">
              <a:lnSpc>
                <a:spcPct val="122000"/>
              </a:lnSpc>
              <a:buNone/>
            </a:pPr>
            <a:r>
              <a:rPr lang="en-US" sz="1300" dirty="0">
                <a:solidFill>
                  <a:srgbClr val="55606C"/>
                </a:solidFill>
                <a:latin typeface="Calibri" pitchFamily="34" charset="0"/>
                <a:ea typeface="Calibri" pitchFamily="34" charset="-122"/>
                <a:cs typeface="Calibri" pitchFamily="34" charset="-120"/>
              </a:rPr>
              <a:t>Not every task needs perfect accuracy. Brainstorming lecture examples tolerates minor imperfection, but generating exam answer keys, citations, or statistical results does not. Match your tool — and how much you verify its output — to the stakes involved.</a:t>
            </a:r>
            <a:endParaRPr lang="en-US" sz="1300" dirty="0"/>
          </a:p>
        </p:txBody>
      </p:sp>
      <p:sp>
        <p:nvSpPr>
          <p:cNvPr id="12" name="Shape 9"/>
          <p:cNvSpPr/>
          <p:nvPr/>
        </p:nvSpPr>
        <p:spPr>
          <a:xfrm>
            <a:off x="5852160" y="3154680"/>
            <a:ext cx="4892040" cy="2971800"/>
          </a:xfrm>
          <a:prstGeom prst="roundRect">
            <a:avLst>
              <a:gd name="adj" fmla="val 2769"/>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3" name="Text 10"/>
          <p:cNvSpPr txBox="1"/>
          <p:nvPr/>
        </p:nvSpPr>
        <p:spPr>
          <a:xfrm>
            <a:off x="6126480" y="3364992"/>
            <a:ext cx="438912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ASK YOURSELF</a:t>
            </a:r>
            <a:endParaRPr lang="en-US" sz="1050" dirty="0"/>
          </a:p>
        </p:txBody>
      </p:sp>
      <p:sp>
        <p:nvSpPr>
          <p:cNvPr id="14" name="Text 11"/>
          <p:cNvSpPr txBox="1"/>
          <p:nvPr/>
        </p:nvSpPr>
        <p:spPr>
          <a:xfrm>
            <a:off x="6126480" y="3694176"/>
            <a:ext cx="4526280" cy="22860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Is this output going directly to students or a publication?</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Would an error here cause real academic or ethical harm?</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Do I have time to fact-check the AI’s output carefully?</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Should a human expert review this before it is used?</a:t>
            </a:r>
            <a:endParaRPr lang="en-US" sz="1250" dirty="0"/>
          </a:p>
        </p:txBody>
      </p:sp>
      <p:sp>
        <p:nvSpPr>
          <p:cNvPr id="15" name="Text 12"/>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Choosing Wisely</a:t>
            </a:r>
            <a:endParaRPr lang="en-US" sz="950" dirty="0"/>
          </a:p>
        </p:txBody>
      </p:sp>
      <p:sp>
        <p:nvSpPr>
          <p:cNvPr id="16" name="Text 13"/>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48</a:t>
            </a:r>
            <a:endParaRPr lang="en-US" sz="9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4 · CHOOSING WISELY</a:t>
            </a:r>
            <a:endParaRPr lang="en-US" sz="1250" dirty="0"/>
          </a:p>
        </p:txBody>
      </p:sp>
      <p:sp>
        <p:nvSpPr>
          <p:cNvPr id="3" name="Text 1"/>
          <p:cNvSpPr txBox="1"/>
          <p:nvPr/>
        </p:nvSpPr>
        <p:spPr>
          <a:xfrm>
            <a:off x="548640" y="1371600"/>
            <a:ext cx="5486400" cy="274320"/>
          </a:xfrm>
          <a:prstGeom prst="rect">
            <a:avLst/>
          </a:prstGeom>
          <a:noFill/>
          <a:ln/>
        </p:spPr>
        <p:txBody>
          <a:bodyPr wrap="square" lIns="0" tIns="0" rIns="0" bIns="0" rtlCol="0" anchor="ctr"/>
          <a:lstStyle/>
          <a:p>
            <a:pPr marL="0" indent="0">
              <a:buNone/>
            </a:pPr>
            <a:r>
              <a:rPr lang="en-US" sz="1050" b="1" kern="0" spc="120" dirty="0">
                <a:solidFill>
                  <a:srgbClr val="8A94A0"/>
                </a:solidFill>
                <a:latin typeface="Calibri" pitchFamily="34" charset="0"/>
                <a:ea typeface="Calibri" pitchFamily="34" charset="-122"/>
                <a:cs typeface="Calibri" pitchFamily="34" charset="-120"/>
              </a:rPr>
              <a:t>CRITERION 2 OF 4</a:t>
            </a:r>
            <a:endParaRPr lang="en-US" sz="1050" dirty="0"/>
          </a:p>
        </p:txBody>
      </p:sp>
      <p:sp>
        <p:nvSpPr>
          <p:cNvPr id="4" name="Text 2"/>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Cost</a:t>
            </a:r>
            <a:endParaRPr lang="en-US" sz="3200" dirty="0"/>
          </a:p>
        </p:txBody>
      </p:sp>
      <p:sp>
        <p:nvSpPr>
          <p:cNvPr id="5" name="Shape 3"/>
          <p:cNvSpPr/>
          <p:nvPr/>
        </p:nvSpPr>
        <p:spPr>
          <a:xfrm>
            <a:off x="9646920" y="777240"/>
            <a:ext cx="1737360" cy="1737360"/>
          </a:xfrm>
          <a:prstGeom prst="ellipse">
            <a:avLst/>
          </a:prstGeom>
          <a:solidFill>
            <a:srgbClr val="1C7293"/>
          </a:solidFill>
          <a:ln/>
        </p:spPr>
      </p:sp>
      <p:pic>
        <p:nvPicPr>
          <p:cNvPr id="6" name="Image 0" descr="icons/dollar.png"/>
          <p:cNvPicPr>
            <a:picLocks noChangeAspect="1"/>
          </p:cNvPicPr>
          <p:nvPr/>
        </p:nvPicPr>
        <p:blipFill>
          <a:blip r:embed="rId3"/>
          <a:stretch>
            <a:fillRect/>
          </a:stretch>
        </p:blipFill>
        <p:spPr>
          <a:xfrm>
            <a:off x="10098634" y="1228954"/>
            <a:ext cx="833933" cy="833933"/>
          </a:xfrm>
          <a:prstGeom prst="rect">
            <a:avLst/>
          </a:prstGeom>
        </p:spPr>
      </p:pic>
      <p:sp>
        <p:nvSpPr>
          <p:cNvPr id="7" name="Shape 4"/>
          <p:cNvSpPr/>
          <p:nvPr/>
        </p:nvSpPr>
        <p:spPr>
          <a:xfrm>
            <a:off x="548640" y="2057400"/>
            <a:ext cx="10195560" cy="868680"/>
          </a:xfrm>
          <a:prstGeom prst="roundRect">
            <a:avLst>
              <a:gd name="adj" fmla="val 9474"/>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8" name="Text 5"/>
          <p:cNvSpPr txBox="1"/>
          <p:nvPr/>
        </p:nvSpPr>
        <p:spPr>
          <a:xfrm>
            <a:off x="868680" y="2057400"/>
            <a:ext cx="9509760" cy="868680"/>
          </a:xfrm>
          <a:prstGeom prst="rect">
            <a:avLst/>
          </a:prstGeom>
          <a:noFill/>
          <a:ln/>
        </p:spPr>
        <p:txBody>
          <a:bodyPr wrap="square" lIns="0" tIns="0" rIns="0" bIns="0" rtlCol="0" anchor="ctr"/>
          <a:lstStyle/>
          <a:p>
            <a:pPr marL="0" indent="0">
              <a:buNone/>
            </a:pPr>
            <a:r>
              <a:rPr lang="en-US" sz="1550" b="1" i="1" dirty="0">
                <a:solidFill>
                  <a:srgbClr val="1C7293"/>
                </a:solidFill>
                <a:latin typeface="Calibri" pitchFamily="34" charset="0"/>
                <a:ea typeface="Calibri" pitchFamily="34" charset="-122"/>
                <a:cs typeface="Calibri" pitchFamily="34" charset="-120"/>
              </a:rPr>
              <a:t>What is the real, ongoing cost of using this tool?</a:t>
            </a:r>
            <a:endParaRPr lang="en-US" sz="1550" dirty="0"/>
          </a:p>
        </p:txBody>
      </p:sp>
      <p:sp>
        <p:nvSpPr>
          <p:cNvPr id="9" name="Shape 6"/>
          <p:cNvSpPr/>
          <p:nvPr/>
        </p:nvSpPr>
        <p:spPr>
          <a:xfrm>
            <a:off x="548640" y="3154680"/>
            <a:ext cx="5074920" cy="2971800"/>
          </a:xfrm>
          <a:prstGeom prst="roundRect">
            <a:avLst>
              <a:gd name="adj" fmla="val 2769"/>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Text 7"/>
          <p:cNvSpPr txBox="1"/>
          <p:nvPr/>
        </p:nvSpPr>
        <p:spPr>
          <a:xfrm>
            <a:off x="841248" y="3364992"/>
            <a:ext cx="45720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WHY IT MATTERS</a:t>
            </a:r>
            <a:endParaRPr lang="en-US" sz="1050" dirty="0"/>
          </a:p>
        </p:txBody>
      </p:sp>
      <p:sp>
        <p:nvSpPr>
          <p:cNvPr id="11" name="Text 8"/>
          <p:cNvSpPr txBox="1"/>
          <p:nvPr/>
        </p:nvSpPr>
        <p:spPr>
          <a:xfrm>
            <a:off x="841248" y="3694176"/>
            <a:ext cx="4526280" cy="2286000"/>
          </a:xfrm>
          <a:prstGeom prst="rect">
            <a:avLst/>
          </a:prstGeom>
          <a:noFill/>
          <a:ln/>
        </p:spPr>
        <p:txBody>
          <a:bodyPr wrap="square" lIns="0" tIns="0" rIns="0" bIns="0" rtlCol="0" anchor="t"/>
          <a:lstStyle/>
          <a:p>
            <a:pPr marL="0" indent="0">
              <a:lnSpc>
                <a:spcPct val="122000"/>
              </a:lnSpc>
              <a:buNone/>
            </a:pPr>
            <a:r>
              <a:rPr lang="en-US" sz="1300" dirty="0">
                <a:solidFill>
                  <a:srgbClr val="55606C"/>
                </a:solidFill>
                <a:latin typeface="Calibri" pitchFamily="34" charset="0"/>
                <a:ea typeface="Calibri" pitchFamily="34" charset="-122"/>
                <a:cs typeface="Calibri" pitchFamily="34" charset="-120"/>
              </a:rPr>
              <a:t>Costs go beyond the sticker price: free tiers often have strict limits, subscriptions add up across a department, and usage-based tools (charged per request) can surprise you on a heavy research project. Compare cost to how often and how critically you will use the tool.</a:t>
            </a:r>
            <a:endParaRPr lang="en-US" sz="1300" dirty="0"/>
          </a:p>
        </p:txBody>
      </p:sp>
      <p:sp>
        <p:nvSpPr>
          <p:cNvPr id="12" name="Shape 9"/>
          <p:cNvSpPr/>
          <p:nvPr/>
        </p:nvSpPr>
        <p:spPr>
          <a:xfrm>
            <a:off x="5852160" y="3154680"/>
            <a:ext cx="4892040" cy="2971800"/>
          </a:xfrm>
          <a:prstGeom prst="roundRect">
            <a:avLst>
              <a:gd name="adj" fmla="val 2769"/>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3" name="Text 10"/>
          <p:cNvSpPr txBox="1"/>
          <p:nvPr/>
        </p:nvSpPr>
        <p:spPr>
          <a:xfrm>
            <a:off x="6126480" y="3364992"/>
            <a:ext cx="438912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ASK YOURSELF</a:t>
            </a:r>
            <a:endParaRPr lang="en-US" sz="1050" dirty="0"/>
          </a:p>
        </p:txBody>
      </p:sp>
      <p:sp>
        <p:nvSpPr>
          <p:cNvPr id="14" name="Text 11"/>
          <p:cNvSpPr txBox="1"/>
          <p:nvPr/>
        </p:nvSpPr>
        <p:spPr>
          <a:xfrm>
            <a:off x="6126480" y="3694176"/>
            <a:ext cx="4526280" cy="22860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Is there a genuinely usable free tier for my task?</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Does my institution already have a licence I can use?</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Is pricing a flat subscription, or usage-based (pay-per-use)?</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What is the cost of NOT using the tool — time saved?</a:t>
            </a:r>
            <a:endParaRPr lang="en-US" sz="1250" dirty="0"/>
          </a:p>
        </p:txBody>
      </p:sp>
      <p:sp>
        <p:nvSpPr>
          <p:cNvPr id="15" name="Text 12"/>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Choosing Wisely</a:t>
            </a:r>
            <a:endParaRPr lang="en-US" sz="950" dirty="0"/>
          </a:p>
        </p:txBody>
      </p:sp>
      <p:sp>
        <p:nvSpPr>
          <p:cNvPr id="16" name="Text 13"/>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49</a:t>
            </a:r>
            <a:endParaRPr lang="en-US" sz="9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4 · CHOOSING WISELY</a:t>
            </a:r>
            <a:endParaRPr lang="en-US" sz="1250" dirty="0"/>
          </a:p>
        </p:txBody>
      </p:sp>
      <p:sp>
        <p:nvSpPr>
          <p:cNvPr id="3" name="Text 1"/>
          <p:cNvSpPr txBox="1"/>
          <p:nvPr/>
        </p:nvSpPr>
        <p:spPr>
          <a:xfrm>
            <a:off x="548640" y="1371600"/>
            <a:ext cx="5486400" cy="274320"/>
          </a:xfrm>
          <a:prstGeom prst="rect">
            <a:avLst/>
          </a:prstGeom>
          <a:noFill/>
          <a:ln/>
        </p:spPr>
        <p:txBody>
          <a:bodyPr wrap="square" lIns="0" tIns="0" rIns="0" bIns="0" rtlCol="0" anchor="ctr"/>
          <a:lstStyle/>
          <a:p>
            <a:pPr marL="0" indent="0">
              <a:buNone/>
            </a:pPr>
            <a:r>
              <a:rPr lang="en-US" sz="1050" b="1" kern="0" spc="120" dirty="0">
                <a:solidFill>
                  <a:srgbClr val="8A94A0"/>
                </a:solidFill>
                <a:latin typeface="Calibri" pitchFamily="34" charset="0"/>
                <a:ea typeface="Calibri" pitchFamily="34" charset="-122"/>
                <a:cs typeface="Calibri" pitchFamily="34" charset="-120"/>
              </a:rPr>
              <a:t>CRITERION 3 OF 4</a:t>
            </a:r>
            <a:endParaRPr lang="en-US" sz="1050" dirty="0"/>
          </a:p>
        </p:txBody>
      </p:sp>
      <p:sp>
        <p:nvSpPr>
          <p:cNvPr id="4" name="Text 2"/>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Data Sensitivity</a:t>
            </a:r>
            <a:endParaRPr lang="en-US" sz="3200" dirty="0"/>
          </a:p>
        </p:txBody>
      </p:sp>
      <p:sp>
        <p:nvSpPr>
          <p:cNvPr id="5" name="Shape 3"/>
          <p:cNvSpPr/>
          <p:nvPr/>
        </p:nvSpPr>
        <p:spPr>
          <a:xfrm>
            <a:off x="9646920" y="777240"/>
            <a:ext cx="1737360" cy="1737360"/>
          </a:xfrm>
          <a:prstGeom prst="ellipse">
            <a:avLst/>
          </a:prstGeom>
          <a:solidFill>
            <a:srgbClr val="1C7293"/>
          </a:solidFill>
          <a:ln/>
        </p:spPr>
      </p:sp>
      <p:pic>
        <p:nvPicPr>
          <p:cNvPr id="6" name="Image 0" descr="icons/shield.png"/>
          <p:cNvPicPr>
            <a:picLocks noChangeAspect="1"/>
          </p:cNvPicPr>
          <p:nvPr/>
        </p:nvPicPr>
        <p:blipFill>
          <a:blip r:embed="rId3"/>
          <a:stretch>
            <a:fillRect/>
          </a:stretch>
        </p:blipFill>
        <p:spPr>
          <a:xfrm>
            <a:off x="10098634" y="1228954"/>
            <a:ext cx="833933" cy="833933"/>
          </a:xfrm>
          <a:prstGeom prst="rect">
            <a:avLst/>
          </a:prstGeom>
        </p:spPr>
      </p:pic>
      <p:sp>
        <p:nvSpPr>
          <p:cNvPr id="7" name="Shape 4"/>
          <p:cNvSpPr/>
          <p:nvPr/>
        </p:nvSpPr>
        <p:spPr>
          <a:xfrm>
            <a:off x="548640" y="2057400"/>
            <a:ext cx="10195560" cy="868680"/>
          </a:xfrm>
          <a:prstGeom prst="roundRect">
            <a:avLst>
              <a:gd name="adj" fmla="val 9474"/>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8" name="Text 5"/>
          <p:cNvSpPr txBox="1"/>
          <p:nvPr/>
        </p:nvSpPr>
        <p:spPr>
          <a:xfrm>
            <a:off x="868680" y="2057400"/>
            <a:ext cx="9509760" cy="868680"/>
          </a:xfrm>
          <a:prstGeom prst="rect">
            <a:avLst/>
          </a:prstGeom>
          <a:noFill/>
          <a:ln/>
        </p:spPr>
        <p:txBody>
          <a:bodyPr wrap="square" lIns="0" tIns="0" rIns="0" bIns="0" rtlCol="0" anchor="ctr"/>
          <a:lstStyle/>
          <a:p>
            <a:pPr marL="0" indent="0">
              <a:buNone/>
            </a:pPr>
            <a:r>
              <a:rPr lang="en-US" sz="1550" b="1" i="1" dirty="0">
                <a:solidFill>
                  <a:srgbClr val="1C7293"/>
                </a:solidFill>
                <a:latin typeface="Calibri" pitchFamily="34" charset="0"/>
                <a:ea typeface="Calibri" pitchFamily="34" charset="-122"/>
                <a:cs typeface="Calibri" pitchFamily="34" charset="-120"/>
              </a:rPr>
              <a:t>Does this task involve confidential or personal data?</a:t>
            </a:r>
            <a:endParaRPr lang="en-US" sz="1550" dirty="0"/>
          </a:p>
        </p:txBody>
      </p:sp>
      <p:sp>
        <p:nvSpPr>
          <p:cNvPr id="9" name="Shape 6"/>
          <p:cNvSpPr/>
          <p:nvPr/>
        </p:nvSpPr>
        <p:spPr>
          <a:xfrm>
            <a:off x="548640" y="3154680"/>
            <a:ext cx="5074920" cy="2971800"/>
          </a:xfrm>
          <a:prstGeom prst="roundRect">
            <a:avLst>
              <a:gd name="adj" fmla="val 2769"/>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Text 7"/>
          <p:cNvSpPr txBox="1"/>
          <p:nvPr/>
        </p:nvSpPr>
        <p:spPr>
          <a:xfrm>
            <a:off x="841248" y="3364992"/>
            <a:ext cx="45720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WHY IT MATTERS</a:t>
            </a:r>
            <a:endParaRPr lang="en-US" sz="1050" dirty="0"/>
          </a:p>
        </p:txBody>
      </p:sp>
      <p:sp>
        <p:nvSpPr>
          <p:cNvPr id="11" name="Text 8"/>
          <p:cNvSpPr txBox="1"/>
          <p:nvPr/>
        </p:nvSpPr>
        <p:spPr>
          <a:xfrm>
            <a:off x="841248" y="3694176"/>
            <a:ext cx="4526280" cy="2286000"/>
          </a:xfrm>
          <a:prstGeom prst="rect">
            <a:avLst/>
          </a:prstGeom>
          <a:noFill/>
          <a:ln/>
        </p:spPr>
        <p:txBody>
          <a:bodyPr wrap="square" lIns="0" tIns="0" rIns="0" bIns="0" rtlCol="0" anchor="t"/>
          <a:lstStyle/>
          <a:p>
            <a:pPr marL="0" indent="0">
              <a:lnSpc>
                <a:spcPct val="122000"/>
              </a:lnSpc>
              <a:buNone/>
            </a:pPr>
            <a:r>
              <a:rPr lang="en-US" sz="1300" dirty="0">
                <a:solidFill>
                  <a:srgbClr val="55606C"/>
                </a:solidFill>
                <a:latin typeface="Calibri" pitchFamily="34" charset="0"/>
                <a:ea typeface="Calibri" pitchFamily="34" charset="-122"/>
                <a:cs typeface="Calibri" pitchFamily="34" charset="-120"/>
              </a:rPr>
              <a:t>Student records, unpublished research, grades, and personal identifiers are sensitive. Many free AI tools may use your input to further train their models unless you opt out or use an enterprise/education agreement with stronger privacy protections.</a:t>
            </a:r>
            <a:endParaRPr lang="en-US" sz="1300" dirty="0"/>
          </a:p>
        </p:txBody>
      </p:sp>
      <p:sp>
        <p:nvSpPr>
          <p:cNvPr id="12" name="Shape 9"/>
          <p:cNvSpPr/>
          <p:nvPr/>
        </p:nvSpPr>
        <p:spPr>
          <a:xfrm>
            <a:off x="5852160" y="3154680"/>
            <a:ext cx="4892040" cy="2971800"/>
          </a:xfrm>
          <a:prstGeom prst="roundRect">
            <a:avLst>
              <a:gd name="adj" fmla="val 2769"/>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3" name="Text 10"/>
          <p:cNvSpPr txBox="1"/>
          <p:nvPr/>
        </p:nvSpPr>
        <p:spPr>
          <a:xfrm>
            <a:off x="6126480" y="3364992"/>
            <a:ext cx="438912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ASK YOURSELF</a:t>
            </a:r>
            <a:endParaRPr lang="en-US" sz="1050" dirty="0"/>
          </a:p>
        </p:txBody>
      </p:sp>
      <p:sp>
        <p:nvSpPr>
          <p:cNvPr id="14" name="Text 11"/>
          <p:cNvSpPr txBox="1"/>
          <p:nvPr/>
        </p:nvSpPr>
        <p:spPr>
          <a:xfrm>
            <a:off x="6126480" y="3694176"/>
            <a:ext cx="4526280" cy="22860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Does the input contain student names, grades, or IDs?</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Is this unpublished research data or a confidential grant?</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Does the tool’s policy allow opting out of training on my data?</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Does my institution have an approved/vetted AI tool list?</a:t>
            </a:r>
            <a:endParaRPr lang="en-US" sz="1250" dirty="0"/>
          </a:p>
        </p:txBody>
      </p:sp>
      <p:sp>
        <p:nvSpPr>
          <p:cNvPr id="15" name="Text 12"/>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Choosing Wisely</a:t>
            </a:r>
            <a:endParaRPr lang="en-US" sz="950" dirty="0"/>
          </a:p>
        </p:txBody>
      </p:sp>
      <p:sp>
        <p:nvSpPr>
          <p:cNvPr id="16" name="Text 13"/>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50</a:t>
            </a:r>
            <a:endParaRPr lang="en-US" sz="9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4 · CHOOSING WISELY</a:t>
            </a:r>
            <a:endParaRPr lang="en-US" sz="1250" dirty="0"/>
          </a:p>
        </p:txBody>
      </p:sp>
      <p:sp>
        <p:nvSpPr>
          <p:cNvPr id="3" name="Text 1"/>
          <p:cNvSpPr txBox="1"/>
          <p:nvPr/>
        </p:nvSpPr>
        <p:spPr>
          <a:xfrm>
            <a:off x="548640" y="1371600"/>
            <a:ext cx="5486400" cy="274320"/>
          </a:xfrm>
          <a:prstGeom prst="rect">
            <a:avLst/>
          </a:prstGeom>
          <a:noFill/>
          <a:ln/>
        </p:spPr>
        <p:txBody>
          <a:bodyPr wrap="square" lIns="0" tIns="0" rIns="0" bIns="0" rtlCol="0" anchor="ctr"/>
          <a:lstStyle/>
          <a:p>
            <a:pPr marL="0" indent="0">
              <a:buNone/>
            </a:pPr>
            <a:r>
              <a:rPr lang="en-US" sz="1050" b="1" kern="0" spc="120" dirty="0">
                <a:solidFill>
                  <a:srgbClr val="8A94A0"/>
                </a:solidFill>
                <a:latin typeface="Calibri" pitchFamily="34" charset="0"/>
                <a:ea typeface="Calibri" pitchFamily="34" charset="-122"/>
                <a:cs typeface="Calibri" pitchFamily="34" charset="-120"/>
              </a:rPr>
              <a:t>CRITERION 4 OF 4</a:t>
            </a:r>
            <a:endParaRPr lang="en-US" sz="1050" dirty="0"/>
          </a:p>
        </p:txBody>
      </p:sp>
      <p:sp>
        <p:nvSpPr>
          <p:cNvPr id="4" name="Text 2"/>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Output Format</a:t>
            </a:r>
            <a:endParaRPr lang="en-US" sz="3200" dirty="0"/>
          </a:p>
        </p:txBody>
      </p:sp>
      <p:sp>
        <p:nvSpPr>
          <p:cNvPr id="5" name="Shape 3"/>
          <p:cNvSpPr/>
          <p:nvPr/>
        </p:nvSpPr>
        <p:spPr>
          <a:xfrm>
            <a:off x="9646920" y="777240"/>
            <a:ext cx="1737360" cy="1737360"/>
          </a:xfrm>
          <a:prstGeom prst="ellipse">
            <a:avLst/>
          </a:prstGeom>
          <a:solidFill>
            <a:srgbClr val="1C7293"/>
          </a:solidFill>
          <a:ln/>
        </p:spPr>
      </p:sp>
      <p:pic>
        <p:nvPicPr>
          <p:cNvPr id="6" name="Image 0" descr="icons/fileexport.png"/>
          <p:cNvPicPr>
            <a:picLocks noChangeAspect="1"/>
          </p:cNvPicPr>
          <p:nvPr/>
        </p:nvPicPr>
        <p:blipFill>
          <a:blip r:embed="rId3"/>
          <a:stretch>
            <a:fillRect/>
          </a:stretch>
        </p:blipFill>
        <p:spPr>
          <a:xfrm>
            <a:off x="10098634" y="1228954"/>
            <a:ext cx="833933" cy="833933"/>
          </a:xfrm>
          <a:prstGeom prst="rect">
            <a:avLst/>
          </a:prstGeom>
        </p:spPr>
      </p:pic>
      <p:sp>
        <p:nvSpPr>
          <p:cNvPr id="7" name="Shape 4"/>
          <p:cNvSpPr/>
          <p:nvPr/>
        </p:nvSpPr>
        <p:spPr>
          <a:xfrm>
            <a:off x="548640" y="2057400"/>
            <a:ext cx="10195560" cy="868680"/>
          </a:xfrm>
          <a:prstGeom prst="roundRect">
            <a:avLst>
              <a:gd name="adj" fmla="val 9474"/>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8" name="Text 5"/>
          <p:cNvSpPr txBox="1"/>
          <p:nvPr/>
        </p:nvSpPr>
        <p:spPr>
          <a:xfrm>
            <a:off x="868680" y="2057400"/>
            <a:ext cx="9509760" cy="868680"/>
          </a:xfrm>
          <a:prstGeom prst="rect">
            <a:avLst/>
          </a:prstGeom>
          <a:noFill/>
          <a:ln/>
        </p:spPr>
        <p:txBody>
          <a:bodyPr wrap="square" lIns="0" tIns="0" rIns="0" bIns="0" rtlCol="0" anchor="ctr"/>
          <a:lstStyle/>
          <a:p>
            <a:pPr marL="0" indent="0">
              <a:buNone/>
            </a:pPr>
            <a:r>
              <a:rPr lang="en-US" sz="1550" b="1" i="1" dirty="0">
                <a:solidFill>
                  <a:srgbClr val="1C7293"/>
                </a:solidFill>
                <a:latin typeface="Calibri" pitchFamily="34" charset="0"/>
                <a:ea typeface="Calibri" pitchFamily="34" charset="-122"/>
                <a:cs typeface="Calibri" pitchFamily="34" charset="-120"/>
              </a:rPr>
              <a:t>What format do you actually need the result in?</a:t>
            </a:r>
            <a:endParaRPr lang="en-US" sz="1550" dirty="0"/>
          </a:p>
        </p:txBody>
      </p:sp>
      <p:sp>
        <p:nvSpPr>
          <p:cNvPr id="9" name="Shape 6"/>
          <p:cNvSpPr/>
          <p:nvPr/>
        </p:nvSpPr>
        <p:spPr>
          <a:xfrm>
            <a:off x="548640" y="3154680"/>
            <a:ext cx="5074920" cy="2971800"/>
          </a:xfrm>
          <a:prstGeom prst="roundRect">
            <a:avLst>
              <a:gd name="adj" fmla="val 2769"/>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Text 7"/>
          <p:cNvSpPr txBox="1"/>
          <p:nvPr/>
        </p:nvSpPr>
        <p:spPr>
          <a:xfrm>
            <a:off x="841248" y="3364992"/>
            <a:ext cx="45720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WHY IT MATTERS</a:t>
            </a:r>
            <a:endParaRPr lang="en-US" sz="1050" dirty="0"/>
          </a:p>
        </p:txBody>
      </p:sp>
      <p:sp>
        <p:nvSpPr>
          <p:cNvPr id="11" name="Text 8"/>
          <p:cNvSpPr txBox="1"/>
          <p:nvPr/>
        </p:nvSpPr>
        <p:spPr>
          <a:xfrm>
            <a:off x="841248" y="3694176"/>
            <a:ext cx="4526280" cy="2286000"/>
          </a:xfrm>
          <a:prstGeom prst="rect">
            <a:avLst/>
          </a:prstGeom>
          <a:noFill/>
          <a:ln/>
        </p:spPr>
        <p:txBody>
          <a:bodyPr wrap="square" lIns="0" tIns="0" rIns="0" bIns="0" rtlCol="0" anchor="t"/>
          <a:lstStyle/>
          <a:p>
            <a:pPr marL="0" indent="0">
              <a:lnSpc>
                <a:spcPct val="122000"/>
              </a:lnSpc>
              <a:buNone/>
            </a:pPr>
            <a:r>
              <a:rPr lang="en-US" sz="1300" dirty="0">
                <a:solidFill>
                  <a:srgbClr val="55606C"/>
                </a:solidFill>
                <a:latin typeface="Calibri" pitchFamily="34" charset="0"/>
                <a:ea typeface="Calibri" pitchFamily="34" charset="-122"/>
                <a:cs typeface="Calibri" pitchFamily="34" charset="-120"/>
              </a:rPr>
              <a:t>A brilliant answer in the wrong format wastes time. If you need a working spreadsheet, a conversational chatbot answer that you must manually reformat is inefficient — a dedicated data or productivity tool will save more time overall.</a:t>
            </a:r>
            <a:endParaRPr lang="en-US" sz="1300" dirty="0"/>
          </a:p>
        </p:txBody>
      </p:sp>
      <p:sp>
        <p:nvSpPr>
          <p:cNvPr id="12" name="Shape 9"/>
          <p:cNvSpPr/>
          <p:nvPr/>
        </p:nvSpPr>
        <p:spPr>
          <a:xfrm>
            <a:off x="5852160" y="3154680"/>
            <a:ext cx="4892040" cy="2971800"/>
          </a:xfrm>
          <a:prstGeom prst="roundRect">
            <a:avLst>
              <a:gd name="adj" fmla="val 2769"/>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3" name="Text 10"/>
          <p:cNvSpPr txBox="1"/>
          <p:nvPr/>
        </p:nvSpPr>
        <p:spPr>
          <a:xfrm>
            <a:off x="6126480" y="3364992"/>
            <a:ext cx="438912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ASK YOURSELF</a:t>
            </a:r>
            <a:endParaRPr lang="en-US" sz="1050" dirty="0"/>
          </a:p>
        </p:txBody>
      </p:sp>
      <p:sp>
        <p:nvSpPr>
          <p:cNvPr id="14" name="Text 11"/>
          <p:cNvSpPr txBox="1"/>
          <p:nvPr/>
        </p:nvSpPr>
        <p:spPr>
          <a:xfrm>
            <a:off x="6126480" y="3694176"/>
            <a:ext cx="4526280" cy="22860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Do I need plain text, a table, a chart, code, or an image?</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Does the tool export directly to the format I need (e.g. .xlsx)?</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Will I need to heavily reformat the AI’s raw output?</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Does the tool integrate with the software I already use?</a:t>
            </a:r>
            <a:endParaRPr lang="en-US" sz="1250" dirty="0"/>
          </a:p>
        </p:txBody>
      </p:sp>
      <p:sp>
        <p:nvSpPr>
          <p:cNvPr id="15" name="Text 12"/>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Choosing Wisely</a:t>
            </a:r>
            <a:endParaRPr lang="en-US" sz="950" dirty="0"/>
          </a:p>
        </p:txBody>
      </p:sp>
      <p:sp>
        <p:nvSpPr>
          <p:cNvPr id="16" name="Text 13"/>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51</a:t>
            </a:r>
            <a:endParaRPr lang="en-US" sz="9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4 · CHOOSING WISELY</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Worked Example: Choosing a Tool for Grading Support</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400" i="1" dirty="0">
                <a:solidFill>
                  <a:srgbClr val="8A94A0"/>
                </a:solidFill>
                <a:latin typeface="Calibri" pitchFamily="34" charset="0"/>
                <a:ea typeface="Calibri" pitchFamily="34" charset="-122"/>
                <a:cs typeface="Calibri" pitchFamily="34" charset="-120"/>
              </a:rPr>
              <a:t>Applying all four criteria to a real academic task.</a:t>
            </a:r>
            <a:endParaRPr lang="en-US" sz="14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91672" cy="2514600"/>
        </p:xfrm>
        <a:graphic>
          <a:graphicData uri="http://schemas.openxmlformats.org/drawingml/2006/table">
            <a:tbl>
              <a:tblPr/>
              <a:tblGrid>
                <a:gridCol w="2560320"/>
                <a:gridCol w="5330952"/>
                <a:gridCol w="3200400"/>
              </a:tblGrid>
              <a:tr h="502920">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Criterion</a:t>
                      </a:r>
                      <a:endParaRPr lang="en-US" sz="115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1B2A4A"/>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Consideration</a:t>
                      </a:r>
                      <a:endParaRPr lang="en-US" sz="115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1B2A4A"/>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Resulting choice</a:t>
                      </a:r>
                      <a:endParaRPr lang="en-US" sz="115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1B2A4A"/>
                    </a:solidFill>
                  </a:tcPr>
                </a:tc>
              </a:tr>
              <a:tr h="502920">
                <a:tc>
                  <a:txBody>
                    <a:bodyPr/>
                    <a:lstStyle/>
                    <a:p>
                      <a:pPr marL="0" indent="0" algn="l">
                        <a:buNone/>
                      </a:pPr>
                      <a:r>
                        <a:rPr lang="en-US" sz="1100" b="1" dirty="0">
                          <a:solidFill>
                            <a:srgbClr val="1B2A4A"/>
                          </a:solidFill>
                          <a:latin typeface="Calibri" pitchFamily="34" charset="0"/>
                          <a:ea typeface="Calibri" pitchFamily="34" charset="-122"/>
                          <a:cs typeface="Calibri" pitchFamily="34" charset="-120"/>
                        </a:rPr>
                        <a:t>Accuracy</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Feedback goes directly to students</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Use AI as a draft only; instructor reviews every comment</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r>
              <a:tr h="502920">
                <a:tc>
                  <a:txBody>
                    <a:bodyPr/>
                    <a:lstStyle/>
                    <a:p>
                      <a:pPr marL="0" indent="0" algn="l">
                        <a:buNone/>
                      </a:pPr>
                      <a:r>
                        <a:rPr lang="en-US" sz="1100" b="1" dirty="0">
                          <a:solidFill>
                            <a:srgbClr val="1B2A4A"/>
                          </a:solidFill>
                          <a:latin typeface="Calibri" pitchFamily="34" charset="0"/>
                          <a:ea typeface="Calibri" pitchFamily="34" charset="-122"/>
                          <a:cs typeface="Calibri" pitchFamily="34" charset="-120"/>
                        </a:rPr>
                        <a:t>Cost</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EFF6F7"/>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Grading happens every semester, at scale</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EFF6F7"/>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Choose an institutionally licensed tool, not personal free tier</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EFF6F7"/>
                    </a:solidFill>
                  </a:tcPr>
                </a:tc>
              </a:tr>
              <a:tr h="502920">
                <a:tc>
                  <a:txBody>
                    <a:bodyPr/>
                    <a:lstStyle/>
                    <a:p>
                      <a:pPr marL="0" indent="0" algn="l">
                        <a:buNone/>
                      </a:pPr>
                      <a:r>
                        <a:rPr lang="en-US" sz="1100" b="1" dirty="0">
                          <a:solidFill>
                            <a:srgbClr val="1B2A4A"/>
                          </a:solidFill>
                          <a:latin typeface="Calibri" pitchFamily="34" charset="0"/>
                          <a:ea typeface="Calibri" pitchFamily="34" charset="-122"/>
                          <a:cs typeface="Calibri" pitchFamily="34" charset="-120"/>
                        </a:rPr>
                        <a:t>Data sensitivity</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Essays contain student names</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Use an enterprise/education tool with a no-training data policy</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r>
              <a:tr h="502920">
                <a:tc>
                  <a:txBody>
                    <a:bodyPr/>
                    <a:lstStyle/>
                    <a:p>
                      <a:pPr marL="0" indent="0" algn="l">
                        <a:buNone/>
                      </a:pPr>
                      <a:r>
                        <a:rPr lang="en-US" sz="1100" b="1" dirty="0">
                          <a:solidFill>
                            <a:srgbClr val="1B2A4A"/>
                          </a:solidFill>
                          <a:latin typeface="Calibri" pitchFamily="34" charset="0"/>
                          <a:ea typeface="Calibri" pitchFamily="34" charset="-122"/>
                          <a:cs typeface="Calibri" pitchFamily="34" charset="-120"/>
                        </a:rPr>
                        <a:t>Output format</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EFF6F7"/>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Feedback must go into the LMS gradebook</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EFF6F7"/>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Pick a tool that exports or integrates with the LMS directly</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EFF6F7"/>
                    </a:solidFill>
                  </a:tcPr>
                </a:tc>
              </a:tr>
            </a:tbl>
          </a:graphicData>
        </a:graphic>
      </p:graphicFrame>
      <p:sp>
        <p:nvSpPr>
          <p:cNvPr id="6" name="Text 3"/>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Choosing Wisely</a:t>
            </a:r>
            <a:endParaRPr lang="en-US" sz="950" dirty="0"/>
          </a:p>
        </p:txBody>
      </p:sp>
      <p:sp>
        <p:nvSpPr>
          <p:cNvPr id="7" name="Text 4"/>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52</a:t>
            </a:r>
            <a:endParaRPr lang="en-US" sz="9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4 · QUICK CHECK</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Discussion Prompt</a:t>
            </a:r>
            <a:endParaRPr lang="en-US" sz="3200" dirty="0"/>
          </a:p>
        </p:txBody>
      </p:sp>
      <p:sp>
        <p:nvSpPr>
          <p:cNvPr id="4" name="Shape 2"/>
          <p:cNvSpPr/>
          <p:nvPr/>
        </p:nvSpPr>
        <p:spPr>
          <a:xfrm>
            <a:off x="548640" y="2103120"/>
            <a:ext cx="10195560" cy="3566160"/>
          </a:xfrm>
          <a:prstGeom prst="roundRect">
            <a:avLst>
              <a:gd name="adj" fmla="val 230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5" name="Shape 3"/>
          <p:cNvSpPr/>
          <p:nvPr/>
        </p:nvSpPr>
        <p:spPr>
          <a:xfrm>
            <a:off x="5193792" y="2514600"/>
            <a:ext cx="1097280" cy="1097280"/>
          </a:xfrm>
          <a:prstGeom prst="ellipse">
            <a:avLst/>
          </a:prstGeom>
          <a:solidFill>
            <a:srgbClr val="1C7293"/>
          </a:solidFill>
          <a:ln/>
        </p:spPr>
      </p:sp>
      <p:pic>
        <p:nvPicPr>
          <p:cNvPr id="6" name="Image 0" descr="icons/question.png"/>
          <p:cNvPicPr>
            <a:picLocks noChangeAspect="1"/>
          </p:cNvPicPr>
          <p:nvPr/>
        </p:nvPicPr>
        <p:blipFill>
          <a:blip r:embed="rId3"/>
          <a:stretch>
            <a:fillRect/>
          </a:stretch>
        </p:blipFill>
        <p:spPr>
          <a:xfrm>
            <a:off x="5479085" y="2799893"/>
            <a:ext cx="526694" cy="526694"/>
          </a:xfrm>
          <a:prstGeom prst="rect">
            <a:avLst/>
          </a:prstGeom>
        </p:spPr>
      </p:pic>
      <p:sp>
        <p:nvSpPr>
          <p:cNvPr id="7" name="Text 4"/>
          <p:cNvSpPr txBox="1"/>
          <p:nvPr/>
        </p:nvSpPr>
        <p:spPr>
          <a:xfrm>
            <a:off x="1188720" y="3794760"/>
            <a:ext cx="9829800" cy="1005840"/>
          </a:xfrm>
          <a:prstGeom prst="rect">
            <a:avLst/>
          </a:prstGeom>
          <a:noFill/>
          <a:ln/>
        </p:spPr>
        <p:txBody>
          <a:bodyPr wrap="square" lIns="0" tIns="0" rIns="0" bIns="0" rtlCol="0" anchor="ctr"/>
          <a:lstStyle/>
          <a:p>
            <a:pPr marL="0" indent="0" algn="ctr">
              <a:lnSpc>
                <a:spcPct val="120000"/>
              </a:lnSpc>
              <a:buNone/>
            </a:pPr>
            <a:r>
              <a:rPr lang="en-US" sz="1900" b="1" i="1" dirty="0">
                <a:solidFill>
                  <a:srgbClr val="1B2A4A"/>
                </a:solidFill>
                <a:latin typeface="Cambria" pitchFamily="34" charset="0"/>
                <a:ea typeface="Cambria" pitchFamily="34" charset="-122"/>
                <a:cs typeface="Cambria" pitchFamily="34" charset="-120"/>
              </a:rPr>
              <a:t>“Think of one task on your desk right now. Walk through all four criteria — what tool choice do they point to?”</a:t>
            </a:r>
            <a:endParaRPr lang="en-US" sz="1900" dirty="0"/>
          </a:p>
        </p:txBody>
      </p:sp>
      <p:sp>
        <p:nvSpPr>
          <p:cNvPr id="8" name="Text 5"/>
          <p:cNvSpPr txBox="1"/>
          <p:nvPr/>
        </p:nvSpPr>
        <p:spPr>
          <a:xfrm>
            <a:off x="1645920" y="4846320"/>
            <a:ext cx="8915400" cy="640080"/>
          </a:xfrm>
          <a:prstGeom prst="rect">
            <a:avLst/>
          </a:prstGeom>
          <a:noFill/>
          <a:ln/>
        </p:spPr>
        <p:txBody>
          <a:bodyPr wrap="square" lIns="0" tIns="0" rIns="0" bIns="0" rtlCol="0" anchor="ctr"/>
          <a:lstStyle/>
          <a:p>
            <a:pPr marL="0" indent="0" algn="ctr">
              <a:lnSpc>
                <a:spcPct val="120000"/>
              </a:lnSpc>
              <a:buNone/>
            </a:pPr>
            <a:r>
              <a:rPr lang="en-US" sz="1250" dirty="0">
                <a:solidFill>
                  <a:srgbClr val="8A94A0"/>
                </a:solidFill>
                <a:latin typeface="Calibri" pitchFamily="34" charset="0"/>
                <a:ea typeface="Calibri" pitchFamily="34" charset="-122"/>
                <a:cs typeface="Calibri" pitchFamily="34" charset="-120"/>
              </a:rPr>
              <a:t>Say your answer out loud to a neighbour: accuracy needed, likely cost, data sensitivity, and the output format you actually need.</a:t>
            </a:r>
            <a:endParaRPr lang="en-US" sz="1250" dirty="0"/>
          </a:p>
        </p:txBody>
      </p:sp>
      <p:sp>
        <p:nvSpPr>
          <p:cNvPr id="9" name="Text 6"/>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Choosing Wisely</a:t>
            </a:r>
            <a:endParaRPr lang="en-US" sz="950" dirty="0"/>
          </a:p>
        </p:txBody>
      </p:sp>
      <p:sp>
        <p:nvSpPr>
          <p:cNvPr id="10" name="Text 7"/>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53</a:t>
            </a:r>
            <a:endParaRPr lang="en-US" sz="9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0058400" y="-1645920"/>
            <a:ext cx="4114800" cy="4114800"/>
          </a:xfrm>
          <a:prstGeom prst="ellipse">
            <a:avLst/>
          </a:prstGeom>
          <a:solidFill>
            <a:srgbClr val="233A63"/>
          </a:solidFill>
          <a:ln/>
        </p:spPr>
      </p:sp>
      <p:sp>
        <p:nvSpPr>
          <p:cNvPr id="3" name="Text 1"/>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9FD6E8"/>
                </a:solidFill>
                <a:latin typeface="Calibri" pitchFamily="34" charset="0"/>
                <a:ea typeface="Calibri" pitchFamily="34" charset="-122"/>
                <a:cs typeface="Calibri" pitchFamily="34" charset="-120"/>
              </a:rPr>
              <a:t>PART 4 RECAP</a:t>
            </a:r>
            <a:endParaRPr lang="en-US" sz="1250" dirty="0"/>
          </a:p>
        </p:txBody>
      </p:sp>
      <p:sp>
        <p:nvSpPr>
          <p:cNvPr id="4" name="Text 2"/>
          <p:cNvSpPr txBox="1"/>
          <p:nvPr/>
        </p:nvSpPr>
        <p:spPr>
          <a:xfrm>
            <a:off x="548640" y="731520"/>
            <a:ext cx="10607040" cy="8229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Key Takeaways: Choosing the Right Tool</a:t>
            </a:r>
            <a:endParaRPr lang="en-US" sz="3000" dirty="0"/>
          </a:p>
        </p:txBody>
      </p:sp>
      <p:sp>
        <p:nvSpPr>
          <p:cNvPr id="5" name="Shape 3"/>
          <p:cNvSpPr/>
          <p:nvPr/>
        </p:nvSpPr>
        <p:spPr>
          <a:xfrm>
            <a:off x="10149840" y="502920"/>
            <a:ext cx="1051560" cy="1051560"/>
          </a:xfrm>
          <a:prstGeom prst="ellipse">
            <a:avLst/>
          </a:prstGeom>
          <a:solidFill>
            <a:srgbClr val="1C7293"/>
          </a:solidFill>
          <a:ln/>
        </p:spPr>
      </p:sp>
      <p:pic>
        <p:nvPicPr>
          <p:cNvPr id="6" name="Image 0" descr="icons/balance.png"/>
          <p:cNvPicPr>
            <a:picLocks noChangeAspect="1"/>
          </p:cNvPicPr>
          <p:nvPr/>
        </p:nvPicPr>
        <p:blipFill>
          <a:blip r:embed="rId3"/>
          <a:stretch>
            <a:fillRect/>
          </a:stretch>
        </p:blipFill>
        <p:spPr>
          <a:xfrm>
            <a:off x="10423246" y="776326"/>
            <a:ext cx="504749" cy="504749"/>
          </a:xfrm>
          <a:prstGeom prst="rect">
            <a:avLst/>
          </a:prstGeom>
        </p:spPr>
      </p:pic>
      <p:sp>
        <p:nvSpPr>
          <p:cNvPr id="7" name="Shape 4"/>
          <p:cNvSpPr/>
          <p:nvPr/>
        </p:nvSpPr>
        <p:spPr>
          <a:xfrm>
            <a:off x="548640" y="1965960"/>
            <a:ext cx="5408676" cy="1965960"/>
          </a:xfrm>
          <a:prstGeom prst="roundRect">
            <a:avLst>
              <a:gd name="adj" fmla="val 3721"/>
            </a:avLst>
          </a:prstGeom>
          <a:solidFill>
            <a:srgbClr val="233A63"/>
          </a:solidFill>
          <a:ln/>
        </p:spPr>
      </p:sp>
      <p:sp>
        <p:nvSpPr>
          <p:cNvPr id="8" name="Shape 5"/>
          <p:cNvSpPr/>
          <p:nvPr/>
        </p:nvSpPr>
        <p:spPr>
          <a:xfrm>
            <a:off x="804672" y="2221992"/>
            <a:ext cx="457200" cy="457200"/>
          </a:xfrm>
          <a:prstGeom prst="ellipse">
            <a:avLst/>
          </a:prstGeom>
          <a:solidFill>
            <a:srgbClr val="1C7293"/>
          </a:solidFill>
          <a:ln/>
        </p:spPr>
      </p:sp>
      <p:pic>
        <p:nvPicPr>
          <p:cNvPr id="9" name="Image 1" descr="icons/bullseye.png"/>
          <p:cNvPicPr>
            <a:picLocks noChangeAspect="1"/>
          </p:cNvPicPr>
          <p:nvPr/>
        </p:nvPicPr>
        <p:blipFill>
          <a:blip r:embed="rId4"/>
          <a:stretch>
            <a:fillRect/>
          </a:stretch>
        </p:blipFill>
        <p:spPr>
          <a:xfrm>
            <a:off x="896112" y="2313432"/>
            <a:ext cx="274320" cy="274320"/>
          </a:xfrm>
          <a:prstGeom prst="rect">
            <a:avLst/>
          </a:prstGeom>
        </p:spPr>
      </p:pic>
      <p:sp>
        <p:nvSpPr>
          <p:cNvPr id="10" name="Text 6"/>
          <p:cNvSpPr txBox="1"/>
          <p:nvPr/>
        </p:nvSpPr>
        <p:spPr>
          <a:xfrm>
            <a:off x="1417320" y="2185416"/>
            <a:ext cx="4265676"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Match accuracy to stakes</a:t>
            </a:r>
            <a:endParaRPr lang="en-US" sz="1450" dirty="0"/>
          </a:p>
        </p:txBody>
      </p:sp>
      <p:sp>
        <p:nvSpPr>
          <p:cNvPr id="11" name="Text 7"/>
          <p:cNvSpPr txBox="1"/>
          <p:nvPr/>
        </p:nvSpPr>
        <p:spPr>
          <a:xfrm>
            <a:off x="804672" y="2788920"/>
            <a:ext cx="4896612" cy="960120"/>
          </a:xfrm>
          <a:prstGeom prst="rect">
            <a:avLst/>
          </a:prstGeom>
          <a:noFill/>
          <a:ln/>
        </p:spPr>
        <p:txBody>
          <a:bodyPr wrap="square" lIns="0" tIns="0" rIns="0" bIns="0"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Higher-stakes tasks need more verification, not necessarily a "better" tool.</a:t>
            </a:r>
            <a:endParaRPr lang="en-US" sz="1150" dirty="0"/>
          </a:p>
        </p:txBody>
      </p:sp>
      <p:sp>
        <p:nvSpPr>
          <p:cNvPr id="12" name="Shape 8"/>
          <p:cNvSpPr/>
          <p:nvPr/>
        </p:nvSpPr>
        <p:spPr>
          <a:xfrm>
            <a:off x="6231636" y="1965960"/>
            <a:ext cx="5408676" cy="1965960"/>
          </a:xfrm>
          <a:prstGeom prst="roundRect">
            <a:avLst>
              <a:gd name="adj" fmla="val 3721"/>
            </a:avLst>
          </a:prstGeom>
          <a:solidFill>
            <a:srgbClr val="233A63"/>
          </a:solidFill>
          <a:ln/>
        </p:spPr>
      </p:sp>
      <p:sp>
        <p:nvSpPr>
          <p:cNvPr id="13" name="Shape 9"/>
          <p:cNvSpPr/>
          <p:nvPr/>
        </p:nvSpPr>
        <p:spPr>
          <a:xfrm>
            <a:off x="6487668" y="2221992"/>
            <a:ext cx="457200" cy="457200"/>
          </a:xfrm>
          <a:prstGeom prst="ellipse">
            <a:avLst/>
          </a:prstGeom>
          <a:solidFill>
            <a:srgbClr val="1C7293"/>
          </a:solidFill>
          <a:ln/>
        </p:spPr>
      </p:sp>
      <p:pic>
        <p:nvPicPr>
          <p:cNvPr id="14" name="Image 2" descr="icons/dollar.png"/>
          <p:cNvPicPr>
            <a:picLocks noChangeAspect="1"/>
          </p:cNvPicPr>
          <p:nvPr/>
        </p:nvPicPr>
        <p:blipFill>
          <a:blip r:embed="rId5"/>
          <a:stretch>
            <a:fillRect/>
          </a:stretch>
        </p:blipFill>
        <p:spPr>
          <a:xfrm>
            <a:off x="6579108" y="2313432"/>
            <a:ext cx="274320" cy="274320"/>
          </a:xfrm>
          <a:prstGeom prst="rect">
            <a:avLst/>
          </a:prstGeom>
        </p:spPr>
      </p:pic>
      <p:sp>
        <p:nvSpPr>
          <p:cNvPr id="15" name="Text 10"/>
          <p:cNvSpPr txBox="1"/>
          <p:nvPr/>
        </p:nvSpPr>
        <p:spPr>
          <a:xfrm>
            <a:off x="7100316" y="2185416"/>
            <a:ext cx="4265676"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Look beyond the price tag</a:t>
            </a:r>
            <a:endParaRPr lang="en-US" sz="1450" dirty="0"/>
          </a:p>
        </p:txBody>
      </p:sp>
      <p:sp>
        <p:nvSpPr>
          <p:cNvPr id="16" name="Text 11"/>
          <p:cNvSpPr txBox="1"/>
          <p:nvPr/>
        </p:nvSpPr>
        <p:spPr>
          <a:xfrm>
            <a:off x="6487668" y="2788920"/>
            <a:ext cx="4896612" cy="960120"/>
          </a:xfrm>
          <a:prstGeom prst="rect">
            <a:avLst/>
          </a:prstGeom>
          <a:noFill/>
          <a:ln/>
        </p:spPr>
        <p:txBody>
          <a:bodyPr wrap="square" lIns="0" tIns="0" rIns="0" bIns="0"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Check institutional licences before paying personally for a subscription.</a:t>
            </a:r>
            <a:endParaRPr lang="en-US" sz="1150" dirty="0"/>
          </a:p>
        </p:txBody>
      </p:sp>
      <p:sp>
        <p:nvSpPr>
          <p:cNvPr id="17" name="Shape 12"/>
          <p:cNvSpPr/>
          <p:nvPr/>
        </p:nvSpPr>
        <p:spPr>
          <a:xfrm>
            <a:off x="548640" y="4206240"/>
            <a:ext cx="5408676" cy="1965960"/>
          </a:xfrm>
          <a:prstGeom prst="roundRect">
            <a:avLst>
              <a:gd name="adj" fmla="val 3721"/>
            </a:avLst>
          </a:prstGeom>
          <a:solidFill>
            <a:srgbClr val="233A63"/>
          </a:solidFill>
          <a:ln/>
        </p:spPr>
      </p:sp>
      <p:sp>
        <p:nvSpPr>
          <p:cNvPr id="18" name="Shape 13"/>
          <p:cNvSpPr/>
          <p:nvPr/>
        </p:nvSpPr>
        <p:spPr>
          <a:xfrm>
            <a:off x="804672" y="4462272"/>
            <a:ext cx="457200" cy="457200"/>
          </a:xfrm>
          <a:prstGeom prst="ellipse">
            <a:avLst/>
          </a:prstGeom>
          <a:solidFill>
            <a:srgbClr val="1C7293"/>
          </a:solidFill>
          <a:ln/>
        </p:spPr>
      </p:sp>
      <p:pic>
        <p:nvPicPr>
          <p:cNvPr id="19" name="Image 3" descr="icons/shield.png"/>
          <p:cNvPicPr>
            <a:picLocks noChangeAspect="1"/>
          </p:cNvPicPr>
          <p:nvPr/>
        </p:nvPicPr>
        <p:blipFill>
          <a:blip r:embed="rId6"/>
          <a:stretch>
            <a:fillRect/>
          </a:stretch>
        </p:blipFill>
        <p:spPr>
          <a:xfrm>
            <a:off x="896112" y="4553712"/>
            <a:ext cx="274320" cy="274320"/>
          </a:xfrm>
          <a:prstGeom prst="rect">
            <a:avLst/>
          </a:prstGeom>
        </p:spPr>
      </p:pic>
      <p:sp>
        <p:nvSpPr>
          <p:cNvPr id="20" name="Text 14"/>
          <p:cNvSpPr txBox="1"/>
          <p:nvPr/>
        </p:nvSpPr>
        <p:spPr>
          <a:xfrm>
            <a:off x="1417320" y="4425696"/>
            <a:ext cx="4265676"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Protect sensitive data first</a:t>
            </a:r>
            <a:endParaRPr lang="en-US" sz="1450" dirty="0"/>
          </a:p>
        </p:txBody>
      </p:sp>
      <p:sp>
        <p:nvSpPr>
          <p:cNvPr id="21" name="Text 15"/>
          <p:cNvSpPr txBox="1"/>
          <p:nvPr/>
        </p:nvSpPr>
        <p:spPr>
          <a:xfrm>
            <a:off x="804672" y="5029200"/>
            <a:ext cx="4896612" cy="960120"/>
          </a:xfrm>
          <a:prstGeom prst="rect">
            <a:avLst/>
          </a:prstGeom>
          <a:noFill/>
          <a:ln/>
        </p:spPr>
        <p:txBody>
          <a:bodyPr wrap="square" lIns="0" tIns="0" rIns="0" bIns="0"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Never paste student records or unpublished research into unapproved tools.</a:t>
            </a:r>
            <a:endParaRPr lang="en-US" sz="1150" dirty="0"/>
          </a:p>
        </p:txBody>
      </p:sp>
      <p:sp>
        <p:nvSpPr>
          <p:cNvPr id="22" name="Shape 16"/>
          <p:cNvSpPr/>
          <p:nvPr/>
        </p:nvSpPr>
        <p:spPr>
          <a:xfrm>
            <a:off x="6231636" y="4206240"/>
            <a:ext cx="5408676" cy="1965960"/>
          </a:xfrm>
          <a:prstGeom prst="roundRect">
            <a:avLst>
              <a:gd name="adj" fmla="val 3721"/>
            </a:avLst>
          </a:prstGeom>
          <a:solidFill>
            <a:srgbClr val="233A63"/>
          </a:solidFill>
          <a:ln/>
        </p:spPr>
      </p:sp>
      <p:sp>
        <p:nvSpPr>
          <p:cNvPr id="23" name="Shape 17"/>
          <p:cNvSpPr/>
          <p:nvPr/>
        </p:nvSpPr>
        <p:spPr>
          <a:xfrm>
            <a:off x="6487668" y="4462272"/>
            <a:ext cx="457200" cy="457200"/>
          </a:xfrm>
          <a:prstGeom prst="ellipse">
            <a:avLst/>
          </a:prstGeom>
          <a:solidFill>
            <a:srgbClr val="1C7293"/>
          </a:solidFill>
          <a:ln/>
        </p:spPr>
      </p:sp>
      <p:pic>
        <p:nvPicPr>
          <p:cNvPr id="24" name="Image 4" descr="icons/fileexport.png"/>
          <p:cNvPicPr>
            <a:picLocks noChangeAspect="1"/>
          </p:cNvPicPr>
          <p:nvPr/>
        </p:nvPicPr>
        <p:blipFill>
          <a:blip r:embed="rId7"/>
          <a:stretch>
            <a:fillRect/>
          </a:stretch>
        </p:blipFill>
        <p:spPr>
          <a:xfrm>
            <a:off x="6579108" y="4553712"/>
            <a:ext cx="274320" cy="274320"/>
          </a:xfrm>
          <a:prstGeom prst="rect">
            <a:avLst/>
          </a:prstGeom>
        </p:spPr>
      </p:pic>
      <p:sp>
        <p:nvSpPr>
          <p:cNvPr id="25" name="Text 18"/>
          <p:cNvSpPr txBox="1"/>
          <p:nvPr/>
        </p:nvSpPr>
        <p:spPr>
          <a:xfrm>
            <a:off x="7100316" y="4425696"/>
            <a:ext cx="4265676"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Format saves time</a:t>
            </a:r>
            <a:endParaRPr lang="en-US" sz="1450" dirty="0"/>
          </a:p>
        </p:txBody>
      </p:sp>
      <p:sp>
        <p:nvSpPr>
          <p:cNvPr id="26" name="Text 19"/>
          <p:cNvSpPr txBox="1"/>
          <p:nvPr/>
        </p:nvSpPr>
        <p:spPr>
          <a:xfrm>
            <a:off x="6487668" y="5029200"/>
            <a:ext cx="4896612" cy="960120"/>
          </a:xfrm>
          <a:prstGeom prst="rect">
            <a:avLst/>
          </a:prstGeom>
          <a:noFill/>
          <a:ln/>
        </p:spPr>
        <p:txBody>
          <a:bodyPr wrap="square" lIns="0" tIns="0" rIns="0" bIns="0"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A tool that exports in your needed format beats one that just "answers well".</a:t>
            </a:r>
            <a:endParaRPr lang="en-US" sz="1150" dirty="0"/>
          </a:p>
        </p:txBody>
      </p:sp>
      <p:sp>
        <p:nvSpPr>
          <p:cNvPr id="27" name="Text 20"/>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9FD6E8"/>
                </a:solidFill>
                <a:latin typeface="Calibri" pitchFamily="34" charset="0"/>
                <a:ea typeface="Calibri" pitchFamily="34" charset="-122"/>
                <a:cs typeface="Calibri" pitchFamily="34" charset="-120"/>
              </a:rPr>
              <a:t>Choosing Wisely</a:t>
            </a:r>
            <a:endParaRPr lang="en-US" sz="950" dirty="0"/>
          </a:p>
        </p:txBody>
      </p:sp>
      <p:sp>
        <p:nvSpPr>
          <p:cNvPr id="28" name="Text 21"/>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9FD6E8"/>
                </a:solidFill>
                <a:latin typeface="Calibri" pitchFamily="34" charset="0"/>
                <a:ea typeface="Calibri" pitchFamily="34" charset="-122"/>
                <a:cs typeface="Calibri" pitchFamily="34" charset="-120"/>
              </a:rPr>
              <a:t>54</a:t>
            </a:r>
            <a:endParaRPr lang="en-US" sz="9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828800" y="-2011680"/>
            <a:ext cx="5486400" cy="5486400"/>
          </a:xfrm>
          <a:prstGeom prst="ellipse">
            <a:avLst/>
          </a:prstGeom>
          <a:solidFill>
            <a:srgbClr val="233A63"/>
          </a:solidFill>
          <a:ln/>
        </p:spPr>
      </p:sp>
      <p:sp>
        <p:nvSpPr>
          <p:cNvPr id="3" name="Shape 1"/>
          <p:cNvSpPr/>
          <p:nvPr/>
        </p:nvSpPr>
        <p:spPr>
          <a:xfrm>
            <a:off x="9875520" y="4206240"/>
            <a:ext cx="5029200" cy="5029200"/>
          </a:xfrm>
          <a:prstGeom prst="ellipse">
            <a:avLst/>
          </a:prstGeom>
          <a:solidFill>
            <a:srgbClr val="121C33"/>
          </a:solidFill>
          <a:ln/>
        </p:spPr>
      </p:sp>
      <p:sp>
        <p:nvSpPr>
          <p:cNvPr id="4" name="Text 2"/>
          <p:cNvSpPr txBox="1"/>
          <p:nvPr/>
        </p:nvSpPr>
        <p:spPr>
          <a:xfrm>
            <a:off x="822960" y="2286000"/>
            <a:ext cx="3657600" cy="457200"/>
          </a:xfrm>
          <a:prstGeom prst="rect">
            <a:avLst/>
          </a:prstGeom>
          <a:noFill/>
          <a:ln/>
        </p:spPr>
        <p:txBody>
          <a:bodyPr wrap="square" lIns="0" tIns="0" rIns="0" bIns="0" rtlCol="0" anchor="ctr"/>
          <a:lstStyle/>
          <a:p>
            <a:pPr marL="0" indent="0">
              <a:buNone/>
            </a:pPr>
            <a:r>
              <a:rPr lang="en-US" sz="1600" b="1" kern="0" spc="200" dirty="0">
                <a:solidFill>
                  <a:srgbClr val="1C7293"/>
                </a:solidFill>
                <a:latin typeface="Calibri" pitchFamily="34" charset="0"/>
                <a:ea typeface="Calibri" pitchFamily="34" charset="-122"/>
                <a:cs typeface="Calibri" pitchFamily="34" charset="-120"/>
              </a:rPr>
              <a:t>PART 5</a:t>
            </a:r>
            <a:endParaRPr lang="en-US" sz="1600" dirty="0"/>
          </a:p>
        </p:txBody>
      </p:sp>
      <p:sp>
        <p:nvSpPr>
          <p:cNvPr id="5" name="Shape 3"/>
          <p:cNvSpPr/>
          <p:nvPr/>
        </p:nvSpPr>
        <p:spPr>
          <a:xfrm>
            <a:off x="868680" y="2788920"/>
            <a:ext cx="1280160" cy="0"/>
          </a:xfrm>
          <a:prstGeom prst="line">
            <a:avLst/>
          </a:prstGeom>
          <a:noFill/>
          <a:ln w="31750">
            <a:solidFill>
              <a:srgbClr val="1C7293"/>
            </a:solidFill>
            <a:prstDash val="solid"/>
          </a:ln>
        </p:spPr>
      </p:sp>
      <p:sp>
        <p:nvSpPr>
          <p:cNvPr id="6" name="Text 4"/>
          <p:cNvSpPr txBox="1"/>
          <p:nvPr/>
        </p:nvSpPr>
        <p:spPr>
          <a:xfrm>
            <a:off x="822960" y="2880360"/>
            <a:ext cx="9601200" cy="365760"/>
          </a:xfrm>
          <a:prstGeom prst="rect">
            <a:avLst/>
          </a:prstGeom>
          <a:noFill/>
          <a:ln/>
        </p:spPr>
        <p:txBody>
          <a:bodyPr wrap="square" lIns="0" tIns="0" rIns="0" bIns="0" rtlCol="0" anchor="ctr"/>
          <a:lstStyle/>
          <a:p>
            <a:pPr marL="0" indent="0">
              <a:buNone/>
            </a:pPr>
            <a:r>
              <a:rPr lang="en-US" sz="1300" b="1" kern="0" spc="180" dirty="0">
                <a:solidFill>
                  <a:srgbClr val="9FD6E8"/>
                </a:solidFill>
                <a:latin typeface="Calibri" pitchFamily="34" charset="0"/>
                <a:ea typeface="Calibri" pitchFamily="34" charset="-122"/>
                <a:cs typeface="Calibri" pitchFamily="34" charset="-120"/>
              </a:rPr>
              <a:t>GETTING STARTED</a:t>
            </a:r>
            <a:endParaRPr lang="en-US" sz="1300" dirty="0"/>
          </a:p>
        </p:txBody>
      </p:sp>
      <p:sp>
        <p:nvSpPr>
          <p:cNvPr id="7" name="Text 5"/>
          <p:cNvSpPr txBox="1"/>
          <p:nvPr/>
        </p:nvSpPr>
        <p:spPr>
          <a:xfrm>
            <a:off x="777240" y="3246120"/>
            <a:ext cx="9692640" cy="1463040"/>
          </a:xfrm>
          <a:prstGeom prst="rect">
            <a:avLst/>
          </a:prstGeom>
          <a:noFill/>
          <a:ln/>
        </p:spPr>
        <p:txBody>
          <a:bodyPr wrap="square" lIns="0" tIns="0" rIns="0" bIns="0" rtlCol="0" anchor="ctr"/>
          <a:lstStyle/>
          <a:p>
            <a:pPr marL="0" indent="0">
              <a:lnSpc>
                <a:spcPct val="105000"/>
              </a:lnSpc>
              <a:buNone/>
            </a:pPr>
            <a:r>
              <a:rPr lang="en-US" sz="3800" b="1" dirty="0">
                <a:solidFill>
                  <a:srgbClr val="FFFFFF"/>
                </a:solidFill>
                <a:latin typeface="Cambria" pitchFamily="34" charset="0"/>
                <a:ea typeface="Cambria" pitchFamily="34" charset="-122"/>
                <a:cs typeface="Cambria" pitchFamily="34" charset="-120"/>
              </a:rPr>
              <a:t>Accounts, Workspaces</a:t>
            </a:r>
            <a:endParaRPr lang="en-US" sz="3800" dirty="0"/>
          </a:p>
          <a:p>
            <a:pPr marL="0" indent="0">
              <a:lnSpc>
                <a:spcPct val="105000"/>
              </a:lnSpc>
              <a:buNone/>
            </a:pPr>
            <a:r>
              <a:rPr lang="en-US" sz="3800" b="1" dirty="0">
                <a:solidFill>
                  <a:srgbClr val="FFFFFF"/>
                </a:solidFill>
                <a:latin typeface="Cambria" pitchFamily="34" charset="0"/>
                <a:ea typeface="Cambria" pitchFamily="34" charset="-122"/>
                <a:cs typeface="Cambria" pitchFamily="34" charset="-120"/>
              </a:rPr>
              <a:t>&amp; Free vs Paid Tiers</a:t>
            </a:r>
            <a:endParaRPr lang="en-US" sz="3800" dirty="0"/>
          </a:p>
        </p:txBody>
      </p:sp>
      <p:sp>
        <p:nvSpPr>
          <p:cNvPr id="8" name="Text 6"/>
          <p:cNvSpPr txBox="1"/>
          <p:nvPr/>
        </p:nvSpPr>
        <p:spPr>
          <a:xfrm>
            <a:off x="822960" y="4709160"/>
            <a:ext cx="8686800" cy="731520"/>
          </a:xfrm>
          <a:prstGeom prst="rect">
            <a:avLst/>
          </a:prstGeom>
          <a:noFill/>
          <a:ln/>
        </p:spPr>
        <p:txBody>
          <a:bodyPr wrap="square" lIns="0" tIns="0" rIns="0" bIns="0" rtlCol="0" anchor="ctr"/>
          <a:lstStyle/>
          <a:p>
            <a:pPr marL="0" indent="0">
              <a:lnSpc>
                <a:spcPct val="125000"/>
              </a:lnSpc>
              <a:buNone/>
            </a:pPr>
            <a:r>
              <a:rPr lang="en-US" sz="1500" i="1" dirty="0">
                <a:solidFill>
                  <a:srgbClr val="C9D6E3"/>
                </a:solidFill>
                <a:latin typeface="Calibri" pitchFamily="34" charset="0"/>
                <a:ea typeface="Calibri" pitchFamily="34" charset="-122"/>
                <a:cs typeface="Calibri" pitchFamily="34" charset="-120"/>
              </a:rPr>
              <a:t>A practical walkthrough for setting up your first AI tool account the right way.</a:t>
            </a:r>
            <a:endParaRPr lang="en-US" sz="1500" dirty="0"/>
          </a:p>
        </p:txBody>
      </p:sp>
      <p:sp>
        <p:nvSpPr>
          <p:cNvPr id="9" name="Shape 7"/>
          <p:cNvSpPr/>
          <p:nvPr/>
        </p:nvSpPr>
        <p:spPr>
          <a:xfrm>
            <a:off x="10195560" y="685800"/>
            <a:ext cx="1143000" cy="1143000"/>
          </a:xfrm>
          <a:prstGeom prst="ellipse">
            <a:avLst/>
          </a:prstGeom>
          <a:solidFill>
            <a:srgbClr val="1C7293"/>
          </a:solidFill>
          <a:ln/>
        </p:spPr>
      </p:sp>
      <p:pic>
        <p:nvPicPr>
          <p:cNvPr id="10" name="Image 0" descr="icons/rocket.png"/>
          <p:cNvPicPr>
            <a:picLocks noChangeAspect="1"/>
          </p:cNvPicPr>
          <p:nvPr/>
        </p:nvPicPr>
        <p:blipFill>
          <a:blip r:embed="rId3"/>
          <a:stretch>
            <a:fillRect/>
          </a:stretch>
        </p:blipFill>
        <p:spPr>
          <a:xfrm>
            <a:off x="10492740" y="982980"/>
            <a:ext cx="548640" cy="548640"/>
          </a:xfrm>
          <a:prstGeom prst="rect">
            <a:avLst/>
          </a:prstGeom>
        </p:spPr>
      </p:pic>
      <p:sp>
        <p:nvSpPr>
          <p:cNvPr id="11" name="Text 8"/>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9FD6E8"/>
                </a:solidFill>
                <a:latin typeface="Calibri" pitchFamily="34" charset="0"/>
                <a:ea typeface="Calibri" pitchFamily="34" charset="-122"/>
                <a:cs typeface="Calibri" pitchFamily="34" charset="-120"/>
              </a:rPr>
              <a:t>Part 5 · Getting Started</a:t>
            </a:r>
            <a:endParaRPr lang="en-US" sz="950" dirty="0"/>
          </a:p>
        </p:txBody>
      </p:sp>
      <p:sp>
        <p:nvSpPr>
          <p:cNvPr id="12" name="Text 9"/>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9FD6E8"/>
                </a:solidFill>
                <a:latin typeface="Calibri" pitchFamily="34" charset="0"/>
                <a:ea typeface="Calibri" pitchFamily="34" charset="-122"/>
                <a:cs typeface="Calibri" pitchFamily="34" charset="-120"/>
              </a:rPr>
              <a:t>55</a:t>
            </a:r>
            <a:endParaRPr lang="en-US" sz="9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5 · GETTING STARTED</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Setting Up Your First Account</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400" i="1" dirty="0">
                <a:solidFill>
                  <a:srgbClr val="8A94A0"/>
                </a:solidFill>
                <a:latin typeface="Calibri" pitchFamily="34" charset="0"/>
                <a:ea typeface="Calibri" pitchFamily="34" charset="-122"/>
                <a:cs typeface="Calibri" pitchFamily="34" charset="-120"/>
              </a:rPr>
              <a:t>A typical sign-up flow across most major AI tools.</a:t>
            </a:r>
            <a:endParaRPr lang="en-US" sz="1400" dirty="0"/>
          </a:p>
        </p:txBody>
      </p:sp>
      <p:sp>
        <p:nvSpPr>
          <p:cNvPr id="5" name="Shape 3"/>
          <p:cNvSpPr/>
          <p:nvPr/>
        </p:nvSpPr>
        <p:spPr>
          <a:xfrm>
            <a:off x="548640" y="2011680"/>
            <a:ext cx="10195560" cy="722376"/>
          </a:xfrm>
          <a:prstGeom prst="roundRect">
            <a:avLst>
              <a:gd name="adj" fmla="val 11392"/>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6" name="Shape 4"/>
          <p:cNvSpPr/>
          <p:nvPr/>
        </p:nvSpPr>
        <p:spPr>
          <a:xfrm>
            <a:off x="841248" y="2116836"/>
            <a:ext cx="512064" cy="512064"/>
          </a:xfrm>
          <a:prstGeom prst="ellipse">
            <a:avLst/>
          </a:prstGeom>
          <a:solidFill>
            <a:srgbClr val="1C7293"/>
          </a:solidFill>
          <a:ln/>
        </p:spPr>
      </p:sp>
      <p:sp>
        <p:nvSpPr>
          <p:cNvPr id="7" name="Text 5"/>
          <p:cNvSpPr txBox="1"/>
          <p:nvPr/>
        </p:nvSpPr>
        <p:spPr>
          <a:xfrm>
            <a:off x="841248" y="2116836"/>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txBox="1"/>
          <p:nvPr/>
        </p:nvSpPr>
        <p:spPr>
          <a:xfrm>
            <a:off x="1600200" y="2121408"/>
            <a:ext cx="4023360" cy="502920"/>
          </a:xfrm>
          <a:prstGeom prst="rect">
            <a:avLst/>
          </a:prstGeom>
          <a:noFill/>
          <a:ln/>
        </p:spPr>
        <p:txBody>
          <a:bodyPr wrap="square" lIns="0" tIns="0" rIns="0" bIns="0" rtlCol="0" anchor="ctr"/>
          <a:lstStyle/>
          <a:p>
            <a:pPr marL="0" indent="0">
              <a:buNone/>
            </a:pPr>
            <a:r>
              <a:rPr lang="en-US" sz="1450" b="1" dirty="0">
                <a:solidFill>
                  <a:srgbClr val="1B2A4A"/>
                </a:solidFill>
                <a:latin typeface="Calibri" pitchFamily="34" charset="0"/>
                <a:ea typeface="Calibri" pitchFamily="34" charset="-122"/>
                <a:cs typeface="Calibri" pitchFamily="34" charset="-120"/>
              </a:rPr>
              <a:t>Choose a tool</a:t>
            </a:r>
            <a:endParaRPr lang="en-US" sz="1450" dirty="0"/>
          </a:p>
        </p:txBody>
      </p:sp>
      <p:sp>
        <p:nvSpPr>
          <p:cNvPr id="9" name="Text 7"/>
          <p:cNvSpPr txBox="1"/>
          <p:nvPr/>
        </p:nvSpPr>
        <p:spPr>
          <a:xfrm>
            <a:off x="5715000" y="2103120"/>
            <a:ext cx="4892040" cy="539496"/>
          </a:xfrm>
          <a:prstGeom prst="rect">
            <a:avLst/>
          </a:prstGeom>
          <a:noFill/>
          <a:ln/>
        </p:spPr>
        <p:txBody>
          <a:bodyPr wrap="square" lIns="0" tIns="0" rIns="0" bIns="0" rtlCol="0" anchor="ctr"/>
          <a:lstStyle/>
          <a:p>
            <a:pPr marL="0" indent="0">
              <a:lnSpc>
                <a:spcPct val="115000"/>
              </a:lnSpc>
              <a:buNone/>
            </a:pPr>
            <a:r>
              <a:rPr lang="en-US" sz="1200" dirty="0">
                <a:solidFill>
                  <a:srgbClr val="55606C"/>
                </a:solidFill>
                <a:latin typeface="Calibri" pitchFamily="34" charset="0"/>
                <a:ea typeface="Calibri" pitchFamily="34" charset="-122"/>
                <a:cs typeface="Calibri" pitchFamily="34" charset="-120"/>
              </a:rPr>
              <a:t>Pick one tool from Part 2 that matches your most common task, rather than trying several at once.</a:t>
            </a:r>
            <a:endParaRPr lang="en-US" sz="1200" dirty="0"/>
          </a:p>
        </p:txBody>
      </p:sp>
      <p:sp>
        <p:nvSpPr>
          <p:cNvPr id="10" name="Shape 8"/>
          <p:cNvSpPr/>
          <p:nvPr/>
        </p:nvSpPr>
        <p:spPr>
          <a:xfrm>
            <a:off x="548640" y="2898648"/>
            <a:ext cx="10195560" cy="722376"/>
          </a:xfrm>
          <a:prstGeom prst="roundRect">
            <a:avLst>
              <a:gd name="adj" fmla="val 11392"/>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1" name="Shape 9"/>
          <p:cNvSpPr/>
          <p:nvPr/>
        </p:nvSpPr>
        <p:spPr>
          <a:xfrm>
            <a:off x="841248" y="3003804"/>
            <a:ext cx="512064" cy="512064"/>
          </a:xfrm>
          <a:prstGeom prst="ellipse">
            <a:avLst/>
          </a:prstGeom>
          <a:solidFill>
            <a:srgbClr val="1C7293"/>
          </a:solidFill>
          <a:ln/>
        </p:spPr>
      </p:sp>
      <p:sp>
        <p:nvSpPr>
          <p:cNvPr id="12" name="Text 10"/>
          <p:cNvSpPr txBox="1"/>
          <p:nvPr/>
        </p:nvSpPr>
        <p:spPr>
          <a:xfrm>
            <a:off x="841248" y="3003804"/>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txBox="1"/>
          <p:nvPr/>
        </p:nvSpPr>
        <p:spPr>
          <a:xfrm>
            <a:off x="1600200" y="3008376"/>
            <a:ext cx="4023360" cy="502920"/>
          </a:xfrm>
          <a:prstGeom prst="rect">
            <a:avLst/>
          </a:prstGeom>
          <a:noFill/>
          <a:ln/>
        </p:spPr>
        <p:txBody>
          <a:bodyPr wrap="square" lIns="0" tIns="0" rIns="0" bIns="0" rtlCol="0" anchor="ctr"/>
          <a:lstStyle/>
          <a:p>
            <a:pPr marL="0" indent="0">
              <a:buNone/>
            </a:pPr>
            <a:r>
              <a:rPr lang="en-US" sz="1450" b="1" dirty="0">
                <a:solidFill>
                  <a:srgbClr val="1B2A4A"/>
                </a:solidFill>
                <a:latin typeface="Calibri" pitchFamily="34" charset="0"/>
                <a:ea typeface="Calibri" pitchFamily="34" charset="-122"/>
                <a:cs typeface="Calibri" pitchFamily="34" charset="-120"/>
              </a:rPr>
              <a:t>Check institutional access first</a:t>
            </a:r>
            <a:endParaRPr lang="en-US" sz="1450" dirty="0"/>
          </a:p>
        </p:txBody>
      </p:sp>
      <p:sp>
        <p:nvSpPr>
          <p:cNvPr id="14" name="Text 12"/>
          <p:cNvSpPr txBox="1"/>
          <p:nvPr/>
        </p:nvSpPr>
        <p:spPr>
          <a:xfrm>
            <a:off x="5715000" y="2990088"/>
            <a:ext cx="4892040" cy="539496"/>
          </a:xfrm>
          <a:prstGeom prst="rect">
            <a:avLst/>
          </a:prstGeom>
          <a:noFill/>
          <a:ln/>
        </p:spPr>
        <p:txBody>
          <a:bodyPr wrap="square" lIns="0" tIns="0" rIns="0" bIns="0" rtlCol="0" anchor="ctr"/>
          <a:lstStyle/>
          <a:p>
            <a:pPr marL="0" indent="0">
              <a:lnSpc>
                <a:spcPct val="115000"/>
              </a:lnSpc>
              <a:buNone/>
            </a:pPr>
            <a:r>
              <a:rPr lang="en-US" sz="1200" dirty="0">
                <a:solidFill>
                  <a:srgbClr val="55606C"/>
                </a:solidFill>
                <a:latin typeface="Calibri" pitchFamily="34" charset="0"/>
                <a:ea typeface="Calibri" pitchFamily="34" charset="-122"/>
                <a:cs typeface="Calibri" pitchFamily="34" charset="-120"/>
              </a:rPr>
              <a:t>Ask your IT/library if your institution already has a licensed account — it may offer better privacy terms than a personal signup.</a:t>
            </a:r>
            <a:endParaRPr lang="en-US" sz="1200" dirty="0"/>
          </a:p>
        </p:txBody>
      </p:sp>
      <p:sp>
        <p:nvSpPr>
          <p:cNvPr id="15" name="Shape 13"/>
          <p:cNvSpPr/>
          <p:nvPr/>
        </p:nvSpPr>
        <p:spPr>
          <a:xfrm>
            <a:off x="548640" y="3785616"/>
            <a:ext cx="10195560" cy="722376"/>
          </a:xfrm>
          <a:prstGeom prst="roundRect">
            <a:avLst>
              <a:gd name="adj" fmla="val 11392"/>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6" name="Shape 14"/>
          <p:cNvSpPr/>
          <p:nvPr/>
        </p:nvSpPr>
        <p:spPr>
          <a:xfrm>
            <a:off x="841248" y="3890772"/>
            <a:ext cx="512064" cy="512064"/>
          </a:xfrm>
          <a:prstGeom prst="ellipse">
            <a:avLst/>
          </a:prstGeom>
          <a:solidFill>
            <a:srgbClr val="1C7293"/>
          </a:solidFill>
          <a:ln/>
        </p:spPr>
      </p:sp>
      <p:sp>
        <p:nvSpPr>
          <p:cNvPr id="17" name="Text 15"/>
          <p:cNvSpPr txBox="1"/>
          <p:nvPr/>
        </p:nvSpPr>
        <p:spPr>
          <a:xfrm>
            <a:off x="841248" y="3890772"/>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6"/>
          <p:cNvSpPr txBox="1"/>
          <p:nvPr/>
        </p:nvSpPr>
        <p:spPr>
          <a:xfrm>
            <a:off x="1600200" y="3895344"/>
            <a:ext cx="4023360" cy="502920"/>
          </a:xfrm>
          <a:prstGeom prst="rect">
            <a:avLst/>
          </a:prstGeom>
          <a:noFill/>
          <a:ln/>
        </p:spPr>
        <p:txBody>
          <a:bodyPr wrap="square" lIns="0" tIns="0" rIns="0" bIns="0" rtlCol="0" anchor="ctr"/>
          <a:lstStyle/>
          <a:p>
            <a:pPr marL="0" indent="0">
              <a:buNone/>
            </a:pPr>
            <a:r>
              <a:rPr lang="en-US" sz="1450" b="1" dirty="0">
                <a:solidFill>
                  <a:srgbClr val="1B2A4A"/>
                </a:solidFill>
                <a:latin typeface="Calibri" pitchFamily="34" charset="0"/>
                <a:ea typeface="Calibri" pitchFamily="34" charset="-122"/>
                <a:cs typeface="Calibri" pitchFamily="34" charset="-120"/>
              </a:rPr>
              <a:t>Sign up with the right email</a:t>
            </a:r>
            <a:endParaRPr lang="en-US" sz="1450" dirty="0"/>
          </a:p>
        </p:txBody>
      </p:sp>
      <p:sp>
        <p:nvSpPr>
          <p:cNvPr id="19" name="Text 17"/>
          <p:cNvSpPr txBox="1"/>
          <p:nvPr/>
        </p:nvSpPr>
        <p:spPr>
          <a:xfrm>
            <a:off x="5715000" y="3877056"/>
            <a:ext cx="4892040" cy="539496"/>
          </a:xfrm>
          <a:prstGeom prst="rect">
            <a:avLst/>
          </a:prstGeom>
          <a:noFill/>
          <a:ln/>
        </p:spPr>
        <p:txBody>
          <a:bodyPr wrap="square" lIns="0" tIns="0" rIns="0" bIns="0" rtlCol="0" anchor="ctr"/>
          <a:lstStyle/>
          <a:p>
            <a:pPr marL="0" indent="0">
              <a:lnSpc>
                <a:spcPct val="115000"/>
              </a:lnSpc>
              <a:buNone/>
            </a:pPr>
            <a:r>
              <a:rPr lang="en-US" sz="1200" dirty="0">
                <a:solidFill>
                  <a:srgbClr val="55606C"/>
                </a:solidFill>
                <a:latin typeface="Calibri" pitchFamily="34" charset="0"/>
                <a:ea typeface="Calibri" pitchFamily="34" charset="-122"/>
                <a:cs typeface="Calibri" pitchFamily="34" charset="-120"/>
              </a:rPr>
              <a:t>Use your institutional email where possible; this can unlock education pricing and clearer data-use terms.</a:t>
            </a:r>
            <a:endParaRPr lang="en-US" sz="1200" dirty="0"/>
          </a:p>
        </p:txBody>
      </p:sp>
      <p:sp>
        <p:nvSpPr>
          <p:cNvPr id="20" name="Shape 18"/>
          <p:cNvSpPr/>
          <p:nvPr/>
        </p:nvSpPr>
        <p:spPr>
          <a:xfrm>
            <a:off x="548640" y="4672584"/>
            <a:ext cx="10195560" cy="722376"/>
          </a:xfrm>
          <a:prstGeom prst="roundRect">
            <a:avLst>
              <a:gd name="adj" fmla="val 11392"/>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21" name="Shape 19"/>
          <p:cNvSpPr/>
          <p:nvPr/>
        </p:nvSpPr>
        <p:spPr>
          <a:xfrm>
            <a:off x="841248" y="4777740"/>
            <a:ext cx="512064" cy="512064"/>
          </a:xfrm>
          <a:prstGeom prst="ellipse">
            <a:avLst/>
          </a:prstGeom>
          <a:solidFill>
            <a:srgbClr val="1C7293"/>
          </a:solidFill>
          <a:ln/>
        </p:spPr>
      </p:sp>
      <p:sp>
        <p:nvSpPr>
          <p:cNvPr id="22" name="Text 20"/>
          <p:cNvSpPr txBox="1"/>
          <p:nvPr/>
        </p:nvSpPr>
        <p:spPr>
          <a:xfrm>
            <a:off x="841248" y="4777740"/>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3" name="Text 21"/>
          <p:cNvSpPr txBox="1"/>
          <p:nvPr/>
        </p:nvSpPr>
        <p:spPr>
          <a:xfrm>
            <a:off x="1600200" y="4782312"/>
            <a:ext cx="4023360" cy="502920"/>
          </a:xfrm>
          <a:prstGeom prst="rect">
            <a:avLst/>
          </a:prstGeom>
          <a:noFill/>
          <a:ln/>
        </p:spPr>
        <p:txBody>
          <a:bodyPr wrap="square" lIns="0" tIns="0" rIns="0" bIns="0" rtlCol="0" anchor="ctr"/>
          <a:lstStyle/>
          <a:p>
            <a:pPr marL="0" indent="0">
              <a:buNone/>
            </a:pPr>
            <a:r>
              <a:rPr lang="en-US" sz="1450" b="1" dirty="0">
                <a:solidFill>
                  <a:srgbClr val="1B2A4A"/>
                </a:solidFill>
                <a:latin typeface="Calibri" pitchFamily="34" charset="0"/>
                <a:ea typeface="Calibri" pitchFamily="34" charset="-122"/>
                <a:cs typeface="Calibri" pitchFamily="34" charset="-120"/>
              </a:rPr>
              <a:t>Review the privacy &amp; data settings</a:t>
            </a:r>
            <a:endParaRPr lang="en-US" sz="1450" dirty="0"/>
          </a:p>
        </p:txBody>
      </p:sp>
      <p:sp>
        <p:nvSpPr>
          <p:cNvPr id="24" name="Text 22"/>
          <p:cNvSpPr txBox="1"/>
          <p:nvPr/>
        </p:nvSpPr>
        <p:spPr>
          <a:xfrm>
            <a:off x="5715000" y="4764024"/>
            <a:ext cx="4892040" cy="539496"/>
          </a:xfrm>
          <a:prstGeom prst="rect">
            <a:avLst/>
          </a:prstGeom>
          <a:noFill/>
          <a:ln/>
        </p:spPr>
        <p:txBody>
          <a:bodyPr wrap="square" lIns="0" tIns="0" rIns="0" bIns="0" rtlCol="0" anchor="ctr"/>
          <a:lstStyle/>
          <a:p>
            <a:pPr marL="0" indent="0">
              <a:lnSpc>
                <a:spcPct val="115000"/>
              </a:lnSpc>
              <a:buNone/>
            </a:pPr>
            <a:r>
              <a:rPr lang="en-US" sz="1200" dirty="0">
                <a:solidFill>
                  <a:srgbClr val="55606C"/>
                </a:solidFill>
                <a:latin typeface="Calibri" pitchFamily="34" charset="0"/>
                <a:ea typeface="Calibri" pitchFamily="34" charset="-122"/>
                <a:cs typeface="Calibri" pitchFamily="34" charset="-120"/>
              </a:rPr>
              <a:t>Before your first real task, find the setting to opt out of "use my data for training", if available.</a:t>
            </a:r>
            <a:endParaRPr lang="en-US" sz="1200" dirty="0"/>
          </a:p>
        </p:txBody>
      </p:sp>
      <p:sp>
        <p:nvSpPr>
          <p:cNvPr id="25" name="Shape 23"/>
          <p:cNvSpPr/>
          <p:nvPr/>
        </p:nvSpPr>
        <p:spPr>
          <a:xfrm>
            <a:off x="548640" y="5559552"/>
            <a:ext cx="10195560" cy="722376"/>
          </a:xfrm>
          <a:prstGeom prst="roundRect">
            <a:avLst>
              <a:gd name="adj" fmla="val 11392"/>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26" name="Shape 24"/>
          <p:cNvSpPr/>
          <p:nvPr/>
        </p:nvSpPr>
        <p:spPr>
          <a:xfrm>
            <a:off x="841248" y="5664708"/>
            <a:ext cx="512064" cy="512064"/>
          </a:xfrm>
          <a:prstGeom prst="ellipse">
            <a:avLst/>
          </a:prstGeom>
          <a:solidFill>
            <a:srgbClr val="1C7293"/>
          </a:solidFill>
          <a:ln/>
        </p:spPr>
      </p:sp>
      <p:sp>
        <p:nvSpPr>
          <p:cNvPr id="27" name="Text 25"/>
          <p:cNvSpPr txBox="1"/>
          <p:nvPr/>
        </p:nvSpPr>
        <p:spPr>
          <a:xfrm>
            <a:off x="841248" y="5664708"/>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8" name="Text 26"/>
          <p:cNvSpPr txBox="1"/>
          <p:nvPr/>
        </p:nvSpPr>
        <p:spPr>
          <a:xfrm>
            <a:off x="1600200" y="5669280"/>
            <a:ext cx="4023360" cy="502920"/>
          </a:xfrm>
          <a:prstGeom prst="rect">
            <a:avLst/>
          </a:prstGeom>
          <a:noFill/>
          <a:ln/>
        </p:spPr>
        <p:txBody>
          <a:bodyPr wrap="square" lIns="0" tIns="0" rIns="0" bIns="0" rtlCol="0" anchor="ctr"/>
          <a:lstStyle/>
          <a:p>
            <a:pPr marL="0" indent="0">
              <a:buNone/>
            </a:pPr>
            <a:r>
              <a:rPr lang="en-US" sz="1450" b="1" dirty="0">
                <a:solidFill>
                  <a:srgbClr val="1B2A4A"/>
                </a:solidFill>
                <a:latin typeface="Calibri" pitchFamily="34" charset="0"/>
                <a:ea typeface="Calibri" pitchFamily="34" charset="-122"/>
                <a:cs typeface="Calibri" pitchFamily="34" charset="-120"/>
              </a:rPr>
              <a:t>Run a small, low-stakes test task</a:t>
            </a:r>
            <a:endParaRPr lang="en-US" sz="1450" dirty="0"/>
          </a:p>
        </p:txBody>
      </p:sp>
      <p:sp>
        <p:nvSpPr>
          <p:cNvPr id="29" name="Text 27"/>
          <p:cNvSpPr txBox="1"/>
          <p:nvPr/>
        </p:nvSpPr>
        <p:spPr>
          <a:xfrm>
            <a:off x="5715000" y="5650992"/>
            <a:ext cx="4892040" cy="539496"/>
          </a:xfrm>
          <a:prstGeom prst="rect">
            <a:avLst/>
          </a:prstGeom>
          <a:noFill/>
          <a:ln/>
        </p:spPr>
        <p:txBody>
          <a:bodyPr wrap="square" lIns="0" tIns="0" rIns="0" bIns="0" rtlCol="0" anchor="ctr"/>
          <a:lstStyle/>
          <a:p>
            <a:pPr marL="0" indent="0">
              <a:lnSpc>
                <a:spcPct val="115000"/>
              </a:lnSpc>
              <a:buNone/>
            </a:pPr>
            <a:r>
              <a:rPr lang="en-US" sz="1200" dirty="0">
                <a:solidFill>
                  <a:srgbClr val="55606C"/>
                </a:solidFill>
                <a:latin typeface="Calibri" pitchFamily="34" charset="0"/>
                <a:ea typeface="Calibri" pitchFamily="34" charset="-122"/>
                <a:cs typeface="Calibri" pitchFamily="34" charset="-120"/>
              </a:rPr>
              <a:t>Try a simple, non-sensitive task first to learn the interface before using it for real academic work.</a:t>
            </a:r>
            <a:endParaRPr lang="en-US" sz="1200" dirty="0"/>
          </a:p>
        </p:txBody>
      </p:sp>
      <p:sp>
        <p:nvSpPr>
          <p:cNvPr id="30" name="Text 28"/>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Getting Started</a:t>
            </a:r>
            <a:endParaRPr lang="en-US" sz="950" dirty="0"/>
          </a:p>
        </p:txBody>
      </p:sp>
      <p:sp>
        <p:nvSpPr>
          <p:cNvPr id="31" name="Text 29"/>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56</a:t>
            </a:r>
            <a:endParaRPr lang="en-US" sz="9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5 · GETTING STARTED</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Setting Up a Workspace</a:t>
            </a:r>
            <a:endParaRPr lang="en-US" sz="3200" dirty="0"/>
          </a:p>
        </p:txBody>
      </p:sp>
      <p:sp>
        <p:nvSpPr>
          <p:cNvPr id="4" name="Shape 2"/>
          <p:cNvSpPr/>
          <p:nvPr/>
        </p:nvSpPr>
        <p:spPr>
          <a:xfrm>
            <a:off x="548640" y="192024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5" name="Shape 3"/>
          <p:cNvSpPr/>
          <p:nvPr/>
        </p:nvSpPr>
        <p:spPr>
          <a:xfrm>
            <a:off x="841248" y="2212848"/>
            <a:ext cx="658368" cy="658368"/>
          </a:xfrm>
          <a:prstGeom prst="ellipse">
            <a:avLst/>
          </a:prstGeom>
          <a:solidFill>
            <a:srgbClr val="1C7293"/>
          </a:solidFill>
          <a:ln/>
        </p:spPr>
      </p:sp>
      <p:pic>
        <p:nvPicPr>
          <p:cNvPr id="6" name="Image 0" descr="icons/users.png"/>
          <p:cNvPicPr>
            <a:picLocks noChangeAspect="1"/>
          </p:cNvPicPr>
          <p:nvPr/>
        </p:nvPicPr>
        <p:blipFill>
          <a:blip r:embed="rId3"/>
          <a:stretch>
            <a:fillRect/>
          </a:stretch>
        </p:blipFill>
        <p:spPr>
          <a:xfrm>
            <a:off x="1012424" y="2384024"/>
            <a:ext cx="316017" cy="316017"/>
          </a:xfrm>
          <a:prstGeom prst="rect">
            <a:avLst/>
          </a:prstGeom>
        </p:spPr>
      </p:pic>
      <p:sp>
        <p:nvSpPr>
          <p:cNvPr id="7" name="Text 4"/>
          <p:cNvSpPr txBox="1"/>
          <p:nvPr/>
        </p:nvSpPr>
        <p:spPr>
          <a:xfrm>
            <a:off x="1645920" y="223113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Team / Organisation Accounts</a:t>
            </a:r>
            <a:endParaRPr lang="en-US" sz="1650" dirty="0"/>
          </a:p>
        </p:txBody>
      </p:sp>
      <p:sp>
        <p:nvSpPr>
          <p:cNvPr id="8" name="Text 5"/>
          <p:cNvSpPr txBox="1"/>
          <p:nvPr/>
        </p:nvSpPr>
        <p:spPr>
          <a:xfrm>
            <a:off x="841248" y="299923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Many tools offer a shared workspace for a department, keeping billing, settings and conversation history centralised.</a:t>
            </a:r>
            <a:endParaRPr lang="en-US" sz="1200" dirty="0"/>
          </a:p>
        </p:txBody>
      </p:sp>
      <p:sp>
        <p:nvSpPr>
          <p:cNvPr id="9" name="Shape 6"/>
          <p:cNvSpPr/>
          <p:nvPr/>
        </p:nvSpPr>
        <p:spPr>
          <a:xfrm>
            <a:off x="6254496" y="192024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Shape 7"/>
          <p:cNvSpPr/>
          <p:nvPr/>
        </p:nvSpPr>
        <p:spPr>
          <a:xfrm>
            <a:off x="6547104" y="2212848"/>
            <a:ext cx="658368" cy="658368"/>
          </a:xfrm>
          <a:prstGeom prst="ellipse">
            <a:avLst/>
          </a:prstGeom>
          <a:solidFill>
            <a:srgbClr val="1C7293"/>
          </a:solidFill>
          <a:ln/>
        </p:spPr>
      </p:sp>
      <p:pic>
        <p:nvPicPr>
          <p:cNvPr id="11" name="Image 1" descr="icons/key.png"/>
          <p:cNvPicPr>
            <a:picLocks noChangeAspect="1"/>
          </p:cNvPicPr>
          <p:nvPr/>
        </p:nvPicPr>
        <p:blipFill>
          <a:blip r:embed="rId4"/>
          <a:stretch>
            <a:fillRect/>
          </a:stretch>
        </p:blipFill>
        <p:spPr>
          <a:xfrm>
            <a:off x="6718280" y="2384024"/>
            <a:ext cx="316017" cy="316017"/>
          </a:xfrm>
          <a:prstGeom prst="rect">
            <a:avLst/>
          </a:prstGeom>
        </p:spPr>
      </p:pic>
      <p:sp>
        <p:nvSpPr>
          <p:cNvPr id="12" name="Text 8"/>
          <p:cNvSpPr txBox="1"/>
          <p:nvPr/>
        </p:nvSpPr>
        <p:spPr>
          <a:xfrm>
            <a:off x="7351776" y="223113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Admin Console &amp; Permissions</a:t>
            </a:r>
            <a:endParaRPr lang="en-US" sz="1650" dirty="0"/>
          </a:p>
        </p:txBody>
      </p:sp>
      <p:sp>
        <p:nvSpPr>
          <p:cNvPr id="13" name="Text 9"/>
          <p:cNvSpPr txBox="1"/>
          <p:nvPr/>
        </p:nvSpPr>
        <p:spPr>
          <a:xfrm>
            <a:off x="6547104" y="299923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Institutional plans usually include an admin console to manage who has access and what data policies apply.</a:t>
            </a:r>
            <a:endParaRPr lang="en-US" sz="1200" dirty="0"/>
          </a:p>
        </p:txBody>
      </p:sp>
      <p:sp>
        <p:nvSpPr>
          <p:cNvPr id="14" name="Shape 10"/>
          <p:cNvSpPr/>
          <p:nvPr/>
        </p:nvSpPr>
        <p:spPr>
          <a:xfrm>
            <a:off x="548640" y="438912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5" name="Shape 11"/>
          <p:cNvSpPr/>
          <p:nvPr/>
        </p:nvSpPr>
        <p:spPr>
          <a:xfrm>
            <a:off x="841248" y="4681728"/>
            <a:ext cx="658368" cy="658368"/>
          </a:xfrm>
          <a:prstGeom prst="ellipse">
            <a:avLst/>
          </a:prstGeom>
          <a:solidFill>
            <a:srgbClr val="1C7293"/>
          </a:solidFill>
          <a:ln/>
        </p:spPr>
      </p:sp>
      <p:pic>
        <p:nvPicPr>
          <p:cNvPr id="16" name="Image 2" descr="icons/cloud.png"/>
          <p:cNvPicPr>
            <a:picLocks noChangeAspect="1"/>
          </p:cNvPicPr>
          <p:nvPr/>
        </p:nvPicPr>
        <p:blipFill>
          <a:blip r:embed="rId5"/>
          <a:stretch>
            <a:fillRect/>
          </a:stretch>
        </p:blipFill>
        <p:spPr>
          <a:xfrm>
            <a:off x="1012424" y="4852904"/>
            <a:ext cx="316017" cy="316017"/>
          </a:xfrm>
          <a:prstGeom prst="rect">
            <a:avLst/>
          </a:prstGeom>
        </p:spPr>
      </p:pic>
      <p:sp>
        <p:nvSpPr>
          <p:cNvPr id="17" name="Text 12"/>
          <p:cNvSpPr txBox="1"/>
          <p:nvPr/>
        </p:nvSpPr>
        <p:spPr>
          <a:xfrm>
            <a:off x="1645920" y="470001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Custom Instructions / Projects</a:t>
            </a:r>
            <a:endParaRPr lang="en-US" sz="1650" dirty="0"/>
          </a:p>
        </p:txBody>
      </p:sp>
      <p:sp>
        <p:nvSpPr>
          <p:cNvPr id="18" name="Text 13"/>
          <p:cNvSpPr txBox="1"/>
          <p:nvPr/>
        </p:nvSpPr>
        <p:spPr>
          <a:xfrm>
            <a:off x="841248" y="546811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Most tools let you save reusable preferences or organise chats into folders for different courses or projects.</a:t>
            </a:r>
            <a:endParaRPr lang="en-US" sz="1200" dirty="0"/>
          </a:p>
        </p:txBody>
      </p:sp>
      <p:sp>
        <p:nvSpPr>
          <p:cNvPr id="19" name="Shape 14"/>
          <p:cNvSpPr/>
          <p:nvPr/>
        </p:nvSpPr>
        <p:spPr>
          <a:xfrm>
            <a:off x="6254496" y="438912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20" name="Shape 15"/>
          <p:cNvSpPr/>
          <p:nvPr/>
        </p:nvSpPr>
        <p:spPr>
          <a:xfrm>
            <a:off x="6547104" y="4681728"/>
            <a:ext cx="658368" cy="658368"/>
          </a:xfrm>
          <a:prstGeom prst="ellipse">
            <a:avLst/>
          </a:prstGeom>
          <a:solidFill>
            <a:srgbClr val="1C7293"/>
          </a:solidFill>
          <a:ln/>
        </p:spPr>
      </p:sp>
      <p:pic>
        <p:nvPicPr>
          <p:cNvPr id="21" name="Image 3" descr="icons/envelope.png"/>
          <p:cNvPicPr>
            <a:picLocks noChangeAspect="1"/>
          </p:cNvPicPr>
          <p:nvPr/>
        </p:nvPicPr>
        <p:blipFill>
          <a:blip r:embed="rId6"/>
          <a:stretch>
            <a:fillRect/>
          </a:stretch>
        </p:blipFill>
        <p:spPr>
          <a:xfrm>
            <a:off x="6718280" y="4852904"/>
            <a:ext cx="316017" cy="316017"/>
          </a:xfrm>
          <a:prstGeom prst="rect">
            <a:avLst/>
          </a:prstGeom>
        </p:spPr>
      </p:pic>
      <p:sp>
        <p:nvSpPr>
          <p:cNvPr id="22" name="Text 16"/>
          <p:cNvSpPr txBox="1"/>
          <p:nvPr/>
        </p:nvSpPr>
        <p:spPr>
          <a:xfrm>
            <a:off x="7351776" y="470001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Single Sign-On (SSO)</a:t>
            </a:r>
            <a:endParaRPr lang="en-US" sz="1650" dirty="0"/>
          </a:p>
        </p:txBody>
      </p:sp>
      <p:sp>
        <p:nvSpPr>
          <p:cNvPr id="23" name="Text 17"/>
          <p:cNvSpPr txBox="1"/>
          <p:nvPr/>
        </p:nvSpPr>
        <p:spPr>
          <a:xfrm>
            <a:off x="6547104" y="546811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Larger institutional plans often support logging in with your existing university credentials, simplifying access.</a:t>
            </a:r>
            <a:endParaRPr lang="en-US" sz="1200" dirty="0"/>
          </a:p>
        </p:txBody>
      </p:sp>
      <p:sp>
        <p:nvSpPr>
          <p:cNvPr id="24" name="Text 18"/>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Part 5 · Getting Started</a:t>
            </a:r>
            <a:endParaRPr lang="en-US" sz="950" dirty="0"/>
          </a:p>
        </p:txBody>
      </p:sp>
      <p:sp>
        <p:nvSpPr>
          <p:cNvPr id="25" name="Text 19"/>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57</a:t>
            </a:r>
            <a:endParaRPr lang="en-US" sz="9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5 · GETTING STARTED</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Free-Tier vs Paid-Tier: What Changes</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400" i="1" dirty="0">
                <a:solidFill>
                  <a:srgbClr val="8A94A0"/>
                </a:solidFill>
                <a:latin typeface="Calibri" pitchFamily="34" charset="0"/>
                <a:ea typeface="Calibri" pitchFamily="34" charset="-122"/>
                <a:cs typeface="Calibri" pitchFamily="34" charset="-120"/>
              </a:rPr>
              <a:t>A general pattern across most major AI tools — specifics vary by provider.</a:t>
            </a:r>
            <a:endParaRPr lang="en-US" sz="14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91672" cy="3017520"/>
        </p:xfrm>
        <a:graphic>
          <a:graphicData uri="http://schemas.openxmlformats.org/drawingml/2006/table">
            <a:tbl>
              <a:tblPr/>
              <a:tblGrid>
                <a:gridCol w="2560320"/>
                <a:gridCol w="4261104"/>
                <a:gridCol w="4270248"/>
              </a:tblGrid>
              <a:tr h="502920">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Aspect</a:t>
                      </a:r>
                      <a:endParaRPr lang="en-US" sz="115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1B2A4A"/>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Free tier</a:t>
                      </a:r>
                      <a:endParaRPr lang="en-US" sz="115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1B2A4A"/>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Paid tier</a:t>
                      </a:r>
                      <a:endParaRPr lang="en-US" sz="115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1B2A4A"/>
                    </a:solidFill>
                  </a:tcPr>
                </a:tc>
              </a:tr>
              <a:tr h="502920">
                <a:tc>
                  <a:txBody>
                    <a:bodyPr/>
                    <a:lstStyle/>
                    <a:p>
                      <a:pPr marL="0" indent="0" algn="l">
                        <a:buNone/>
                      </a:pPr>
                      <a:r>
                        <a:rPr lang="en-US" sz="1100" b="1" dirty="0">
                          <a:solidFill>
                            <a:srgbClr val="1B2A4A"/>
                          </a:solidFill>
                          <a:latin typeface="Calibri" pitchFamily="34" charset="0"/>
                          <a:ea typeface="Calibri" pitchFamily="34" charset="-122"/>
                          <a:cs typeface="Calibri" pitchFamily="34" charset="-120"/>
                        </a:rPr>
                        <a:t>Message / usage limits</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Capped daily or hourly; resets after a wait</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Much higher limits, sometimes unlimited</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r>
              <a:tr h="502920">
                <a:tc>
                  <a:txBody>
                    <a:bodyPr/>
                    <a:lstStyle/>
                    <a:p>
                      <a:pPr marL="0" indent="0" algn="l">
                        <a:buNone/>
                      </a:pPr>
                      <a:r>
                        <a:rPr lang="en-US" sz="1100" b="1" dirty="0">
                          <a:solidFill>
                            <a:srgbClr val="1B2A4A"/>
                          </a:solidFill>
                          <a:latin typeface="Calibri" pitchFamily="34" charset="0"/>
                          <a:ea typeface="Calibri" pitchFamily="34" charset="-122"/>
                          <a:cs typeface="Calibri" pitchFamily="34" charset="-120"/>
                        </a:rPr>
                        <a:t>Model access</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EFF6F7"/>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Often an older or "lite" model</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EFF6F7"/>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Access to the latest, most capable models</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EFF6F7"/>
                    </a:solidFill>
                  </a:tcPr>
                </a:tc>
              </a:tr>
              <a:tr h="502920">
                <a:tc>
                  <a:txBody>
                    <a:bodyPr/>
                    <a:lstStyle/>
                    <a:p>
                      <a:pPr marL="0" indent="0" algn="l">
                        <a:buNone/>
                      </a:pPr>
                      <a:r>
                        <a:rPr lang="en-US" sz="1100" b="1" dirty="0">
                          <a:solidFill>
                            <a:srgbClr val="1B2A4A"/>
                          </a:solidFill>
                          <a:latin typeface="Calibri" pitchFamily="34" charset="0"/>
                          <a:ea typeface="Calibri" pitchFamily="34" charset="-122"/>
                          <a:cs typeface="Calibri" pitchFamily="34" charset="-120"/>
                        </a:rPr>
                        <a:t>Response speed</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Can be slower during peak demand</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Priority access, faster responses</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r>
              <a:tr h="502920">
                <a:tc>
                  <a:txBody>
                    <a:bodyPr/>
                    <a:lstStyle/>
                    <a:p>
                      <a:pPr marL="0" indent="0" algn="l">
                        <a:buNone/>
                      </a:pPr>
                      <a:r>
                        <a:rPr lang="en-US" sz="1100" b="1" dirty="0">
                          <a:solidFill>
                            <a:srgbClr val="1B2A4A"/>
                          </a:solidFill>
                          <a:latin typeface="Calibri" pitchFamily="34" charset="0"/>
                          <a:ea typeface="Calibri" pitchFamily="34" charset="-122"/>
                          <a:cs typeface="Calibri" pitchFamily="34" charset="-120"/>
                        </a:rPr>
                        <a:t>File uploads / data tools</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EFF6F7"/>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Limited or unavailable</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EFF6F7"/>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Larger files, more analysis tools enabled</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EFF6F7"/>
                    </a:solidFill>
                  </a:tcPr>
                </a:tc>
              </a:tr>
              <a:tr h="502920">
                <a:tc>
                  <a:txBody>
                    <a:bodyPr/>
                    <a:lstStyle/>
                    <a:p>
                      <a:pPr marL="0" indent="0" algn="l">
                        <a:buNone/>
                      </a:pPr>
                      <a:r>
                        <a:rPr lang="en-US" sz="1100" b="1" dirty="0">
                          <a:solidFill>
                            <a:srgbClr val="1B2A4A"/>
                          </a:solidFill>
                          <a:latin typeface="Calibri" pitchFamily="34" charset="0"/>
                          <a:ea typeface="Calibri" pitchFamily="34" charset="-122"/>
                          <a:cs typeface="Calibri" pitchFamily="34" charset="-120"/>
                        </a:rPr>
                        <a:t>Data &amp; privacy controls</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Data may be used to improve the model</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Stronger opt-out and enterprise privacy terms</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Getting Started</a:t>
            </a:r>
            <a:endParaRPr lang="en-US" sz="950" dirty="0"/>
          </a:p>
        </p:txBody>
      </p:sp>
      <p:sp>
        <p:nvSpPr>
          <p:cNvPr id="7" name="Text 4"/>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58</a:t>
            </a:r>
            <a:endParaRPr lang="en-US" sz="9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5 · GETTING STARTED</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Common Free-Tier Limitations</a:t>
            </a:r>
            <a:endParaRPr lang="en-US" sz="3200" dirty="0"/>
          </a:p>
        </p:txBody>
      </p:sp>
      <p:sp>
        <p:nvSpPr>
          <p:cNvPr id="4" name="Shape 2"/>
          <p:cNvSpPr/>
          <p:nvPr/>
        </p:nvSpPr>
        <p:spPr>
          <a:xfrm>
            <a:off x="548640" y="192024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5" name="Shape 3"/>
          <p:cNvSpPr/>
          <p:nvPr/>
        </p:nvSpPr>
        <p:spPr>
          <a:xfrm>
            <a:off x="841248" y="2212848"/>
            <a:ext cx="658368" cy="658368"/>
          </a:xfrm>
          <a:prstGeom prst="ellipse">
            <a:avLst/>
          </a:prstGeom>
          <a:solidFill>
            <a:srgbClr val="B08A2E"/>
          </a:solidFill>
          <a:ln/>
        </p:spPr>
      </p:sp>
      <p:pic>
        <p:nvPicPr>
          <p:cNvPr id="6" name="Image 0" descr="icons/question.png"/>
          <p:cNvPicPr>
            <a:picLocks noChangeAspect="1"/>
          </p:cNvPicPr>
          <p:nvPr/>
        </p:nvPicPr>
        <p:blipFill>
          <a:blip r:embed="rId3"/>
          <a:stretch>
            <a:fillRect/>
          </a:stretch>
        </p:blipFill>
        <p:spPr>
          <a:xfrm>
            <a:off x="1012424" y="2384024"/>
            <a:ext cx="316017" cy="316017"/>
          </a:xfrm>
          <a:prstGeom prst="rect">
            <a:avLst/>
          </a:prstGeom>
        </p:spPr>
      </p:pic>
      <p:sp>
        <p:nvSpPr>
          <p:cNvPr id="7" name="Text 4"/>
          <p:cNvSpPr txBox="1"/>
          <p:nvPr/>
        </p:nvSpPr>
        <p:spPr>
          <a:xfrm>
            <a:off x="1645920" y="223113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Message caps</a:t>
            </a:r>
            <a:endParaRPr lang="en-US" sz="1650" dirty="0"/>
          </a:p>
        </p:txBody>
      </p:sp>
      <p:sp>
        <p:nvSpPr>
          <p:cNvPr id="8" name="Text 5"/>
          <p:cNvSpPr txBox="1"/>
          <p:nvPr/>
        </p:nvSpPr>
        <p:spPr>
          <a:xfrm>
            <a:off x="841248" y="299923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A fixed number of prompts per few hours — easy to hit during exam or deadline season.</a:t>
            </a:r>
            <a:endParaRPr lang="en-US" sz="1200" dirty="0"/>
          </a:p>
        </p:txBody>
      </p:sp>
      <p:sp>
        <p:nvSpPr>
          <p:cNvPr id="9" name="Shape 6"/>
          <p:cNvSpPr/>
          <p:nvPr/>
        </p:nvSpPr>
        <p:spPr>
          <a:xfrm>
            <a:off x="6254496" y="192024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Shape 7"/>
          <p:cNvSpPr/>
          <p:nvPr/>
        </p:nvSpPr>
        <p:spPr>
          <a:xfrm>
            <a:off x="6547104" y="2212848"/>
            <a:ext cx="658368" cy="658368"/>
          </a:xfrm>
          <a:prstGeom prst="ellipse">
            <a:avLst/>
          </a:prstGeom>
          <a:solidFill>
            <a:srgbClr val="B08A2E"/>
          </a:solidFill>
          <a:ln/>
        </p:spPr>
      </p:sp>
      <p:pic>
        <p:nvPicPr>
          <p:cNvPr id="11" name="Image 1" descr="icons/database.png"/>
          <p:cNvPicPr>
            <a:picLocks noChangeAspect="1"/>
          </p:cNvPicPr>
          <p:nvPr/>
        </p:nvPicPr>
        <p:blipFill>
          <a:blip r:embed="rId4"/>
          <a:stretch>
            <a:fillRect/>
          </a:stretch>
        </p:blipFill>
        <p:spPr>
          <a:xfrm>
            <a:off x="6718280" y="2384024"/>
            <a:ext cx="316017" cy="316017"/>
          </a:xfrm>
          <a:prstGeom prst="rect">
            <a:avLst/>
          </a:prstGeom>
        </p:spPr>
      </p:pic>
      <p:sp>
        <p:nvSpPr>
          <p:cNvPr id="12" name="Text 8"/>
          <p:cNvSpPr txBox="1"/>
          <p:nvPr/>
        </p:nvSpPr>
        <p:spPr>
          <a:xfrm>
            <a:off x="7351776" y="223113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Smaller context window</a:t>
            </a:r>
            <a:endParaRPr lang="en-US" sz="1650" dirty="0"/>
          </a:p>
        </p:txBody>
      </p:sp>
      <p:sp>
        <p:nvSpPr>
          <p:cNvPr id="13" name="Text 9"/>
          <p:cNvSpPr txBox="1"/>
          <p:nvPr/>
        </p:nvSpPr>
        <p:spPr>
          <a:xfrm>
            <a:off x="6547104" y="299923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Free tiers may accept shorter documents, cutting off very long papers or theses.</a:t>
            </a:r>
            <a:endParaRPr lang="en-US" sz="1200" dirty="0"/>
          </a:p>
        </p:txBody>
      </p:sp>
      <p:sp>
        <p:nvSpPr>
          <p:cNvPr id="14" name="Shape 10"/>
          <p:cNvSpPr/>
          <p:nvPr/>
        </p:nvSpPr>
        <p:spPr>
          <a:xfrm>
            <a:off x="548640" y="438912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5" name="Shape 11"/>
          <p:cNvSpPr/>
          <p:nvPr/>
        </p:nvSpPr>
        <p:spPr>
          <a:xfrm>
            <a:off x="841248" y="4681728"/>
            <a:ext cx="658368" cy="658368"/>
          </a:xfrm>
          <a:prstGeom prst="ellipse">
            <a:avLst/>
          </a:prstGeom>
          <a:solidFill>
            <a:srgbClr val="B08A2E"/>
          </a:solidFill>
          <a:ln/>
        </p:spPr>
      </p:sp>
      <p:pic>
        <p:nvPicPr>
          <p:cNvPr id="16" name="Image 2" descr="icons/chartbar.png"/>
          <p:cNvPicPr>
            <a:picLocks noChangeAspect="1"/>
          </p:cNvPicPr>
          <p:nvPr/>
        </p:nvPicPr>
        <p:blipFill>
          <a:blip r:embed="rId5"/>
          <a:stretch>
            <a:fillRect/>
          </a:stretch>
        </p:blipFill>
        <p:spPr>
          <a:xfrm>
            <a:off x="1012424" y="4852904"/>
            <a:ext cx="316017" cy="316017"/>
          </a:xfrm>
          <a:prstGeom prst="rect">
            <a:avLst/>
          </a:prstGeom>
        </p:spPr>
      </p:pic>
      <p:sp>
        <p:nvSpPr>
          <p:cNvPr id="17" name="Text 12"/>
          <p:cNvSpPr txBox="1"/>
          <p:nvPr/>
        </p:nvSpPr>
        <p:spPr>
          <a:xfrm>
            <a:off x="1645920" y="470001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Fewer advanced tools</a:t>
            </a:r>
            <a:endParaRPr lang="en-US" sz="1650" dirty="0"/>
          </a:p>
        </p:txBody>
      </p:sp>
      <p:sp>
        <p:nvSpPr>
          <p:cNvPr id="18" name="Text 13"/>
          <p:cNvSpPr txBox="1"/>
          <p:nvPr/>
        </p:nvSpPr>
        <p:spPr>
          <a:xfrm>
            <a:off x="841248" y="546811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Data-analysis, image-generation or code-execution features are often paid-only add-ons.</a:t>
            </a:r>
            <a:endParaRPr lang="en-US" sz="1200" dirty="0"/>
          </a:p>
        </p:txBody>
      </p:sp>
      <p:sp>
        <p:nvSpPr>
          <p:cNvPr id="19" name="Shape 14"/>
          <p:cNvSpPr/>
          <p:nvPr/>
        </p:nvSpPr>
        <p:spPr>
          <a:xfrm>
            <a:off x="6254496" y="438912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20" name="Shape 15"/>
          <p:cNvSpPr/>
          <p:nvPr/>
        </p:nvSpPr>
        <p:spPr>
          <a:xfrm>
            <a:off x="6547104" y="4681728"/>
            <a:ext cx="658368" cy="658368"/>
          </a:xfrm>
          <a:prstGeom prst="ellipse">
            <a:avLst/>
          </a:prstGeom>
          <a:solidFill>
            <a:srgbClr val="B08A2E"/>
          </a:solidFill>
          <a:ln/>
        </p:spPr>
      </p:sp>
      <p:pic>
        <p:nvPicPr>
          <p:cNvPr id="21" name="Image 3" descr="icons/lock.png"/>
          <p:cNvPicPr>
            <a:picLocks noChangeAspect="1"/>
          </p:cNvPicPr>
          <p:nvPr/>
        </p:nvPicPr>
        <p:blipFill>
          <a:blip r:embed="rId6"/>
          <a:stretch>
            <a:fillRect/>
          </a:stretch>
        </p:blipFill>
        <p:spPr>
          <a:xfrm>
            <a:off x="6718280" y="4852904"/>
            <a:ext cx="316017" cy="316017"/>
          </a:xfrm>
          <a:prstGeom prst="rect">
            <a:avLst/>
          </a:prstGeom>
        </p:spPr>
      </p:pic>
      <p:sp>
        <p:nvSpPr>
          <p:cNvPr id="22" name="Text 16"/>
          <p:cNvSpPr txBox="1"/>
          <p:nvPr/>
        </p:nvSpPr>
        <p:spPr>
          <a:xfrm>
            <a:off x="7351776" y="470001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Weaker privacy guarantees</a:t>
            </a:r>
            <a:endParaRPr lang="en-US" sz="1650" dirty="0"/>
          </a:p>
        </p:txBody>
      </p:sp>
      <p:sp>
        <p:nvSpPr>
          <p:cNvPr id="23" name="Text 17"/>
          <p:cNvSpPr txBox="1"/>
          <p:nvPr/>
        </p:nvSpPr>
        <p:spPr>
          <a:xfrm>
            <a:off x="6547104" y="546811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Your prompts may be reviewed or used for training unless you actively opt out.</a:t>
            </a:r>
            <a:endParaRPr lang="en-US" sz="1200" dirty="0"/>
          </a:p>
        </p:txBody>
      </p:sp>
      <p:sp>
        <p:nvSpPr>
          <p:cNvPr id="24" name="Text 18"/>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Part 5 · Getting Started</a:t>
            </a:r>
            <a:endParaRPr lang="en-US" sz="950" dirty="0"/>
          </a:p>
        </p:txBody>
      </p:sp>
      <p:sp>
        <p:nvSpPr>
          <p:cNvPr id="25" name="Text 19"/>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59</a:t>
            </a:r>
            <a:endParaRPr lang="en-US" sz="9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5 · GETTING STARTED</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Choosing the Right Plan for You</a:t>
            </a:r>
            <a:endParaRPr lang="en-US" sz="3200" dirty="0"/>
          </a:p>
        </p:txBody>
      </p:sp>
      <p:sp>
        <p:nvSpPr>
          <p:cNvPr id="4" name="Shape 2"/>
          <p:cNvSpPr/>
          <p:nvPr/>
        </p:nvSpPr>
        <p:spPr>
          <a:xfrm>
            <a:off x="9646920" y="777240"/>
            <a:ext cx="1737360" cy="1737360"/>
          </a:xfrm>
          <a:prstGeom prst="ellipse">
            <a:avLst/>
          </a:prstGeom>
          <a:solidFill>
            <a:srgbClr val="1C7293"/>
          </a:solidFill>
          <a:ln/>
        </p:spPr>
      </p:sp>
      <p:pic>
        <p:nvPicPr>
          <p:cNvPr id="5" name="Image 0" descr="icons/crown.png"/>
          <p:cNvPicPr>
            <a:picLocks noChangeAspect="1"/>
          </p:cNvPicPr>
          <p:nvPr/>
        </p:nvPicPr>
        <p:blipFill>
          <a:blip r:embed="rId3"/>
          <a:stretch>
            <a:fillRect/>
          </a:stretch>
        </p:blipFill>
        <p:spPr>
          <a:xfrm>
            <a:off x="10098634" y="1228954"/>
            <a:ext cx="833933" cy="833933"/>
          </a:xfrm>
          <a:prstGeom prst="rect">
            <a:avLst/>
          </a:prstGeom>
        </p:spPr>
      </p:pic>
      <p:sp>
        <p:nvSpPr>
          <p:cNvPr id="6" name="Shape 3"/>
          <p:cNvSpPr/>
          <p:nvPr/>
        </p:nvSpPr>
        <p:spPr>
          <a:xfrm>
            <a:off x="548640" y="2057400"/>
            <a:ext cx="10195560" cy="868680"/>
          </a:xfrm>
          <a:prstGeom prst="roundRect">
            <a:avLst>
              <a:gd name="adj" fmla="val 9474"/>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7" name="Text 4"/>
          <p:cNvSpPr txBox="1"/>
          <p:nvPr/>
        </p:nvSpPr>
        <p:spPr>
          <a:xfrm>
            <a:off x="868680" y="2057400"/>
            <a:ext cx="9509760" cy="868680"/>
          </a:xfrm>
          <a:prstGeom prst="rect">
            <a:avLst/>
          </a:prstGeom>
          <a:noFill/>
          <a:ln/>
        </p:spPr>
        <p:txBody>
          <a:bodyPr wrap="square" lIns="0" tIns="0" rIns="0" bIns="0" rtlCol="0" anchor="ctr"/>
          <a:lstStyle/>
          <a:p>
            <a:pPr marL="0" indent="0">
              <a:buNone/>
            </a:pPr>
            <a:r>
              <a:rPr lang="en-US" sz="1550" b="1" i="1" dirty="0">
                <a:solidFill>
                  <a:srgbClr val="1C7293"/>
                </a:solidFill>
                <a:latin typeface="Calibri" pitchFamily="34" charset="0"/>
                <a:ea typeface="Calibri" pitchFamily="34" charset="-122"/>
                <a:cs typeface="Calibri" pitchFamily="34" charset="-120"/>
              </a:rPr>
              <a:t>Should you personally stay on the free tier, or move to paid?</a:t>
            </a:r>
            <a:endParaRPr lang="en-US" sz="1550" dirty="0"/>
          </a:p>
        </p:txBody>
      </p:sp>
      <p:sp>
        <p:nvSpPr>
          <p:cNvPr id="8" name="Shape 5"/>
          <p:cNvSpPr/>
          <p:nvPr/>
        </p:nvSpPr>
        <p:spPr>
          <a:xfrm>
            <a:off x="548640" y="3154680"/>
            <a:ext cx="5074920" cy="2971800"/>
          </a:xfrm>
          <a:prstGeom prst="roundRect">
            <a:avLst>
              <a:gd name="adj" fmla="val 2769"/>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9" name="Text 6"/>
          <p:cNvSpPr txBox="1"/>
          <p:nvPr/>
        </p:nvSpPr>
        <p:spPr>
          <a:xfrm>
            <a:off x="841248" y="3364992"/>
            <a:ext cx="457200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WHY IT MATTERS</a:t>
            </a:r>
            <a:endParaRPr lang="en-US" sz="1050" dirty="0"/>
          </a:p>
        </p:txBody>
      </p:sp>
      <p:sp>
        <p:nvSpPr>
          <p:cNvPr id="10" name="Text 7"/>
          <p:cNvSpPr txBox="1"/>
          <p:nvPr/>
        </p:nvSpPr>
        <p:spPr>
          <a:xfrm>
            <a:off x="841248" y="3694176"/>
            <a:ext cx="4526280" cy="2286000"/>
          </a:xfrm>
          <a:prstGeom prst="rect">
            <a:avLst/>
          </a:prstGeom>
          <a:noFill/>
          <a:ln/>
        </p:spPr>
        <p:txBody>
          <a:bodyPr wrap="square" lIns="0" tIns="0" rIns="0" bIns="0" rtlCol="0" anchor="t"/>
          <a:lstStyle/>
          <a:p>
            <a:pPr marL="0" indent="0">
              <a:lnSpc>
                <a:spcPct val="122000"/>
              </a:lnSpc>
              <a:buNone/>
            </a:pPr>
            <a:r>
              <a:rPr lang="en-US" sz="1300" dirty="0">
                <a:solidFill>
                  <a:srgbClr val="55606C"/>
                </a:solidFill>
                <a:latin typeface="Calibri" pitchFamily="34" charset="0"/>
                <a:ea typeface="Calibri" pitchFamily="34" charset="-122"/>
                <a:cs typeface="Calibri" pitchFamily="34" charset="-120"/>
              </a:rPr>
              <a:t>A good rule of thumb: if you use an AI tool a few times a week for low-stakes tasks, a free tier is often enough. If it becomes part of your daily workflow, or you need larger files, faster responses, or stronger privacy terms, a paid or institutional plan quickly pays for itself in saved time.</a:t>
            </a:r>
            <a:endParaRPr lang="en-US" sz="1300" dirty="0"/>
          </a:p>
        </p:txBody>
      </p:sp>
      <p:sp>
        <p:nvSpPr>
          <p:cNvPr id="11" name="Shape 8"/>
          <p:cNvSpPr/>
          <p:nvPr/>
        </p:nvSpPr>
        <p:spPr>
          <a:xfrm>
            <a:off x="5852160" y="3154680"/>
            <a:ext cx="4892040" cy="2971800"/>
          </a:xfrm>
          <a:prstGeom prst="roundRect">
            <a:avLst>
              <a:gd name="adj" fmla="val 2769"/>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2" name="Text 9"/>
          <p:cNvSpPr txBox="1"/>
          <p:nvPr/>
        </p:nvSpPr>
        <p:spPr>
          <a:xfrm>
            <a:off x="6126480" y="3364992"/>
            <a:ext cx="4389120" cy="256032"/>
          </a:xfrm>
          <a:prstGeom prst="rect">
            <a:avLst/>
          </a:prstGeom>
          <a:noFill/>
          <a:ln/>
        </p:spPr>
        <p:txBody>
          <a:bodyPr wrap="square" lIns="0" tIns="0" rIns="0" bIns="0" rtlCol="0" anchor="ctr"/>
          <a:lstStyle/>
          <a:p>
            <a:pPr marL="0" indent="0">
              <a:buNone/>
            </a:pPr>
            <a:r>
              <a:rPr lang="en-US" sz="1050" b="1" kern="0" spc="140" dirty="0">
                <a:solidFill>
                  <a:srgbClr val="1C7293"/>
                </a:solidFill>
                <a:latin typeface="Calibri" pitchFamily="34" charset="0"/>
                <a:ea typeface="Calibri" pitchFamily="34" charset="-122"/>
                <a:cs typeface="Calibri" pitchFamily="34" charset="-120"/>
              </a:rPr>
              <a:t>ASK YOURSELF</a:t>
            </a:r>
            <a:endParaRPr lang="en-US" sz="1050" dirty="0"/>
          </a:p>
        </p:txBody>
      </p:sp>
      <p:sp>
        <p:nvSpPr>
          <p:cNvPr id="13" name="Text 10"/>
          <p:cNvSpPr txBox="1"/>
          <p:nvPr/>
        </p:nvSpPr>
        <p:spPr>
          <a:xfrm>
            <a:off x="6126480" y="3694176"/>
            <a:ext cx="4526280" cy="22860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How many times per week do I actually reach the usage cap?</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Do I regularly need to upload long documents or datasets?</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Would an institutional licence give me this for free already?</a:t>
            </a:r>
            <a:endParaRPr lang="en-US" sz="1250" dirty="0"/>
          </a:p>
          <a:p>
            <a:pPr marL="177800" indent="-177800">
              <a:spcAft>
                <a:spcPts val="800"/>
              </a:spcAft>
              <a:buSzPct val="100000"/>
              <a:buChar char="▪"/>
            </a:pPr>
            <a:r>
              <a:rPr lang="en-US" sz="1300" dirty="0">
                <a:solidFill>
                  <a:srgbClr val="1B2A4A"/>
                </a:solidFill>
                <a:latin typeface="Calibri" pitchFamily="34" charset="0"/>
                <a:ea typeface="Calibri" pitchFamily="34" charset="-122"/>
                <a:cs typeface="Calibri" pitchFamily="34" charset="-120"/>
              </a:rPr>
              <a:t>Is the time saved worth more than the subscription cost?</a:t>
            </a:r>
            <a:endParaRPr lang="en-US" sz="1250" dirty="0"/>
          </a:p>
        </p:txBody>
      </p:sp>
      <p:sp>
        <p:nvSpPr>
          <p:cNvPr id="14" name="Text 11"/>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Getting Started</a:t>
            </a:r>
            <a:endParaRPr lang="en-US" sz="950" dirty="0"/>
          </a:p>
        </p:txBody>
      </p:sp>
      <p:sp>
        <p:nvSpPr>
          <p:cNvPr id="15" name="Text 12"/>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60</a:t>
            </a:r>
            <a:endParaRPr lang="en-US" sz="9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5 · GETTING STARTED</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Responsible Use: A Quick Checklist</a:t>
            </a:r>
            <a:endParaRPr lang="en-US" sz="3200" dirty="0"/>
          </a:p>
        </p:txBody>
      </p:sp>
      <p:sp>
        <p:nvSpPr>
          <p:cNvPr id="4" name="Shape 2"/>
          <p:cNvSpPr/>
          <p:nvPr/>
        </p:nvSpPr>
        <p:spPr>
          <a:xfrm>
            <a:off x="548640" y="192024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5" name="Shape 3"/>
          <p:cNvSpPr/>
          <p:nvPr/>
        </p:nvSpPr>
        <p:spPr>
          <a:xfrm>
            <a:off x="841248" y="2212848"/>
            <a:ext cx="658368" cy="658368"/>
          </a:xfrm>
          <a:prstGeom prst="ellipse">
            <a:avLst/>
          </a:prstGeom>
          <a:solidFill>
            <a:srgbClr val="1C7293"/>
          </a:solidFill>
          <a:ln/>
        </p:spPr>
      </p:sp>
      <p:pic>
        <p:nvPicPr>
          <p:cNvPr id="6" name="Image 0" descr="icons/shield.png"/>
          <p:cNvPicPr>
            <a:picLocks noChangeAspect="1"/>
          </p:cNvPicPr>
          <p:nvPr/>
        </p:nvPicPr>
        <p:blipFill>
          <a:blip r:embed="rId3"/>
          <a:stretch>
            <a:fillRect/>
          </a:stretch>
        </p:blipFill>
        <p:spPr>
          <a:xfrm>
            <a:off x="1012424" y="2384024"/>
            <a:ext cx="316017" cy="316017"/>
          </a:xfrm>
          <a:prstGeom prst="rect">
            <a:avLst/>
          </a:prstGeom>
        </p:spPr>
      </p:pic>
      <p:sp>
        <p:nvSpPr>
          <p:cNvPr id="7" name="Text 4"/>
          <p:cNvSpPr txBox="1"/>
          <p:nvPr/>
        </p:nvSpPr>
        <p:spPr>
          <a:xfrm>
            <a:off x="1645920" y="223113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Never share confidential data</a:t>
            </a:r>
            <a:endParaRPr lang="en-US" sz="1650" dirty="0"/>
          </a:p>
        </p:txBody>
      </p:sp>
      <p:sp>
        <p:nvSpPr>
          <p:cNvPr id="8" name="Text 5"/>
          <p:cNvSpPr txBox="1"/>
          <p:nvPr/>
        </p:nvSpPr>
        <p:spPr>
          <a:xfrm>
            <a:off x="841248" y="299923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Keep student records, unpublished research, and personal data out of unapproved tools.</a:t>
            </a:r>
            <a:endParaRPr lang="en-US" sz="1200" dirty="0"/>
          </a:p>
        </p:txBody>
      </p:sp>
      <p:sp>
        <p:nvSpPr>
          <p:cNvPr id="9" name="Shape 6"/>
          <p:cNvSpPr/>
          <p:nvPr/>
        </p:nvSpPr>
        <p:spPr>
          <a:xfrm>
            <a:off x="6254496" y="192024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Shape 7"/>
          <p:cNvSpPr/>
          <p:nvPr/>
        </p:nvSpPr>
        <p:spPr>
          <a:xfrm>
            <a:off x="6547104" y="2212848"/>
            <a:ext cx="658368" cy="658368"/>
          </a:xfrm>
          <a:prstGeom prst="ellipse">
            <a:avLst/>
          </a:prstGeom>
          <a:solidFill>
            <a:srgbClr val="1C7293"/>
          </a:solidFill>
          <a:ln/>
        </p:spPr>
      </p:sp>
      <p:pic>
        <p:nvPicPr>
          <p:cNvPr id="11" name="Image 1" descr="icons/check.png"/>
          <p:cNvPicPr>
            <a:picLocks noChangeAspect="1"/>
          </p:cNvPicPr>
          <p:nvPr/>
        </p:nvPicPr>
        <p:blipFill>
          <a:blip r:embed="rId4"/>
          <a:stretch>
            <a:fillRect/>
          </a:stretch>
        </p:blipFill>
        <p:spPr>
          <a:xfrm>
            <a:off x="6718280" y="2384024"/>
            <a:ext cx="316017" cy="316017"/>
          </a:xfrm>
          <a:prstGeom prst="rect">
            <a:avLst/>
          </a:prstGeom>
        </p:spPr>
      </p:pic>
      <p:sp>
        <p:nvSpPr>
          <p:cNvPr id="12" name="Text 8"/>
          <p:cNvSpPr txBox="1"/>
          <p:nvPr/>
        </p:nvSpPr>
        <p:spPr>
          <a:xfrm>
            <a:off x="7351776" y="223113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Always verify important output</a:t>
            </a:r>
            <a:endParaRPr lang="en-US" sz="1650" dirty="0"/>
          </a:p>
        </p:txBody>
      </p:sp>
      <p:sp>
        <p:nvSpPr>
          <p:cNvPr id="13" name="Text 9"/>
          <p:cNvSpPr txBox="1"/>
          <p:nvPr/>
        </p:nvSpPr>
        <p:spPr>
          <a:xfrm>
            <a:off x="6547104" y="299923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Treat AI answers as a draft — check facts, citations, and figures before use.</a:t>
            </a:r>
            <a:endParaRPr lang="en-US" sz="1200" dirty="0"/>
          </a:p>
        </p:txBody>
      </p:sp>
      <p:sp>
        <p:nvSpPr>
          <p:cNvPr id="14" name="Shape 10"/>
          <p:cNvSpPr/>
          <p:nvPr/>
        </p:nvSpPr>
        <p:spPr>
          <a:xfrm>
            <a:off x="548640" y="438912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5" name="Shape 11"/>
          <p:cNvSpPr/>
          <p:nvPr/>
        </p:nvSpPr>
        <p:spPr>
          <a:xfrm>
            <a:off x="841248" y="4681728"/>
            <a:ext cx="658368" cy="658368"/>
          </a:xfrm>
          <a:prstGeom prst="ellipse">
            <a:avLst/>
          </a:prstGeom>
          <a:solidFill>
            <a:srgbClr val="1C7293"/>
          </a:solidFill>
          <a:ln/>
        </p:spPr>
      </p:sp>
      <p:pic>
        <p:nvPicPr>
          <p:cNvPr id="16" name="Image 2" descr="icons/clipboard.png"/>
          <p:cNvPicPr>
            <a:picLocks noChangeAspect="1"/>
          </p:cNvPicPr>
          <p:nvPr/>
        </p:nvPicPr>
        <p:blipFill>
          <a:blip r:embed="rId5"/>
          <a:stretch>
            <a:fillRect/>
          </a:stretch>
        </p:blipFill>
        <p:spPr>
          <a:xfrm>
            <a:off x="1012424" y="4852904"/>
            <a:ext cx="316017" cy="316017"/>
          </a:xfrm>
          <a:prstGeom prst="rect">
            <a:avLst/>
          </a:prstGeom>
        </p:spPr>
      </p:pic>
      <p:sp>
        <p:nvSpPr>
          <p:cNvPr id="17" name="Text 12"/>
          <p:cNvSpPr txBox="1"/>
          <p:nvPr/>
        </p:nvSpPr>
        <p:spPr>
          <a:xfrm>
            <a:off x="1645920" y="470001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Follow institutional policy</a:t>
            </a:r>
            <a:endParaRPr lang="en-US" sz="1650" dirty="0"/>
          </a:p>
        </p:txBody>
      </p:sp>
      <p:sp>
        <p:nvSpPr>
          <p:cNvPr id="18" name="Text 13"/>
          <p:cNvSpPr txBox="1"/>
          <p:nvPr/>
        </p:nvSpPr>
        <p:spPr>
          <a:xfrm>
            <a:off x="841248" y="546811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Check your university’s AI-use policy for teaching, grading, and research before adopting a tool.</a:t>
            </a:r>
            <a:endParaRPr lang="en-US" sz="1200" dirty="0"/>
          </a:p>
        </p:txBody>
      </p:sp>
      <p:sp>
        <p:nvSpPr>
          <p:cNvPr id="19" name="Shape 14"/>
          <p:cNvSpPr/>
          <p:nvPr/>
        </p:nvSpPr>
        <p:spPr>
          <a:xfrm>
            <a:off x="6254496" y="438912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20" name="Shape 15"/>
          <p:cNvSpPr/>
          <p:nvPr/>
        </p:nvSpPr>
        <p:spPr>
          <a:xfrm>
            <a:off x="6547104" y="4681728"/>
            <a:ext cx="658368" cy="658368"/>
          </a:xfrm>
          <a:prstGeom prst="ellipse">
            <a:avLst/>
          </a:prstGeom>
          <a:solidFill>
            <a:srgbClr val="1C7293"/>
          </a:solidFill>
          <a:ln/>
        </p:spPr>
      </p:sp>
      <p:pic>
        <p:nvPicPr>
          <p:cNvPr id="21" name="Image 3" descr="icons/star.png"/>
          <p:cNvPicPr>
            <a:picLocks noChangeAspect="1"/>
          </p:cNvPicPr>
          <p:nvPr/>
        </p:nvPicPr>
        <p:blipFill>
          <a:blip r:embed="rId6"/>
          <a:stretch>
            <a:fillRect/>
          </a:stretch>
        </p:blipFill>
        <p:spPr>
          <a:xfrm>
            <a:off x="6718280" y="4852904"/>
            <a:ext cx="316017" cy="316017"/>
          </a:xfrm>
          <a:prstGeom prst="rect">
            <a:avLst/>
          </a:prstGeom>
        </p:spPr>
      </p:pic>
      <p:sp>
        <p:nvSpPr>
          <p:cNvPr id="22" name="Text 16"/>
          <p:cNvSpPr txBox="1"/>
          <p:nvPr/>
        </p:nvSpPr>
        <p:spPr>
          <a:xfrm>
            <a:off x="7351776" y="470001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Disclose AI assistance appropriately</a:t>
            </a:r>
            <a:endParaRPr lang="en-US" sz="1650" dirty="0"/>
          </a:p>
        </p:txBody>
      </p:sp>
      <p:sp>
        <p:nvSpPr>
          <p:cNvPr id="23" name="Text 17"/>
          <p:cNvSpPr txBox="1"/>
          <p:nvPr/>
        </p:nvSpPr>
        <p:spPr>
          <a:xfrm>
            <a:off x="6547104" y="546811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Be transparent in publications, grading, or materials where AI played a drafting role.</a:t>
            </a:r>
            <a:endParaRPr lang="en-US" sz="1200" dirty="0"/>
          </a:p>
        </p:txBody>
      </p:sp>
      <p:sp>
        <p:nvSpPr>
          <p:cNvPr id="24" name="Text 18"/>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Part 5 · Getting Started</a:t>
            </a:r>
            <a:endParaRPr lang="en-US" sz="950" dirty="0"/>
          </a:p>
        </p:txBody>
      </p:sp>
      <p:sp>
        <p:nvSpPr>
          <p:cNvPr id="25" name="Text 19"/>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61</a:t>
            </a:r>
            <a:endParaRPr lang="en-US" sz="9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PART 5 · GETTING STARTED</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Frequently Asked Questions</a:t>
            </a:r>
            <a:endParaRPr lang="en-US" sz="3200" dirty="0"/>
          </a:p>
        </p:txBody>
      </p:sp>
      <p:sp>
        <p:nvSpPr>
          <p:cNvPr id="4" name="Shape 2"/>
          <p:cNvSpPr/>
          <p:nvPr/>
        </p:nvSpPr>
        <p:spPr>
          <a:xfrm>
            <a:off x="548640" y="192024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5" name="Shape 3"/>
          <p:cNvSpPr/>
          <p:nvPr/>
        </p:nvSpPr>
        <p:spPr>
          <a:xfrm>
            <a:off x="841248" y="2212848"/>
            <a:ext cx="658368" cy="658368"/>
          </a:xfrm>
          <a:prstGeom prst="ellipse">
            <a:avLst/>
          </a:prstGeom>
          <a:solidFill>
            <a:srgbClr val="1C7293"/>
          </a:solidFill>
          <a:ln/>
        </p:spPr>
      </p:sp>
      <p:pic>
        <p:nvPicPr>
          <p:cNvPr id="6" name="Image 0" descr="icons/question.png"/>
          <p:cNvPicPr>
            <a:picLocks noChangeAspect="1"/>
          </p:cNvPicPr>
          <p:nvPr/>
        </p:nvPicPr>
        <p:blipFill>
          <a:blip r:embed="rId3"/>
          <a:stretch>
            <a:fillRect/>
          </a:stretch>
        </p:blipFill>
        <p:spPr>
          <a:xfrm>
            <a:off x="1012424" y="2384024"/>
            <a:ext cx="316017" cy="316017"/>
          </a:xfrm>
          <a:prstGeom prst="rect">
            <a:avLst/>
          </a:prstGeom>
        </p:spPr>
      </p:pic>
      <p:sp>
        <p:nvSpPr>
          <p:cNvPr id="7" name="Text 4"/>
          <p:cNvSpPr txBox="1"/>
          <p:nvPr/>
        </p:nvSpPr>
        <p:spPr>
          <a:xfrm>
            <a:off x="1645920" y="223113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Can I use my personal email?</a:t>
            </a:r>
            <a:endParaRPr lang="en-US" sz="1650" dirty="0"/>
          </a:p>
        </p:txBody>
      </p:sp>
      <p:sp>
        <p:nvSpPr>
          <p:cNvPr id="8" name="Text 5"/>
          <p:cNvSpPr txBox="1"/>
          <p:nvPr/>
        </p:nvSpPr>
        <p:spPr>
          <a:xfrm>
            <a:off x="841248" y="299923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You can, but an institutional email often unlocks education pricing and clearer data-protection terms.</a:t>
            </a:r>
            <a:endParaRPr lang="en-US" sz="1200" dirty="0"/>
          </a:p>
        </p:txBody>
      </p:sp>
      <p:sp>
        <p:nvSpPr>
          <p:cNvPr id="9" name="Shape 6"/>
          <p:cNvSpPr/>
          <p:nvPr/>
        </p:nvSpPr>
        <p:spPr>
          <a:xfrm>
            <a:off x="6254496" y="192024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Shape 7"/>
          <p:cNvSpPr/>
          <p:nvPr/>
        </p:nvSpPr>
        <p:spPr>
          <a:xfrm>
            <a:off x="6547104" y="2212848"/>
            <a:ext cx="658368" cy="658368"/>
          </a:xfrm>
          <a:prstGeom prst="ellipse">
            <a:avLst/>
          </a:prstGeom>
          <a:solidFill>
            <a:srgbClr val="1C7293"/>
          </a:solidFill>
          <a:ln/>
        </p:spPr>
      </p:sp>
      <p:pic>
        <p:nvPicPr>
          <p:cNvPr id="11" name="Image 1" descr="icons/question.png"/>
          <p:cNvPicPr>
            <a:picLocks noChangeAspect="1"/>
          </p:cNvPicPr>
          <p:nvPr/>
        </p:nvPicPr>
        <p:blipFill>
          <a:blip r:embed="rId3"/>
          <a:stretch>
            <a:fillRect/>
          </a:stretch>
        </p:blipFill>
        <p:spPr>
          <a:xfrm>
            <a:off x="6718280" y="2384024"/>
            <a:ext cx="316017" cy="316017"/>
          </a:xfrm>
          <a:prstGeom prst="rect">
            <a:avLst/>
          </a:prstGeom>
        </p:spPr>
      </p:pic>
      <p:sp>
        <p:nvSpPr>
          <p:cNvPr id="12" name="Text 8"/>
          <p:cNvSpPr txBox="1"/>
          <p:nvPr/>
        </p:nvSpPr>
        <p:spPr>
          <a:xfrm>
            <a:off x="7351776" y="223113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Will switching plans lose my chat history?</a:t>
            </a:r>
            <a:endParaRPr lang="en-US" sz="1650" dirty="0"/>
          </a:p>
        </p:txBody>
      </p:sp>
      <p:sp>
        <p:nvSpPr>
          <p:cNvPr id="13" name="Text 9"/>
          <p:cNvSpPr txBox="1"/>
          <p:nvPr/>
        </p:nvSpPr>
        <p:spPr>
          <a:xfrm>
            <a:off x="6547104" y="299923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Generally no — upgrading a subscription keeps your existing conversations and settings intact.</a:t>
            </a:r>
            <a:endParaRPr lang="en-US" sz="1200" dirty="0"/>
          </a:p>
        </p:txBody>
      </p:sp>
      <p:sp>
        <p:nvSpPr>
          <p:cNvPr id="14" name="Shape 10"/>
          <p:cNvSpPr/>
          <p:nvPr/>
        </p:nvSpPr>
        <p:spPr>
          <a:xfrm>
            <a:off x="548640" y="438912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5" name="Shape 11"/>
          <p:cNvSpPr/>
          <p:nvPr/>
        </p:nvSpPr>
        <p:spPr>
          <a:xfrm>
            <a:off x="841248" y="4681728"/>
            <a:ext cx="658368" cy="658368"/>
          </a:xfrm>
          <a:prstGeom prst="ellipse">
            <a:avLst/>
          </a:prstGeom>
          <a:solidFill>
            <a:srgbClr val="1C7293"/>
          </a:solidFill>
          <a:ln/>
        </p:spPr>
      </p:sp>
      <p:pic>
        <p:nvPicPr>
          <p:cNvPr id="16" name="Image 2" descr="icons/question.png"/>
          <p:cNvPicPr>
            <a:picLocks noChangeAspect="1"/>
          </p:cNvPicPr>
          <p:nvPr/>
        </p:nvPicPr>
        <p:blipFill>
          <a:blip r:embed="rId3"/>
          <a:stretch>
            <a:fillRect/>
          </a:stretch>
        </p:blipFill>
        <p:spPr>
          <a:xfrm>
            <a:off x="1012424" y="4852904"/>
            <a:ext cx="316017" cy="316017"/>
          </a:xfrm>
          <a:prstGeom prst="rect">
            <a:avLst/>
          </a:prstGeom>
        </p:spPr>
      </p:pic>
      <p:sp>
        <p:nvSpPr>
          <p:cNvPr id="17" name="Text 12"/>
          <p:cNvSpPr txBox="1"/>
          <p:nvPr/>
        </p:nvSpPr>
        <p:spPr>
          <a:xfrm>
            <a:off x="1645920" y="470001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Can I cancel a paid plan anytime?</a:t>
            </a:r>
            <a:endParaRPr lang="en-US" sz="1650" dirty="0"/>
          </a:p>
        </p:txBody>
      </p:sp>
      <p:sp>
        <p:nvSpPr>
          <p:cNvPr id="18" name="Text 13"/>
          <p:cNvSpPr txBox="1"/>
          <p:nvPr/>
        </p:nvSpPr>
        <p:spPr>
          <a:xfrm>
            <a:off x="841248" y="546811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Most tools allow monthly cancellation; check the specific provider’s billing terms before subscribing.</a:t>
            </a:r>
            <a:endParaRPr lang="en-US" sz="1200" dirty="0"/>
          </a:p>
        </p:txBody>
      </p:sp>
      <p:sp>
        <p:nvSpPr>
          <p:cNvPr id="19" name="Shape 14"/>
          <p:cNvSpPr/>
          <p:nvPr/>
        </p:nvSpPr>
        <p:spPr>
          <a:xfrm>
            <a:off x="6254496" y="4389120"/>
            <a:ext cx="5385816"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20" name="Shape 15"/>
          <p:cNvSpPr/>
          <p:nvPr/>
        </p:nvSpPr>
        <p:spPr>
          <a:xfrm>
            <a:off x="6547104" y="4681728"/>
            <a:ext cx="658368" cy="658368"/>
          </a:xfrm>
          <a:prstGeom prst="ellipse">
            <a:avLst/>
          </a:prstGeom>
          <a:solidFill>
            <a:srgbClr val="1C7293"/>
          </a:solidFill>
          <a:ln/>
        </p:spPr>
      </p:sp>
      <p:pic>
        <p:nvPicPr>
          <p:cNvPr id="21" name="Image 3" descr="icons/question.png"/>
          <p:cNvPicPr>
            <a:picLocks noChangeAspect="1"/>
          </p:cNvPicPr>
          <p:nvPr/>
        </p:nvPicPr>
        <p:blipFill>
          <a:blip r:embed="rId3"/>
          <a:stretch>
            <a:fillRect/>
          </a:stretch>
        </p:blipFill>
        <p:spPr>
          <a:xfrm>
            <a:off x="6718280" y="4852904"/>
            <a:ext cx="316017" cy="316017"/>
          </a:xfrm>
          <a:prstGeom prst="rect">
            <a:avLst/>
          </a:prstGeom>
        </p:spPr>
      </p:pic>
      <p:sp>
        <p:nvSpPr>
          <p:cNvPr id="22" name="Text 16"/>
          <p:cNvSpPr txBox="1"/>
          <p:nvPr/>
        </p:nvSpPr>
        <p:spPr>
          <a:xfrm>
            <a:off x="7351776" y="4700016"/>
            <a:ext cx="4014216"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What if my institution has no policy yet?</a:t>
            </a:r>
            <a:endParaRPr lang="en-US" sz="1650" dirty="0"/>
          </a:p>
        </p:txBody>
      </p:sp>
      <p:sp>
        <p:nvSpPr>
          <p:cNvPr id="23" name="Text 17"/>
          <p:cNvSpPr txBox="1"/>
          <p:nvPr/>
        </p:nvSpPr>
        <p:spPr>
          <a:xfrm>
            <a:off x="6547104" y="5468112"/>
            <a:ext cx="4800600"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Default to the most cautious option: avoid sensitive data, verify outputs, and ask your department for guidance.</a:t>
            </a:r>
            <a:endParaRPr lang="en-US" sz="1200" dirty="0"/>
          </a:p>
        </p:txBody>
      </p:sp>
      <p:sp>
        <p:nvSpPr>
          <p:cNvPr id="24" name="Text 18"/>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Part 5 · Getting Started</a:t>
            </a:r>
            <a:endParaRPr lang="en-US" sz="950" dirty="0"/>
          </a:p>
        </p:txBody>
      </p:sp>
      <p:sp>
        <p:nvSpPr>
          <p:cNvPr id="25" name="Text 19"/>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62</a:t>
            </a:r>
            <a:endParaRPr lang="en-US" sz="9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0058400" y="-1645920"/>
            <a:ext cx="4114800" cy="4114800"/>
          </a:xfrm>
          <a:prstGeom prst="ellipse">
            <a:avLst/>
          </a:prstGeom>
          <a:solidFill>
            <a:srgbClr val="233A63"/>
          </a:solidFill>
          <a:ln/>
        </p:spPr>
      </p:sp>
      <p:sp>
        <p:nvSpPr>
          <p:cNvPr id="3" name="Text 1"/>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9FD6E8"/>
                </a:solidFill>
                <a:latin typeface="Calibri" pitchFamily="34" charset="0"/>
                <a:ea typeface="Calibri" pitchFamily="34" charset="-122"/>
                <a:cs typeface="Calibri" pitchFamily="34" charset="-120"/>
              </a:rPr>
              <a:t>PART 5 RECAP</a:t>
            </a:r>
            <a:endParaRPr lang="en-US" sz="1250" dirty="0"/>
          </a:p>
        </p:txBody>
      </p:sp>
      <p:sp>
        <p:nvSpPr>
          <p:cNvPr id="4" name="Text 2"/>
          <p:cNvSpPr txBox="1"/>
          <p:nvPr/>
        </p:nvSpPr>
        <p:spPr>
          <a:xfrm>
            <a:off x="548640" y="731520"/>
            <a:ext cx="10607040" cy="8229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Key Takeaways: Getting Started</a:t>
            </a:r>
            <a:endParaRPr lang="en-US" sz="3000" dirty="0"/>
          </a:p>
        </p:txBody>
      </p:sp>
      <p:sp>
        <p:nvSpPr>
          <p:cNvPr id="5" name="Shape 3"/>
          <p:cNvSpPr/>
          <p:nvPr/>
        </p:nvSpPr>
        <p:spPr>
          <a:xfrm>
            <a:off x="10149840" y="502920"/>
            <a:ext cx="1051560" cy="1051560"/>
          </a:xfrm>
          <a:prstGeom prst="ellipse">
            <a:avLst/>
          </a:prstGeom>
          <a:solidFill>
            <a:srgbClr val="1C7293"/>
          </a:solidFill>
          <a:ln/>
        </p:spPr>
      </p:sp>
      <p:pic>
        <p:nvPicPr>
          <p:cNvPr id="6" name="Image 0" descr="icons/rocket.png"/>
          <p:cNvPicPr>
            <a:picLocks noChangeAspect="1"/>
          </p:cNvPicPr>
          <p:nvPr/>
        </p:nvPicPr>
        <p:blipFill>
          <a:blip r:embed="rId3"/>
          <a:stretch>
            <a:fillRect/>
          </a:stretch>
        </p:blipFill>
        <p:spPr>
          <a:xfrm>
            <a:off x="10423246" y="776326"/>
            <a:ext cx="504749" cy="504749"/>
          </a:xfrm>
          <a:prstGeom prst="rect">
            <a:avLst/>
          </a:prstGeom>
        </p:spPr>
      </p:pic>
      <p:sp>
        <p:nvSpPr>
          <p:cNvPr id="7" name="Shape 4"/>
          <p:cNvSpPr/>
          <p:nvPr/>
        </p:nvSpPr>
        <p:spPr>
          <a:xfrm>
            <a:off x="548640" y="1965960"/>
            <a:ext cx="5408676" cy="1965960"/>
          </a:xfrm>
          <a:prstGeom prst="roundRect">
            <a:avLst>
              <a:gd name="adj" fmla="val 3721"/>
            </a:avLst>
          </a:prstGeom>
          <a:solidFill>
            <a:srgbClr val="233A63"/>
          </a:solidFill>
          <a:ln/>
        </p:spPr>
      </p:sp>
      <p:sp>
        <p:nvSpPr>
          <p:cNvPr id="8" name="Shape 5"/>
          <p:cNvSpPr/>
          <p:nvPr/>
        </p:nvSpPr>
        <p:spPr>
          <a:xfrm>
            <a:off x="804672" y="2221992"/>
            <a:ext cx="457200" cy="457200"/>
          </a:xfrm>
          <a:prstGeom prst="ellipse">
            <a:avLst/>
          </a:prstGeom>
          <a:solidFill>
            <a:srgbClr val="1C7293"/>
          </a:solidFill>
          <a:ln/>
        </p:spPr>
      </p:sp>
      <p:pic>
        <p:nvPicPr>
          <p:cNvPr id="9" name="Image 1" descr="icons/userplus.png"/>
          <p:cNvPicPr>
            <a:picLocks noChangeAspect="1"/>
          </p:cNvPicPr>
          <p:nvPr/>
        </p:nvPicPr>
        <p:blipFill>
          <a:blip r:embed="rId4"/>
          <a:stretch>
            <a:fillRect/>
          </a:stretch>
        </p:blipFill>
        <p:spPr>
          <a:xfrm>
            <a:off x="896112" y="2313432"/>
            <a:ext cx="274320" cy="274320"/>
          </a:xfrm>
          <a:prstGeom prst="rect">
            <a:avLst/>
          </a:prstGeom>
        </p:spPr>
      </p:pic>
      <p:sp>
        <p:nvSpPr>
          <p:cNvPr id="10" name="Text 6"/>
          <p:cNvSpPr txBox="1"/>
          <p:nvPr/>
        </p:nvSpPr>
        <p:spPr>
          <a:xfrm>
            <a:off x="1417320" y="2185416"/>
            <a:ext cx="4265676"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Check institutional access first</a:t>
            </a:r>
            <a:endParaRPr lang="en-US" sz="1450" dirty="0"/>
          </a:p>
        </p:txBody>
      </p:sp>
      <p:sp>
        <p:nvSpPr>
          <p:cNvPr id="11" name="Text 7"/>
          <p:cNvSpPr txBox="1"/>
          <p:nvPr/>
        </p:nvSpPr>
        <p:spPr>
          <a:xfrm>
            <a:off x="804672" y="2788920"/>
            <a:ext cx="4896612" cy="960120"/>
          </a:xfrm>
          <a:prstGeom prst="rect">
            <a:avLst/>
          </a:prstGeom>
          <a:noFill/>
          <a:ln/>
        </p:spPr>
        <p:txBody>
          <a:bodyPr wrap="square" lIns="0" tIns="0" rIns="0" bIns="0"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It may be free to you and come with better privacy terms than a personal account.</a:t>
            </a:r>
            <a:endParaRPr lang="en-US" sz="1150" dirty="0"/>
          </a:p>
        </p:txBody>
      </p:sp>
      <p:sp>
        <p:nvSpPr>
          <p:cNvPr id="12" name="Shape 8"/>
          <p:cNvSpPr/>
          <p:nvPr/>
        </p:nvSpPr>
        <p:spPr>
          <a:xfrm>
            <a:off x="6231636" y="1965960"/>
            <a:ext cx="5408676" cy="1965960"/>
          </a:xfrm>
          <a:prstGeom prst="roundRect">
            <a:avLst>
              <a:gd name="adj" fmla="val 3721"/>
            </a:avLst>
          </a:prstGeom>
          <a:solidFill>
            <a:srgbClr val="233A63"/>
          </a:solidFill>
          <a:ln/>
        </p:spPr>
      </p:sp>
      <p:sp>
        <p:nvSpPr>
          <p:cNvPr id="13" name="Shape 9"/>
          <p:cNvSpPr/>
          <p:nvPr/>
        </p:nvSpPr>
        <p:spPr>
          <a:xfrm>
            <a:off x="6487668" y="2221992"/>
            <a:ext cx="457200" cy="457200"/>
          </a:xfrm>
          <a:prstGeom prst="ellipse">
            <a:avLst/>
          </a:prstGeom>
          <a:solidFill>
            <a:srgbClr val="1C7293"/>
          </a:solidFill>
          <a:ln/>
        </p:spPr>
      </p:sp>
      <p:pic>
        <p:nvPicPr>
          <p:cNvPr id="14" name="Image 2" descr="icons/crown.png"/>
          <p:cNvPicPr>
            <a:picLocks noChangeAspect="1"/>
          </p:cNvPicPr>
          <p:nvPr/>
        </p:nvPicPr>
        <p:blipFill>
          <a:blip r:embed="rId5"/>
          <a:stretch>
            <a:fillRect/>
          </a:stretch>
        </p:blipFill>
        <p:spPr>
          <a:xfrm>
            <a:off x="6579108" y="2313432"/>
            <a:ext cx="274320" cy="274320"/>
          </a:xfrm>
          <a:prstGeom prst="rect">
            <a:avLst/>
          </a:prstGeom>
        </p:spPr>
      </p:pic>
      <p:sp>
        <p:nvSpPr>
          <p:cNvPr id="15" name="Text 10"/>
          <p:cNvSpPr txBox="1"/>
          <p:nvPr/>
        </p:nvSpPr>
        <p:spPr>
          <a:xfrm>
            <a:off x="7100316" y="2185416"/>
            <a:ext cx="4265676"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Free tiers are a great starting point</a:t>
            </a:r>
            <a:endParaRPr lang="en-US" sz="1450" dirty="0"/>
          </a:p>
        </p:txBody>
      </p:sp>
      <p:sp>
        <p:nvSpPr>
          <p:cNvPr id="16" name="Text 11"/>
          <p:cNvSpPr txBox="1"/>
          <p:nvPr/>
        </p:nvSpPr>
        <p:spPr>
          <a:xfrm>
            <a:off x="6487668" y="2788920"/>
            <a:ext cx="4896612" cy="960120"/>
          </a:xfrm>
          <a:prstGeom prst="rect">
            <a:avLst/>
          </a:prstGeom>
          <a:noFill/>
          <a:ln/>
        </p:spPr>
        <p:txBody>
          <a:bodyPr wrap="square" lIns="0" tIns="0" rIns="0" bIns="0"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Upgrade only once usage limits genuinely slow down your real work.</a:t>
            </a:r>
            <a:endParaRPr lang="en-US" sz="1150" dirty="0"/>
          </a:p>
        </p:txBody>
      </p:sp>
      <p:sp>
        <p:nvSpPr>
          <p:cNvPr id="17" name="Shape 12"/>
          <p:cNvSpPr/>
          <p:nvPr/>
        </p:nvSpPr>
        <p:spPr>
          <a:xfrm>
            <a:off x="548640" y="4206240"/>
            <a:ext cx="5408676" cy="1965960"/>
          </a:xfrm>
          <a:prstGeom prst="roundRect">
            <a:avLst>
              <a:gd name="adj" fmla="val 3721"/>
            </a:avLst>
          </a:prstGeom>
          <a:solidFill>
            <a:srgbClr val="233A63"/>
          </a:solidFill>
          <a:ln/>
        </p:spPr>
      </p:sp>
      <p:sp>
        <p:nvSpPr>
          <p:cNvPr id="18" name="Shape 13"/>
          <p:cNvSpPr/>
          <p:nvPr/>
        </p:nvSpPr>
        <p:spPr>
          <a:xfrm>
            <a:off x="804672" y="4462272"/>
            <a:ext cx="457200" cy="457200"/>
          </a:xfrm>
          <a:prstGeom prst="ellipse">
            <a:avLst/>
          </a:prstGeom>
          <a:solidFill>
            <a:srgbClr val="1C7293"/>
          </a:solidFill>
          <a:ln/>
        </p:spPr>
      </p:sp>
      <p:pic>
        <p:nvPicPr>
          <p:cNvPr id="19" name="Image 3" descr="icons/lock.png"/>
          <p:cNvPicPr>
            <a:picLocks noChangeAspect="1"/>
          </p:cNvPicPr>
          <p:nvPr/>
        </p:nvPicPr>
        <p:blipFill>
          <a:blip r:embed="rId6"/>
          <a:stretch>
            <a:fillRect/>
          </a:stretch>
        </p:blipFill>
        <p:spPr>
          <a:xfrm>
            <a:off x="896112" y="4553712"/>
            <a:ext cx="274320" cy="274320"/>
          </a:xfrm>
          <a:prstGeom prst="rect">
            <a:avLst/>
          </a:prstGeom>
        </p:spPr>
      </p:pic>
      <p:sp>
        <p:nvSpPr>
          <p:cNvPr id="20" name="Text 14"/>
          <p:cNvSpPr txBox="1"/>
          <p:nvPr/>
        </p:nvSpPr>
        <p:spPr>
          <a:xfrm>
            <a:off x="1417320" y="4425696"/>
            <a:ext cx="4265676"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Review privacy settings early</a:t>
            </a:r>
            <a:endParaRPr lang="en-US" sz="1450" dirty="0"/>
          </a:p>
        </p:txBody>
      </p:sp>
      <p:sp>
        <p:nvSpPr>
          <p:cNvPr id="21" name="Text 15"/>
          <p:cNvSpPr txBox="1"/>
          <p:nvPr/>
        </p:nvSpPr>
        <p:spPr>
          <a:xfrm>
            <a:off x="804672" y="5029200"/>
            <a:ext cx="4896612" cy="960120"/>
          </a:xfrm>
          <a:prstGeom prst="rect">
            <a:avLst/>
          </a:prstGeom>
          <a:noFill/>
          <a:ln/>
        </p:spPr>
        <p:txBody>
          <a:bodyPr wrap="square" lIns="0" tIns="0" rIns="0" bIns="0"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Opt out of data-training where possible, especially for sensitive material.</a:t>
            </a:r>
            <a:endParaRPr lang="en-US" sz="1150" dirty="0"/>
          </a:p>
        </p:txBody>
      </p:sp>
      <p:sp>
        <p:nvSpPr>
          <p:cNvPr id="22" name="Shape 16"/>
          <p:cNvSpPr/>
          <p:nvPr/>
        </p:nvSpPr>
        <p:spPr>
          <a:xfrm>
            <a:off x="6231636" y="4206240"/>
            <a:ext cx="5408676" cy="1965960"/>
          </a:xfrm>
          <a:prstGeom prst="roundRect">
            <a:avLst>
              <a:gd name="adj" fmla="val 3721"/>
            </a:avLst>
          </a:prstGeom>
          <a:solidFill>
            <a:srgbClr val="233A63"/>
          </a:solidFill>
          <a:ln/>
        </p:spPr>
      </p:sp>
      <p:sp>
        <p:nvSpPr>
          <p:cNvPr id="23" name="Shape 17"/>
          <p:cNvSpPr/>
          <p:nvPr/>
        </p:nvSpPr>
        <p:spPr>
          <a:xfrm>
            <a:off x="6487668" y="4462272"/>
            <a:ext cx="457200" cy="457200"/>
          </a:xfrm>
          <a:prstGeom prst="ellipse">
            <a:avLst/>
          </a:prstGeom>
          <a:solidFill>
            <a:srgbClr val="1C7293"/>
          </a:solidFill>
          <a:ln/>
        </p:spPr>
      </p:sp>
      <p:pic>
        <p:nvPicPr>
          <p:cNvPr id="24" name="Image 4" descr="icons/clipboard.png"/>
          <p:cNvPicPr>
            <a:picLocks noChangeAspect="1"/>
          </p:cNvPicPr>
          <p:nvPr/>
        </p:nvPicPr>
        <p:blipFill>
          <a:blip r:embed="rId7"/>
          <a:stretch>
            <a:fillRect/>
          </a:stretch>
        </p:blipFill>
        <p:spPr>
          <a:xfrm>
            <a:off x="6579108" y="4553712"/>
            <a:ext cx="274320" cy="274320"/>
          </a:xfrm>
          <a:prstGeom prst="rect">
            <a:avLst/>
          </a:prstGeom>
        </p:spPr>
      </p:pic>
      <p:sp>
        <p:nvSpPr>
          <p:cNvPr id="25" name="Text 18"/>
          <p:cNvSpPr txBox="1"/>
          <p:nvPr/>
        </p:nvSpPr>
        <p:spPr>
          <a:xfrm>
            <a:off x="7100316" y="4425696"/>
            <a:ext cx="4265676" cy="4572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Follow institutional AI policy</a:t>
            </a:r>
            <a:endParaRPr lang="en-US" sz="1450" dirty="0"/>
          </a:p>
        </p:txBody>
      </p:sp>
      <p:sp>
        <p:nvSpPr>
          <p:cNvPr id="26" name="Text 19"/>
          <p:cNvSpPr txBox="1"/>
          <p:nvPr/>
        </p:nvSpPr>
        <p:spPr>
          <a:xfrm>
            <a:off x="6487668" y="5029200"/>
            <a:ext cx="4896612" cy="960120"/>
          </a:xfrm>
          <a:prstGeom prst="rect">
            <a:avLst/>
          </a:prstGeom>
          <a:noFill/>
          <a:ln/>
        </p:spPr>
        <p:txBody>
          <a:bodyPr wrap="square" lIns="0" tIns="0" rIns="0" bIns="0" rtlCol="0" anchor="ctr"/>
          <a:lstStyle/>
          <a:p>
            <a:pPr marL="0" indent="0">
              <a:lnSpc>
                <a:spcPct val="120000"/>
              </a:lnSpc>
              <a:buNone/>
            </a:pPr>
            <a:r>
              <a:rPr lang="en-US" sz="1150" dirty="0">
                <a:solidFill>
                  <a:srgbClr val="C9D6E3"/>
                </a:solidFill>
                <a:latin typeface="Calibri" pitchFamily="34" charset="0"/>
                <a:ea typeface="Calibri" pitchFamily="34" charset="-122"/>
                <a:cs typeface="Calibri" pitchFamily="34" charset="-120"/>
              </a:rPr>
              <a:t>Responsible, transparent use protects you, your students, and your research.</a:t>
            </a:r>
            <a:endParaRPr lang="en-US" sz="1150" dirty="0"/>
          </a:p>
        </p:txBody>
      </p:sp>
      <p:sp>
        <p:nvSpPr>
          <p:cNvPr id="27" name="Text 20"/>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9FD6E8"/>
                </a:solidFill>
                <a:latin typeface="Calibri" pitchFamily="34" charset="0"/>
                <a:ea typeface="Calibri" pitchFamily="34" charset="-122"/>
                <a:cs typeface="Calibri" pitchFamily="34" charset="-120"/>
              </a:rPr>
              <a:t>Getting Started</a:t>
            </a:r>
            <a:endParaRPr lang="en-US" sz="950" dirty="0"/>
          </a:p>
        </p:txBody>
      </p:sp>
      <p:sp>
        <p:nvSpPr>
          <p:cNvPr id="28" name="Text 21"/>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9FD6E8"/>
                </a:solidFill>
                <a:latin typeface="Calibri" pitchFamily="34" charset="0"/>
                <a:ea typeface="Calibri" pitchFamily="34" charset="-122"/>
                <a:cs typeface="Calibri" pitchFamily="34" charset="-120"/>
              </a:rPr>
              <a:t>63</a:t>
            </a:r>
            <a:endParaRPr lang="en-US" sz="9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COURSE SUMMARY</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Everything We Covered Today</a:t>
            </a:r>
            <a:endParaRPr lang="en-US" sz="3200" dirty="0"/>
          </a:p>
        </p:txBody>
      </p:sp>
      <p:sp>
        <p:nvSpPr>
          <p:cNvPr id="4" name="Shape 2"/>
          <p:cNvSpPr/>
          <p:nvPr/>
        </p:nvSpPr>
        <p:spPr>
          <a:xfrm>
            <a:off x="548640" y="1920240"/>
            <a:ext cx="3483864"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5" name="Shape 3"/>
          <p:cNvSpPr/>
          <p:nvPr/>
        </p:nvSpPr>
        <p:spPr>
          <a:xfrm>
            <a:off x="841248" y="2212848"/>
            <a:ext cx="658368" cy="658368"/>
          </a:xfrm>
          <a:prstGeom prst="ellipse">
            <a:avLst/>
          </a:prstGeom>
          <a:solidFill>
            <a:srgbClr val="1C7293"/>
          </a:solidFill>
          <a:ln/>
        </p:spPr>
      </p:sp>
      <p:pic>
        <p:nvPicPr>
          <p:cNvPr id="6" name="Image 0" descr="icons/brain.png"/>
          <p:cNvPicPr>
            <a:picLocks noChangeAspect="1"/>
          </p:cNvPicPr>
          <p:nvPr/>
        </p:nvPicPr>
        <p:blipFill>
          <a:blip r:embed="rId3"/>
          <a:stretch>
            <a:fillRect/>
          </a:stretch>
        </p:blipFill>
        <p:spPr>
          <a:xfrm>
            <a:off x="1012424" y="2384024"/>
            <a:ext cx="316017" cy="316017"/>
          </a:xfrm>
          <a:prstGeom prst="rect">
            <a:avLst/>
          </a:prstGeom>
        </p:spPr>
      </p:pic>
      <p:sp>
        <p:nvSpPr>
          <p:cNvPr id="7" name="Text 4"/>
          <p:cNvSpPr txBox="1"/>
          <p:nvPr/>
        </p:nvSpPr>
        <p:spPr>
          <a:xfrm>
            <a:off x="1645920" y="2231136"/>
            <a:ext cx="2112264"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AI Fundamentals</a:t>
            </a:r>
            <a:endParaRPr lang="en-US" sz="1650" dirty="0"/>
          </a:p>
        </p:txBody>
      </p:sp>
      <p:sp>
        <p:nvSpPr>
          <p:cNvPr id="8" name="Text 5"/>
          <p:cNvSpPr txBox="1"/>
          <p:nvPr/>
        </p:nvSpPr>
        <p:spPr>
          <a:xfrm>
            <a:off x="841248" y="2999232"/>
            <a:ext cx="2898648"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AI, ML, DL, NLP and GenAI — five nested concepts, simply defined</a:t>
            </a:r>
            <a:endParaRPr lang="en-US" sz="1200" dirty="0"/>
          </a:p>
        </p:txBody>
      </p:sp>
      <p:sp>
        <p:nvSpPr>
          <p:cNvPr id="9" name="Shape 6"/>
          <p:cNvSpPr/>
          <p:nvPr/>
        </p:nvSpPr>
        <p:spPr>
          <a:xfrm>
            <a:off x="4352544" y="1920240"/>
            <a:ext cx="3483864"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0" name="Shape 7"/>
          <p:cNvSpPr/>
          <p:nvPr/>
        </p:nvSpPr>
        <p:spPr>
          <a:xfrm>
            <a:off x="4645152" y="2212848"/>
            <a:ext cx="658368" cy="658368"/>
          </a:xfrm>
          <a:prstGeom prst="ellipse">
            <a:avLst/>
          </a:prstGeom>
          <a:solidFill>
            <a:srgbClr val="1C7293"/>
          </a:solidFill>
          <a:ln/>
        </p:spPr>
      </p:sp>
      <p:pic>
        <p:nvPicPr>
          <p:cNvPr id="11" name="Image 1" descr="icons/toolbox.png"/>
          <p:cNvPicPr>
            <a:picLocks noChangeAspect="1"/>
          </p:cNvPicPr>
          <p:nvPr/>
        </p:nvPicPr>
        <p:blipFill>
          <a:blip r:embed="rId4"/>
          <a:stretch>
            <a:fillRect/>
          </a:stretch>
        </p:blipFill>
        <p:spPr>
          <a:xfrm>
            <a:off x="4816328" y="2384024"/>
            <a:ext cx="316017" cy="316017"/>
          </a:xfrm>
          <a:prstGeom prst="rect">
            <a:avLst/>
          </a:prstGeom>
        </p:spPr>
      </p:pic>
      <p:sp>
        <p:nvSpPr>
          <p:cNvPr id="12" name="Text 8"/>
          <p:cNvSpPr txBox="1"/>
          <p:nvPr/>
        </p:nvSpPr>
        <p:spPr>
          <a:xfrm>
            <a:off x="5449824" y="2231136"/>
            <a:ext cx="2112264"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Tool Categories</a:t>
            </a:r>
            <a:endParaRPr lang="en-US" sz="1650" dirty="0"/>
          </a:p>
        </p:txBody>
      </p:sp>
      <p:sp>
        <p:nvSpPr>
          <p:cNvPr id="13" name="Text 9"/>
          <p:cNvSpPr txBox="1"/>
          <p:nvPr/>
        </p:nvSpPr>
        <p:spPr>
          <a:xfrm>
            <a:off x="4645152" y="2999232"/>
            <a:ext cx="2898648"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Conversational, code, data, image and writing tools compared</a:t>
            </a:r>
            <a:endParaRPr lang="en-US" sz="1200" dirty="0"/>
          </a:p>
        </p:txBody>
      </p:sp>
      <p:sp>
        <p:nvSpPr>
          <p:cNvPr id="14" name="Shape 10"/>
          <p:cNvSpPr/>
          <p:nvPr/>
        </p:nvSpPr>
        <p:spPr>
          <a:xfrm>
            <a:off x="8156448" y="1920240"/>
            <a:ext cx="3483864"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15" name="Shape 11"/>
          <p:cNvSpPr/>
          <p:nvPr/>
        </p:nvSpPr>
        <p:spPr>
          <a:xfrm>
            <a:off x="8449056" y="2212848"/>
            <a:ext cx="658368" cy="658368"/>
          </a:xfrm>
          <a:prstGeom prst="ellipse">
            <a:avLst/>
          </a:prstGeom>
          <a:solidFill>
            <a:srgbClr val="1C7293"/>
          </a:solidFill>
          <a:ln/>
        </p:spPr>
      </p:sp>
      <p:pic>
        <p:nvPicPr>
          <p:cNvPr id="16" name="Image 2" descr="icons/microchip.png"/>
          <p:cNvPicPr>
            <a:picLocks noChangeAspect="1"/>
          </p:cNvPicPr>
          <p:nvPr/>
        </p:nvPicPr>
        <p:blipFill>
          <a:blip r:embed="rId5"/>
          <a:stretch>
            <a:fillRect/>
          </a:stretch>
        </p:blipFill>
        <p:spPr>
          <a:xfrm>
            <a:off x="8620232" y="2384024"/>
            <a:ext cx="316017" cy="316017"/>
          </a:xfrm>
          <a:prstGeom prst="rect">
            <a:avLst/>
          </a:prstGeom>
        </p:spPr>
      </p:pic>
      <p:sp>
        <p:nvSpPr>
          <p:cNvPr id="17" name="Text 12"/>
          <p:cNvSpPr txBox="1"/>
          <p:nvPr/>
        </p:nvSpPr>
        <p:spPr>
          <a:xfrm>
            <a:off x="9253728" y="2231136"/>
            <a:ext cx="2112264"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How LLMs Work</a:t>
            </a:r>
            <a:endParaRPr lang="en-US" sz="1650" dirty="0"/>
          </a:p>
        </p:txBody>
      </p:sp>
      <p:sp>
        <p:nvSpPr>
          <p:cNvPr id="18" name="Text 13"/>
          <p:cNvSpPr txBox="1"/>
          <p:nvPr/>
        </p:nvSpPr>
        <p:spPr>
          <a:xfrm>
            <a:off x="8449056" y="2999232"/>
            <a:ext cx="2898648"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Tokenization, embedding, attention and prediction, step by step</a:t>
            </a:r>
            <a:endParaRPr lang="en-US" sz="1200" dirty="0"/>
          </a:p>
        </p:txBody>
      </p:sp>
      <p:sp>
        <p:nvSpPr>
          <p:cNvPr id="19" name="Shape 14"/>
          <p:cNvSpPr/>
          <p:nvPr/>
        </p:nvSpPr>
        <p:spPr>
          <a:xfrm>
            <a:off x="2450592" y="4389120"/>
            <a:ext cx="3483864"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20" name="Shape 15"/>
          <p:cNvSpPr/>
          <p:nvPr/>
        </p:nvSpPr>
        <p:spPr>
          <a:xfrm>
            <a:off x="2743200" y="4681728"/>
            <a:ext cx="658368" cy="658368"/>
          </a:xfrm>
          <a:prstGeom prst="ellipse">
            <a:avLst/>
          </a:prstGeom>
          <a:solidFill>
            <a:srgbClr val="1C7293"/>
          </a:solidFill>
          <a:ln/>
        </p:spPr>
      </p:sp>
      <p:pic>
        <p:nvPicPr>
          <p:cNvPr id="21" name="Image 3" descr="icons/balance.png"/>
          <p:cNvPicPr>
            <a:picLocks noChangeAspect="1"/>
          </p:cNvPicPr>
          <p:nvPr/>
        </p:nvPicPr>
        <p:blipFill>
          <a:blip r:embed="rId6"/>
          <a:stretch>
            <a:fillRect/>
          </a:stretch>
        </p:blipFill>
        <p:spPr>
          <a:xfrm>
            <a:off x="2914376" y="4852904"/>
            <a:ext cx="316017" cy="316017"/>
          </a:xfrm>
          <a:prstGeom prst="rect">
            <a:avLst/>
          </a:prstGeom>
        </p:spPr>
      </p:pic>
      <p:sp>
        <p:nvSpPr>
          <p:cNvPr id="22" name="Text 16"/>
          <p:cNvSpPr txBox="1"/>
          <p:nvPr/>
        </p:nvSpPr>
        <p:spPr>
          <a:xfrm>
            <a:off x="3547872" y="4700016"/>
            <a:ext cx="2112264"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Choosing a Tool</a:t>
            </a:r>
            <a:endParaRPr lang="en-US" sz="1650" dirty="0"/>
          </a:p>
        </p:txBody>
      </p:sp>
      <p:sp>
        <p:nvSpPr>
          <p:cNvPr id="23" name="Text 17"/>
          <p:cNvSpPr txBox="1"/>
          <p:nvPr/>
        </p:nvSpPr>
        <p:spPr>
          <a:xfrm>
            <a:off x="2743200" y="5468112"/>
            <a:ext cx="2898648"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Accuracy, cost, data sensitivity and output format</a:t>
            </a:r>
            <a:endParaRPr lang="en-US" sz="1200" dirty="0"/>
          </a:p>
        </p:txBody>
      </p:sp>
      <p:sp>
        <p:nvSpPr>
          <p:cNvPr id="24" name="Shape 18"/>
          <p:cNvSpPr/>
          <p:nvPr/>
        </p:nvSpPr>
        <p:spPr>
          <a:xfrm>
            <a:off x="6254496" y="4389120"/>
            <a:ext cx="3483864" cy="2148840"/>
          </a:xfrm>
          <a:prstGeom prst="roundRect">
            <a:avLst>
              <a:gd name="adj" fmla="val 3830"/>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25" name="Shape 19"/>
          <p:cNvSpPr/>
          <p:nvPr/>
        </p:nvSpPr>
        <p:spPr>
          <a:xfrm>
            <a:off x="6547104" y="4681728"/>
            <a:ext cx="658368" cy="658368"/>
          </a:xfrm>
          <a:prstGeom prst="ellipse">
            <a:avLst/>
          </a:prstGeom>
          <a:solidFill>
            <a:srgbClr val="1C7293"/>
          </a:solidFill>
          <a:ln/>
        </p:spPr>
      </p:sp>
      <p:pic>
        <p:nvPicPr>
          <p:cNvPr id="26" name="Image 4" descr="icons/rocket.png"/>
          <p:cNvPicPr>
            <a:picLocks noChangeAspect="1"/>
          </p:cNvPicPr>
          <p:nvPr/>
        </p:nvPicPr>
        <p:blipFill>
          <a:blip r:embed="rId7"/>
          <a:stretch>
            <a:fillRect/>
          </a:stretch>
        </p:blipFill>
        <p:spPr>
          <a:xfrm>
            <a:off x="6718280" y="4852904"/>
            <a:ext cx="316017" cy="316017"/>
          </a:xfrm>
          <a:prstGeom prst="rect">
            <a:avLst/>
          </a:prstGeom>
        </p:spPr>
      </p:pic>
      <p:sp>
        <p:nvSpPr>
          <p:cNvPr id="27" name="Text 20"/>
          <p:cNvSpPr txBox="1"/>
          <p:nvPr/>
        </p:nvSpPr>
        <p:spPr>
          <a:xfrm>
            <a:off x="7351776" y="4700016"/>
            <a:ext cx="2112264" cy="411480"/>
          </a:xfrm>
          <a:prstGeom prst="rect">
            <a:avLst/>
          </a:prstGeom>
          <a:noFill/>
          <a:ln/>
        </p:spPr>
        <p:txBody>
          <a:bodyPr wrap="square" lIns="0" tIns="0" rIns="0" bIns="0" rtlCol="0" anchor="ctr"/>
          <a:lstStyle/>
          <a:p>
            <a:pPr marL="0" indent="0">
              <a:buNone/>
            </a:pPr>
            <a:r>
              <a:rPr lang="en-US" sz="1650" b="1" dirty="0">
                <a:solidFill>
                  <a:srgbClr val="1B2A4A"/>
                </a:solidFill>
                <a:latin typeface="Cambria" pitchFamily="34" charset="0"/>
                <a:ea typeface="Cambria" pitchFamily="34" charset="-122"/>
                <a:cs typeface="Cambria" pitchFamily="34" charset="-120"/>
              </a:rPr>
              <a:t>Getting Started</a:t>
            </a:r>
            <a:endParaRPr lang="en-US" sz="1650" dirty="0"/>
          </a:p>
        </p:txBody>
      </p:sp>
      <p:sp>
        <p:nvSpPr>
          <p:cNvPr id="28" name="Text 21"/>
          <p:cNvSpPr txBox="1"/>
          <p:nvPr/>
        </p:nvSpPr>
        <p:spPr>
          <a:xfrm>
            <a:off x="6547104" y="5468112"/>
            <a:ext cx="2898648" cy="868680"/>
          </a:xfrm>
          <a:prstGeom prst="rect">
            <a:avLst/>
          </a:prstGeom>
          <a:noFill/>
          <a:ln/>
        </p:spPr>
        <p:txBody>
          <a:bodyPr wrap="square" lIns="0" tIns="0" rIns="0" bIns="0" rtlCol="0" anchor="ctr"/>
          <a:lstStyle/>
          <a:p>
            <a:pPr marL="0" indent="0">
              <a:lnSpc>
                <a:spcPct val="120000"/>
              </a:lnSpc>
              <a:buNone/>
            </a:pPr>
            <a:r>
              <a:rPr lang="en-US" sz="1200" dirty="0">
                <a:solidFill>
                  <a:srgbClr val="8A94A0"/>
                </a:solidFill>
                <a:latin typeface="Calibri" pitchFamily="34" charset="0"/>
                <a:ea typeface="Calibri" pitchFamily="34" charset="-122"/>
                <a:cs typeface="Calibri" pitchFamily="34" charset="-120"/>
              </a:rPr>
              <a:t>Accounts, workspaces, and free vs paid tiers</a:t>
            </a:r>
            <a:endParaRPr lang="en-US" sz="1200" dirty="0"/>
          </a:p>
        </p:txBody>
      </p:sp>
      <p:sp>
        <p:nvSpPr>
          <p:cNvPr id="29" name="Text 22"/>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Course Summary</a:t>
            </a:r>
            <a:endParaRPr lang="en-US" sz="950" dirty="0"/>
          </a:p>
        </p:txBody>
      </p:sp>
      <p:sp>
        <p:nvSpPr>
          <p:cNvPr id="30" name="Text 23"/>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64</a:t>
            </a:r>
            <a:endParaRPr lang="en-US" sz="9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BEFORE YOU GO</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One Thing to Try This Week</a:t>
            </a:r>
            <a:endParaRPr lang="en-US" sz="3200" dirty="0"/>
          </a:p>
        </p:txBody>
      </p:sp>
      <p:sp>
        <p:nvSpPr>
          <p:cNvPr id="4" name="Shape 2"/>
          <p:cNvSpPr/>
          <p:nvPr/>
        </p:nvSpPr>
        <p:spPr>
          <a:xfrm>
            <a:off x="548640" y="2103120"/>
            <a:ext cx="10195560" cy="3566160"/>
          </a:xfrm>
          <a:prstGeom prst="roundRect">
            <a:avLst>
              <a:gd name="adj" fmla="val 2308"/>
            </a:avLst>
          </a:prstGeom>
          <a:solidFill>
            <a:srgbClr val="FFFFFF"/>
          </a:solidFill>
          <a:ln w="12700">
            <a:solidFill>
              <a:srgbClr val="E2E6EA"/>
            </a:solidFill>
            <a:prstDash val="solid"/>
          </a:ln>
          <a:effectLst>
            <a:outerShdw blurRad="76200" dist="25400" dir="5400000" algn="bl" rotWithShape="0">
              <a:srgbClr val="1B2A4A">
                <a:alpha val="14000"/>
              </a:srgbClr>
            </a:outerShdw>
          </a:effectLst>
        </p:spPr>
      </p:sp>
      <p:sp>
        <p:nvSpPr>
          <p:cNvPr id="5" name="Shape 3"/>
          <p:cNvSpPr/>
          <p:nvPr/>
        </p:nvSpPr>
        <p:spPr>
          <a:xfrm>
            <a:off x="5193792" y="2514600"/>
            <a:ext cx="1097280" cy="1097280"/>
          </a:xfrm>
          <a:prstGeom prst="ellipse">
            <a:avLst/>
          </a:prstGeom>
          <a:solidFill>
            <a:srgbClr val="1C7293"/>
          </a:solidFill>
          <a:ln/>
        </p:spPr>
      </p:sp>
      <p:pic>
        <p:nvPicPr>
          <p:cNvPr id="6" name="Image 0" descr="icons/rocket.png"/>
          <p:cNvPicPr>
            <a:picLocks noChangeAspect="1"/>
          </p:cNvPicPr>
          <p:nvPr/>
        </p:nvPicPr>
        <p:blipFill>
          <a:blip r:embed="rId3"/>
          <a:stretch>
            <a:fillRect/>
          </a:stretch>
        </p:blipFill>
        <p:spPr>
          <a:xfrm>
            <a:off x="5479085" y="2799893"/>
            <a:ext cx="526694" cy="526694"/>
          </a:xfrm>
          <a:prstGeom prst="rect">
            <a:avLst/>
          </a:prstGeom>
        </p:spPr>
      </p:pic>
      <p:sp>
        <p:nvSpPr>
          <p:cNvPr id="7" name="Text 4"/>
          <p:cNvSpPr txBox="1"/>
          <p:nvPr/>
        </p:nvSpPr>
        <p:spPr>
          <a:xfrm>
            <a:off x="1188720" y="3794760"/>
            <a:ext cx="9829800" cy="1005840"/>
          </a:xfrm>
          <a:prstGeom prst="rect">
            <a:avLst/>
          </a:prstGeom>
          <a:noFill/>
          <a:ln/>
        </p:spPr>
        <p:txBody>
          <a:bodyPr wrap="square" lIns="0" tIns="0" rIns="0" bIns="0" rtlCol="0" anchor="ctr"/>
          <a:lstStyle/>
          <a:p>
            <a:pPr marL="0" indent="0" algn="ctr">
              <a:lnSpc>
                <a:spcPct val="120000"/>
              </a:lnSpc>
              <a:buNone/>
            </a:pPr>
            <a:r>
              <a:rPr lang="en-US" sz="1900" b="1" i="1" dirty="0">
                <a:solidFill>
                  <a:srgbClr val="1B2A4A"/>
                </a:solidFill>
                <a:latin typeface="Cambria" pitchFamily="34" charset="0"/>
                <a:ea typeface="Cambria" pitchFamily="34" charset="-122"/>
                <a:cs typeface="Cambria" pitchFamily="34" charset="-120"/>
              </a:rPr>
              <a:t>“Pick one AI tool from today and use it for one real, low-stakes task before our next session.”</a:t>
            </a:r>
            <a:endParaRPr lang="en-US" sz="1900" dirty="0"/>
          </a:p>
        </p:txBody>
      </p:sp>
      <p:sp>
        <p:nvSpPr>
          <p:cNvPr id="8" name="Text 5"/>
          <p:cNvSpPr txBox="1"/>
          <p:nvPr/>
        </p:nvSpPr>
        <p:spPr>
          <a:xfrm>
            <a:off x="1645920" y="4846320"/>
            <a:ext cx="8915400" cy="640080"/>
          </a:xfrm>
          <a:prstGeom prst="rect">
            <a:avLst/>
          </a:prstGeom>
          <a:noFill/>
          <a:ln/>
        </p:spPr>
        <p:txBody>
          <a:bodyPr wrap="square" lIns="0" tIns="0" rIns="0" bIns="0" rtlCol="0" anchor="ctr"/>
          <a:lstStyle/>
          <a:p>
            <a:pPr marL="0" indent="0" algn="ctr">
              <a:lnSpc>
                <a:spcPct val="120000"/>
              </a:lnSpc>
              <a:buNone/>
            </a:pPr>
            <a:r>
              <a:rPr lang="en-US" sz="1250" dirty="0">
                <a:solidFill>
                  <a:srgbClr val="8A94A0"/>
                </a:solidFill>
                <a:latin typeface="Calibri" pitchFamily="34" charset="0"/>
                <a:ea typeface="Calibri" pitchFamily="34" charset="-122"/>
                <a:cs typeface="Calibri" pitchFamily="34" charset="-120"/>
              </a:rPr>
              <a:t>Small, consistent experimentation builds confidence faster than trying to learn everything at once.</a:t>
            </a:r>
            <a:endParaRPr lang="en-US" sz="1250" dirty="0"/>
          </a:p>
        </p:txBody>
      </p:sp>
      <p:sp>
        <p:nvSpPr>
          <p:cNvPr id="9" name="Text 6"/>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Course Summary</a:t>
            </a:r>
            <a:endParaRPr lang="en-US" sz="950" dirty="0"/>
          </a:p>
        </p:txBody>
      </p:sp>
      <p:sp>
        <p:nvSpPr>
          <p:cNvPr id="10" name="Text 7"/>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65</a:t>
            </a:r>
            <a:endParaRPr lang="en-US" sz="9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5F7F8"/>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320040"/>
          </a:xfrm>
          <a:prstGeom prst="rect">
            <a:avLst/>
          </a:prstGeom>
          <a:noFill/>
          <a:ln/>
        </p:spPr>
        <p:txBody>
          <a:bodyPr wrap="square" lIns="0" tIns="0" rIns="0" bIns="0" rtlCol="0" anchor="ctr"/>
          <a:lstStyle/>
          <a:p>
            <a:pPr marL="0" indent="0">
              <a:buNone/>
            </a:pPr>
            <a:r>
              <a:rPr lang="en-US" sz="1250" b="1" kern="0" spc="200" dirty="0">
                <a:solidFill>
                  <a:srgbClr val="1C7293"/>
                </a:solidFill>
                <a:latin typeface="Calibri" pitchFamily="34" charset="0"/>
                <a:ea typeface="Calibri" pitchFamily="34" charset="-122"/>
                <a:cs typeface="Calibri" pitchFamily="34" charset="-120"/>
              </a:rPr>
              <a:t>BEFORE YOU GO</a:t>
            </a:r>
            <a:endParaRPr lang="en-US" sz="1250" dirty="0"/>
          </a:p>
        </p:txBody>
      </p:sp>
      <p:sp>
        <p:nvSpPr>
          <p:cNvPr id="3" name="Text 1"/>
          <p:cNvSpPr txBox="1"/>
          <p:nvPr/>
        </p:nvSpPr>
        <p:spPr>
          <a:xfrm>
            <a:off x="548640" y="713232"/>
            <a:ext cx="11064240" cy="86868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Where to Go Next</a:t>
            </a:r>
            <a:endParaRPr lang="en-US" sz="3200" dirty="0"/>
          </a:p>
        </p:txBody>
      </p:sp>
      <p:sp>
        <p:nvSpPr>
          <p:cNvPr id="4" name="Text 2"/>
          <p:cNvSpPr txBox="1"/>
          <p:nvPr/>
        </p:nvSpPr>
        <p:spPr>
          <a:xfrm>
            <a:off x="548640" y="1426464"/>
            <a:ext cx="10607040" cy="365760"/>
          </a:xfrm>
          <a:prstGeom prst="rect">
            <a:avLst/>
          </a:prstGeom>
          <a:noFill/>
          <a:ln/>
        </p:spPr>
        <p:txBody>
          <a:bodyPr wrap="square" lIns="0" tIns="0" rIns="0" bIns="0" rtlCol="0" anchor="ctr"/>
          <a:lstStyle/>
          <a:p>
            <a:pPr marL="0" indent="0">
              <a:buNone/>
            </a:pPr>
            <a:r>
              <a:rPr lang="en-US" sz="1400" i="1" dirty="0">
                <a:solidFill>
                  <a:srgbClr val="8A94A0"/>
                </a:solidFill>
                <a:latin typeface="Calibri" pitchFamily="34" charset="0"/>
                <a:ea typeface="Calibri" pitchFamily="34" charset="-122"/>
                <a:cs typeface="Calibri" pitchFamily="34" charset="-120"/>
              </a:rPr>
              <a:t>A few reliable starting points for continued self-learning.</a:t>
            </a:r>
            <a:endParaRPr lang="en-US" sz="14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91672" cy="2514600"/>
        </p:xfrm>
        <a:graphic>
          <a:graphicData uri="http://schemas.openxmlformats.org/drawingml/2006/table">
            <a:tbl>
              <a:tblPr/>
              <a:tblGrid>
                <a:gridCol w="2926080"/>
                <a:gridCol w="4114800"/>
                <a:gridCol w="4050792"/>
              </a:tblGrid>
              <a:tr h="502920">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Resource type</a:t>
                      </a:r>
                      <a:endParaRPr lang="en-US" sz="115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1B2A4A"/>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Suggestion</a:t>
                      </a:r>
                      <a:endParaRPr lang="en-US" sz="115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1B2A4A"/>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Why it helps</a:t>
                      </a:r>
                      <a:endParaRPr lang="en-US" sz="115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1B2A4A"/>
                    </a:solidFill>
                  </a:tcPr>
                </a:tc>
              </a:tr>
              <a:tr h="502920">
                <a:tc>
                  <a:txBody>
                    <a:bodyPr/>
                    <a:lstStyle/>
                    <a:p>
                      <a:pPr marL="0" indent="0" algn="l">
                        <a:buNone/>
                      </a:pPr>
                      <a:r>
                        <a:rPr lang="en-US" sz="1100" b="1" dirty="0">
                          <a:solidFill>
                            <a:srgbClr val="1B2A4A"/>
                          </a:solidFill>
                          <a:latin typeface="Calibri" pitchFamily="34" charset="0"/>
                          <a:ea typeface="Calibri" pitchFamily="34" charset="-122"/>
                          <a:cs typeface="Calibri" pitchFamily="34" charset="-120"/>
                        </a:rPr>
                        <a:t>Institutional guidance</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Your university’s IT / Library AI policy page</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Confirms what is approved and what data rules apply</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r>
              <a:tr h="502920">
                <a:tc>
                  <a:txBody>
                    <a:bodyPr/>
                    <a:lstStyle/>
                    <a:p>
                      <a:pPr marL="0" indent="0" algn="l">
                        <a:buNone/>
                      </a:pPr>
                      <a:r>
                        <a:rPr lang="en-US" sz="1100" b="1" dirty="0">
                          <a:solidFill>
                            <a:srgbClr val="1B2A4A"/>
                          </a:solidFill>
                          <a:latin typeface="Calibri" pitchFamily="34" charset="0"/>
                          <a:ea typeface="Calibri" pitchFamily="34" charset="-122"/>
                          <a:cs typeface="Calibri" pitchFamily="34" charset="-120"/>
                        </a:rPr>
                        <a:t>Hands-on practice</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EFF6F7"/>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The free tier of one chosen tool</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EFF6F7"/>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Low-risk way to build comfort before using it for real work</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EFF6F7"/>
                    </a:solidFill>
                  </a:tcPr>
                </a:tc>
              </a:tr>
              <a:tr h="502920">
                <a:tc>
                  <a:txBody>
                    <a:bodyPr/>
                    <a:lstStyle/>
                    <a:p>
                      <a:pPr marL="0" indent="0" algn="l">
                        <a:buNone/>
                      </a:pPr>
                      <a:r>
                        <a:rPr lang="en-US" sz="1100" b="1" dirty="0">
                          <a:solidFill>
                            <a:srgbClr val="1B2A4A"/>
                          </a:solidFill>
                          <a:latin typeface="Calibri" pitchFamily="34" charset="0"/>
                          <a:ea typeface="Calibri" pitchFamily="34" charset="-122"/>
                          <a:cs typeface="Calibri" pitchFamily="34" charset="-120"/>
                        </a:rPr>
                        <a:t>Community learning</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Departmental AI-in-teaching discussion group</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Share prompts, pitfalls and wins with colleagues</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r>
              <a:tr h="502920">
                <a:tc>
                  <a:txBody>
                    <a:bodyPr/>
                    <a:lstStyle/>
                    <a:p>
                      <a:pPr marL="0" indent="0" algn="l">
                        <a:buNone/>
                      </a:pPr>
                      <a:r>
                        <a:rPr lang="en-US" sz="1100" b="1" dirty="0">
                          <a:solidFill>
                            <a:srgbClr val="1B2A4A"/>
                          </a:solidFill>
                          <a:latin typeface="Calibri" pitchFamily="34" charset="0"/>
                          <a:ea typeface="Calibri" pitchFamily="34" charset="-122"/>
                          <a:cs typeface="Calibri" pitchFamily="34" charset="-120"/>
                        </a:rPr>
                        <a:t>Official documentation</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EFF6F7"/>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The tool provider’s own help/documentation site</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EFF6F7"/>
                    </a:solidFill>
                  </a:tcPr>
                </a:tc>
                <a:tc>
                  <a:txBody>
                    <a:bodyPr/>
                    <a:lstStyle/>
                    <a:p>
                      <a:pPr marL="0" indent="0" algn="l">
                        <a:buNone/>
                      </a:pPr>
                      <a:r>
                        <a:rPr lang="en-US" sz="1100" dirty="0">
                          <a:solidFill>
                            <a:srgbClr val="55606C"/>
                          </a:solidFill>
                          <a:latin typeface="Calibri" pitchFamily="34" charset="0"/>
                          <a:ea typeface="Calibri" pitchFamily="34" charset="-122"/>
                          <a:cs typeface="Calibri" pitchFamily="34" charset="-120"/>
                        </a:rPr>
                        <a:t>Most accurate, up-to-date source on features and limits</a:t>
                      </a:r>
                      <a:endParaRPr lang="en-US" sz="1100" dirty="0">
                        <a:latin typeface="Calibri" charset="0"/>
                        <a:ea typeface="Calibri" charset="0"/>
                        <a:cs typeface="Calibri" charset="0"/>
                      </a:endParaRPr>
                    </a:p>
                  </a:txBody>
                  <a:tcPr anchor="ctr">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EFF6F7"/>
                    </a:solidFill>
                  </a:tcPr>
                </a:tc>
              </a:tr>
            </a:tbl>
          </a:graphicData>
        </a:graphic>
      </p:graphicFrame>
      <p:sp>
        <p:nvSpPr>
          <p:cNvPr id="6" name="Text 3"/>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8A94A0"/>
                </a:solidFill>
                <a:latin typeface="Calibri" pitchFamily="34" charset="0"/>
                <a:ea typeface="Calibri" pitchFamily="34" charset="-122"/>
                <a:cs typeface="Calibri" pitchFamily="34" charset="-120"/>
              </a:rPr>
              <a:t>Course Summary</a:t>
            </a:r>
            <a:endParaRPr lang="en-US" sz="950" dirty="0"/>
          </a:p>
        </p:txBody>
      </p:sp>
      <p:sp>
        <p:nvSpPr>
          <p:cNvPr id="7" name="Text 4"/>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8A94A0"/>
                </a:solidFill>
                <a:latin typeface="Calibri" pitchFamily="34" charset="0"/>
                <a:ea typeface="Calibri" pitchFamily="34" charset="-122"/>
                <a:cs typeface="Calibri" pitchFamily="34" charset="-120"/>
              </a:rPr>
              <a:t>66</a:t>
            </a:r>
            <a:endParaRPr lang="en-US" sz="9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828800" y="-2103120"/>
            <a:ext cx="5486400" cy="5486400"/>
          </a:xfrm>
          <a:prstGeom prst="ellipse">
            <a:avLst/>
          </a:prstGeom>
          <a:solidFill>
            <a:srgbClr val="233A63"/>
          </a:solidFill>
          <a:ln/>
        </p:spPr>
      </p:sp>
      <p:sp>
        <p:nvSpPr>
          <p:cNvPr id="3" name="Shape 1"/>
          <p:cNvSpPr/>
          <p:nvPr/>
        </p:nvSpPr>
        <p:spPr>
          <a:xfrm>
            <a:off x="8961120" y="3840480"/>
            <a:ext cx="5486400" cy="5486400"/>
          </a:xfrm>
          <a:prstGeom prst="ellipse">
            <a:avLst/>
          </a:prstGeom>
          <a:solidFill>
            <a:srgbClr val="121C33"/>
          </a:solidFill>
          <a:ln/>
        </p:spPr>
      </p:sp>
      <p:sp>
        <p:nvSpPr>
          <p:cNvPr id="4" name="Shape 2"/>
          <p:cNvSpPr/>
          <p:nvPr/>
        </p:nvSpPr>
        <p:spPr>
          <a:xfrm>
            <a:off x="5394960" y="1828800"/>
            <a:ext cx="1417320" cy="1417320"/>
          </a:xfrm>
          <a:prstGeom prst="ellipse">
            <a:avLst/>
          </a:prstGeom>
          <a:solidFill>
            <a:srgbClr val="1C7293"/>
          </a:solidFill>
          <a:ln/>
        </p:spPr>
      </p:sp>
      <p:pic>
        <p:nvPicPr>
          <p:cNvPr id="5" name="Image 0" descr="icons/graduation.png"/>
          <p:cNvPicPr>
            <a:picLocks noChangeAspect="1"/>
          </p:cNvPicPr>
          <p:nvPr/>
        </p:nvPicPr>
        <p:blipFill>
          <a:blip r:embed="rId3"/>
          <a:stretch>
            <a:fillRect/>
          </a:stretch>
        </p:blipFill>
        <p:spPr>
          <a:xfrm>
            <a:off x="5763463" y="2197303"/>
            <a:ext cx="680314" cy="680314"/>
          </a:xfrm>
          <a:prstGeom prst="rect">
            <a:avLst/>
          </a:prstGeom>
        </p:spPr>
      </p:pic>
      <p:sp>
        <p:nvSpPr>
          <p:cNvPr id="6" name="Text 3"/>
          <p:cNvSpPr txBox="1"/>
          <p:nvPr/>
        </p:nvSpPr>
        <p:spPr>
          <a:xfrm>
            <a:off x="731520" y="3429000"/>
            <a:ext cx="10698480" cy="1005840"/>
          </a:xfrm>
          <a:prstGeom prst="rect">
            <a:avLst/>
          </a:prstGeom>
          <a:noFill/>
          <a:ln/>
        </p:spPr>
        <p:txBody>
          <a:bodyPr wrap="square" lIns="0" tIns="0" rIns="0" bIns="0" rtlCol="0" anchor="ctr"/>
          <a:lstStyle/>
          <a:p>
            <a:pPr marL="0" indent="0" algn="ctr">
              <a:buNone/>
            </a:pPr>
            <a:r>
              <a:rPr lang="en-US" sz="3800" b="1" dirty="0">
                <a:solidFill>
                  <a:srgbClr val="FFFFFF"/>
                </a:solidFill>
                <a:latin typeface="Cambria" pitchFamily="34" charset="0"/>
                <a:ea typeface="Cambria" pitchFamily="34" charset="-122"/>
                <a:cs typeface="Cambria" pitchFamily="34" charset="-120"/>
              </a:rPr>
              <a:t>Thank You</a:t>
            </a:r>
            <a:endParaRPr lang="en-US" sz="3800" dirty="0"/>
          </a:p>
        </p:txBody>
      </p:sp>
      <p:sp>
        <p:nvSpPr>
          <p:cNvPr id="7" name="Text 4"/>
          <p:cNvSpPr txBox="1"/>
          <p:nvPr/>
        </p:nvSpPr>
        <p:spPr>
          <a:xfrm>
            <a:off x="1463040" y="4434840"/>
            <a:ext cx="9235440" cy="731520"/>
          </a:xfrm>
          <a:prstGeom prst="rect">
            <a:avLst/>
          </a:prstGeom>
          <a:noFill/>
          <a:ln/>
        </p:spPr>
        <p:txBody>
          <a:bodyPr wrap="square" lIns="0" tIns="0" rIns="0" bIns="0" rtlCol="0" anchor="ctr"/>
          <a:lstStyle/>
          <a:p>
            <a:pPr marL="0" indent="0" algn="ctr">
              <a:buNone/>
            </a:pPr>
            <a:r>
              <a:rPr lang="en-US" sz="1600" i="1" dirty="0">
                <a:solidFill>
                  <a:srgbClr val="C9D6E3"/>
                </a:solidFill>
                <a:latin typeface="Calibri" pitchFamily="34" charset="0"/>
                <a:ea typeface="Calibri" pitchFamily="34" charset="-122"/>
                <a:cs typeface="Calibri" pitchFamily="34" charset="-120"/>
              </a:rPr>
              <a:t>Questions &amp; Discussion</a:t>
            </a:r>
            <a:endParaRPr lang="en-US" sz="1600" dirty="0"/>
          </a:p>
        </p:txBody>
      </p:sp>
      <p:sp>
        <p:nvSpPr>
          <p:cNvPr id="8" name="Text 5"/>
          <p:cNvSpPr txBox="1"/>
          <p:nvPr/>
        </p:nvSpPr>
        <p:spPr>
          <a:xfrm>
            <a:off x="548640" y="6528816"/>
            <a:ext cx="7315200" cy="274320"/>
          </a:xfrm>
          <a:prstGeom prst="rect">
            <a:avLst/>
          </a:prstGeom>
          <a:noFill/>
          <a:ln/>
        </p:spPr>
        <p:txBody>
          <a:bodyPr wrap="square" lIns="0" tIns="0" rIns="0" bIns="0" rtlCol="0" anchor="ctr"/>
          <a:lstStyle/>
          <a:p>
            <a:pPr marL="0" indent="0">
              <a:buNone/>
            </a:pPr>
            <a:r>
              <a:rPr lang="en-US" sz="950" dirty="0">
                <a:solidFill>
                  <a:srgbClr val="9FD6E8"/>
                </a:solidFill>
                <a:latin typeface="Calibri" pitchFamily="34" charset="0"/>
                <a:ea typeface="Calibri" pitchFamily="34" charset="-122"/>
                <a:cs typeface="Calibri" pitchFamily="34" charset="-120"/>
              </a:rPr>
              <a:t>AI for Academics · Faculty Workshop</a:t>
            </a:r>
            <a:endParaRPr lang="en-US" sz="950" dirty="0"/>
          </a:p>
        </p:txBody>
      </p:sp>
      <p:sp>
        <p:nvSpPr>
          <p:cNvPr id="9" name="Text 6"/>
          <p:cNvSpPr txBox="1"/>
          <p:nvPr/>
        </p:nvSpPr>
        <p:spPr>
          <a:xfrm>
            <a:off x="11247120" y="6528816"/>
            <a:ext cx="457200" cy="274320"/>
          </a:xfrm>
          <a:prstGeom prst="rect">
            <a:avLst/>
          </a:prstGeom>
          <a:noFill/>
          <a:ln/>
        </p:spPr>
        <p:txBody>
          <a:bodyPr wrap="square" lIns="0" tIns="0" rIns="0" bIns="0" rtlCol="0" anchor="ctr"/>
          <a:lstStyle/>
          <a:p>
            <a:pPr marL="0" indent="0" algn="r">
              <a:buNone/>
            </a:pPr>
            <a:r>
              <a:rPr lang="en-US" sz="950" dirty="0">
                <a:solidFill>
                  <a:srgbClr val="9FD6E8"/>
                </a:solidFill>
                <a:latin typeface="Calibri" pitchFamily="34" charset="0"/>
                <a:ea typeface="Calibri" pitchFamily="34" charset="-122"/>
                <a:cs typeface="Calibri" pitchFamily="34" charset="-120"/>
              </a:rPr>
              <a:t>67</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TotalTime>
  <Words>6425</Words>
  <Application>Microsoft Office PowerPoint</Application>
  <PresentationFormat>Custom</PresentationFormat>
  <Paragraphs>967</Paragraphs>
  <Slides>67</Slides>
  <Notes>67</Notes>
  <HiddenSlides>0</HiddenSlides>
  <MMClips>0</MMClips>
  <ScaleCrop>false</ScaleCrop>
  <HeadingPairs>
    <vt:vector size="4" baseType="variant">
      <vt:variant>
        <vt:lpstr>Theme</vt:lpstr>
      </vt:variant>
      <vt:variant>
        <vt:i4>1</vt:i4>
      </vt:variant>
      <vt:variant>
        <vt:lpstr>Slide Titles</vt:lpstr>
      </vt:variant>
      <vt:variant>
        <vt:i4>67</vt:i4>
      </vt:variant>
    </vt:vector>
  </HeadingPairs>
  <TitlesOfParts>
    <vt:vector size="6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Windows User</cp:lastModifiedBy>
  <cp:revision>16</cp:revision>
  <dcterms:created xsi:type="dcterms:W3CDTF">2026-09-14T08:23:04Z</dcterms:created>
  <dcterms:modified xsi:type="dcterms:W3CDTF">2026-09-14T08:49:22Z</dcterms:modified>
</cp:coreProperties>
</file>