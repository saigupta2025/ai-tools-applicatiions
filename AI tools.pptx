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7" r:id="rId6"/>
    <p:sldId id="258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085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AI tools and Applications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Course Instructor : Sai Gupta</a:t>
            </a:r>
          </a:p>
          <a:p>
            <a:r>
              <a:rPr lang="en-US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&amp; Engineering</a:t>
            </a:r>
            <a:endParaRPr lang="en-US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741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AI tools and Applications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4864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AI tools and Applications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  L (03)+T (01)   ------ 2.5 Credits</a:t>
            </a:r>
            <a:endParaRPr lang="en-US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Sem: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  </a:t>
            </a: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CSE)</a:t>
            </a:r>
            <a:endParaRPr lang="en-US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Course Code: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V26AIL01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Total </a:t>
            </a: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Modules : 05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Course Outcomes: </a:t>
            </a:r>
            <a:endParaRPr lang="en-US" sz="20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419028"/>
              </p:ext>
            </p:extLst>
          </p:nvPr>
        </p:nvGraphicFramePr>
        <p:xfrm>
          <a:off x="304800" y="3352799"/>
          <a:ext cx="8610601" cy="327660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{46F890A9-2807-4EBB-B81D-B2AA78EC7F39}</a:tableStyleId>
              </a:tblPr>
              <a:tblGrid>
                <a:gridCol w="624092"/>
                <a:gridCol w="6843508"/>
                <a:gridCol w="1143001"/>
              </a:tblGrid>
              <a:tr h="585542">
                <a:tc>
                  <a:txBody>
                    <a:bodyPr/>
                    <a:lstStyle/>
                    <a:p>
                      <a:pPr marL="20955" marR="17780" algn="ctr">
                        <a:spcBef>
                          <a:spcPts val="530"/>
                        </a:spcBef>
                        <a:spcAft>
                          <a:spcPts val="0"/>
                        </a:spcAft>
                      </a:pPr>
                      <a:r>
                        <a:rPr lang="en-US" sz="1200" spc="-2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</a:t>
                      </a:r>
                      <a:endParaRPr lang="en-US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 algn="l">
                        <a:spcBef>
                          <a:spcPts val="53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Course</a:t>
                      </a:r>
                      <a:r>
                        <a:rPr lang="en-US" sz="1200" spc="-2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20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Outcome</a:t>
                      </a:r>
                      <a:endParaRPr lang="en-US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9715" marR="0" indent="-170815"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Knowledge Level</a:t>
                      </a:r>
                      <a:endParaRPr lang="en-US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335467">
                <a:tc>
                  <a:txBody>
                    <a:bodyPr/>
                    <a:lstStyle/>
                    <a:p>
                      <a:pPr marL="3175" marR="20955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pc="-25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CO1</a:t>
                      </a:r>
                      <a:endParaRPr lang="en-US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Explain</a:t>
                      </a:r>
                      <a:r>
                        <a:rPr lang="en-US" sz="140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AI</a:t>
                      </a:r>
                      <a:r>
                        <a:rPr lang="en-US" sz="1400" spc="-3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concepts</a:t>
                      </a:r>
                      <a:r>
                        <a:rPr lang="en-US" sz="1400" spc="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and</a:t>
                      </a:r>
                      <a:r>
                        <a:rPr lang="en-US" sz="1400" spc="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identify</a:t>
                      </a:r>
                      <a:r>
                        <a:rPr lang="en-US" sz="1400" spc="-2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suitable AI</a:t>
                      </a:r>
                      <a:r>
                        <a:rPr lang="en-US" sz="1400" spc="-2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tools</a:t>
                      </a:r>
                      <a:r>
                        <a:rPr lang="en-US" sz="1400" spc="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for</a:t>
                      </a:r>
                      <a:r>
                        <a:rPr lang="en-US" sz="140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different</a:t>
                      </a:r>
                      <a:r>
                        <a:rPr lang="en-US" sz="1400" spc="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tasks.</a:t>
                      </a:r>
                      <a:endParaRPr lang="en-US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marR="635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pc="-2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K2</a:t>
                      </a:r>
                      <a:endParaRPr lang="en-US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675815">
                <a:tc>
                  <a:txBody>
                    <a:bodyPr/>
                    <a:lstStyle/>
                    <a:p>
                      <a:pPr marL="3175" marR="2032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pc="-25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CO2</a:t>
                      </a:r>
                      <a:endParaRPr lang="en-US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Apply</a:t>
                      </a:r>
                      <a:r>
                        <a:rPr lang="en-US" sz="1400" spc="-3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prompting</a:t>
                      </a:r>
                      <a:r>
                        <a:rPr lang="en-US" sz="1400" spc="-1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techniques to obtain useful and accurate AI-</a:t>
                      </a:r>
                      <a:r>
                        <a:rPr lang="en-US" sz="140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generated</a:t>
                      </a:r>
                      <a:endParaRPr lang="en-US" sz="12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7945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responses.</a:t>
                      </a:r>
                      <a:endParaRPr lang="en-US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marR="635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pc="-25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K3</a:t>
                      </a:r>
                      <a:endParaRPr lang="en-US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672155">
                <a:tc>
                  <a:txBody>
                    <a:bodyPr/>
                    <a:lstStyle/>
                    <a:p>
                      <a:pPr marL="3175" marR="2032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pc="-25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CO3</a:t>
                      </a:r>
                      <a:endParaRPr lang="en-US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Experiment</a:t>
                      </a:r>
                      <a:r>
                        <a:rPr lang="en-US" sz="1400" spc="-1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with</a:t>
                      </a:r>
                      <a:r>
                        <a:rPr lang="en-US" sz="1400" spc="-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AI</a:t>
                      </a:r>
                      <a:r>
                        <a:rPr lang="en-US" sz="1400" spc="-3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tools for</a:t>
                      </a:r>
                      <a:r>
                        <a:rPr lang="en-US" sz="1400" spc="-1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data</a:t>
                      </a:r>
                      <a:r>
                        <a:rPr lang="en-US" sz="1400" spc="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analysis,</a:t>
                      </a:r>
                      <a:r>
                        <a:rPr lang="en-US" sz="1400" spc="-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visualization, </a:t>
                      </a:r>
                      <a:r>
                        <a:rPr lang="en-US" sz="1400" spc="-2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and</a:t>
                      </a:r>
                      <a:endParaRPr lang="en-US" sz="12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7945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interpretation.</a:t>
                      </a:r>
                      <a:endParaRPr lang="en-US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pc="-25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K3</a:t>
                      </a:r>
                      <a:endParaRPr lang="en-US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335467">
                <a:tc>
                  <a:txBody>
                    <a:bodyPr/>
                    <a:lstStyle/>
                    <a:p>
                      <a:pPr marL="3175" marR="2032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pc="-25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CO4</a:t>
                      </a:r>
                      <a:endParaRPr lang="en-US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Apply</a:t>
                      </a:r>
                      <a:r>
                        <a:rPr lang="en-US" sz="1400" spc="-3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AI</a:t>
                      </a:r>
                      <a:r>
                        <a:rPr lang="en-US" sz="1400" spc="-2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tools</a:t>
                      </a:r>
                      <a:r>
                        <a:rPr lang="en-US" sz="1400" spc="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 coding,</a:t>
                      </a:r>
                      <a:r>
                        <a:rPr lang="en-US" sz="1400" spc="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writing, presentations,</a:t>
                      </a:r>
                      <a:r>
                        <a:rPr lang="en-US" sz="1400" spc="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and productivity</a:t>
                      </a:r>
                      <a:r>
                        <a:rPr lang="en-US" sz="1400" spc="-2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tasks.</a:t>
                      </a:r>
                      <a:endParaRPr lang="en-US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pc="-25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K3</a:t>
                      </a:r>
                      <a:endParaRPr lang="en-US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672155">
                <a:tc>
                  <a:txBody>
                    <a:bodyPr/>
                    <a:lstStyle/>
                    <a:p>
                      <a:pPr marL="3175" marR="2032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pc="-2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CO5</a:t>
                      </a:r>
                      <a:endParaRPr lang="en-US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Illustrate ethical,</a:t>
                      </a:r>
                      <a:r>
                        <a:rPr lang="en-US" sz="1400" spc="-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privacy,</a:t>
                      </a:r>
                      <a:r>
                        <a:rPr lang="en-US" sz="1400" spc="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reliability,</a:t>
                      </a:r>
                      <a:r>
                        <a:rPr lang="en-US" sz="1400" spc="-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and</a:t>
                      </a:r>
                      <a:r>
                        <a:rPr lang="en-US" sz="1400" spc="-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security</a:t>
                      </a:r>
                      <a:r>
                        <a:rPr lang="en-US" sz="1400" spc="-3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issues</a:t>
                      </a:r>
                      <a:r>
                        <a:rPr lang="en-US" sz="1400" spc="-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</a:t>
                      </a:r>
                      <a:r>
                        <a:rPr lang="en-US" sz="1400" spc="-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using</a:t>
                      </a:r>
                      <a:r>
                        <a:rPr lang="en-US" sz="1400" spc="-1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spc="-2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AI</a:t>
                      </a:r>
                      <a:endParaRPr lang="en-US" sz="12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7945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tools.</a:t>
                      </a:r>
                      <a:endParaRPr lang="en-US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pc="-2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K2</a:t>
                      </a:r>
                      <a:endParaRPr lang="en-US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49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Unit I: Introduction to AI and the AI Tools 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Landscape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(3)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Unit II: Prompt Engineering and Generative AI 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Tools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(3)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Unit 3: AI Tools for Data Analysis and 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Visualization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(5)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Unit 4: AI Tools for Coding, Writing, and 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Productivity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(3)</a:t>
            </a:r>
          </a:p>
          <a:p>
            <a:pPr marL="0" indent="0">
              <a:buNone/>
            </a:pPr>
            <a:endParaRPr lang="en-US" sz="2400" b="1" dirty="0" smtClean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Unit 5: Ethics, Reliability, and Emerging 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Trends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(3)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656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382000" cy="61722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Text Books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Generative AI in practice: 100+ amazing ways generative artificial intelligence is changing business and society, Marr, B. (2024), Wiley.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Co-intelligence: Living and working with AI,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Mollick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E. (2024), Portfolio/Penguin.</a:t>
            </a:r>
          </a:p>
          <a:p>
            <a:pPr marL="0" indent="0"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References: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Prompt engineering for generative AI: Future-proof inputs for reliable AI outputs. Phoenix, J., &amp; Taylor, M. (2024), O'Reilly Media.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 to generative AI: A practical guide to generative AI, large language models, and more,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Dhamani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N., &amp;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Engler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M. (2024), Manning Publications.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Education and technology: Key issues and debates, Selwyn, N. (2022), 3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ed. Bloomsbury Academic.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123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593725"/>
            <a:ext cx="8324850" cy="5670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230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11763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AI: the broad idea that machines can intelligently execute tasks by mimicking human behavior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ML: Subset of AI, revolves around the idea that machines can learn &amp; adapt through experience &amp; data to complete specific tasks. 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DL: It attempts to mimic the human brain through NNs.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66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Laptop Specifications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486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Target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Processor : i5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/ 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RAM : 16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GB RAM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Memory : 512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GB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NVMe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SSD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Integrated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graphics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14–15.6" FHD/1200p display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Perfect for:</a:t>
            </a:r>
          </a:p>
          <a:p>
            <a:pPr marL="0" indent="0">
              <a:buNone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C/C++ + Java + Python + Web Development + DBMS + DSA + college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projects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₹50,000–₹65,000 </a:t>
            </a:r>
          </a:p>
          <a:p>
            <a:pPr marL="0" indent="0">
              <a:buNone/>
            </a:pP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341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309</Words>
  <Application>Microsoft Office PowerPoint</Application>
  <PresentationFormat>On-screen Show (4:3)</PresentationFormat>
  <Paragraphs>70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AI tools and Applications</vt:lpstr>
      <vt:lpstr>AI tools and Applications</vt:lpstr>
      <vt:lpstr>Modules </vt:lpstr>
      <vt:lpstr>  </vt:lpstr>
      <vt:lpstr> </vt:lpstr>
      <vt:lpstr> </vt:lpstr>
      <vt:lpstr>Laptop Specifications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tools and Applications</dc:title>
  <dc:creator>SAI</dc:creator>
  <cp:lastModifiedBy>Windows User</cp:lastModifiedBy>
  <cp:revision>22</cp:revision>
  <dcterms:created xsi:type="dcterms:W3CDTF">2006-08-16T00:00:00Z</dcterms:created>
  <dcterms:modified xsi:type="dcterms:W3CDTF">2026-09-13T09:31:27Z</dcterms:modified>
</cp:coreProperties>
</file>